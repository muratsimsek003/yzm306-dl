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57" r:id="rId13"/>
    <p:sldId id="304" r:id="rId14"/>
    <p:sldId id="305" r:id="rId15"/>
    <p:sldId id="306" r:id="rId16"/>
    <p:sldId id="307" r:id="rId17"/>
    <p:sldId id="258" r:id="rId18"/>
    <p:sldId id="296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295" r:id="rId28"/>
    <p:sldId id="316" r:id="rId29"/>
    <p:sldId id="317" r:id="rId30"/>
    <p:sldId id="318" r:id="rId31"/>
    <p:sldId id="319" r:id="rId32"/>
    <p:sldId id="320" r:id="rId33"/>
    <p:sldId id="260" r:id="rId34"/>
    <p:sldId id="298" r:id="rId35"/>
    <p:sldId id="299" r:id="rId36"/>
    <p:sldId id="321" r:id="rId37"/>
    <p:sldId id="322" r:id="rId38"/>
    <p:sldId id="323" r:id="rId39"/>
    <p:sldId id="261" r:id="rId40"/>
    <p:sldId id="300" r:id="rId41"/>
    <p:sldId id="262" r:id="rId42"/>
    <p:sldId id="263" r:id="rId43"/>
    <p:sldId id="264" r:id="rId44"/>
    <p:sldId id="265" r:id="rId4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804" autoAdjust="0"/>
  </p:normalViewPr>
  <p:slideViewPr>
    <p:cSldViewPr snapToGrid="0" snapToObjects="1">
      <p:cViewPr>
        <p:scale>
          <a:sx n="50" d="100"/>
          <a:sy n="50" d="100"/>
        </p:scale>
        <p:origin x="3354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50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SGD, bir kayıp fonksiyonunu minimize etmek amacıyla model parametrelerini yinelemeli olarak günceller ve bu süreçte tüm veri kümesi yerine rastgele seçilen tek bir veri noktası veya küçük bir grup (mini-</a:t>
            </a:r>
            <a:r>
              <a:rPr lang="tr-TR" dirty="0" err="1"/>
              <a:t>batch</a:t>
            </a:r>
            <a:r>
              <a:rPr lang="tr-TR" dirty="0"/>
              <a:t>) kullanır.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1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75568" cy="361657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1"/>
          <p:cNvSpPr/>
          <p:nvPr/>
        </p:nvSpPr>
        <p:spPr>
          <a:xfrm>
            <a:off x="428625" y="839530"/>
            <a:ext cx="3161193" cy="220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Derin Öğrenme Eğitim Optimizasyon Yöntemleri ve Düzenlileştirme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428625" y="3211171"/>
            <a:ext cx="65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304193" y="742950"/>
            <a:ext cx="44111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Eğitim Hedefleri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304193" y="1105495"/>
            <a:ext cx="441118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Düşük eğitim kaybı ve yüksek test başarımı arasındaki dengeyi kurarak genelleme yeteneğini maksimize etmek.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304193" y="1902693"/>
            <a:ext cx="44111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Overfitting vs Underfitting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304193" y="2265238"/>
            <a:ext cx="441118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Model karmaşıklığı ile veri miktarı arasındaki ilişkinin yönetimi; bias-variance dengesinin korunması.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304193" y="3062436"/>
            <a:ext cx="44111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Optimizasyon ve Düzenlileştirme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304193" y="3424982"/>
            <a:ext cx="441118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Optimizasyon kayıp fonksiyonunu minimize ederken, düzenlileştirme modelin gürültüyü öğrenmesini engeller.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304193" y="4136454"/>
            <a:ext cx="4411182" cy="71437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4304193" y="4136454"/>
            <a:ext cx="28575" cy="7143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4418493" y="4222179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418493" y="4415061"/>
            <a:ext cx="4182582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İyi bir model, eğitim verisini ezberlemek yerine genel kalıpları öğrenmelidir.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A8CDC671-1DBC-A537-8708-281973DC4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79" y="903695"/>
            <a:ext cx="6323102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8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4CA5-EF31-82A4-1837-3DD5451F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1531F0A-3B44-606F-9419-CE69B4E0A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49" y="168379"/>
            <a:ext cx="5895953" cy="480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99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73D1-C32A-4408-FD60-1FBDB3117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45CDF9A9-B93E-41F9-8E65-2B1E3BDBD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162" y="120580"/>
            <a:ext cx="6601676" cy="469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93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EB5-A5EF-2452-7931-EFCCF2B6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F6F1C7F-449B-5848-A2BD-73AD074F9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33" y="203479"/>
            <a:ext cx="6668171" cy="473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5BBC-F6EB-130C-EE9B-F9B5F52C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193807B5-682C-A060-D1B2-3F932F745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00" y="214784"/>
            <a:ext cx="6689077" cy="471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3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FC8A-9E73-BF91-1A60-FB0157F9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99438BD-40A0-3C0E-E4A1-06ACCDF1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09" y="159185"/>
            <a:ext cx="6578637" cy="482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63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E622-1AA0-551A-223C-62C14DBE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7625D6A-222F-CBA7-EF5D-379752E9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86" y="241160"/>
            <a:ext cx="6248428" cy="453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18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1514-C458-6457-076F-0C34CCE8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734127F5-5AE8-58C2-EF6A-676ABA796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41" y="350437"/>
            <a:ext cx="5773244" cy="444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1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3FEC-DECC-0C3C-DB34-AFAB1E37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EB40CEF-33AD-23EB-865F-E4705206E4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4329" y="75362"/>
            <a:ext cx="6975342" cy="481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5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F3F4-D960-F4E8-74F5-DDA6AB98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4F40-8ABA-05A0-F260-BA1C39243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6144F-7FA2-46DF-466C-4D4F726B6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2" y="510541"/>
            <a:ext cx="8974226" cy="399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26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57" y="-41077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26476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319332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2750344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Temel Optimizasyon: SGD ve Momentum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2269257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Klasik yöntemlerden ivmeli yaklaşımlara geçiş.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2926482"/>
            <a:ext cx="27503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"İvme, yerel minimumları aşmanın anahtarıdır."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679031" y="542925"/>
            <a:ext cx="1798569" cy="217880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b="1" dirty="0">
                <a:solidFill>
                  <a:srgbClr val="111111"/>
                </a:solidFill>
              </a:rPr>
              <a:t>Stokastik Gradyan İnişi (SGD)</a:t>
            </a:r>
            <a:endParaRPr lang="en-US" sz="1159" b="1" dirty="0"/>
          </a:p>
        </p:txBody>
      </p:sp>
      <p:sp>
        <p:nvSpPr>
          <p:cNvPr id="9" name="Shape 6"/>
          <p:cNvSpPr/>
          <p:nvPr/>
        </p:nvSpPr>
        <p:spPr>
          <a:xfrm>
            <a:off x="3679031" y="850106"/>
            <a:ext cx="5107781" cy="36075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3679031" y="850106"/>
            <a:ext cx="5107781" cy="36075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w = w - η · ∇J(w)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38455" y="1278990"/>
            <a:ext cx="172876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Basit ve düşük bellek tüketimi.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3948610" y="1731531"/>
            <a:ext cx="121444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3B82F6"/>
                </a:solidFill>
              </a:rPr>
              <a:t>→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238455" y="1464265"/>
            <a:ext cx="39902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Gürültülü güncellemeler eyer noktalarından kaçmaya yardımcı olabilir.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3688066" y="2044346"/>
            <a:ext cx="1880323" cy="217880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b="1" dirty="0">
                <a:solidFill>
                  <a:srgbClr val="111111"/>
                </a:solidFill>
              </a:rPr>
              <a:t>Momentum &amp; Nesterov (NAG)</a:t>
            </a:r>
            <a:endParaRPr lang="en-US" sz="1159" b="1" dirty="0"/>
          </a:p>
        </p:txBody>
      </p:sp>
      <p:sp>
        <p:nvSpPr>
          <p:cNvPr id="17" name="Text 14"/>
          <p:cNvSpPr/>
          <p:nvPr/>
        </p:nvSpPr>
        <p:spPr>
          <a:xfrm>
            <a:off x="4107656" y="2307431"/>
            <a:ext cx="74688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Momentum: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854541" y="2307431"/>
            <a:ext cx="388427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Gradyanların hareketli ortalamasını kullanarak salınımları sönümler.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4107656" y="2530673"/>
            <a:ext cx="58453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Nesterov: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692188" y="2530673"/>
            <a:ext cx="330498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"Önce bak, sonra zıpla" prensibiyle aşırı aşmaları engeller.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4107656" y="2753916"/>
            <a:ext cx="117679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Hiperparametreler: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102835" y="2735329"/>
            <a:ext cx="242683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LR: 0.01, Momentum: 0.9 (Tipik başlangıç).</a:t>
            </a:r>
            <a:endParaRPr lang="en-US" sz="888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031" y="3177183"/>
            <a:ext cx="5102423" cy="142875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679031" y="4873823"/>
            <a:ext cx="5107781" cy="269677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3"/>
          <p:cNvSpPr/>
          <p:nvPr/>
        </p:nvSpPr>
        <p:spPr>
          <a:xfrm>
            <a:off x="3679031" y="4873823"/>
            <a:ext cx="28575" cy="26967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4"/>
          <p:cNvSpPr/>
          <p:nvPr/>
        </p:nvSpPr>
        <p:spPr>
          <a:xfrm>
            <a:off x="3821906" y="4930973"/>
            <a:ext cx="3108223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 Momentum, gürültülü gradyanları yumuşatarak yakınsamayı hızlandırır.</a:t>
            </a:r>
            <a:endParaRPr lang="en-US" sz="784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FC7B6A-2AC2-4B5E-F7F9-C4416BA9598F}"/>
              </a:ext>
            </a:extLst>
          </p:cNvPr>
          <p:cNvSpPr txBox="1"/>
          <p:nvPr/>
        </p:nvSpPr>
        <p:spPr>
          <a:xfrm>
            <a:off x="4124428" y="1565687"/>
            <a:ext cx="4614388" cy="50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888" dirty="0">
                <a:solidFill>
                  <a:srgbClr val="444444"/>
                </a:solidFill>
              </a:rPr>
              <a:t>SGD, bir kayıp fonksiyonunu minimize etmek amacıyla model parametrelerini yinelemeli olarak günceller ve bu süreçte tüm veri kümesi yerine rastgele seçilen tek bir veri noktası veya küçük bir grup (mini-</a:t>
            </a:r>
            <a:r>
              <a:rPr lang="tr-TR" sz="888" dirty="0" err="1">
                <a:solidFill>
                  <a:srgbClr val="444444"/>
                </a:solidFill>
              </a:rPr>
              <a:t>batch</a:t>
            </a:r>
            <a:r>
              <a:rPr lang="tr-TR" sz="888" dirty="0">
                <a:solidFill>
                  <a:srgbClr val="444444"/>
                </a:solidFill>
              </a:rPr>
              <a:t>) kullanır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CE89-3C38-68B4-0F2E-6A866853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066BDD54-F1C3-FB8F-564B-BC8EF00F1436}"/>
              </a:ext>
            </a:extLst>
          </p:cNvPr>
          <p:cNvSpPr txBox="1"/>
          <p:nvPr/>
        </p:nvSpPr>
        <p:spPr>
          <a:xfrm>
            <a:off x="535074" y="264690"/>
            <a:ext cx="7460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SORU-1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22F35A0-03BD-544C-8751-7E3224DAB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24" y="822802"/>
            <a:ext cx="7858911" cy="36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23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4180-3F5F-5956-06F0-D6C6E4BD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64B4217F-7D98-4702-FC8F-8187CB47B183}"/>
              </a:ext>
            </a:extLst>
          </p:cNvPr>
          <p:cNvSpPr txBox="1"/>
          <p:nvPr/>
        </p:nvSpPr>
        <p:spPr>
          <a:xfrm>
            <a:off x="535074" y="264690"/>
            <a:ext cx="7460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CEVAP-1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0B1470D-2A34-A185-8BA8-10EDBB8B8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99" y="720229"/>
            <a:ext cx="4594073" cy="2007674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00EC1055-7FCD-34CF-E5A5-E09B2769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165" y="2957909"/>
            <a:ext cx="4636941" cy="142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7251-E7C3-C3B0-4318-BF4C97E2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1ACD62BB-B766-4E82-BA1F-CBE9479E30AE}"/>
              </a:ext>
            </a:extLst>
          </p:cNvPr>
          <p:cNvSpPr txBox="1"/>
          <p:nvPr/>
        </p:nvSpPr>
        <p:spPr>
          <a:xfrm>
            <a:off x="535074" y="264690"/>
            <a:ext cx="7460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CEVAP-1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6C849E1-4083-D999-6495-9F65D7E7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7" y="873208"/>
            <a:ext cx="4838282" cy="2196943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E041519-8AA6-981E-89E8-37FF828E3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109" y="873208"/>
            <a:ext cx="4086795" cy="29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49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F3FC-656B-E820-4B91-CC2C1EDB6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00F49409-0DD4-FDB0-BDAE-961E9E80A66B}"/>
              </a:ext>
            </a:extLst>
          </p:cNvPr>
          <p:cNvSpPr txBox="1"/>
          <p:nvPr/>
        </p:nvSpPr>
        <p:spPr>
          <a:xfrm>
            <a:off x="535074" y="264690"/>
            <a:ext cx="7460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CEVAP-1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F00F598-E1AC-5730-F556-1684E344D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48" y="957232"/>
            <a:ext cx="6707276" cy="35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1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1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26476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319332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2750344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Adaptif Optimizasyon: RMSProp ve Adam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1939221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Parametre bazlı öğrenme oranları ile hassas kontrol.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2596446"/>
            <a:ext cx="27503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"Adam, derin öğrenmenin standart tercihidir."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679031" y="500063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RMSProp &amp; Adam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3964781" y="807244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107656" y="807244"/>
            <a:ext cx="5432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RMSProp: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558898" y="807244"/>
            <a:ext cx="435233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Gradyan karelerinin hareketli ortalamasını kullanarak öğrenme oranını ölçeklendirir.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964781" y="1160859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107656" y="1160859"/>
            <a:ext cx="3650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Adam: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472741" y="1160859"/>
            <a:ext cx="37772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Momentum (1. moment) ve RMSProp (2. moment) mantığını birleştirir.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3964781" y="1359098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107656" y="1359098"/>
            <a:ext cx="4756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AdamW: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533393" y="1373386"/>
            <a:ext cx="46604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L2 düzenlileştirmesini gradyan güncellemesinden ayırarak daha iyi genelleme sağlar.</a:t>
            </a:r>
            <a:endParaRPr lang="en-US" sz="834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031" y="2484239"/>
            <a:ext cx="5102423" cy="1285875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679031" y="4718447"/>
            <a:ext cx="5107781" cy="42505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3"/>
          <p:cNvSpPr/>
          <p:nvPr/>
        </p:nvSpPr>
        <p:spPr>
          <a:xfrm>
            <a:off x="3679031" y="4718447"/>
            <a:ext cx="28575" cy="42505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4"/>
          <p:cNvSpPr/>
          <p:nvPr/>
        </p:nvSpPr>
        <p:spPr>
          <a:xfrm>
            <a:off x="3821906" y="4775597"/>
            <a:ext cx="4822031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 err="1">
                <a:solidFill>
                  <a:srgbClr val="111111"/>
                </a:solidFill>
              </a:rPr>
              <a:t>Adaptif</a:t>
            </a:r>
            <a:r>
              <a:rPr lang="en-US" sz="784" b="1" dirty="0">
                <a:solidFill>
                  <a:srgbClr val="111111"/>
                </a:solidFill>
              </a:rPr>
              <a:t> yöntemler, manuel öğrenme oranı ayarı ihtiyacını büyük ölçüde azaltır.</a:t>
            </a:r>
            <a:endParaRPr lang="en-US" sz="78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1B8A-D495-EABC-EF1E-6B6CAC6F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1E962022-396E-DAA3-41A1-580FE3891639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RMSProp</a:t>
            </a:r>
            <a:r>
              <a:rPr lang="en-US" sz="2400" dirty="0"/>
              <a:t> (Root Mean Square Propagation)</a:t>
            </a:r>
            <a:endParaRPr lang="tr-TR" sz="24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9D3D688-5937-0CBB-23E2-DD8B06E51083}"/>
              </a:ext>
            </a:extLst>
          </p:cNvPr>
          <p:cNvSpPr txBox="1"/>
          <p:nvPr/>
        </p:nvSpPr>
        <p:spPr>
          <a:xfrm>
            <a:off x="565219" y="1092758"/>
            <a:ext cx="750218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tr-TR" sz="1350" dirty="0" err="1"/>
              <a:t>RMSProp</a:t>
            </a:r>
            <a:r>
              <a:rPr lang="tr-TR" sz="1350" dirty="0"/>
              <a:t> (</a:t>
            </a:r>
            <a:r>
              <a:rPr lang="tr-TR" sz="1350" dirty="0" err="1"/>
              <a:t>Root</a:t>
            </a:r>
            <a:r>
              <a:rPr lang="tr-TR" sz="1350" dirty="0"/>
              <a:t> </a:t>
            </a:r>
            <a:r>
              <a:rPr lang="tr-TR" sz="1350" dirty="0" err="1"/>
              <a:t>Mean</a:t>
            </a:r>
            <a:r>
              <a:rPr lang="tr-TR" sz="1350" dirty="0"/>
              <a:t> </a:t>
            </a:r>
            <a:r>
              <a:rPr lang="tr-TR" sz="1350" dirty="0" err="1"/>
              <a:t>Square</a:t>
            </a:r>
            <a:r>
              <a:rPr lang="tr-TR" sz="1350" dirty="0"/>
              <a:t> </a:t>
            </a:r>
            <a:r>
              <a:rPr lang="tr-TR" sz="1350" dirty="0" err="1"/>
              <a:t>Propagation</a:t>
            </a:r>
            <a:r>
              <a:rPr lang="tr-TR" sz="1350" dirty="0"/>
              <a:t>), </a:t>
            </a:r>
            <a:r>
              <a:rPr lang="tr-TR" sz="1350" dirty="0" err="1"/>
              <a:t>Geoff</a:t>
            </a:r>
            <a:r>
              <a:rPr lang="tr-TR" sz="1350" dirty="0"/>
              <a:t> </a:t>
            </a:r>
            <a:r>
              <a:rPr lang="tr-TR" sz="1350" dirty="0" err="1"/>
              <a:t>Hinton</a:t>
            </a:r>
            <a:r>
              <a:rPr lang="tr-TR" sz="1350" dirty="0"/>
              <a:t> tarafından 2012 yılında önerilen adaptif öğrenme oranlı bir optimizasyon algoritmasıdır.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tr-TR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tr-TR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tr-TR" sz="1350" dirty="0" err="1"/>
              <a:t>RMSProp'un</a:t>
            </a:r>
            <a:r>
              <a:rPr lang="tr-TR" sz="1350" dirty="0"/>
              <a:t> temel fikri, gradyanların karelerinin birikimli toplamı yerine, gradyanların karelerinin </a:t>
            </a:r>
            <a:r>
              <a:rPr lang="tr-TR" sz="1350" b="1" dirty="0"/>
              <a:t>üstel hareketli ortalamasını (</a:t>
            </a:r>
            <a:r>
              <a:rPr lang="tr-TR" sz="1350" b="1" dirty="0" err="1"/>
              <a:t>exponential</a:t>
            </a:r>
            <a:r>
              <a:rPr lang="tr-TR" sz="1350" b="1" dirty="0"/>
              <a:t> </a:t>
            </a:r>
            <a:r>
              <a:rPr lang="tr-TR" sz="1350" b="1" dirty="0" err="1"/>
              <a:t>moving</a:t>
            </a:r>
            <a:r>
              <a:rPr lang="tr-TR" sz="1350" b="1" dirty="0"/>
              <a:t> </a:t>
            </a:r>
            <a:r>
              <a:rPr lang="tr-TR" sz="1350" b="1" dirty="0" err="1"/>
              <a:t>average</a:t>
            </a:r>
            <a:r>
              <a:rPr lang="tr-TR" sz="1350" b="1" dirty="0"/>
              <a:t>)</a:t>
            </a:r>
            <a:r>
              <a:rPr lang="tr-TR" sz="1350" dirty="0"/>
              <a:t> kullanarak her parametre için adaptif öğrenme oranları hesaplamaktır.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tr-TR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tr-TR" sz="1350" dirty="0"/>
              <a:t>Bu sayede, uzun eğitim süreçlerinde öğrenme oranının aşırı küçülmesi engellenir.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78D05B5-A094-F878-70F5-C2DF5147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76" y="3229670"/>
            <a:ext cx="5534624" cy="166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8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465C-1955-8744-2391-4EF7414A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023A04D7-31E4-9F6F-0F0D-61C0DC0A626C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RMSProp</a:t>
            </a:r>
            <a:r>
              <a:rPr lang="en-US" sz="2400" dirty="0"/>
              <a:t> (Root Mean Square Propagation)</a:t>
            </a:r>
            <a:endParaRPr lang="tr-TR" sz="24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1ED2FF5-1F10-66AD-9533-6C4A2FB93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40" y="1227263"/>
            <a:ext cx="5228381" cy="211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33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37ED-89E3-12F9-0C56-4237FE405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CBA23B31-99BB-057D-8A1A-70E8A92414C8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SORU-2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E435E90-27BC-5D5A-C24B-9067ED447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83" y="820503"/>
            <a:ext cx="7543713" cy="328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48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8D43-01EC-B040-9DF4-46647C78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7EE4E424-A216-A402-B6FE-09E75AC4A3B1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CEVAP-2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3D92EC0-5ED0-3814-4709-BFC02AC94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612" y="703271"/>
            <a:ext cx="5755707" cy="430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08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9D3F4-2318-4346-3557-42BF81C0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07670A5E-73DD-12B8-8137-1DC9F27B5533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CEVAP-2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D638E55-EE04-C1E2-81E6-B31263B4F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83" y="829507"/>
            <a:ext cx="6931952" cy="31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11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DF25-5C25-2FD3-642A-7B47E495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1F1DA782-93D7-EFEA-482F-BE069F072D91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CEVAP-2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859E0A0-5603-9703-ACAA-C370E7562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876" y="775726"/>
            <a:ext cx="6389243" cy="398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53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91A8-8A06-413D-FAE4-A2F625A5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A426E797-8279-FB4D-8F1A-9833285BAE78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CEVAP-2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32FBE98-6C0B-52D9-98E9-BB95772E4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83" y="967606"/>
            <a:ext cx="7368583" cy="331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90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32126-3D8E-D05D-2B29-EDD2510C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03C090D9-DB9F-5380-9714-23664C9DFFB8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CEVAP-2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4B824CE-1226-8A1E-70D9-89D28AA5A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84" y="771911"/>
            <a:ext cx="7423262" cy="403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54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C2015-B89E-733F-6CDC-55706142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7F1E2C0E-E91C-FE63-C1EC-F1F51EA0096E}"/>
              </a:ext>
            </a:extLst>
          </p:cNvPr>
          <p:cNvSpPr txBox="1"/>
          <p:nvPr/>
        </p:nvSpPr>
        <p:spPr>
          <a:xfrm>
            <a:off x="687683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CEVAP-2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64D8FF1-6044-019D-407B-7EA64DD7D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6" y="1239067"/>
            <a:ext cx="7725379" cy="95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2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A89C-0E87-22A5-6D4C-024CCB16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C2ADB4F9-EC92-CC9F-9FA1-317EE1B1442D}"/>
              </a:ext>
            </a:extLst>
          </p:cNvPr>
          <p:cNvSpPr txBox="1"/>
          <p:nvPr/>
        </p:nvSpPr>
        <p:spPr>
          <a:xfrm>
            <a:off x="687684" y="264690"/>
            <a:ext cx="5966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Adam (</a:t>
            </a:r>
            <a:r>
              <a:rPr lang="tr-TR" sz="2400" dirty="0" err="1"/>
              <a:t>Adaptive</a:t>
            </a:r>
            <a:r>
              <a:rPr lang="tr-TR" sz="2400" dirty="0"/>
              <a:t> Moment </a:t>
            </a:r>
            <a:r>
              <a:rPr lang="tr-TR" sz="2400" dirty="0" err="1"/>
              <a:t>Estimation</a:t>
            </a:r>
            <a:r>
              <a:rPr lang="tr-TR" sz="2400" dirty="0"/>
              <a:t>)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C3B7115-DECF-CD97-CDF2-5101B6234F8A}"/>
              </a:ext>
            </a:extLst>
          </p:cNvPr>
          <p:cNvSpPr txBox="1"/>
          <p:nvPr/>
        </p:nvSpPr>
        <p:spPr>
          <a:xfrm>
            <a:off x="791307" y="926961"/>
            <a:ext cx="7360361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350" dirty="0"/>
              <a:t>Adam (</a:t>
            </a:r>
            <a:r>
              <a:rPr lang="tr-TR" sz="1350" dirty="0" err="1"/>
              <a:t>Adaptive</a:t>
            </a:r>
            <a:r>
              <a:rPr lang="tr-TR" sz="1350" dirty="0"/>
              <a:t> Moment </a:t>
            </a:r>
            <a:r>
              <a:rPr lang="tr-TR" sz="1350" dirty="0" err="1"/>
              <a:t>Estimation</a:t>
            </a:r>
            <a:r>
              <a:rPr lang="tr-TR" sz="1350" dirty="0"/>
              <a:t>), derin öğrenme modellerinde yaygın olarak kullanılan ve yüksek performans gösteren bir optimizasyon algoritmasıdır. </a:t>
            </a:r>
          </a:p>
          <a:p>
            <a:endParaRPr lang="tr-TR" sz="1350" dirty="0"/>
          </a:p>
          <a:p>
            <a:r>
              <a:rPr lang="tr-TR" sz="1350" dirty="0"/>
              <a:t>2014 yılında </a:t>
            </a:r>
            <a:r>
              <a:rPr lang="tr-TR" sz="1350" dirty="0" err="1"/>
              <a:t>Kingma</a:t>
            </a:r>
            <a:r>
              <a:rPr lang="tr-TR" sz="1350" dirty="0"/>
              <a:t> ve </a:t>
            </a:r>
            <a:r>
              <a:rPr lang="tr-TR" sz="1350" dirty="0" err="1"/>
              <a:t>Ba</a:t>
            </a:r>
            <a:r>
              <a:rPr lang="tr-TR" sz="1350" dirty="0"/>
              <a:t> tarafından önerilen bu algoritma, SGD (Stokastik Gradyan İnişi), ve </a:t>
            </a:r>
            <a:r>
              <a:rPr lang="tr-TR" sz="1350" dirty="0" err="1"/>
              <a:t>RMSProp</a:t>
            </a:r>
            <a:r>
              <a:rPr lang="tr-TR" sz="1350" dirty="0"/>
              <a:t> yöntemlerinin avantajlarını birleştiren adaptif bir öğrenme algoritmasıdır.</a:t>
            </a:r>
          </a:p>
          <a:p>
            <a:endParaRPr lang="tr-TR" sz="1350" dirty="0"/>
          </a:p>
          <a:p>
            <a:endParaRPr lang="tr-TR" sz="135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112" y="2836316"/>
            <a:ext cx="6487430" cy="11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7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A89C-0E87-22A5-6D4C-024CCB16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C2ADB4F9-EC92-CC9F-9FA1-317EE1B1442D}"/>
              </a:ext>
            </a:extLst>
          </p:cNvPr>
          <p:cNvSpPr txBox="1"/>
          <p:nvPr/>
        </p:nvSpPr>
        <p:spPr>
          <a:xfrm>
            <a:off x="687684" y="264690"/>
            <a:ext cx="5966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Adam (</a:t>
            </a:r>
            <a:r>
              <a:rPr lang="tr-TR" sz="2400" dirty="0" err="1"/>
              <a:t>Adaptive</a:t>
            </a:r>
            <a:r>
              <a:rPr lang="tr-TR" sz="2400" dirty="0"/>
              <a:t> Moment </a:t>
            </a:r>
            <a:r>
              <a:rPr lang="tr-TR" sz="2400" dirty="0" err="1"/>
              <a:t>Estimation</a:t>
            </a:r>
            <a:r>
              <a:rPr lang="tr-TR" sz="2400" dirty="0"/>
              <a:t>)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/>
          <a:srcRect t="17682"/>
          <a:stretch/>
        </p:blipFill>
        <p:spPr>
          <a:xfrm>
            <a:off x="687684" y="919596"/>
            <a:ext cx="7344800" cy="17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15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A89C-0E87-22A5-6D4C-024CCB16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C2ADB4F9-EC92-CC9F-9FA1-317EE1B1442D}"/>
              </a:ext>
            </a:extLst>
          </p:cNvPr>
          <p:cNvSpPr txBox="1"/>
          <p:nvPr/>
        </p:nvSpPr>
        <p:spPr>
          <a:xfrm>
            <a:off x="687684" y="264690"/>
            <a:ext cx="5966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Adam (</a:t>
            </a:r>
            <a:r>
              <a:rPr lang="tr-TR" sz="2400" dirty="0" err="1"/>
              <a:t>Adaptive</a:t>
            </a:r>
            <a:r>
              <a:rPr lang="tr-TR" sz="2400" dirty="0"/>
              <a:t> Moment </a:t>
            </a:r>
            <a:r>
              <a:rPr lang="tr-TR" sz="2400" dirty="0" err="1"/>
              <a:t>Estimation</a:t>
            </a:r>
            <a:r>
              <a:rPr lang="tr-TR" sz="2400" dirty="0"/>
              <a:t>)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1" y="737832"/>
            <a:ext cx="4672664" cy="2950781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14" y="1698830"/>
            <a:ext cx="4262106" cy="102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92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A89C-0E87-22A5-6D4C-024CCB16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C2ADB4F9-EC92-CC9F-9FA1-317EE1B1442D}"/>
              </a:ext>
            </a:extLst>
          </p:cNvPr>
          <p:cNvSpPr txBox="1"/>
          <p:nvPr/>
        </p:nvSpPr>
        <p:spPr>
          <a:xfrm>
            <a:off x="687684" y="264690"/>
            <a:ext cx="5966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SORU-3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34" y="857094"/>
            <a:ext cx="7125560" cy="28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36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A89C-0E87-22A5-6D4C-024CCB16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C2ADB4F9-EC92-CC9F-9FA1-317EE1B1442D}"/>
              </a:ext>
            </a:extLst>
          </p:cNvPr>
          <p:cNvSpPr txBox="1"/>
          <p:nvPr/>
        </p:nvSpPr>
        <p:spPr>
          <a:xfrm>
            <a:off x="687684" y="264690"/>
            <a:ext cx="5966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SORU-3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907" y="821923"/>
            <a:ext cx="6284236" cy="368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99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A89C-0E87-22A5-6D4C-024CCB16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C2ADB4F9-EC92-CC9F-9FA1-317EE1B1442D}"/>
              </a:ext>
            </a:extLst>
          </p:cNvPr>
          <p:cNvSpPr txBox="1"/>
          <p:nvPr/>
        </p:nvSpPr>
        <p:spPr>
          <a:xfrm>
            <a:off x="687684" y="264690"/>
            <a:ext cx="5966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SORU-3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611" y="903428"/>
            <a:ext cx="5694364" cy="367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95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26476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319332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2750344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Düzenlileştirme (Regularization) Teknikleri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1939221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Modelin genelleme yeteneğini artırmak için kapasite kısıtlama yöntemleri.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2596446"/>
            <a:ext cx="27503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"Daha basit modeller, daha iyi genelleme yapar."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679031" y="500063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Ağırlık Cezalandırma (L1 &amp; L2)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3964781" y="821531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136231" y="828675"/>
            <a:ext cx="62449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L1 (Lasso):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651336" y="821531"/>
            <a:ext cx="435406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Ağırlıkların mutlak değerini cezalandırır, seyrek (sparse) çözümler üretir.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3964781" y="1257300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136231" y="1264444"/>
            <a:ext cx="151076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L2 (Ridge/Weight Decay):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317079" y="1276945"/>
            <a:ext cx="429146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Ağırlıkların karesini cezalandırır, büyük ağırlıkları küçültür.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3679031" y="1878806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Eğitim Süreci Müdahaleleri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3964781" y="2200275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136231" y="2207419"/>
            <a:ext cx="53692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Dropout: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591770" y="2207419"/>
            <a:ext cx="4322722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Eğitim sırasında nöronları rastgele kapatarak bir "ensemble" etkisi yaratır.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3964781" y="2636044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136231" y="2643188"/>
            <a:ext cx="91107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Early Stopping: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828352" y="2648994"/>
            <a:ext cx="425675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Validasyon kaybı artmaya başladığında eğitimi durdurarak ezberlemeyi önler.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3964781" y="307181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136231" y="3078956"/>
            <a:ext cx="123751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444444"/>
                </a:solidFill>
              </a:rPr>
              <a:t>Data Augmentation: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080664" y="3097337"/>
            <a:ext cx="456435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44444"/>
                </a:solidFill>
              </a:rPr>
              <a:t>Veriyi dönüştürerek modelin çeşitliliğe karşı dayanıklılığını artırır.</a:t>
            </a:r>
            <a:endParaRPr lang="en-US" sz="888" dirty="0"/>
          </a:p>
        </p:txBody>
      </p:sp>
      <p:sp>
        <p:nvSpPr>
          <p:cNvPr id="25" name="Shape 22"/>
          <p:cNvSpPr/>
          <p:nvPr/>
        </p:nvSpPr>
        <p:spPr>
          <a:xfrm>
            <a:off x="3679031" y="4661297"/>
            <a:ext cx="5107781" cy="48220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3"/>
          <p:cNvSpPr/>
          <p:nvPr/>
        </p:nvSpPr>
        <p:spPr>
          <a:xfrm>
            <a:off x="3679031" y="4661297"/>
            <a:ext cx="28575" cy="48220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3821906" y="4747022"/>
            <a:ext cx="482203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Takeaway: Düzenlileştirme, eğitim performansından bir miktar feragat ederek test performansını artırır.</a:t>
            </a:r>
            <a:endParaRPr lang="en-US" sz="78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845A-7CB1-A46F-B107-64F708CF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762C541F-7A4E-9EF9-1053-D72756F3E23A}"/>
              </a:ext>
            </a:extLst>
          </p:cNvPr>
          <p:cNvSpPr txBox="1"/>
          <p:nvPr/>
        </p:nvSpPr>
        <p:spPr>
          <a:xfrm>
            <a:off x="552030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 err="1"/>
              <a:t>Regularization</a:t>
            </a:r>
            <a:endParaRPr lang="tr-TR" sz="24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2C5C16F-576C-F012-602B-ED70969C1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30" y="1078886"/>
            <a:ext cx="6851493" cy="800212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3C2541A0-46AB-BF78-2D93-BBD729D60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30" y="2078376"/>
            <a:ext cx="6851493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30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BB18-9C78-11F4-77F8-049A1EC5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B968A712-1D0F-4B2A-2369-9F9888F0B187}"/>
              </a:ext>
            </a:extLst>
          </p:cNvPr>
          <p:cNvSpPr txBox="1"/>
          <p:nvPr/>
        </p:nvSpPr>
        <p:spPr>
          <a:xfrm>
            <a:off x="552030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 err="1"/>
              <a:t>Regularization</a:t>
            </a:r>
            <a:endParaRPr lang="tr-TR" sz="24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5C2B719-712E-CB1F-0663-4E1BC29D3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16" y="1103699"/>
            <a:ext cx="6453986" cy="274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62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0775C9-2B4D-2B27-1884-4B1882D8E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Soru 4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FF4414-BB05-FD04-1775-09510E4BA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1" y="590292"/>
            <a:ext cx="6834820" cy="2788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28813-8966-8FDC-E167-4134DB48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81" y="3533550"/>
            <a:ext cx="6030167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21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9BF3-E835-6D63-5A7F-FC6E912D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163EAD-3213-0CDF-1F1C-ADC5E097A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Cevap 4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0B7D26-FBD5-DBD4-F1E1-72692A210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92" y="580793"/>
            <a:ext cx="5966109" cy="25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92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78E07-26C2-C9EA-562C-3BE261CA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C0AE18-3BB3-7228-E88C-2D56337D8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Cevap 4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5D03A-89D2-B310-07AA-46C74812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3" y="780832"/>
            <a:ext cx="6634727" cy="25632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761C5-6827-7ABE-C30E-F38FFD06C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243" y="3829191"/>
            <a:ext cx="242921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85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26476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319332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2750344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Normalizasyon ve Veri Artırma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1609185"/>
            <a:ext cx="27503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Eğitim stabilitesi ve veri çeşitliliği.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2073529"/>
            <a:ext cx="27503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"Normalizasyon ≠ Düzenlileştirme"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679031" y="500063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Batch Normalization (BN)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3964781" y="807244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107656" y="807244"/>
            <a:ext cx="8784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Hız ve Stabilite: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838076" y="800100"/>
            <a:ext cx="451772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Katman girdilerini normalize ederek "vanishing gradient" sorununu azaltır.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964781" y="1160859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107656" y="1160859"/>
            <a:ext cx="8139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Eğitim vs Test: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921597" y="1160859"/>
            <a:ext cx="37843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Eğitimde mini-batch istatistikleri, testte hareketli ortalamalar kullanılır.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3964781" y="1359098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107656" y="1359098"/>
            <a:ext cx="4913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Yan Etki: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599040" y="1359098"/>
            <a:ext cx="33950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Mini-batch gürültüsü sayesinde hafif bir düzenlileştirme sağlar.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3679031" y="1771650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Veri Artırma (Data Augmentation)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3964781" y="2078831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107656" y="2078831"/>
            <a:ext cx="5245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Çeşitlilik: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632192" y="2078831"/>
            <a:ext cx="36965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Döndürme, kırpma ve renk değişimi ile modelin dayanıklılığını artırır.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3964781" y="227707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107656" y="2277070"/>
            <a:ext cx="10747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Gelişmiş Teknikler: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5182428" y="2277070"/>
            <a:ext cx="28180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Mixup ve CutMix ile sınıflar arası geçişleri yumuşatır.</a:t>
            </a:r>
            <a:endParaRPr lang="en-US" sz="834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031" y="2689622"/>
            <a:ext cx="5102423" cy="1285875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679031" y="4718447"/>
            <a:ext cx="5107781" cy="42505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3"/>
          <p:cNvSpPr/>
          <p:nvPr/>
        </p:nvSpPr>
        <p:spPr>
          <a:xfrm>
            <a:off x="3679031" y="4718447"/>
            <a:ext cx="28575" cy="42505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4"/>
          <p:cNvSpPr/>
          <p:nvPr/>
        </p:nvSpPr>
        <p:spPr>
          <a:xfrm>
            <a:off x="3821906" y="4775597"/>
            <a:ext cx="4822031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 Stabil bir eğitim için normalizasyon, zengin bir model için veri artırma şarttır.</a:t>
            </a:r>
            <a:endParaRPr lang="en-US" sz="78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413E-6E8F-8B11-4709-2F26C282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5802BAF8-3EED-F49B-B554-2F5EDBE836B1}"/>
              </a:ext>
            </a:extLst>
          </p:cNvPr>
          <p:cNvSpPr txBox="1"/>
          <p:nvPr/>
        </p:nvSpPr>
        <p:spPr>
          <a:xfrm>
            <a:off x="552030" y="264690"/>
            <a:ext cx="6697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 err="1"/>
              <a:t>Regularization</a:t>
            </a:r>
            <a:endParaRPr lang="tr-TR" sz="24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E3D84AC-C980-54F5-363C-F46811309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30" y="937900"/>
            <a:ext cx="6991770" cy="12932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73A93038-72F3-7288-5E7A-0670AD86E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31" y="2341947"/>
            <a:ext cx="6991769" cy="261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83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26476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319332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2750344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Regularization Quiz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1609185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Düzenlileştirme tekniklerinin pratik uygulamalarını test edin.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2409285"/>
            <a:ext cx="2750344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504" dirty="0">
                <a:solidFill>
                  <a:srgbClr val="3B82F6"/>
                </a:solidFill>
              </a:rPr>
              <a:t>?</a:t>
            </a:r>
            <a:endParaRPr lang="en-US" sz="3504" dirty="0"/>
          </a:p>
        </p:txBody>
      </p:sp>
      <p:sp>
        <p:nvSpPr>
          <p:cNvPr id="8" name="Text 5"/>
          <p:cNvSpPr/>
          <p:nvPr/>
        </p:nvSpPr>
        <p:spPr>
          <a:xfrm>
            <a:off x="357188" y="3175453"/>
            <a:ext cx="2750344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"Tekniklerin çalışma prensiplerini anlamak, hata ayıklama sürecini kolaylaştırır."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3679031" y="600075"/>
            <a:ext cx="5107781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1. Hangi düzenlileştirme tekniği ağırlıkların tam olarak sıfır olmasına neden olabilir?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679031" y="1046559"/>
            <a:ext cx="5107781" cy="42862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L1 Düzenlileştirmesi (Lasso).</a:t>
            </a:r>
            <a:r>
              <a:rPr lang="en-US" sz="888" dirty="0">
                <a:solidFill>
                  <a:srgbClr val="444444"/>
                </a:solidFill>
              </a:rPr>
              <a:t> Mutlak değer cezası nedeniyle bazı katsayıları sıfıra çekerek özellik seçimi yapar.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679031" y="1825228"/>
            <a:ext cx="51077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2. Dropout eğitim ve test (inference) aşamalarında nasıl farklı davranır?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679031" y="2077045"/>
            <a:ext cx="5107781" cy="42862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Eğitimde nöronlar rastgele kapatılır.</a:t>
            </a:r>
            <a:r>
              <a:rPr lang="en-US" sz="888" dirty="0">
                <a:solidFill>
                  <a:srgbClr val="444444"/>
                </a:solidFill>
              </a:rPr>
              <a:t> Test aşamasında ise tüm nöronlar açıktır ve aktivasyonlar eğitimdeki olasılıkla ölçeklenir.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679031" y="2855714"/>
            <a:ext cx="51077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3. Batch Normalization'ın temel amacı nedir?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679031" y="3107531"/>
            <a:ext cx="5107781" cy="42862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3B82F6"/>
                </a:solidFill>
              </a:rPr>
              <a:t>Eğitimi hızlandırmak ve stabilize etmektir.</a:t>
            </a:r>
            <a:r>
              <a:rPr lang="en-US" sz="888" dirty="0">
                <a:solidFill>
                  <a:srgbClr val="444444"/>
                </a:solidFill>
              </a:rPr>
              <a:t> Katman girdilerini normalize ederek gradyanların daha sağlıklı akmasını sağlar.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3679031" y="4661297"/>
            <a:ext cx="28575" cy="48220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26476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319332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2750344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Hiperparametre Ayarı ve LR Schedule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1939221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Öğrenme oranının dinamik yönetimi ve sistematik arama stratejileri.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2596446"/>
            <a:ext cx="27503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"Doğru LR, eğitimin en kritik bileşenidir."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679031" y="500063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Learning Rate Schedules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3964781" y="807244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107656" y="807244"/>
            <a:ext cx="11827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Step &amp; Cosine Decay: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097694" y="791169"/>
            <a:ext cx="3439520" cy="134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LR'yi zamanla düşürerek eğitimin sonunda ince ayar yapılmasını sağlar.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964781" y="1160859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107656" y="1160859"/>
            <a:ext cx="521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Warmup: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629094" y="1160859"/>
            <a:ext cx="34395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Başlangıçta LR'yi düşük tutup kademeli artırarak stabilite sağlar.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3964781" y="1359098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107656" y="1359098"/>
            <a:ext cx="9309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OneCycle Policy: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886704" y="1359098"/>
            <a:ext cx="3757233" cy="134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LR'yi önce artırıp sonra azaltarak hızlı yakınsama (super-convergence) sağlar.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3679031" y="1927027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Arama Yöntemleri ve Disiplin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3964781" y="2234208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107656" y="2234208"/>
            <a:ext cx="9202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Random Search: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027888" y="2234208"/>
            <a:ext cx="34918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Grid Search'ten daha verimli; önemli parametreleri daha iyi tarar.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3964781" y="2432447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107656" y="2432447"/>
            <a:ext cx="13265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Bayesian Optimization: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5434245" y="2432447"/>
            <a:ext cx="31944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Geçmiş deneylerden ders çıkararak aramayı akıllıca daraltır.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3964781" y="2630686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107656" y="2630686"/>
            <a:ext cx="758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Deney Takibi: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866512" y="2630686"/>
            <a:ext cx="31263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Sabit seed kullanımı ve WandB/MLflow ile metrik loglama.</a:t>
            </a:r>
            <a:endParaRPr lang="en-US" sz="834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031" y="3043238"/>
            <a:ext cx="5102423" cy="1285875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3679031" y="4718447"/>
            <a:ext cx="5107781" cy="42505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6"/>
          <p:cNvSpPr/>
          <p:nvPr/>
        </p:nvSpPr>
        <p:spPr>
          <a:xfrm>
            <a:off x="3679031" y="4718447"/>
            <a:ext cx="28575" cy="42505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7"/>
          <p:cNvSpPr/>
          <p:nvPr/>
        </p:nvSpPr>
        <p:spPr>
          <a:xfrm>
            <a:off x="3821906" y="4775597"/>
            <a:ext cx="4822031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 err="1">
                <a:solidFill>
                  <a:srgbClr val="111111"/>
                </a:solidFill>
              </a:rPr>
              <a:t>Hiperparametre</a:t>
            </a:r>
            <a:r>
              <a:rPr lang="en-US" sz="784" b="1" dirty="0">
                <a:solidFill>
                  <a:srgbClr val="111111"/>
                </a:solidFill>
              </a:rPr>
              <a:t> ayarı sistematik bir süreç olmalıdır; modern scheduler'lar performansı doğrudan etkiler.</a:t>
            </a:r>
            <a:endParaRPr lang="en-US" sz="784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76191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754766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3114675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Mini Uygulama: Senaryo Karşılaştırması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2153534"/>
            <a:ext cx="31146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Senaryo 1: SGD + Momentum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57188" y="2405351"/>
            <a:ext cx="3114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Klasik ve güvenilir. İnce ayar yapıldığında en iyi genelleme performansını sunabilir.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357188" y="2919701"/>
            <a:ext cx="31146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Senaryo 2: Adam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357188" y="3171518"/>
            <a:ext cx="3114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Hızlı başlangıç ve düşük hiperparametre hassasiyeti. Prototipleme için ideal.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57188" y="3685868"/>
            <a:ext cx="31146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Senaryo 3: AdamW + Cosine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57188" y="3937685"/>
            <a:ext cx="3114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AAAAA"/>
                </a:solidFill>
              </a:rPr>
              <a:t>Modern standart. En iyi hız ve genelleme dengesini sağlar.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4114800" y="571500"/>
            <a:ext cx="4672013" cy="1988669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4114800" y="571500"/>
            <a:ext cx="28575" cy="19886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4114800" y="571500"/>
            <a:ext cx="4672013" cy="1988669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A9955"/>
                </a:solidFill>
              </a:rPr>
              <a:t># Modern Eğitim Döngüsü Yapısı</a:t>
            </a:r>
            <a:r>
              <a:rPr lang="en-US" sz="834" dirty="0">
                <a:solidFill>
                  <a:srgbClr val="D4D4D4"/>
                </a:solidFill>
              </a:rPr>
              <a:t>
 </a:t>
            </a:r>
            <a:r>
              <a:rPr lang="en-US" sz="834" dirty="0">
                <a:solidFill>
                  <a:srgbClr val="569CD6"/>
                </a:solidFill>
              </a:rPr>
              <a:t>optimizer</a:t>
            </a:r>
            <a:r>
              <a:rPr lang="en-US" sz="834" dirty="0">
                <a:solidFill>
                  <a:srgbClr val="D4D4D4"/>
                </a:solidFill>
              </a:rPr>
              <a:t> = torch.optim.</a:t>
            </a:r>
            <a:r>
              <a:rPr lang="en-US" sz="834" dirty="0">
                <a:solidFill>
                  <a:srgbClr val="DCDCAA"/>
                </a:solidFill>
              </a:rPr>
              <a:t>AdamW</a:t>
            </a:r>
            <a:r>
              <a:rPr lang="en-US" sz="834" dirty="0">
                <a:solidFill>
                  <a:srgbClr val="D4D4D4"/>
                </a:solidFill>
              </a:rPr>
              <a:t>(model.parameters(), lr=</a:t>
            </a:r>
            <a:r>
              <a:rPr lang="en-US" sz="834" dirty="0">
                <a:solidFill>
                  <a:srgbClr val="CE9178"/>
                </a:solidFill>
              </a:rPr>
              <a:t>1e-3</a:t>
            </a:r>
            <a:r>
              <a:rPr lang="en-US" sz="834" dirty="0">
                <a:solidFill>
                  <a:srgbClr val="D4D4D4"/>
                </a:solidFill>
              </a:rPr>
              <a:t>, weight_decay=</a:t>
            </a:r>
            <a:r>
              <a:rPr lang="en-US" sz="834" dirty="0">
                <a:solidFill>
                  <a:srgbClr val="CE9178"/>
                </a:solidFill>
              </a:rPr>
              <a:t>0.01</a:t>
            </a:r>
            <a:r>
              <a:rPr lang="en-US" sz="834" dirty="0">
                <a:solidFill>
                  <a:srgbClr val="D4D4D4"/>
                </a:solidFill>
              </a:rPr>
              <a:t>)
 </a:t>
            </a:r>
            <a:r>
              <a:rPr lang="en-US" sz="834" dirty="0">
                <a:solidFill>
                  <a:srgbClr val="569CD6"/>
                </a:solidFill>
              </a:rPr>
              <a:t>scheduler</a:t>
            </a:r>
            <a:r>
              <a:rPr lang="en-US" sz="834" dirty="0">
                <a:solidFill>
                  <a:srgbClr val="D4D4D4"/>
                </a:solidFill>
              </a:rPr>
              <a:t> = </a:t>
            </a:r>
            <a:r>
              <a:rPr lang="en-US" sz="834" dirty="0">
                <a:solidFill>
                  <a:srgbClr val="DCDCAA"/>
                </a:solidFill>
              </a:rPr>
              <a:t>CosineAnnealingLR</a:t>
            </a:r>
            <a:r>
              <a:rPr lang="en-US" sz="834" dirty="0">
                <a:solidFill>
                  <a:srgbClr val="D4D4D4"/>
                </a:solidFill>
              </a:rPr>
              <a:t>(optimizer, T_max=epochs)
 </a:t>
            </a:r>
            <a:r>
              <a:rPr lang="en-US" sz="834" dirty="0">
                <a:solidFill>
                  <a:srgbClr val="569CD6"/>
                </a:solidFill>
              </a:rPr>
              <a:t>for</a:t>
            </a:r>
            <a:r>
              <a:rPr lang="en-US" sz="834" dirty="0">
                <a:solidFill>
                  <a:srgbClr val="D4D4D4"/>
                </a:solidFill>
              </a:rPr>
              <a:t> epoch </a:t>
            </a:r>
            <a:r>
              <a:rPr lang="en-US" sz="834" dirty="0">
                <a:solidFill>
                  <a:srgbClr val="569CD6"/>
                </a:solidFill>
              </a:rPr>
              <a:t>in</a:t>
            </a:r>
            <a:r>
              <a:rPr lang="en-US" sz="834" dirty="0">
                <a:solidFill>
                  <a:srgbClr val="D4D4D4"/>
                </a:solidFill>
              </a:rPr>
              <a:t> </a:t>
            </a:r>
            <a:r>
              <a:rPr lang="en-US" sz="834" dirty="0">
                <a:solidFill>
                  <a:srgbClr val="DCDCAA"/>
                </a:solidFill>
              </a:rPr>
              <a:t>range</a:t>
            </a:r>
            <a:r>
              <a:rPr lang="en-US" sz="834" dirty="0">
                <a:solidFill>
                  <a:srgbClr val="D4D4D4"/>
                </a:solidFill>
              </a:rPr>
              <a:t>(epochs):
 train_loss = </a:t>
            </a:r>
            <a:r>
              <a:rPr lang="en-US" sz="834" dirty="0">
                <a:solidFill>
                  <a:srgbClr val="DCDCAA"/>
                </a:solidFill>
              </a:rPr>
              <a:t>train_one_epoch</a:t>
            </a:r>
            <a:r>
              <a:rPr lang="en-US" sz="834" dirty="0">
                <a:solidFill>
                  <a:srgbClr val="D4D4D4"/>
                </a:solidFill>
              </a:rPr>
              <a:t>(model, optimizer, loader)
 val_loss = </a:t>
            </a:r>
            <a:r>
              <a:rPr lang="en-US" sz="834" dirty="0">
                <a:solidFill>
                  <a:srgbClr val="DCDCAA"/>
                </a:solidFill>
              </a:rPr>
              <a:t>validate</a:t>
            </a:r>
            <a:r>
              <a:rPr lang="en-US" sz="834" dirty="0">
                <a:solidFill>
                  <a:srgbClr val="D4D4D4"/>
                </a:solidFill>
              </a:rPr>
              <a:t>(model, val_loader)
 </a:t>
            </a:r>
            <a:r>
              <a:rPr lang="en-US" sz="834" dirty="0">
                <a:solidFill>
                  <a:srgbClr val="569CD6"/>
                </a:solidFill>
              </a:rPr>
              <a:t>scheduler</a:t>
            </a:r>
            <a:r>
              <a:rPr lang="en-US" sz="834" dirty="0">
                <a:solidFill>
                  <a:srgbClr val="D4D4D4"/>
                </a:solidFill>
              </a:rPr>
              <a:t>.</a:t>
            </a:r>
            <a:r>
              <a:rPr lang="en-US" sz="834" dirty="0">
                <a:solidFill>
                  <a:srgbClr val="DCDCAA"/>
                </a:solidFill>
              </a:rPr>
              <a:t>step</a:t>
            </a:r>
            <a:r>
              <a:rPr lang="en-US" sz="834" dirty="0">
                <a:solidFill>
                  <a:srgbClr val="D4D4D4"/>
                </a:solidFill>
              </a:rPr>
              <a:t>() </a:t>
            </a:r>
            <a:r>
              <a:rPr lang="en-US" sz="834" dirty="0">
                <a:solidFill>
                  <a:srgbClr val="6A9955"/>
                </a:solidFill>
              </a:rPr>
              <a:t># Her epoch sonunda LR güncelleme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114800" y="2774482"/>
            <a:ext cx="1428108" cy="267891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Metrik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542908" y="2774482"/>
            <a:ext cx="1033918" cy="267891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SGD+Mom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576826" y="2774482"/>
            <a:ext cx="680414" cy="267891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Adam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7257241" y="2774482"/>
            <a:ext cx="1529572" cy="267891"/>
          </a:xfrm>
          <a:prstGeom prst="rect">
            <a:avLst/>
          </a:prstGeom>
          <a:noFill/>
          <a:ln/>
        </p:spPr>
        <p:txBody>
          <a:bodyPr wrap="square" lIns="8509" tIns="102108" rIns="8509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AdamW+Cosine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114800" y="3042372"/>
            <a:ext cx="1428108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Yakınsama Hızı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542908" y="3042372"/>
            <a:ext cx="1033918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Orta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576826" y="3042372"/>
            <a:ext cx="680414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Yüksek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7257241" y="3042372"/>
            <a:ext cx="1529572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Çok Yüksek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114800" y="3356697"/>
            <a:ext cx="1428108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Genelleme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5542908" y="3356697"/>
            <a:ext cx="1033918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Çok İyi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6576826" y="3356697"/>
            <a:ext cx="680414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İyi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7257241" y="3356697"/>
            <a:ext cx="1529572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Çok İyi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114800" y="3671022"/>
            <a:ext cx="1428108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Ayar Zorluğu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5542908" y="3671022"/>
            <a:ext cx="1033918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Zor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576826" y="3671022"/>
            <a:ext cx="680414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Kolay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7257241" y="3671022"/>
            <a:ext cx="1529572" cy="31432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Orta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4114800" y="4661297"/>
            <a:ext cx="4672013" cy="48220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29"/>
          <p:cNvSpPr/>
          <p:nvPr/>
        </p:nvSpPr>
        <p:spPr>
          <a:xfrm>
            <a:off x="4114800" y="4661297"/>
            <a:ext cx="28575" cy="48220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0"/>
          <p:cNvSpPr/>
          <p:nvPr/>
        </p:nvSpPr>
        <p:spPr>
          <a:xfrm>
            <a:off x="4257675" y="4747022"/>
            <a:ext cx="4386263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Modern projelerde AdamW + Cosine Scheduler genellikle en iyi başlangıç noktasıdır.</a:t>
            </a:r>
            <a:endParaRPr lang="en-US" sz="784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26476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1"/>
          <p:cNvSpPr/>
          <p:nvPr/>
        </p:nvSpPr>
        <p:spPr>
          <a:xfrm>
            <a:off x="3319332" y="0"/>
            <a:ext cx="7144" cy="51435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357188" y="677652"/>
            <a:ext cx="2750344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Özet ve Sık Yapılan Hatalar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357188" y="1609185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Eğitim sürecindeki kritik başarı faktörleri ve yaygın tuzaklar.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2266410"/>
            <a:ext cx="27503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"En iyi model, doğru optimizasyon ve disiplinli bir deney sürecinin ürünüdür."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679031" y="500063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Kritik Özet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3964781" y="807244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107656" y="809030"/>
            <a:ext cx="8199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Optimizasyon: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927653" y="809030"/>
            <a:ext cx="35769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Yakınsamayı ve eğitim hızını belirler (AdamW + Cosine standarttır).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964781" y="1024403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107656" y="1026189"/>
            <a:ext cx="9357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Düzenlileştirme: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043432" y="1026189"/>
            <a:ext cx="3064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Modelin "akıllı" kalmasını ve genelleme yapmasını sağlar.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3964781" y="1241561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•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107656" y="1243347"/>
            <a:ext cx="3997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Denge: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507371" y="1243347"/>
            <a:ext cx="34031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Eğitim kaybı ile test başarımı arasındaki hassas çizgiyi koruyun.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3679031" y="1658745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EF4444"/>
                </a:solidFill>
              </a:rPr>
              <a:t>Sık Yapılan Hatalar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3964781" y="1965927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F4444"/>
                </a:solidFill>
              </a:rPr>
              <a:t>•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107656" y="1967712"/>
            <a:ext cx="37284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Çok yüksek öğrenme oranı (patlayan gradyanlar veya kararsız eğitim).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3964781" y="2183085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F4444"/>
                </a:solidFill>
              </a:rPr>
              <a:t>•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107656" y="2184871"/>
            <a:ext cx="34208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Normalizasyon katmanlarını yanlış modda (train/eval) kullanma.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964781" y="2400244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F4444"/>
                </a:solidFill>
              </a:rPr>
              <a:t>•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107656" y="2402030"/>
            <a:ext cx="29777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Veri sızıntısı (test verisinin eğitim sürecine dahil olması).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3679031" y="2817428"/>
            <a:ext cx="5107781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11111"/>
                </a:solidFill>
              </a:rPr>
              <a:t>Önerilen Kaynaklar</a:t>
            </a:r>
            <a:endParaRPr lang="en-US" sz="1159" dirty="0"/>
          </a:p>
        </p:txBody>
      </p:sp>
      <p:sp>
        <p:nvSpPr>
          <p:cNvPr id="26" name="Text 23"/>
          <p:cNvSpPr/>
          <p:nvPr/>
        </p:nvSpPr>
        <p:spPr>
          <a:xfrm>
            <a:off x="3964781" y="3124609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107656" y="3126395"/>
            <a:ext cx="27953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Deep Learning Book (Ian Goodfellow) - Teorik temel.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3964781" y="3341768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107656" y="3343554"/>
            <a:ext cx="24549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Fast.ai Kursları - Pratik ve modern yaklaşımlar.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3964781" y="3558927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→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107656" y="3560713"/>
            <a:ext cx="39664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PyTorch/TensorFlow Resmi Dokümantasyonu - Güncel implementasyonlar.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3679031" y="4816673"/>
            <a:ext cx="5107781" cy="326827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0"/>
          <p:cNvSpPr/>
          <p:nvPr/>
        </p:nvSpPr>
        <p:spPr>
          <a:xfrm>
            <a:off x="3679031" y="4816673"/>
            <a:ext cx="28575" cy="32682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3821906" y="4902398"/>
            <a:ext cx="48220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11111"/>
                </a:solidFill>
              </a:rPr>
              <a:t>Takeaway: Disiplinli bir deney süreci ve metrik takibi, başarılı bir modelin anahtarıdır.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1305</Words>
  <Application>Microsoft Office PowerPoint</Application>
  <PresentationFormat>On-screen Show (16:9)</PresentationFormat>
  <Paragraphs>212</Paragraphs>
  <Slides>44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k127a</cp:lastModifiedBy>
  <cp:revision>7</cp:revision>
  <dcterms:created xsi:type="dcterms:W3CDTF">2026-02-18T10:45:37Z</dcterms:created>
  <dcterms:modified xsi:type="dcterms:W3CDTF">2026-02-19T09:00:46Z</dcterms:modified>
</cp:coreProperties>
</file>