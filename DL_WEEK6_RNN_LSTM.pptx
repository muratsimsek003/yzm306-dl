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22"/>
        </a:solidFill>
      </p:bgPr>
    </p:bg>
    <p:spTree>
      <p:nvGrpSpPr>
        <p:cNvPr id="1" name=""/>
        <p:cNvGrpSpPr/>
        <p:nvPr/>
      </p:nvGrpSpPr>
      <p:grpSpPr>
        <a:xfrm>
          <a:off x="0" y="0"/>
          <a:ext cx="0" cy="0"/>
          <a:chOff x="0" y="0"/>
          <a:chExt cx="0" cy="0"/>
        </a:xfrm>
      </p:grpSpPr>
      <p:sp>
        <p:nvSpPr>
          <p:cNvPr id="2" name="Text 0"/>
          <p:cNvSpPr/>
          <p:nvPr/>
        </p:nvSpPr>
        <p:spPr>
          <a:xfrm>
            <a:off x="640080" y="548640"/>
            <a:ext cx="3657600" cy="365760"/>
          </a:xfrm>
          <a:prstGeom prst="rect">
            <a:avLst/>
          </a:prstGeom>
          <a:noFill/>
          <a:ln/>
        </p:spPr>
        <p:txBody>
          <a:bodyPr wrap="square" rtlCol="0" anchor="ctr"/>
          <a:lstStyle/>
          <a:p>
            <a:pPr indent="0" marL="0">
              <a:buNone/>
            </a:pPr>
            <a:r>
              <a:rPr lang="en-US" sz="1400" b="1" spc="800" kern="0" dirty="0">
                <a:solidFill>
                  <a:srgbClr val="E07856"/>
                </a:solidFill>
                <a:latin typeface="Calibri" pitchFamily="34" charset="0"/>
                <a:ea typeface="Calibri" pitchFamily="34" charset="-122"/>
                <a:cs typeface="Calibri" pitchFamily="34" charset="-120"/>
              </a:rPr>
              <a:t>YZM306</a:t>
            </a:r>
            <a:endParaRPr lang="en-US" sz="1400" dirty="0"/>
          </a:p>
        </p:txBody>
      </p:sp>
      <p:sp>
        <p:nvSpPr>
          <p:cNvPr id="3" name="Text 1"/>
          <p:cNvSpPr/>
          <p:nvPr/>
        </p:nvSpPr>
        <p:spPr>
          <a:xfrm>
            <a:off x="640080" y="868680"/>
            <a:ext cx="7315200" cy="365760"/>
          </a:xfrm>
          <a:prstGeom prst="rect">
            <a:avLst/>
          </a:prstGeom>
          <a:noFill/>
          <a:ln/>
        </p:spPr>
        <p:txBody>
          <a:bodyPr wrap="square" rtlCol="0" anchor="ctr"/>
          <a:lstStyle/>
          <a:p>
            <a:pPr indent="0" marL="0">
              <a:buNone/>
            </a:pPr>
            <a:r>
              <a:rPr lang="en-US" sz="1300" spc="400" kern="0" dirty="0">
                <a:solidFill>
                  <a:srgbClr val="9CA3AF"/>
                </a:solidFill>
                <a:latin typeface="Calibri" pitchFamily="34" charset="0"/>
                <a:ea typeface="Calibri" pitchFamily="34" charset="-122"/>
                <a:cs typeface="Calibri" pitchFamily="34" charset="-120"/>
              </a:rPr>
              <a:t>DERİN ÖĞRENME / DEEP LEARNING</a:t>
            </a:r>
            <a:endParaRPr lang="en-US" sz="1300" dirty="0"/>
          </a:p>
        </p:txBody>
      </p:sp>
      <p:sp>
        <p:nvSpPr>
          <p:cNvPr id="4" name="Text 2"/>
          <p:cNvSpPr/>
          <p:nvPr/>
        </p:nvSpPr>
        <p:spPr>
          <a:xfrm>
            <a:off x="640080" y="2011680"/>
            <a:ext cx="7315200" cy="640080"/>
          </a:xfrm>
          <a:prstGeom prst="rect">
            <a:avLst/>
          </a:prstGeom>
          <a:noFill/>
          <a:ln/>
        </p:spPr>
        <p:txBody>
          <a:bodyPr wrap="square" rtlCol="0" anchor="ctr"/>
          <a:lstStyle/>
          <a:p>
            <a:pPr indent="0" marL="0">
              <a:buNone/>
            </a:pPr>
            <a:r>
              <a:rPr lang="en-US" sz="2800" i="1" dirty="0">
                <a:solidFill>
                  <a:srgbClr val="48A6A7"/>
                </a:solidFill>
                <a:latin typeface="Calibri" pitchFamily="34" charset="0"/>
                <a:ea typeface="Calibri" pitchFamily="34" charset="-122"/>
                <a:cs typeface="Calibri" pitchFamily="34" charset="-120"/>
              </a:rPr>
              <a:t>Hafta 6</a:t>
            </a:r>
            <a:endParaRPr lang="en-US" sz="2800" dirty="0"/>
          </a:p>
        </p:txBody>
      </p:sp>
      <p:sp>
        <p:nvSpPr>
          <p:cNvPr id="5" name="Text 3"/>
          <p:cNvSpPr/>
          <p:nvPr/>
        </p:nvSpPr>
        <p:spPr>
          <a:xfrm>
            <a:off x="640080" y="2606040"/>
            <a:ext cx="10972800" cy="914400"/>
          </a:xfrm>
          <a:prstGeom prst="rect">
            <a:avLst/>
          </a:prstGeom>
          <a:noFill/>
          <a:ln/>
        </p:spPr>
        <p:txBody>
          <a:bodyPr wrap="square"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Tekrarlayan Sinir Ağları</a:t>
            </a:r>
            <a:endParaRPr lang="en-US" sz="5600" dirty="0"/>
          </a:p>
        </p:txBody>
      </p:sp>
      <p:sp>
        <p:nvSpPr>
          <p:cNvPr id="6" name="Text 4"/>
          <p:cNvSpPr/>
          <p:nvPr/>
        </p:nvSpPr>
        <p:spPr>
          <a:xfrm>
            <a:off x="640080" y="3611880"/>
            <a:ext cx="10972800" cy="457200"/>
          </a:xfrm>
          <a:prstGeom prst="rect">
            <a:avLst/>
          </a:prstGeom>
          <a:noFill/>
          <a:ln/>
        </p:spPr>
        <p:txBody>
          <a:bodyPr wrap="square" rtlCol="0" anchor="ctr"/>
          <a:lstStyle/>
          <a:p>
            <a:pPr indent="0" marL="0">
              <a:buNone/>
            </a:pPr>
            <a:r>
              <a:rPr lang="en-US" sz="2200" i="1" dirty="0">
                <a:solidFill>
                  <a:srgbClr val="E0A458"/>
                </a:solidFill>
                <a:latin typeface="Calibri" pitchFamily="34" charset="0"/>
                <a:ea typeface="Calibri" pitchFamily="34" charset="-122"/>
                <a:cs typeface="Calibri" pitchFamily="34" charset="-120"/>
              </a:rPr>
              <a:t>RNN  ·  LSTM  ·  Vanishing Gradient</a:t>
            </a:r>
            <a:endParaRPr lang="en-US" sz="2200" dirty="0"/>
          </a:p>
        </p:txBody>
      </p:sp>
      <p:sp>
        <p:nvSpPr>
          <p:cNvPr id="7" name="Shape 5"/>
          <p:cNvSpPr/>
          <p:nvPr/>
        </p:nvSpPr>
        <p:spPr>
          <a:xfrm>
            <a:off x="640080" y="4297680"/>
            <a:ext cx="1371600" cy="45720"/>
          </a:xfrm>
          <a:prstGeom prst="rect">
            <a:avLst/>
          </a:prstGeom>
          <a:solidFill>
            <a:srgbClr val="E07856"/>
          </a:solidFill>
          <a:ln w="12700">
            <a:solidFill>
              <a:srgbClr val="E07856"/>
            </a:solidFill>
            <a:prstDash val="solid"/>
          </a:ln>
        </p:spPr>
      </p:sp>
      <p:sp>
        <p:nvSpPr>
          <p:cNvPr id="8" name="Text 6"/>
          <p:cNvSpPr/>
          <p:nvPr/>
        </p:nvSpPr>
        <p:spPr>
          <a:xfrm>
            <a:off x="640080" y="4572000"/>
            <a:ext cx="3657600" cy="274320"/>
          </a:xfrm>
          <a:prstGeom prst="rect">
            <a:avLst/>
          </a:prstGeom>
          <a:noFill/>
          <a:ln/>
        </p:spPr>
        <p:txBody>
          <a:bodyPr wrap="square" rtlCol="0" anchor="ctr"/>
          <a:lstStyle/>
          <a:p>
            <a:pPr indent="0" marL="0">
              <a:buNone/>
            </a:pPr>
            <a:r>
              <a:rPr lang="en-US" sz="1100" spc="400" kern="0" dirty="0">
                <a:solidFill>
                  <a:srgbClr val="9CA3AF"/>
                </a:solidFill>
                <a:latin typeface="Calibri" pitchFamily="34" charset="0"/>
                <a:ea typeface="Calibri" pitchFamily="34" charset="-122"/>
                <a:cs typeface="Calibri" pitchFamily="34" charset="-120"/>
              </a:rPr>
              <a:t>Eğitmen</a:t>
            </a:r>
            <a:endParaRPr lang="en-US" sz="1100" dirty="0"/>
          </a:p>
        </p:txBody>
      </p:sp>
      <p:sp>
        <p:nvSpPr>
          <p:cNvPr id="9" name="Text 7"/>
          <p:cNvSpPr/>
          <p:nvPr/>
        </p:nvSpPr>
        <p:spPr>
          <a:xfrm>
            <a:off x="640080" y="4846320"/>
            <a:ext cx="7315200" cy="411480"/>
          </a:xfrm>
          <a:prstGeom prst="rect">
            <a:avLst/>
          </a:prstGeom>
          <a:noFill/>
          <a:ln/>
        </p:spPr>
        <p:txBody>
          <a:bodyPr wrap="square" rtlCol="0" anchor="ctr"/>
          <a:lstStyle/>
          <a:p>
            <a:pPr indent="0" marL="0">
              <a:buNone/>
            </a:pPr>
            <a:r>
              <a:rPr lang="en-US" sz="2200" dirty="0">
                <a:solidFill>
                  <a:srgbClr val="FFFFFF"/>
                </a:solidFill>
                <a:latin typeface="Calibri" pitchFamily="34" charset="0"/>
                <a:ea typeface="Calibri" pitchFamily="34" charset="-122"/>
                <a:cs typeface="Calibri" pitchFamily="34" charset="-120"/>
              </a:rPr>
              <a:t>Dr. Öğr. Üyesi Murat ŞİMŞEK</a:t>
            </a:r>
            <a:endParaRPr lang="en-US" sz="2200" dirty="0"/>
          </a:p>
        </p:txBody>
      </p:sp>
      <p:sp>
        <p:nvSpPr>
          <p:cNvPr id="10" name="Shape 8"/>
          <p:cNvSpPr/>
          <p:nvPr/>
        </p:nvSpPr>
        <p:spPr>
          <a:xfrm>
            <a:off x="9631375" y="4297680"/>
            <a:ext cx="2194560" cy="2194560"/>
          </a:xfrm>
          <a:prstGeom prst="ellipse">
            <a:avLst/>
          </a:prstGeom>
          <a:solidFill>
            <a:srgbClr val="E07856">
              <a:alpha val="20000"/>
            </a:srgbClr>
          </a:solidFill>
          <a:ln w="12700">
            <a:solidFill>
              <a:srgbClr val="E07856"/>
            </a:solidFill>
            <a:prstDash val="solid"/>
          </a:ln>
        </p:spPr>
      </p:sp>
      <p:sp>
        <p:nvSpPr>
          <p:cNvPr id="11" name="Shape 9"/>
          <p:cNvSpPr/>
          <p:nvPr/>
        </p:nvSpPr>
        <p:spPr>
          <a:xfrm>
            <a:off x="10362895" y="5029200"/>
            <a:ext cx="1463040" cy="1463040"/>
          </a:xfrm>
          <a:prstGeom prst="ellipse">
            <a:avLst/>
          </a:prstGeom>
          <a:solidFill>
            <a:srgbClr val="48A6A7">
              <a:alpha val="30000"/>
            </a:srgbClr>
          </a:solidFill>
          <a:ln w="12700">
            <a:solidFill>
              <a:srgbClr val="48A6A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457200" y="457200"/>
            <a:ext cx="1371600" cy="548640"/>
          </a:xfrm>
          <a:prstGeom prst="rect">
            <a:avLst/>
          </a:prstGeom>
          <a:noFill/>
          <a:ln/>
        </p:spPr>
        <p:txBody>
          <a:bodyPr wrap="square" rtlCol="0" anchor="ctr"/>
          <a:lstStyle/>
          <a:p>
            <a:pPr indent="0" marL="0">
              <a:buNone/>
            </a:pPr>
            <a:r>
              <a:rPr lang="en-US" sz="3200" b="1" dirty="0">
                <a:solidFill>
                  <a:srgbClr val="E07856"/>
                </a:solidFill>
                <a:latin typeface="Cambria" pitchFamily="34" charset="0"/>
                <a:ea typeface="Cambria" pitchFamily="34" charset="-122"/>
                <a:cs typeface="Cambria" pitchFamily="34" charset="-120"/>
              </a:rPr>
              <a:t>01</a:t>
            </a:r>
            <a:endParaRPr lang="en-US" sz="3200" dirty="0"/>
          </a:p>
        </p:txBody>
      </p:sp>
      <p:sp>
        <p:nvSpPr>
          <p:cNvPr id="3" name="Text 1"/>
          <p:cNvSpPr/>
          <p:nvPr/>
        </p:nvSpPr>
        <p:spPr>
          <a:xfrm>
            <a:off x="457200" y="960120"/>
            <a:ext cx="4572000" cy="457200"/>
          </a:xfrm>
          <a:prstGeom prst="rect">
            <a:avLst/>
          </a:prstGeom>
          <a:noFill/>
          <a:ln/>
        </p:spPr>
        <p:txBody>
          <a:bodyPr wrap="square" rtlCol="0" anchor="ctr"/>
          <a:lstStyle/>
          <a:p>
            <a:pPr indent="0" marL="0">
              <a:buNone/>
            </a:pPr>
            <a:r>
              <a:rPr lang="en-US" sz="3200" b="1" spc="400" kern="0" dirty="0">
                <a:solidFill>
                  <a:srgbClr val="0F1B3D"/>
                </a:solidFill>
                <a:latin typeface="Cambria" pitchFamily="34" charset="0"/>
                <a:ea typeface="Cambria" pitchFamily="34" charset="-122"/>
                <a:cs typeface="Cambria" pitchFamily="34" charset="-120"/>
              </a:rPr>
              <a:t>İÇİNDEKİLER</a:t>
            </a:r>
            <a:endParaRPr lang="en-US" sz="3200" dirty="0"/>
          </a:p>
        </p:txBody>
      </p:sp>
      <p:sp>
        <p:nvSpPr>
          <p:cNvPr id="4" name="Text 2"/>
          <p:cNvSpPr/>
          <p:nvPr/>
        </p:nvSpPr>
        <p:spPr>
          <a:xfrm>
            <a:off x="457200" y="1554480"/>
            <a:ext cx="548640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Bu haftanın yol haritası</a:t>
            </a:r>
            <a:endParaRPr lang="en-US" sz="1400" dirty="0"/>
          </a:p>
        </p:txBody>
      </p:sp>
      <p:sp>
        <p:nvSpPr>
          <p:cNvPr id="5" name="Shape 3"/>
          <p:cNvSpPr/>
          <p:nvPr/>
        </p:nvSpPr>
        <p:spPr>
          <a:xfrm>
            <a:off x="548640" y="2103120"/>
            <a:ext cx="502920" cy="502920"/>
          </a:xfrm>
          <a:prstGeom prst="ellipse">
            <a:avLst/>
          </a:prstGeom>
          <a:solidFill>
            <a:srgbClr val="0F1B3D"/>
          </a:solidFill>
          <a:ln w="12700">
            <a:solidFill>
              <a:srgbClr val="0F1B3D"/>
            </a:solidFill>
            <a:prstDash val="solid"/>
          </a:ln>
        </p:spPr>
      </p:sp>
      <p:sp>
        <p:nvSpPr>
          <p:cNvPr id="6" name="Text 4"/>
          <p:cNvSpPr/>
          <p:nvPr/>
        </p:nvSpPr>
        <p:spPr>
          <a:xfrm>
            <a:off x="548640" y="2103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280160" y="2103120"/>
            <a:ext cx="10058400" cy="32004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Sıralı Veri ve Zaman Serileri</a:t>
            </a:r>
            <a:endParaRPr lang="en-US" sz="1800" dirty="0"/>
          </a:p>
        </p:txBody>
      </p:sp>
      <p:sp>
        <p:nvSpPr>
          <p:cNvPr id="8" name="Text 6"/>
          <p:cNvSpPr/>
          <p:nvPr/>
        </p:nvSpPr>
        <p:spPr>
          <a:xfrm>
            <a:off x="1280160" y="2395728"/>
            <a:ext cx="10058400" cy="2743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Neden klasik ANN yetersiz kalıyor?</a:t>
            </a:r>
            <a:endParaRPr lang="en-US" sz="1200" dirty="0"/>
          </a:p>
        </p:txBody>
      </p:sp>
      <p:sp>
        <p:nvSpPr>
          <p:cNvPr id="9" name="Shape 7"/>
          <p:cNvSpPr/>
          <p:nvPr/>
        </p:nvSpPr>
        <p:spPr>
          <a:xfrm>
            <a:off x="548640" y="2880360"/>
            <a:ext cx="502920" cy="502920"/>
          </a:xfrm>
          <a:prstGeom prst="ellipse">
            <a:avLst/>
          </a:prstGeom>
          <a:solidFill>
            <a:srgbClr val="0F1B3D"/>
          </a:solidFill>
          <a:ln w="12700">
            <a:solidFill>
              <a:srgbClr val="0F1B3D"/>
            </a:solidFill>
            <a:prstDash val="solid"/>
          </a:ln>
        </p:spPr>
      </p:sp>
      <p:sp>
        <p:nvSpPr>
          <p:cNvPr id="10" name="Text 8"/>
          <p:cNvSpPr/>
          <p:nvPr/>
        </p:nvSpPr>
        <p:spPr>
          <a:xfrm>
            <a:off x="548640" y="2880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280160" y="2880360"/>
            <a:ext cx="10058400" cy="32004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RNN — Tekrarlayan Sinir Ağları</a:t>
            </a:r>
            <a:endParaRPr lang="en-US" sz="1800" dirty="0"/>
          </a:p>
        </p:txBody>
      </p:sp>
      <p:sp>
        <p:nvSpPr>
          <p:cNvPr id="12" name="Text 10"/>
          <p:cNvSpPr/>
          <p:nvPr/>
        </p:nvSpPr>
        <p:spPr>
          <a:xfrm>
            <a:off x="1280160" y="3172968"/>
            <a:ext cx="10058400" cy="2743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Mimari, gizli durum, paylaşılan ağırlıklar</a:t>
            </a:r>
            <a:endParaRPr lang="en-US" sz="1200" dirty="0"/>
          </a:p>
        </p:txBody>
      </p:sp>
      <p:sp>
        <p:nvSpPr>
          <p:cNvPr id="13" name="Shape 11"/>
          <p:cNvSpPr/>
          <p:nvPr/>
        </p:nvSpPr>
        <p:spPr>
          <a:xfrm>
            <a:off x="548640" y="3657600"/>
            <a:ext cx="502920" cy="502920"/>
          </a:xfrm>
          <a:prstGeom prst="ellipse">
            <a:avLst/>
          </a:prstGeom>
          <a:solidFill>
            <a:srgbClr val="0F1B3D"/>
          </a:solidFill>
          <a:ln w="12700">
            <a:solidFill>
              <a:srgbClr val="0F1B3D"/>
            </a:solidFill>
            <a:prstDash val="solid"/>
          </a:ln>
        </p:spPr>
      </p:sp>
      <p:sp>
        <p:nvSpPr>
          <p:cNvPr id="14" name="Text 12"/>
          <p:cNvSpPr/>
          <p:nvPr/>
        </p:nvSpPr>
        <p:spPr>
          <a:xfrm>
            <a:off x="548640" y="3657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1280160" y="3657600"/>
            <a:ext cx="10058400" cy="32004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Vanishing Gradient Problemi</a:t>
            </a:r>
            <a:endParaRPr lang="en-US" sz="1800" dirty="0"/>
          </a:p>
        </p:txBody>
      </p:sp>
      <p:sp>
        <p:nvSpPr>
          <p:cNvPr id="16" name="Text 14"/>
          <p:cNvSpPr/>
          <p:nvPr/>
        </p:nvSpPr>
        <p:spPr>
          <a:xfrm>
            <a:off x="1280160" y="3950208"/>
            <a:ext cx="10058400" cy="2743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Uzun ağlarda gradyan neden yok olur?</a:t>
            </a:r>
            <a:endParaRPr lang="en-US" sz="1200" dirty="0"/>
          </a:p>
        </p:txBody>
      </p:sp>
      <p:sp>
        <p:nvSpPr>
          <p:cNvPr id="17" name="Shape 15"/>
          <p:cNvSpPr/>
          <p:nvPr/>
        </p:nvSpPr>
        <p:spPr>
          <a:xfrm>
            <a:off x="548640" y="4434840"/>
            <a:ext cx="502920" cy="502920"/>
          </a:xfrm>
          <a:prstGeom prst="ellipse">
            <a:avLst/>
          </a:prstGeom>
          <a:solidFill>
            <a:srgbClr val="0F1B3D"/>
          </a:solidFill>
          <a:ln w="12700">
            <a:solidFill>
              <a:srgbClr val="0F1B3D"/>
            </a:solidFill>
            <a:prstDash val="solid"/>
          </a:ln>
        </p:spPr>
      </p:sp>
      <p:sp>
        <p:nvSpPr>
          <p:cNvPr id="18" name="Text 16"/>
          <p:cNvSpPr/>
          <p:nvPr/>
        </p:nvSpPr>
        <p:spPr>
          <a:xfrm>
            <a:off x="548640" y="4434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Text 17"/>
          <p:cNvSpPr/>
          <p:nvPr/>
        </p:nvSpPr>
        <p:spPr>
          <a:xfrm>
            <a:off x="1280160" y="4434840"/>
            <a:ext cx="10058400" cy="32004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LSTM Hücresi</a:t>
            </a:r>
            <a:endParaRPr lang="en-US" sz="1800" dirty="0"/>
          </a:p>
        </p:txBody>
      </p:sp>
      <p:sp>
        <p:nvSpPr>
          <p:cNvPr id="20" name="Text 18"/>
          <p:cNvSpPr/>
          <p:nvPr/>
        </p:nvSpPr>
        <p:spPr>
          <a:xfrm>
            <a:off x="1280160" y="4727448"/>
            <a:ext cx="10058400" cy="2743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Forget, Input, Output kapıları ve Cell State</a:t>
            </a:r>
            <a:endParaRPr lang="en-US" sz="1200" dirty="0"/>
          </a:p>
        </p:txBody>
      </p:sp>
      <p:sp>
        <p:nvSpPr>
          <p:cNvPr id="21" name="Shape 19"/>
          <p:cNvSpPr/>
          <p:nvPr/>
        </p:nvSpPr>
        <p:spPr>
          <a:xfrm>
            <a:off x="548640" y="5212080"/>
            <a:ext cx="502920" cy="502920"/>
          </a:xfrm>
          <a:prstGeom prst="ellipse">
            <a:avLst/>
          </a:prstGeom>
          <a:solidFill>
            <a:srgbClr val="0F1B3D"/>
          </a:solidFill>
          <a:ln w="12700">
            <a:solidFill>
              <a:srgbClr val="0F1B3D"/>
            </a:solidFill>
            <a:prstDash val="solid"/>
          </a:ln>
        </p:spPr>
      </p:sp>
      <p:sp>
        <p:nvSpPr>
          <p:cNvPr id="22" name="Text 20"/>
          <p:cNvSpPr/>
          <p:nvPr/>
        </p:nvSpPr>
        <p:spPr>
          <a:xfrm>
            <a:off x="548640" y="5212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3" name="Text 21"/>
          <p:cNvSpPr/>
          <p:nvPr/>
        </p:nvSpPr>
        <p:spPr>
          <a:xfrm>
            <a:off x="1280160" y="5212080"/>
            <a:ext cx="10058400" cy="32004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Uygulamalı Hesaplama Soruları</a:t>
            </a:r>
            <a:endParaRPr lang="en-US" sz="1800" dirty="0"/>
          </a:p>
        </p:txBody>
      </p:sp>
      <p:sp>
        <p:nvSpPr>
          <p:cNvPr id="24" name="Text 22"/>
          <p:cNvSpPr/>
          <p:nvPr/>
        </p:nvSpPr>
        <p:spPr>
          <a:xfrm>
            <a:off x="1280160" y="5504688"/>
            <a:ext cx="10058400" cy="2743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RoboSense, WeatherBot, SmartGreen örnekleri</a:t>
            </a:r>
            <a:endParaRPr lang="en-US" sz="1200" dirty="0"/>
          </a:p>
        </p:txBody>
      </p:sp>
      <p:sp>
        <p:nvSpPr>
          <p:cNvPr id="25" name="Text 23"/>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6" name="Text 24"/>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33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2286000"/>
            <a:ext cx="3657600" cy="365760"/>
          </a:xfrm>
          <a:prstGeom prst="rect">
            <a:avLst/>
          </a:prstGeom>
          <a:noFill/>
          <a:ln/>
        </p:spPr>
        <p:txBody>
          <a:bodyPr wrap="square" rtlCol="0" anchor="ctr"/>
          <a:lstStyle/>
          <a:p>
            <a:pPr indent="0" marL="0">
              <a:buNone/>
            </a:pPr>
            <a:r>
              <a:rPr lang="en-US" sz="1400" b="1" spc="600" kern="0" dirty="0">
                <a:solidFill>
                  <a:srgbClr val="E07856"/>
                </a:solidFill>
                <a:latin typeface="Calibri" pitchFamily="34" charset="0"/>
                <a:ea typeface="Calibri" pitchFamily="34" charset="-122"/>
                <a:cs typeface="Calibri" pitchFamily="34" charset="-120"/>
              </a:rPr>
              <a:t>BÖLÜM 01</a:t>
            </a:r>
            <a:endParaRPr lang="en-US" sz="1400" dirty="0"/>
          </a:p>
        </p:txBody>
      </p:sp>
      <p:sp>
        <p:nvSpPr>
          <p:cNvPr id="3" name="Text 1"/>
          <p:cNvSpPr/>
          <p:nvPr/>
        </p:nvSpPr>
        <p:spPr>
          <a:xfrm>
            <a:off x="640080" y="2697480"/>
            <a:ext cx="10972800" cy="164592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Sıralı Veri ve</a:t>
            </a:r>
            <a:endParaRPr lang="en-US" sz="5000" dirty="0"/>
          </a:p>
          <a:p>
            <a:pPr indent="0" marL="0">
              <a:buNone/>
            </a:pPr>
            <a:r>
              <a:rPr lang="en-US" sz="5000" b="1" dirty="0">
                <a:solidFill>
                  <a:srgbClr val="FFFFFF"/>
                </a:solidFill>
                <a:latin typeface="Cambria" pitchFamily="34" charset="0"/>
                <a:ea typeface="Cambria" pitchFamily="34" charset="-122"/>
                <a:cs typeface="Cambria" pitchFamily="34" charset="-120"/>
              </a:rPr>
              <a:t>Zaman Serileri</a:t>
            </a:r>
            <a:endParaRPr lang="en-US" sz="5000" dirty="0"/>
          </a:p>
        </p:txBody>
      </p:sp>
      <p:sp>
        <p:nvSpPr>
          <p:cNvPr id="4" name="Text 2"/>
          <p:cNvSpPr/>
          <p:nvPr/>
        </p:nvSpPr>
        <p:spPr>
          <a:xfrm>
            <a:off x="640080" y="4434840"/>
            <a:ext cx="10058400" cy="457200"/>
          </a:xfrm>
          <a:prstGeom prst="rect">
            <a:avLst/>
          </a:prstGeom>
          <a:noFill/>
          <a:ln/>
        </p:spPr>
        <p:txBody>
          <a:bodyPr wrap="square" rtlCol="0" anchor="ctr"/>
          <a:lstStyle/>
          <a:p>
            <a:pPr indent="0" marL="0">
              <a:buNone/>
            </a:pPr>
            <a:r>
              <a:rPr lang="en-US" sz="1800" i="1" dirty="0">
                <a:solidFill>
                  <a:srgbClr val="E0A458"/>
                </a:solidFill>
                <a:latin typeface="Calibri" pitchFamily="34" charset="0"/>
                <a:ea typeface="Calibri" pitchFamily="34" charset="-122"/>
                <a:cs typeface="Calibri" pitchFamily="34" charset="-120"/>
              </a:rPr>
              <a:t>Neden klasik yapay sinir ağları zaman bağımlılığını öğrenemez?</a:t>
            </a:r>
            <a:endParaRPr lang="en-US" sz="1800" dirty="0"/>
          </a:p>
        </p:txBody>
      </p:sp>
      <p:sp>
        <p:nvSpPr>
          <p:cNvPr id="5" name="Shape 3"/>
          <p:cNvSpPr/>
          <p:nvPr/>
        </p:nvSpPr>
        <p:spPr>
          <a:xfrm>
            <a:off x="640080" y="5029200"/>
            <a:ext cx="1097280" cy="36576"/>
          </a:xfrm>
          <a:prstGeom prst="rect">
            <a:avLst/>
          </a:prstGeom>
          <a:solidFill>
            <a:srgbClr val="E07856"/>
          </a:solidFill>
          <a:ln w="12700">
            <a:solidFill>
              <a:srgbClr val="E07856"/>
            </a:solidFill>
            <a:prstDash val="solid"/>
          </a:ln>
        </p:spPr>
      </p:sp>
      <p:sp>
        <p:nvSpPr>
          <p:cNvPr id="6" name="Text 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9CA3AF"/>
                </a:solidFill>
                <a:latin typeface="Calibri" pitchFamily="34" charset="0"/>
                <a:ea typeface="Calibri" pitchFamily="34" charset="-122"/>
                <a:cs typeface="Calibri" pitchFamily="34" charset="-120"/>
              </a:rPr>
              <a:t>YZM306 — Derin Öğrenme  |  Hafta 6: RNN ve LSTM</a:t>
            </a:r>
            <a:endParaRPr lang="en-US" sz="900" dirty="0"/>
          </a:p>
        </p:txBody>
      </p:sp>
      <p:sp>
        <p:nvSpPr>
          <p:cNvPr id="7" name="Text 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 / 33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Sıralı (Sequential) Veri Nedir?</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Verinin sırası anlam taşır — bir noktadaki gözlem, kendinden öncekilere bağlıdır.</a:t>
            </a:r>
            <a:endParaRPr lang="en-US" sz="1300" dirty="0"/>
          </a:p>
        </p:txBody>
      </p:sp>
      <p:sp>
        <p:nvSpPr>
          <p:cNvPr id="5" name="Shape 3"/>
          <p:cNvSpPr/>
          <p:nvPr/>
        </p:nvSpPr>
        <p:spPr>
          <a:xfrm>
            <a:off x="457200" y="1371600"/>
            <a:ext cx="11247120" cy="9601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640080" y="1463040"/>
            <a:ext cx="10881360" cy="868680"/>
          </a:xfrm>
          <a:prstGeom prst="rect">
            <a:avLst/>
          </a:prstGeom>
          <a:noFill/>
          <a:ln/>
        </p:spPr>
        <p:txBody>
          <a:bodyPr wrap="square" rtlCol="0" anchor="t"/>
          <a:lstStyle/>
          <a:p>
            <a:pPr indent="0" marL="0">
              <a:buNone/>
            </a:pPr>
            <a:r>
              <a:rPr lang="en-US" sz="1400" b="1" dirty="0">
                <a:solidFill>
                  <a:srgbClr val="E07856"/>
                </a:solidFill>
                <a:latin typeface="Calibri" pitchFamily="34" charset="0"/>
                <a:ea typeface="Calibri" pitchFamily="34" charset="-122"/>
                <a:cs typeface="Calibri" pitchFamily="34" charset="-120"/>
              </a:rPr>
              <a:t>Sıralı veri</a:t>
            </a:r>
            <a:pPr indent="0" marL="0">
              <a:buNone/>
            </a:pPr>
            <a:r>
              <a:rPr lang="en-US" sz="1400" dirty="0">
                <a:solidFill>
                  <a:srgbClr val="0F1B3D"/>
                </a:solidFill>
                <a:latin typeface="Calibri" pitchFamily="34" charset="0"/>
                <a:ea typeface="Calibri" pitchFamily="34" charset="-122"/>
                <a:cs typeface="Calibri" pitchFamily="34" charset="-120"/>
              </a:rPr>
              <a:t>, elemanlarının zamansal ya da pozisyonel bir bağıma sahip olduğu veri türüdür. </a:t>
            </a:r>
            <a:pPr indent="0" marL="0">
              <a:buNone/>
            </a:pPr>
            <a:r>
              <a:rPr lang="en-US" sz="1400" dirty="0">
                <a:solidFill>
                  <a:srgbClr val="0F1B3D"/>
                </a:solidFill>
                <a:latin typeface="Calibri" pitchFamily="34" charset="0"/>
                <a:ea typeface="Calibri" pitchFamily="34" charset="-122"/>
                <a:cs typeface="Calibri" pitchFamily="34" charset="-120"/>
              </a:rPr>
              <a:t>Cümlede kelimelerin sırasını değiştirirseniz anlam bozulur; bir günün hisse senedi fiyatını bilmeden bir sonrakini doğru tahmin edemezsiniz. Bu nedenle sıralı veriyi modelleyen ağların </a:t>
            </a:r>
            <a:pPr indent="0" marL="0">
              <a:buNone/>
            </a:pPr>
            <a:r>
              <a:rPr lang="en-US" sz="1400" b="1" dirty="0">
                <a:solidFill>
                  <a:srgbClr val="0F1B3D"/>
                </a:solidFill>
                <a:latin typeface="Calibri" pitchFamily="34" charset="0"/>
                <a:ea typeface="Calibri" pitchFamily="34" charset="-122"/>
                <a:cs typeface="Calibri" pitchFamily="34" charset="-120"/>
              </a:rPr>
              <a:t>geçmişi hatırlama</a:t>
            </a:r>
            <a:pPr indent="0" marL="0">
              <a:buNone/>
            </a:pPr>
            <a:r>
              <a:rPr lang="en-US" sz="1400" dirty="0">
                <a:solidFill>
                  <a:srgbClr val="0F1B3D"/>
                </a:solidFill>
                <a:latin typeface="Calibri" pitchFamily="34" charset="0"/>
                <a:ea typeface="Calibri" pitchFamily="34" charset="-122"/>
                <a:cs typeface="Calibri" pitchFamily="34" charset="-120"/>
              </a:rPr>
              <a:t> yeteneğine ihtiyacı vardır.</a:t>
            </a:r>
            <a:endParaRPr lang="en-US" sz="1400" dirty="0"/>
          </a:p>
        </p:txBody>
      </p:sp>
      <p:pic>
        <p:nvPicPr>
          <p:cNvPr id="7" name="Image 0" descr="/home/claude/diagrams/sequence_data.png">    </p:cNvPr>
          <p:cNvPicPr>
            <a:picLocks noChangeAspect="1"/>
          </p:cNvPicPr>
          <p:nvPr/>
        </p:nvPicPr>
        <p:blipFill>
          <a:blip r:embed="rId1"/>
          <a:srcRect l="0" r="0" t="0" b="0"/>
          <a:stretch/>
        </p:blipFill>
        <p:spPr>
          <a:xfrm>
            <a:off x="457200" y="2560320"/>
            <a:ext cx="11247120" cy="3749040"/>
          </a:xfrm>
          <a:prstGeom prst="rect">
            <a:avLst/>
          </a:prstGeom>
        </p:spPr>
      </p:pic>
      <p:sp>
        <p:nvSpPr>
          <p:cNvPr id="8" name="Text 5"/>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9" name="Text 6"/>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33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Neden Tekrarlayan Sinir Ağları?</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Klasik ANN'in sıralı veride başarısız olduğu üç temel nokta.</a:t>
            </a:r>
            <a:endParaRPr lang="en-US" sz="1300" dirty="0"/>
          </a:p>
        </p:txBody>
      </p:sp>
      <p:sp>
        <p:nvSpPr>
          <p:cNvPr id="5" name="Shape 3"/>
          <p:cNvSpPr/>
          <p:nvPr/>
        </p:nvSpPr>
        <p:spPr>
          <a:xfrm>
            <a:off x="457200" y="1737360"/>
            <a:ext cx="3456432" cy="40233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737360"/>
            <a:ext cx="91440" cy="4023360"/>
          </a:xfrm>
          <a:prstGeom prst="rect">
            <a:avLst/>
          </a:prstGeom>
          <a:solidFill>
            <a:srgbClr val="E07856"/>
          </a:solidFill>
          <a:ln w="12700">
            <a:solidFill>
              <a:srgbClr val="E07856"/>
            </a:solidFill>
            <a:prstDash val="solid"/>
          </a:ln>
        </p:spPr>
      </p:sp>
      <p:sp>
        <p:nvSpPr>
          <p:cNvPr id="7" name="Shape 5"/>
          <p:cNvSpPr/>
          <p:nvPr/>
        </p:nvSpPr>
        <p:spPr>
          <a:xfrm>
            <a:off x="777240" y="2057400"/>
            <a:ext cx="640080" cy="640080"/>
          </a:xfrm>
          <a:prstGeom prst="ellipse">
            <a:avLst/>
          </a:prstGeom>
          <a:solidFill>
            <a:srgbClr val="0F1B3D"/>
          </a:solidFill>
          <a:ln w="12700">
            <a:solidFill>
              <a:srgbClr val="0F1B3D"/>
            </a:solidFill>
            <a:prstDash val="solid"/>
          </a:ln>
        </p:spPr>
      </p:sp>
      <p:sp>
        <p:nvSpPr>
          <p:cNvPr id="8" name="Text 6"/>
          <p:cNvSpPr/>
          <p:nvPr/>
        </p:nvSpPr>
        <p:spPr>
          <a:xfrm>
            <a:off x="777240" y="20574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7"/>
          <p:cNvSpPr/>
          <p:nvPr/>
        </p:nvSpPr>
        <p:spPr>
          <a:xfrm>
            <a:off x="777240" y="2834640"/>
            <a:ext cx="2816352" cy="640080"/>
          </a:xfrm>
          <a:prstGeom prst="rect">
            <a:avLst/>
          </a:prstGeom>
          <a:noFill/>
          <a:ln/>
        </p:spPr>
        <p:txBody>
          <a:bodyPr wrap="square" lIns="0" tIns="0" rIns="0" bIns="0" rtlCol="0" anchor="t"/>
          <a:lstStyle/>
          <a:p>
            <a:pPr indent="0" marL="0">
              <a:buNone/>
            </a:pPr>
            <a:r>
              <a:rPr lang="en-US" sz="1800" b="1" dirty="0">
                <a:solidFill>
                  <a:srgbClr val="0F1B3D"/>
                </a:solidFill>
                <a:latin typeface="Cambria" pitchFamily="34" charset="0"/>
                <a:ea typeface="Cambria" pitchFamily="34" charset="-122"/>
                <a:cs typeface="Cambria" pitchFamily="34" charset="-120"/>
              </a:rPr>
              <a:t>Sabit Giriş/Çıkış Boyutu</a:t>
            </a:r>
            <a:endParaRPr lang="en-US" sz="1800" dirty="0"/>
          </a:p>
        </p:txBody>
      </p:sp>
      <p:sp>
        <p:nvSpPr>
          <p:cNvPr id="10" name="Text 8"/>
          <p:cNvSpPr/>
          <p:nvPr/>
        </p:nvSpPr>
        <p:spPr>
          <a:xfrm>
            <a:off x="777240" y="3566160"/>
            <a:ext cx="2816352" cy="20116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Klasik ANN, önceden belirlenmiş sabit boyutlu giriş alır. Oysa cümleler farklı uzunlukta, ses sinyalleri değişken sürelidir. Her örnek için ayrı bir ağ tasarlamak pratik değildir.</a:t>
            </a:r>
            <a:endParaRPr lang="en-US" sz="1300" dirty="0"/>
          </a:p>
        </p:txBody>
      </p:sp>
      <p:sp>
        <p:nvSpPr>
          <p:cNvPr id="11" name="Shape 9"/>
          <p:cNvSpPr/>
          <p:nvPr/>
        </p:nvSpPr>
        <p:spPr>
          <a:xfrm>
            <a:off x="4370832" y="1737360"/>
            <a:ext cx="3456432" cy="40233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Shape 10"/>
          <p:cNvSpPr/>
          <p:nvPr/>
        </p:nvSpPr>
        <p:spPr>
          <a:xfrm>
            <a:off x="4370832" y="1737360"/>
            <a:ext cx="91440" cy="4023360"/>
          </a:xfrm>
          <a:prstGeom prst="rect">
            <a:avLst/>
          </a:prstGeom>
          <a:solidFill>
            <a:srgbClr val="E07856"/>
          </a:solidFill>
          <a:ln w="12700">
            <a:solidFill>
              <a:srgbClr val="E07856"/>
            </a:solidFill>
            <a:prstDash val="solid"/>
          </a:ln>
        </p:spPr>
      </p:sp>
      <p:sp>
        <p:nvSpPr>
          <p:cNvPr id="13" name="Shape 11"/>
          <p:cNvSpPr/>
          <p:nvPr/>
        </p:nvSpPr>
        <p:spPr>
          <a:xfrm>
            <a:off x="4690872" y="2057400"/>
            <a:ext cx="640080" cy="640080"/>
          </a:xfrm>
          <a:prstGeom prst="ellipse">
            <a:avLst/>
          </a:prstGeom>
          <a:solidFill>
            <a:srgbClr val="0F1B3D"/>
          </a:solidFill>
          <a:ln w="12700">
            <a:solidFill>
              <a:srgbClr val="0F1B3D"/>
            </a:solidFill>
            <a:prstDash val="solid"/>
          </a:ln>
        </p:spPr>
      </p:sp>
      <p:sp>
        <p:nvSpPr>
          <p:cNvPr id="14" name="Text 12"/>
          <p:cNvSpPr/>
          <p:nvPr/>
        </p:nvSpPr>
        <p:spPr>
          <a:xfrm>
            <a:off x="4690872" y="20574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3"/>
          <p:cNvSpPr/>
          <p:nvPr/>
        </p:nvSpPr>
        <p:spPr>
          <a:xfrm>
            <a:off x="4690872" y="2834640"/>
            <a:ext cx="2816352" cy="640080"/>
          </a:xfrm>
          <a:prstGeom prst="rect">
            <a:avLst/>
          </a:prstGeom>
          <a:noFill/>
          <a:ln/>
        </p:spPr>
        <p:txBody>
          <a:bodyPr wrap="square" lIns="0" tIns="0" rIns="0" bIns="0" rtlCol="0" anchor="t"/>
          <a:lstStyle/>
          <a:p>
            <a:pPr indent="0" marL="0">
              <a:buNone/>
            </a:pPr>
            <a:r>
              <a:rPr lang="en-US" sz="1800" b="1" dirty="0">
                <a:solidFill>
                  <a:srgbClr val="0F1B3D"/>
                </a:solidFill>
                <a:latin typeface="Cambria" pitchFamily="34" charset="0"/>
                <a:ea typeface="Cambria" pitchFamily="34" charset="-122"/>
                <a:cs typeface="Cambria" pitchFamily="34" charset="-120"/>
              </a:rPr>
              <a:t>Zaman Bağımlılığı Yok</a:t>
            </a:r>
            <a:endParaRPr lang="en-US" sz="1800" dirty="0"/>
          </a:p>
        </p:txBody>
      </p:sp>
      <p:sp>
        <p:nvSpPr>
          <p:cNvPr id="16" name="Text 14"/>
          <p:cNvSpPr/>
          <p:nvPr/>
        </p:nvSpPr>
        <p:spPr>
          <a:xfrm>
            <a:off x="4690872" y="3566160"/>
            <a:ext cx="2816352" cy="20116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ANN, her örneği bağımsız işler — bir önceki çıktı, bir sonrakini etkilemez. Halbuki dil, ses, finans verisinde anlam, dizinin geçmişine bağlıdır.</a:t>
            </a:r>
            <a:endParaRPr lang="en-US" sz="1300" dirty="0"/>
          </a:p>
        </p:txBody>
      </p:sp>
      <p:sp>
        <p:nvSpPr>
          <p:cNvPr id="17" name="Shape 15"/>
          <p:cNvSpPr/>
          <p:nvPr/>
        </p:nvSpPr>
        <p:spPr>
          <a:xfrm>
            <a:off x="8275320" y="1737360"/>
            <a:ext cx="3456432" cy="40233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8" name="Shape 16"/>
          <p:cNvSpPr/>
          <p:nvPr/>
        </p:nvSpPr>
        <p:spPr>
          <a:xfrm>
            <a:off x="8275320" y="1737360"/>
            <a:ext cx="91440" cy="4023360"/>
          </a:xfrm>
          <a:prstGeom prst="rect">
            <a:avLst/>
          </a:prstGeom>
          <a:solidFill>
            <a:srgbClr val="E07856"/>
          </a:solidFill>
          <a:ln w="12700">
            <a:solidFill>
              <a:srgbClr val="E07856"/>
            </a:solidFill>
            <a:prstDash val="solid"/>
          </a:ln>
        </p:spPr>
      </p:sp>
      <p:sp>
        <p:nvSpPr>
          <p:cNvPr id="19" name="Shape 17"/>
          <p:cNvSpPr/>
          <p:nvPr/>
        </p:nvSpPr>
        <p:spPr>
          <a:xfrm>
            <a:off x="8595360" y="2057400"/>
            <a:ext cx="640080" cy="640080"/>
          </a:xfrm>
          <a:prstGeom prst="ellipse">
            <a:avLst/>
          </a:prstGeom>
          <a:solidFill>
            <a:srgbClr val="0F1B3D"/>
          </a:solidFill>
          <a:ln w="12700">
            <a:solidFill>
              <a:srgbClr val="0F1B3D"/>
            </a:solidFill>
            <a:prstDash val="solid"/>
          </a:ln>
        </p:spPr>
      </p:sp>
      <p:sp>
        <p:nvSpPr>
          <p:cNvPr id="20" name="Text 18"/>
          <p:cNvSpPr/>
          <p:nvPr/>
        </p:nvSpPr>
        <p:spPr>
          <a:xfrm>
            <a:off x="8595360" y="20574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1" name="Text 19"/>
          <p:cNvSpPr/>
          <p:nvPr/>
        </p:nvSpPr>
        <p:spPr>
          <a:xfrm>
            <a:off x="8595360" y="2834640"/>
            <a:ext cx="2816352" cy="640080"/>
          </a:xfrm>
          <a:prstGeom prst="rect">
            <a:avLst/>
          </a:prstGeom>
          <a:noFill/>
          <a:ln/>
        </p:spPr>
        <p:txBody>
          <a:bodyPr wrap="square" lIns="0" tIns="0" rIns="0" bIns="0" rtlCol="0" anchor="t"/>
          <a:lstStyle/>
          <a:p>
            <a:pPr indent="0" marL="0">
              <a:buNone/>
            </a:pPr>
            <a:r>
              <a:rPr lang="en-US" sz="1800" b="1" dirty="0">
                <a:solidFill>
                  <a:srgbClr val="0F1B3D"/>
                </a:solidFill>
                <a:latin typeface="Cambria" pitchFamily="34" charset="0"/>
                <a:ea typeface="Cambria" pitchFamily="34" charset="-122"/>
                <a:cs typeface="Cambria" pitchFamily="34" charset="-120"/>
              </a:rPr>
              <a:t>Geçmiş Bilgi Kaybı</a:t>
            </a:r>
            <a:endParaRPr lang="en-US" sz="1800" dirty="0"/>
          </a:p>
        </p:txBody>
      </p:sp>
      <p:sp>
        <p:nvSpPr>
          <p:cNvPr id="22" name="Text 20"/>
          <p:cNvSpPr/>
          <p:nvPr/>
        </p:nvSpPr>
        <p:spPr>
          <a:xfrm>
            <a:off x="8595360" y="3566160"/>
            <a:ext cx="2816352" cy="20116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İleri beslemeli ağlar, önceki gözlemleri saklayacak bir hafıza mekanizmasına sahip değildir. Her ileri geçişte 'sıfırdan' başlarlar; uzun bağlamı modelleyemezler.</a:t>
            </a:r>
            <a:endParaRPr lang="en-US" sz="1300" dirty="0"/>
          </a:p>
        </p:txBody>
      </p:sp>
      <p:sp>
        <p:nvSpPr>
          <p:cNvPr id="23" name="Text 21"/>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4" name="Text 22"/>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33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2286000"/>
            <a:ext cx="3657600" cy="365760"/>
          </a:xfrm>
          <a:prstGeom prst="rect">
            <a:avLst/>
          </a:prstGeom>
          <a:noFill/>
          <a:ln/>
        </p:spPr>
        <p:txBody>
          <a:bodyPr wrap="square" rtlCol="0" anchor="ctr"/>
          <a:lstStyle/>
          <a:p>
            <a:pPr indent="0" marL="0">
              <a:buNone/>
            </a:pPr>
            <a:r>
              <a:rPr lang="en-US" sz="1400" b="1" spc="600" kern="0" dirty="0">
                <a:solidFill>
                  <a:srgbClr val="E07856"/>
                </a:solidFill>
                <a:latin typeface="Calibri" pitchFamily="34" charset="0"/>
                <a:ea typeface="Calibri" pitchFamily="34" charset="-122"/>
                <a:cs typeface="Calibri" pitchFamily="34" charset="-120"/>
              </a:rPr>
              <a:t>BÖLÜM 02</a:t>
            </a:r>
            <a:endParaRPr lang="en-US" sz="1400" dirty="0"/>
          </a:p>
        </p:txBody>
      </p:sp>
      <p:sp>
        <p:nvSpPr>
          <p:cNvPr id="3" name="Text 1"/>
          <p:cNvSpPr/>
          <p:nvPr/>
        </p:nvSpPr>
        <p:spPr>
          <a:xfrm>
            <a:off x="640080" y="2697480"/>
            <a:ext cx="10972800" cy="1371600"/>
          </a:xfrm>
          <a:prstGeom prst="rect">
            <a:avLst/>
          </a:prstGeom>
          <a:noFill/>
          <a:ln/>
        </p:spPr>
        <p:txBody>
          <a:bodyPr wrap="square"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RNN</a:t>
            </a:r>
            <a:endParaRPr lang="en-US" sz="8000" dirty="0"/>
          </a:p>
        </p:txBody>
      </p:sp>
      <p:sp>
        <p:nvSpPr>
          <p:cNvPr id="4" name="Text 2"/>
          <p:cNvSpPr/>
          <p:nvPr/>
        </p:nvSpPr>
        <p:spPr>
          <a:xfrm>
            <a:off x="640080" y="4160520"/>
            <a:ext cx="10972800" cy="457200"/>
          </a:xfrm>
          <a:prstGeom prst="rect">
            <a:avLst/>
          </a:prstGeom>
          <a:noFill/>
          <a:ln/>
        </p:spPr>
        <p:txBody>
          <a:bodyPr wrap="square" rtlCol="0" anchor="ctr"/>
          <a:lstStyle/>
          <a:p>
            <a:pPr indent="0" marL="0">
              <a:buNone/>
            </a:pPr>
            <a:r>
              <a:rPr lang="en-US" sz="2200" i="1" dirty="0">
                <a:solidFill>
                  <a:srgbClr val="E0A458"/>
                </a:solidFill>
                <a:latin typeface="Calibri" pitchFamily="34" charset="0"/>
                <a:ea typeface="Calibri" pitchFamily="34" charset="-122"/>
                <a:cs typeface="Calibri" pitchFamily="34" charset="-120"/>
              </a:rPr>
              <a:t>Recurrent Neural Networks — Tekrarlayan Sinir Ağları</a:t>
            </a:r>
            <a:endParaRPr lang="en-US" sz="2200" dirty="0"/>
          </a:p>
        </p:txBody>
      </p:sp>
      <p:sp>
        <p:nvSpPr>
          <p:cNvPr id="5" name="Shape 3"/>
          <p:cNvSpPr/>
          <p:nvPr/>
        </p:nvSpPr>
        <p:spPr>
          <a:xfrm>
            <a:off x="640080" y="4754880"/>
            <a:ext cx="1097280" cy="36576"/>
          </a:xfrm>
          <a:prstGeom prst="rect">
            <a:avLst/>
          </a:prstGeom>
          <a:solidFill>
            <a:srgbClr val="E07856"/>
          </a:solidFill>
          <a:ln w="12700">
            <a:solidFill>
              <a:srgbClr val="E07856"/>
            </a:solidFill>
            <a:prstDash val="solid"/>
          </a:ln>
        </p:spPr>
      </p:sp>
      <p:sp>
        <p:nvSpPr>
          <p:cNvPr id="6" name="Text 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9CA3AF"/>
                </a:solidFill>
                <a:latin typeface="Calibri" pitchFamily="34" charset="0"/>
                <a:ea typeface="Calibri" pitchFamily="34" charset="-122"/>
                <a:cs typeface="Calibri" pitchFamily="34" charset="-120"/>
              </a:rPr>
              <a:t>YZM306 — Derin Öğrenme  |  Hafta 6: RNN ve LSTM</a:t>
            </a:r>
            <a:endParaRPr lang="en-US" sz="900" dirty="0"/>
          </a:p>
        </p:txBody>
      </p:sp>
      <p:sp>
        <p:nvSpPr>
          <p:cNvPr id="7" name="Text 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6 / 33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RNN — Tekrarlayan Sinir Ağı</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Sıralı veriyi işlemek için tasarlanmış, hafızası olan bir sinir ağı türü.</a:t>
            </a:r>
            <a:endParaRPr lang="en-US" sz="1300" dirty="0"/>
          </a:p>
        </p:txBody>
      </p:sp>
      <p:sp>
        <p:nvSpPr>
          <p:cNvPr id="5" name="Shape 3"/>
          <p:cNvSpPr/>
          <p:nvPr/>
        </p:nvSpPr>
        <p:spPr>
          <a:xfrm>
            <a:off x="457200" y="1463040"/>
            <a:ext cx="5669280" cy="48463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463040"/>
            <a:ext cx="91440" cy="4846320"/>
          </a:xfrm>
          <a:prstGeom prst="rect">
            <a:avLst/>
          </a:prstGeom>
          <a:solidFill>
            <a:srgbClr val="48A6A7"/>
          </a:solidFill>
          <a:ln w="12700">
            <a:solidFill>
              <a:srgbClr val="48A6A7"/>
            </a:solidFill>
            <a:prstDash val="solid"/>
          </a:ln>
        </p:spPr>
      </p:sp>
      <p:sp>
        <p:nvSpPr>
          <p:cNvPr id="7" name="Text 5"/>
          <p:cNvSpPr/>
          <p:nvPr/>
        </p:nvSpPr>
        <p:spPr>
          <a:xfrm>
            <a:off x="777240" y="1600200"/>
            <a:ext cx="5212080" cy="365760"/>
          </a:xfrm>
          <a:prstGeom prst="rect">
            <a:avLst/>
          </a:prstGeom>
          <a:noFill/>
          <a:ln/>
        </p:spPr>
        <p:txBody>
          <a:bodyPr wrap="square" lIns="0" tIns="0" rIns="0" bIns="0" rtlCol="0" anchor="ctr"/>
          <a:lstStyle/>
          <a:p>
            <a:pPr indent="0" marL="0">
              <a:buNone/>
            </a:pPr>
            <a:r>
              <a:rPr lang="en-US" sz="1800" b="1" dirty="0">
                <a:solidFill>
                  <a:srgbClr val="48A6A7"/>
                </a:solidFill>
                <a:latin typeface="Cambria" pitchFamily="34" charset="0"/>
                <a:ea typeface="Cambria" pitchFamily="34" charset="-122"/>
                <a:cs typeface="Cambria" pitchFamily="34" charset="-120"/>
              </a:rPr>
              <a:t>Tanım</a:t>
            </a:r>
            <a:endParaRPr lang="en-US" sz="1800" dirty="0"/>
          </a:p>
        </p:txBody>
      </p:sp>
      <p:sp>
        <p:nvSpPr>
          <p:cNvPr id="8" name="Text 6"/>
          <p:cNvSpPr/>
          <p:nvPr/>
        </p:nvSpPr>
        <p:spPr>
          <a:xfrm>
            <a:off x="777240" y="2057400"/>
            <a:ext cx="5212080" cy="1371600"/>
          </a:xfrm>
          <a:prstGeom prst="rect">
            <a:avLst/>
          </a:prstGeom>
          <a:noFill/>
          <a:ln/>
        </p:spPr>
        <p:txBody>
          <a:bodyPr wrap="square" lIns="0" tIns="0" rIns="0" bIns="0" rtlCol="0" anchor="t"/>
          <a:lstStyle/>
          <a:p>
            <a:pPr indent="0" marL="0">
              <a:buNone/>
            </a:pPr>
            <a:r>
              <a:rPr lang="en-US" sz="1400" b="1" dirty="0">
                <a:solidFill>
                  <a:srgbClr val="0F1B3D"/>
                </a:solidFill>
                <a:latin typeface="Calibri" pitchFamily="34" charset="0"/>
                <a:ea typeface="Calibri" pitchFamily="34" charset="-122"/>
                <a:cs typeface="Calibri" pitchFamily="34" charset="-120"/>
              </a:rPr>
              <a:t>RNN</a:t>
            </a:r>
            <a:pPr indent="0" marL="0">
              <a:buNone/>
            </a:pPr>
            <a:r>
              <a:rPr lang="en-US" sz="1400" dirty="0">
                <a:solidFill>
                  <a:srgbClr val="374151"/>
                </a:solidFill>
                <a:latin typeface="Calibri" pitchFamily="34" charset="0"/>
                <a:ea typeface="Calibri" pitchFamily="34" charset="-122"/>
                <a:cs typeface="Calibri" pitchFamily="34" charset="-120"/>
              </a:rPr>
              <a:t>, girdileri </a:t>
            </a:r>
            <a:pPr indent="0" marL="0">
              <a:buNone/>
            </a:pPr>
            <a:r>
              <a:rPr lang="en-US" sz="1400" i="1" dirty="0">
                <a:solidFill>
                  <a:srgbClr val="374151"/>
                </a:solidFill>
                <a:latin typeface="Calibri" pitchFamily="34" charset="0"/>
                <a:ea typeface="Calibri" pitchFamily="34" charset="-122"/>
                <a:cs typeface="Calibri" pitchFamily="34" charset="-120"/>
              </a:rPr>
              <a:t>sırayla</a:t>
            </a:r>
            <a:pPr indent="0" marL="0">
              <a:buNone/>
            </a:pPr>
            <a:r>
              <a:rPr lang="en-US" sz="1400" dirty="0">
                <a:solidFill>
                  <a:srgbClr val="374151"/>
                </a:solidFill>
                <a:latin typeface="Calibri" pitchFamily="34" charset="0"/>
                <a:ea typeface="Calibri" pitchFamily="34" charset="-122"/>
                <a:cs typeface="Calibri" pitchFamily="34" charset="-120"/>
              </a:rPr>
              <a:t> işleyen ve her zaman adımında </a:t>
            </a:r>
            <a:pPr indent="0" marL="0">
              <a:buNone/>
            </a:pPr>
            <a:r>
              <a:rPr lang="en-US" sz="1400" b="1" dirty="0">
                <a:solidFill>
                  <a:srgbClr val="0F1B3D"/>
                </a:solidFill>
                <a:latin typeface="Calibri" pitchFamily="34" charset="0"/>
                <a:ea typeface="Calibri" pitchFamily="34" charset="-122"/>
                <a:cs typeface="Calibri" pitchFamily="34" charset="-120"/>
              </a:rPr>
              <a:t>gizli bir durum</a:t>
            </a:r>
            <a:pPr indent="0" marL="0">
              <a:buNone/>
            </a:pPr>
            <a:r>
              <a:rPr lang="en-US" sz="1400" dirty="0">
                <a:solidFill>
                  <a:srgbClr val="374151"/>
                </a:solidFill>
                <a:latin typeface="Calibri" pitchFamily="34" charset="0"/>
                <a:ea typeface="Calibri" pitchFamily="34" charset="-122"/>
                <a:cs typeface="Calibri" pitchFamily="34" charset="-120"/>
              </a:rPr>
              <a:t> (hidden state) tutarak geçmişi 'hatırlayan' bir sinir ağıdır.</a:t>
            </a:r>
            <a:endParaRPr lang="en-US" sz="1400" dirty="0"/>
          </a:p>
        </p:txBody>
      </p:sp>
      <p:sp>
        <p:nvSpPr>
          <p:cNvPr id="9" name="Text 7"/>
          <p:cNvSpPr/>
          <p:nvPr/>
        </p:nvSpPr>
        <p:spPr>
          <a:xfrm>
            <a:off x="777240" y="3246120"/>
            <a:ext cx="5212080" cy="365760"/>
          </a:xfrm>
          <a:prstGeom prst="rect">
            <a:avLst/>
          </a:prstGeom>
          <a:noFill/>
          <a:ln/>
        </p:spPr>
        <p:txBody>
          <a:bodyPr wrap="square" lIns="0" tIns="0" rIns="0" bIns="0" rtlCol="0" anchor="ctr"/>
          <a:lstStyle/>
          <a:p>
            <a:pPr indent="0" marL="0">
              <a:buNone/>
            </a:pPr>
            <a:r>
              <a:rPr lang="en-US" sz="1600" b="1" dirty="0">
                <a:solidFill>
                  <a:srgbClr val="48A6A7"/>
                </a:solidFill>
                <a:latin typeface="Cambria" pitchFamily="34" charset="0"/>
                <a:ea typeface="Cambria" pitchFamily="34" charset="-122"/>
                <a:cs typeface="Cambria" pitchFamily="34" charset="-120"/>
              </a:rPr>
              <a:t>Temel Mekanizma</a:t>
            </a:r>
            <a:endParaRPr lang="en-US" sz="1600" dirty="0"/>
          </a:p>
        </p:txBody>
      </p:sp>
      <p:sp>
        <p:nvSpPr>
          <p:cNvPr id="10" name="Text 8"/>
          <p:cNvSpPr/>
          <p:nvPr/>
        </p:nvSpPr>
        <p:spPr>
          <a:xfrm>
            <a:off x="777240" y="3657600"/>
            <a:ext cx="5212080" cy="2560320"/>
          </a:xfrm>
          <a:prstGeom prst="rect">
            <a:avLst/>
          </a:prstGeom>
          <a:noFill/>
          <a:ln/>
        </p:spPr>
        <p:txBody>
          <a:bodyPr wrap="square" rtlCol="0" anchor="t"/>
          <a:lstStyle/>
          <a:p>
            <a:pPr marL="342900" indent="-342900">
              <a:spcAft>
                <a:spcPts val="200"/>
              </a:spcAft>
              <a:buSzPct val="100000"/>
              <a:buChar char="•"/>
            </a:pPr>
            <a:r>
              <a:rPr lang="en-US" sz="1300" b="1" dirty="0">
                <a:solidFill>
                  <a:srgbClr val="0F1B3D"/>
                </a:solidFill>
                <a:latin typeface="Calibri" pitchFamily="34" charset="0"/>
                <a:ea typeface="Calibri" pitchFamily="34" charset="-122"/>
                <a:cs typeface="Calibri" pitchFamily="34" charset="-120"/>
              </a:rPr>
              <a:t>Aynı hücre (parametreler)</a:t>
            </a:r>
            <a:endParaRPr lang="en-US" sz="1300" dirty="0"/>
          </a:p>
          <a:p>
            <a:pPr indent="0" marL="0">
              <a:spcAft>
                <a:spcPts val="200"/>
              </a:spcAft>
              <a:buNone/>
            </a:pPr>
            <a:r>
              <a:rPr lang="en-US" sz="1300" dirty="0">
                <a:solidFill>
                  <a:srgbClr val="374151"/>
                </a:solidFill>
                <a:latin typeface="Calibri" pitchFamily="34" charset="0"/>
                <a:ea typeface="Calibri" pitchFamily="34" charset="-122"/>
                <a:cs typeface="Calibri" pitchFamily="34" charset="-120"/>
              </a:rPr>
              <a:t>her zaman adımında tekrar kullanılır — paylaşılan ağırlıklar.</a:t>
            </a:r>
            <a:endParaRPr lang="en-US" sz="1300" dirty="0"/>
          </a:p>
          <a:p>
            <a:pPr marL="342900" indent="-342900">
              <a:spcAft>
                <a:spcPts val="200"/>
              </a:spcAft>
              <a:buSzPct val="100000"/>
              <a:buChar char="•"/>
            </a:pPr>
            <a:r>
              <a:rPr lang="en-US" sz="1300" b="1" dirty="0">
                <a:solidFill>
                  <a:srgbClr val="0F1B3D"/>
                </a:solidFill>
                <a:latin typeface="Calibri" pitchFamily="34" charset="0"/>
                <a:ea typeface="Calibri" pitchFamily="34" charset="-122"/>
                <a:cs typeface="Calibri" pitchFamily="34" charset="-120"/>
              </a:rPr>
              <a:t>Geçmiş bilgi</a:t>
            </a:r>
            <a:endParaRPr lang="en-US" sz="1300" dirty="0"/>
          </a:p>
          <a:p>
            <a:pPr indent="0" marL="0">
              <a:spcAft>
                <a:spcPts val="200"/>
              </a:spcAft>
              <a:buNone/>
            </a:pPr>
            <a:r>
              <a:rPr lang="en-US" sz="1300" dirty="0">
                <a:solidFill>
                  <a:srgbClr val="374151"/>
                </a:solidFill>
                <a:latin typeface="Calibri" pitchFamily="34" charset="0"/>
                <a:ea typeface="Calibri" pitchFamily="34" charset="-122"/>
                <a:cs typeface="Calibri" pitchFamily="34" charset="-120"/>
              </a:rPr>
              <a:t>h_(t-1) olarak bir sonraki adıma aktarılır — kısa süreli hafıza.</a:t>
            </a:r>
            <a:endParaRPr lang="en-US" sz="1300" dirty="0"/>
          </a:p>
          <a:p>
            <a:pPr marL="342900" indent="-342900">
              <a:spcAft>
                <a:spcPts val="200"/>
              </a:spcAft>
              <a:buSzPct val="100000"/>
              <a:buChar char="•"/>
            </a:pPr>
            <a:r>
              <a:rPr lang="en-US" sz="1300" b="1" dirty="0">
                <a:solidFill>
                  <a:srgbClr val="0F1B3D"/>
                </a:solidFill>
                <a:latin typeface="Calibri" pitchFamily="34" charset="0"/>
                <a:ea typeface="Calibri" pitchFamily="34" charset="-122"/>
                <a:cs typeface="Calibri" pitchFamily="34" charset="-120"/>
              </a:rPr>
              <a:t>Değişken uzunluk</a:t>
            </a:r>
            <a:endParaRPr lang="en-US" sz="1300" dirty="0"/>
          </a:p>
          <a:p>
            <a:pPr indent="0" marL="0">
              <a:spcAft>
                <a:spcPts val="200"/>
              </a:spcAft>
              <a:buNone/>
            </a:pPr>
            <a:r>
              <a:rPr lang="en-US" sz="1300" dirty="0">
                <a:solidFill>
                  <a:srgbClr val="374151"/>
                </a:solidFill>
                <a:latin typeface="Calibri" pitchFamily="34" charset="0"/>
                <a:ea typeface="Calibri" pitchFamily="34" charset="-122"/>
                <a:cs typeface="Calibri" pitchFamily="34" charset="-120"/>
              </a:rPr>
              <a:t>girdi/çıktı dizilerini tek bir mimariyle işleyebilir.</a:t>
            </a:r>
            <a:endParaRPr lang="en-US" sz="1300" dirty="0"/>
          </a:p>
        </p:txBody>
      </p:sp>
      <p:sp>
        <p:nvSpPr>
          <p:cNvPr id="11" name="Shape 9"/>
          <p:cNvSpPr/>
          <p:nvPr/>
        </p:nvSpPr>
        <p:spPr>
          <a:xfrm>
            <a:off x="6400800" y="1463040"/>
            <a:ext cx="5330952" cy="48463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Text 10"/>
          <p:cNvSpPr/>
          <p:nvPr/>
        </p:nvSpPr>
        <p:spPr>
          <a:xfrm>
            <a:off x="6583680" y="1600200"/>
            <a:ext cx="5029200" cy="365760"/>
          </a:xfrm>
          <a:prstGeom prst="rect">
            <a:avLst/>
          </a:prstGeom>
          <a:noFill/>
          <a:ln/>
        </p:spPr>
        <p:txBody>
          <a:bodyPr wrap="square" lIns="0" tIns="0" rIns="0" bIns="0" rtlCol="0" anchor="ctr"/>
          <a:lstStyle/>
          <a:p>
            <a:pPr algn="ctr" indent="0" marL="0">
              <a:buNone/>
            </a:pPr>
            <a:r>
              <a:rPr lang="en-US" sz="1600" b="1" dirty="0">
                <a:solidFill>
                  <a:srgbClr val="0F1B3D"/>
                </a:solidFill>
                <a:latin typeface="Cambria" pitchFamily="34" charset="0"/>
                <a:ea typeface="Cambria" pitchFamily="34" charset="-122"/>
                <a:cs typeface="Cambria" pitchFamily="34" charset="-120"/>
              </a:rPr>
              <a:t>Bir Hücre, Geri Beslemeli</a:t>
            </a:r>
            <a:endParaRPr lang="en-US" sz="1600" dirty="0"/>
          </a:p>
        </p:txBody>
      </p:sp>
      <p:pic>
        <p:nvPicPr>
          <p:cNvPr id="13" name="Image 0" descr="/home/claude/diagrams/rnn_cell.png">    </p:cNvPr>
          <p:cNvPicPr>
            <a:picLocks noChangeAspect="1"/>
          </p:cNvPicPr>
          <p:nvPr/>
        </p:nvPicPr>
        <p:blipFill>
          <a:blip r:embed="rId1"/>
          <a:srcRect l="0" r="0" t="0" b="0"/>
          <a:stretch/>
        </p:blipFill>
        <p:spPr>
          <a:xfrm>
            <a:off x="6766560" y="2011680"/>
            <a:ext cx="4572000" cy="4114800"/>
          </a:xfrm>
          <a:prstGeom prst="rect">
            <a:avLst/>
          </a:prstGeom>
        </p:spPr>
      </p:pic>
      <p:sp>
        <p:nvSpPr>
          <p:cNvPr id="14" name="Text 11"/>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5" name="Text 12"/>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33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RNN Mimarisi — Zamanda Açılım</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Soldaki kıvrımlı bağlantı, zamanda 'açıldığında' aşağıdaki düz zincire dönüşür.</a:t>
            </a:r>
            <a:endParaRPr lang="en-US" sz="1300" dirty="0"/>
          </a:p>
        </p:txBody>
      </p:sp>
      <p:sp>
        <p:nvSpPr>
          <p:cNvPr id="5" name="Shape 3"/>
          <p:cNvSpPr/>
          <p:nvPr/>
        </p:nvSpPr>
        <p:spPr>
          <a:xfrm>
            <a:off x="457200" y="1371600"/>
            <a:ext cx="11247120" cy="23774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6" name="Image 0" descr="/home/claude/diagrams/rnn_unrolled.png">    </p:cNvPr>
          <p:cNvPicPr>
            <a:picLocks noChangeAspect="1"/>
          </p:cNvPicPr>
          <p:nvPr/>
        </p:nvPicPr>
        <p:blipFill>
          <a:blip r:embed="rId1"/>
          <a:srcRect l="0" r="0" t="0" b="0"/>
          <a:stretch/>
        </p:blipFill>
        <p:spPr>
          <a:xfrm>
            <a:off x="640080" y="1463040"/>
            <a:ext cx="10881360" cy="2194560"/>
          </a:xfrm>
          <a:prstGeom prst="rect">
            <a:avLst/>
          </a:prstGeom>
        </p:spPr>
      </p:pic>
      <p:sp>
        <p:nvSpPr>
          <p:cNvPr id="7" name="Shape 4"/>
          <p:cNvSpPr/>
          <p:nvPr/>
        </p:nvSpPr>
        <p:spPr>
          <a:xfrm>
            <a:off x="457200" y="3931920"/>
            <a:ext cx="11247120" cy="23774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8" name="Text 5"/>
          <p:cNvSpPr/>
          <p:nvPr/>
        </p:nvSpPr>
        <p:spPr>
          <a:xfrm>
            <a:off x="640080" y="4041648"/>
            <a:ext cx="10881360" cy="320040"/>
          </a:xfrm>
          <a:prstGeom prst="rect">
            <a:avLst/>
          </a:prstGeom>
          <a:noFill/>
          <a:ln/>
        </p:spPr>
        <p:txBody>
          <a:bodyPr wrap="square" lIns="0" tIns="0" rIns="0" bIns="0" rtlCol="0" anchor="ctr"/>
          <a:lstStyle/>
          <a:p>
            <a:pPr indent="0" marL="0">
              <a:buNone/>
            </a:pPr>
            <a:r>
              <a:rPr lang="en-US" sz="1600" b="1" dirty="0">
                <a:solidFill>
                  <a:srgbClr val="E07856"/>
                </a:solidFill>
                <a:latin typeface="Cambria" pitchFamily="34" charset="0"/>
                <a:ea typeface="Cambria" pitchFamily="34" charset="-122"/>
                <a:cs typeface="Cambria" pitchFamily="34" charset="-120"/>
              </a:rPr>
              <a:t>Değişkenler ve Anlamları</a:t>
            </a:r>
            <a:endParaRPr lang="en-US" sz="1600" dirty="0"/>
          </a:p>
        </p:txBody>
      </p:sp>
      <p:sp>
        <p:nvSpPr>
          <p:cNvPr id="9" name="Text 6"/>
          <p:cNvSpPr/>
          <p:nvPr/>
        </p:nvSpPr>
        <p:spPr>
          <a:xfrm>
            <a:off x="640080" y="4434840"/>
            <a:ext cx="777240" cy="457200"/>
          </a:xfrm>
          <a:prstGeom prst="rect">
            <a:avLst/>
          </a:prstGeom>
          <a:noFill/>
          <a:ln/>
        </p:spPr>
        <p:txBody>
          <a:bodyPr wrap="square" lIns="0" tIns="0" rIns="0" bIns="0" rtlCol="0" anchor="ctr"/>
          <a:lstStyle/>
          <a:p>
            <a:pPr indent="0" marL="0">
              <a:buNone/>
            </a:pPr>
            <a:r>
              <a:rPr lang="en-US" sz="1400" b="1" i="1" dirty="0">
                <a:solidFill>
                  <a:srgbClr val="E07856"/>
                </a:solidFill>
                <a:latin typeface="Cambria Math" pitchFamily="34" charset="0"/>
                <a:ea typeface="Cambria Math" pitchFamily="34" charset="-122"/>
                <a:cs typeface="Cambria Math" pitchFamily="34" charset="-120"/>
              </a:rPr>
              <a:t>x_t</a:t>
            </a:r>
            <a:endParaRPr lang="en-US" sz="1400" dirty="0"/>
          </a:p>
        </p:txBody>
      </p:sp>
      <p:sp>
        <p:nvSpPr>
          <p:cNvPr id="10" name="Text 7"/>
          <p:cNvSpPr/>
          <p:nvPr/>
        </p:nvSpPr>
        <p:spPr>
          <a:xfrm>
            <a:off x="1463040" y="4434840"/>
            <a:ext cx="4754880" cy="45720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giriş vektörü (t anındaki gözlem; örn. cümledeki t. kelimenin gömlemi, t anındaki sensör ölçümü)</a:t>
            </a:r>
            <a:endParaRPr lang="en-US" sz="1100" dirty="0"/>
          </a:p>
        </p:txBody>
      </p:sp>
      <p:sp>
        <p:nvSpPr>
          <p:cNvPr id="11" name="Text 8"/>
          <p:cNvSpPr/>
          <p:nvPr/>
        </p:nvSpPr>
        <p:spPr>
          <a:xfrm>
            <a:off x="640080" y="4983480"/>
            <a:ext cx="777240" cy="457200"/>
          </a:xfrm>
          <a:prstGeom prst="rect">
            <a:avLst/>
          </a:prstGeom>
          <a:noFill/>
          <a:ln/>
        </p:spPr>
        <p:txBody>
          <a:bodyPr wrap="square" lIns="0" tIns="0" rIns="0" bIns="0" rtlCol="0" anchor="ctr"/>
          <a:lstStyle/>
          <a:p>
            <a:pPr indent="0" marL="0">
              <a:buNone/>
            </a:pPr>
            <a:r>
              <a:rPr lang="en-US" sz="1400" b="1" i="1" dirty="0">
                <a:solidFill>
                  <a:srgbClr val="E07856"/>
                </a:solidFill>
                <a:latin typeface="Cambria Math" pitchFamily="34" charset="0"/>
                <a:ea typeface="Cambria Math" pitchFamily="34" charset="-122"/>
                <a:cs typeface="Cambria Math" pitchFamily="34" charset="-120"/>
              </a:rPr>
              <a:t>h_t</a:t>
            </a:r>
            <a:endParaRPr lang="en-US" sz="1400" dirty="0"/>
          </a:p>
        </p:txBody>
      </p:sp>
      <p:sp>
        <p:nvSpPr>
          <p:cNvPr id="12" name="Text 9"/>
          <p:cNvSpPr/>
          <p:nvPr/>
        </p:nvSpPr>
        <p:spPr>
          <a:xfrm>
            <a:off x="1463040" y="4983480"/>
            <a:ext cx="4754880" cy="45720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gizli durum (t anındaki ağ hafızası; hem 't anına dair çıktı' hem de bir sonraki adıma taşınan bilgi)</a:t>
            </a:r>
            <a:endParaRPr lang="en-US" sz="1100" dirty="0"/>
          </a:p>
        </p:txBody>
      </p:sp>
      <p:sp>
        <p:nvSpPr>
          <p:cNvPr id="13" name="Text 10"/>
          <p:cNvSpPr/>
          <p:nvPr/>
        </p:nvSpPr>
        <p:spPr>
          <a:xfrm>
            <a:off x="640080" y="5532120"/>
            <a:ext cx="777240" cy="457200"/>
          </a:xfrm>
          <a:prstGeom prst="rect">
            <a:avLst/>
          </a:prstGeom>
          <a:noFill/>
          <a:ln/>
        </p:spPr>
        <p:txBody>
          <a:bodyPr wrap="square" lIns="0" tIns="0" rIns="0" bIns="0" rtlCol="0" anchor="ctr"/>
          <a:lstStyle/>
          <a:p>
            <a:pPr indent="0" marL="0">
              <a:buNone/>
            </a:pPr>
            <a:r>
              <a:rPr lang="en-US" sz="1400" b="1" i="1" dirty="0">
                <a:solidFill>
                  <a:srgbClr val="E07856"/>
                </a:solidFill>
                <a:latin typeface="Cambria Math" pitchFamily="34" charset="0"/>
                <a:ea typeface="Cambria Math" pitchFamily="34" charset="-122"/>
                <a:cs typeface="Cambria Math" pitchFamily="34" charset="-120"/>
              </a:rPr>
              <a:t>h_(t-1)</a:t>
            </a:r>
            <a:endParaRPr lang="en-US" sz="1400" dirty="0"/>
          </a:p>
        </p:txBody>
      </p:sp>
      <p:sp>
        <p:nvSpPr>
          <p:cNvPr id="14" name="Text 11"/>
          <p:cNvSpPr/>
          <p:nvPr/>
        </p:nvSpPr>
        <p:spPr>
          <a:xfrm>
            <a:off x="1463040" y="5532120"/>
            <a:ext cx="4754880" cy="45720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önceki gizli durum (önceki adımdan hafıza)</a:t>
            </a:r>
            <a:endParaRPr lang="en-US" sz="1100" dirty="0"/>
          </a:p>
        </p:txBody>
      </p:sp>
      <p:sp>
        <p:nvSpPr>
          <p:cNvPr id="15" name="Text 12"/>
          <p:cNvSpPr/>
          <p:nvPr/>
        </p:nvSpPr>
        <p:spPr>
          <a:xfrm>
            <a:off x="6263640" y="4434840"/>
            <a:ext cx="777240" cy="457200"/>
          </a:xfrm>
          <a:prstGeom prst="rect">
            <a:avLst/>
          </a:prstGeom>
          <a:noFill/>
          <a:ln/>
        </p:spPr>
        <p:txBody>
          <a:bodyPr wrap="square" lIns="0" tIns="0" rIns="0" bIns="0" rtlCol="0" anchor="ctr"/>
          <a:lstStyle/>
          <a:p>
            <a:pPr indent="0" marL="0">
              <a:buNone/>
            </a:pPr>
            <a:r>
              <a:rPr lang="en-US" sz="1400" b="1" i="1" dirty="0">
                <a:solidFill>
                  <a:srgbClr val="E07856"/>
                </a:solidFill>
                <a:latin typeface="Cambria Math" pitchFamily="34" charset="0"/>
                <a:ea typeface="Cambria Math" pitchFamily="34" charset="-122"/>
                <a:cs typeface="Cambria Math" pitchFamily="34" charset="-120"/>
              </a:rPr>
              <a:t>W</a:t>
            </a:r>
            <a:endParaRPr lang="en-US" sz="1400" dirty="0"/>
          </a:p>
        </p:txBody>
      </p:sp>
      <p:sp>
        <p:nvSpPr>
          <p:cNvPr id="16" name="Text 13"/>
          <p:cNvSpPr/>
          <p:nvPr/>
        </p:nvSpPr>
        <p:spPr>
          <a:xfrm>
            <a:off x="7086600" y="4434840"/>
            <a:ext cx="4754880" cy="45720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giriş ağırlık matrisi — x_t'yi gizli uzaya dönüştürür (tüm zaman adımlarında ortak)</a:t>
            </a:r>
            <a:endParaRPr lang="en-US" sz="1100" dirty="0"/>
          </a:p>
        </p:txBody>
      </p:sp>
      <p:sp>
        <p:nvSpPr>
          <p:cNvPr id="17" name="Text 14"/>
          <p:cNvSpPr/>
          <p:nvPr/>
        </p:nvSpPr>
        <p:spPr>
          <a:xfrm>
            <a:off x="6263640" y="4983480"/>
            <a:ext cx="777240" cy="457200"/>
          </a:xfrm>
          <a:prstGeom prst="rect">
            <a:avLst/>
          </a:prstGeom>
          <a:noFill/>
          <a:ln/>
        </p:spPr>
        <p:txBody>
          <a:bodyPr wrap="square" lIns="0" tIns="0" rIns="0" bIns="0" rtlCol="0" anchor="ctr"/>
          <a:lstStyle/>
          <a:p>
            <a:pPr indent="0" marL="0">
              <a:buNone/>
            </a:pPr>
            <a:r>
              <a:rPr lang="en-US" sz="1400" b="1" i="1" dirty="0">
                <a:solidFill>
                  <a:srgbClr val="E07856"/>
                </a:solidFill>
                <a:latin typeface="Cambria Math" pitchFamily="34" charset="0"/>
                <a:ea typeface="Cambria Math" pitchFamily="34" charset="-122"/>
                <a:cs typeface="Cambria Math" pitchFamily="34" charset="-120"/>
              </a:rPr>
              <a:t>U</a:t>
            </a:r>
            <a:endParaRPr lang="en-US" sz="1400" dirty="0"/>
          </a:p>
        </p:txBody>
      </p:sp>
      <p:sp>
        <p:nvSpPr>
          <p:cNvPr id="18" name="Text 15"/>
          <p:cNvSpPr/>
          <p:nvPr/>
        </p:nvSpPr>
        <p:spPr>
          <a:xfrm>
            <a:off x="7086600" y="4983480"/>
            <a:ext cx="4754880" cy="45720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tekrarlayan ağırlık matrisi — h_(t-1)'i şimdiki gizli duruma katkı olarak işler (tüm adımlarda ortak)</a:t>
            </a:r>
            <a:endParaRPr lang="en-US" sz="1100" dirty="0"/>
          </a:p>
        </p:txBody>
      </p:sp>
      <p:sp>
        <p:nvSpPr>
          <p:cNvPr id="19" name="Text 16"/>
          <p:cNvSpPr/>
          <p:nvPr/>
        </p:nvSpPr>
        <p:spPr>
          <a:xfrm>
            <a:off x="6263640" y="5532120"/>
            <a:ext cx="777240" cy="457200"/>
          </a:xfrm>
          <a:prstGeom prst="rect">
            <a:avLst/>
          </a:prstGeom>
          <a:noFill/>
          <a:ln/>
        </p:spPr>
        <p:txBody>
          <a:bodyPr wrap="square" lIns="0" tIns="0" rIns="0" bIns="0" rtlCol="0" anchor="ctr"/>
          <a:lstStyle/>
          <a:p>
            <a:pPr indent="0" marL="0">
              <a:buNone/>
            </a:pPr>
            <a:r>
              <a:rPr lang="en-US" sz="1400" b="1" i="1" dirty="0">
                <a:solidFill>
                  <a:srgbClr val="E07856"/>
                </a:solidFill>
                <a:latin typeface="Cambria Math" pitchFamily="34" charset="0"/>
                <a:ea typeface="Cambria Math" pitchFamily="34" charset="-122"/>
                <a:cs typeface="Cambria Math" pitchFamily="34" charset="-120"/>
              </a:rPr>
              <a:t>b</a:t>
            </a:r>
            <a:endParaRPr lang="en-US" sz="1400" dirty="0"/>
          </a:p>
        </p:txBody>
      </p:sp>
      <p:sp>
        <p:nvSpPr>
          <p:cNvPr id="20" name="Text 17"/>
          <p:cNvSpPr/>
          <p:nvPr/>
        </p:nvSpPr>
        <p:spPr>
          <a:xfrm>
            <a:off x="7086600" y="5532120"/>
            <a:ext cx="4754880" cy="45720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bias vektörü — eşik kayması (sabit terim)</a:t>
            </a:r>
            <a:endParaRPr lang="en-US" sz="1100" dirty="0"/>
          </a:p>
        </p:txBody>
      </p:sp>
      <p:sp>
        <p:nvSpPr>
          <p:cNvPr id="21" name="Text 18"/>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2" name="Text 19"/>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33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RNN Hücre Denklemleri</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Her zaman adımında uygulanan hesap iki adımdan oluşur: gizli durum güncellemesi ve çıktı.</a:t>
            </a:r>
            <a:endParaRPr lang="en-US" sz="1300" dirty="0"/>
          </a:p>
        </p:txBody>
      </p:sp>
      <p:sp>
        <p:nvSpPr>
          <p:cNvPr id="5" name="Shape 3"/>
          <p:cNvSpPr/>
          <p:nvPr/>
        </p:nvSpPr>
        <p:spPr>
          <a:xfrm>
            <a:off x="457200" y="1371600"/>
            <a:ext cx="11247120" cy="22860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371600"/>
            <a:ext cx="91440" cy="2286000"/>
          </a:xfrm>
          <a:prstGeom prst="rect">
            <a:avLst/>
          </a:prstGeom>
          <a:solidFill>
            <a:srgbClr val="48A6A7"/>
          </a:solidFill>
          <a:ln w="12700">
            <a:solidFill>
              <a:srgbClr val="48A6A7"/>
            </a:solidFill>
            <a:prstDash val="solid"/>
          </a:ln>
        </p:spPr>
      </p:sp>
      <p:sp>
        <p:nvSpPr>
          <p:cNvPr id="7" name="Text 5"/>
          <p:cNvSpPr/>
          <p:nvPr/>
        </p:nvSpPr>
        <p:spPr>
          <a:xfrm>
            <a:off x="777240" y="1508760"/>
            <a:ext cx="10881360" cy="365760"/>
          </a:xfrm>
          <a:prstGeom prst="rect">
            <a:avLst/>
          </a:prstGeom>
          <a:noFill/>
          <a:ln/>
        </p:spPr>
        <p:txBody>
          <a:bodyPr wrap="square" lIns="0" tIns="0" rIns="0" bIns="0" rtlCol="0" anchor="ctr"/>
          <a:lstStyle/>
          <a:p>
            <a:pPr indent="0" marL="0">
              <a:buNone/>
            </a:pPr>
            <a:r>
              <a:rPr lang="en-US" sz="1800" b="1" dirty="0">
                <a:solidFill>
                  <a:srgbClr val="48A6A7"/>
                </a:solidFill>
                <a:latin typeface="Cambria" pitchFamily="34" charset="0"/>
                <a:ea typeface="Cambria" pitchFamily="34" charset="-122"/>
                <a:cs typeface="Cambria" pitchFamily="34" charset="-120"/>
              </a:rPr>
              <a:t>1. Gizli Durum Güncellemesi</a:t>
            </a:r>
            <a:endParaRPr lang="en-US" sz="1800" dirty="0"/>
          </a:p>
        </p:txBody>
      </p:sp>
      <p:pic>
        <p:nvPicPr>
          <p:cNvPr id="8" name="Image 0" descr="/home/claude/equations/rnn_h_formula.png">    </p:cNvPr>
          <p:cNvPicPr>
            <a:picLocks noChangeAspect="1"/>
          </p:cNvPicPr>
          <p:nvPr/>
        </p:nvPicPr>
        <p:blipFill>
          <a:blip r:embed="rId1"/>
          <a:srcRect l="0" r="0" t="0" b="0"/>
          <a:stretch/>
        </p:blipFill>
        <p:spPr>
          <a:xfrm>
            <a:off x="1371600" y="1965960"/>
            <a:ext cx="9144000" cy="822960"/>
          </a:xfrm>
          <a:prstGeom prst="rect">
            <a:avLst/>
          </a:prstGeom>
        </p:spPr>
      </p:pic>
      <p:sp>
        <p:nvSpPr>
          <p:cNvPr id="9" name="Text 6"/>
          <p:cNvSpPr/>
          <p:nvPr/>
        </p:nvSpPr>
        <p:spPr>
          <a:xfrm>
            <a:off x="777240" y="2926080"/>
            <a:ext cx="10881360" cy="640080"/>
          </a:xfrm>
          <a:prstGeom prst="rect">
            <a:avLst/>
          </a:prstGeom>
          <a:noFill/>
          <a:ln/>
        </p:spPr>
        <p:txBody>
          <a:bodyPr wrap="square" lIns="0" tIns="0" rIns="0" bIns="0" rtlCol="0" anchor="t"/>
          <a:lstStyle/>
          <a:p>
            <a:pPr indent="0" marL="0">
              <a:buNone/>
            </a:pPr>
            <a:r>
              <a:rPr lang="en-US" sz="1200" b="1" i="1" dirty="0">
                <a:solidFill>
                  <a:srgbClr val="0F1B3D"/>
                </a:solidFill>
                <a:latin typeface="Cambria Math" pitchFamily="34" charset="0"/>
                <a:ea typeface="Cambria Math" pitchFamily="34" charset="-122"/>
                <a:cs typeface="Cambria Math" pitchFamily="34" charset="-120"/>
              </a:rPr>
              <a:t>tanh</a:t>
            </a:r>
            <a:pPr indent="0" marL="0">
              <a:buNone/>
            </a:pPr>
            <a:r>
              <a:rPr lang="en-US" sz="1200" dirty="0">
                <a:solidFill>
                  <a:srgbClr val="374151"/>
                </a:solidFill>
                <a:latin typeface="Calibri" pitchFamily="34" charset="0"/>
                <a:ea typeface="Calibri" pitchFamily="34" charset="-122"/>
                <a:cs typeface="Calibri" pitchFamily="34" charset="-120"/>
              </a:rPr>
              <a:t> aktivasyon fonksiyonu, çıktıyı (-1, 1) aralığına sıkıştırır; bu sayede gizli durum sınırlı kalır ve eğitim kararlı olur. </a:t>
            </a:r>
            <a:pPr indent="0" marL="0">
              <a:buNone/>
            </a:pPr>
            <a:r>
              <a:rPr lang="en-US" sz="1200" i="1" dirty="0">
                <a:solidFill>
                  <a:srgbClr val="0F1B3D"/>
                </a:solidFill>
                <a:latin typeface="Cambria Math" pitchFamily="34" charset="0"/>
                <a:ea typeface="Cambria Math" pitchFamily="34" charset="-122"/>
                <a:cs typeface="Cambria Math" pitchFamily="34" charset="-120"/>
              </a:rPr>
              <a:t>W·x_t</a:t>
            </a:r>
            <a:pPr indent="0" marL="0">
              <a:buNone/>
            </a:pPr>
            <a:r>
              <a:rPr lang="en-US" sz="1200" dirty="0">
                <a:solidFill>
                  <a:srgbClr val="374151"/>
                </a:solidFill>
                <a:latin typeface="Calibri" pitchFamily="34" charset="0"/>
                <a:ea typeface="Calibri" pitchFamily="34" charset="-122"/>
                <a:cs typeface="Calibri" pitchFamily="34" charset="-120"/>
              </a:rPr>
              <a:t> mevcut girdiyi, </a:t>
            </a:r>
            <a:pPr indent="0" marL="0">
              <a:buNone/>
            </a:pPr>
            <a:r>
              <a:rPr lang="en-US" sz="1200" i="1" dirty="0">
                <a:solidFill>
                  <a:srgbClr val="0F1B3D"/>
                </a:solidFill>
                <a:latin typeface="Cambria Math" pitchFamily="34" charset="0"/>
                <a:ea typeface="Cambria Math" pitchFamily="34" charset="-122"/>
                <a:cs typeface="Cambria Math" pitchFamily="34" charset="-120"/>
              </a:rPr>
              <a:t>U·h_(t-1)</a:t>
            </a:r>
            <a:pPr indent="0" marL="0">
              <a:buNone/>
            </a:pPr>
            <a:r>
              <a:rPr lang="en-US" sz="1200" dirty="0">
                <a:solidFill>
                  <a:srgbClr val="374151"/>
                </a:solidFill>
                <a:latin typeface="Calibri" pitchFamily="34" charset="0"/>
                <a:ea typeface="Calibri" pitchFamily="34" charset="-122"/>
                <a:cs typeface="Calibri" pitchFamily="34" charset="-120"/>
              </a:rPr>
              <a:t> ise geçmişi temsil eder; ikisinin toplamı 'şu an + hafıza' demektir.</a:t>
            </a:r>
            <a:endParaRPr lang="en-US" sz="1200" dirty="0"/>
          </a:p>
        </p:txBody>
      </p:sp>
      <p:sp>
        <p:nvSpPr>
          <p:cNvPr id="10" name="Shape 7"/>
          <p:cNvSpPr/>
          <p:nvPr/>
        </p:nvSpPr>
        <p:spPr>
          <a:xfrm>
            <a:off x="457200" y="3840480"/>
            <a:ext cx="11247120" cy="24688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1" name="Shape 8"/>
          <p:cNvSpPr/>
          <p:nvPr/>
        </p:nvSpPr>
        <p:spPr>
          <a:xfrm>
            <a:off x="457200" y="3840480"/>
            <a:ext cx="91440" cy="2468880"/>
          </a:xfrm>
          <a:prstGeom prst="rect">
            <a:avLst/>
          </a:prstGeom>
          <a:solidFill>
            <a:srgbClr val="E07856"/>
          </a:solidFill>
          <a:ln w="12700">
            <a:solidFill>
              <a:srgbClr val="E07856"/>
            </a:solidFill>
            <a:prstDash val="solid"/>
          </a:ln>
        </p:spPr>
      </p:sp>
      <p:sp>
        <p:nvSpPr>
          <p:cNvPr id="12" name="Text 9"/>
          <p:cNvSpPr/>
          <p:nvPr/>
        </p:nvSpPr>
        <p:spPr>
          <a:xfrm>
            <a:off x="777240" y="3977640"/>
            <a:ext cx="10881360" cy="365760"/>
          </a:xfrm>
          <a:prstGeom prst="rect">
            <a:avLst/>
          </a:prstGeom>
          <a:noFill/>
          <a:ln/>
        </p:spPr>
        <p:txBody>
          <a:bodyPr wrap="square" lIns="0" tIns="0" rIns="0" bIns="0" rtlCol="0" anchor="ctr"/>
          <a:lstStyle/>
          <a:p>
            <a:pPr indent="0" marL="0">
              <a:buNone/>
            </a:pPr>
            <a:r>
              <a:rPr lang="en-US" sz="1800" b="1" dirty="0">
                <a:solidFill>
                  <a:srgbClr val="E07856"/>
                </a:solidFill>
                <a:latin typeface="Cambria" pitchFamily="34" charset="0"/>
                <a:ea typeface="Cambria" pitchFamily="34" charset="-122"/>
                <a:cs typeface="Cambria" pitchFamily="34" charset="-120"/>
              </a:rPr>
              <a:t>2. Çıktı Hesabı (varsa)</a:t>
            </a:r>
            <a:endParaRPr lang="en-US" sz="1800" dirty="0"/>
          </a:p>
        </p:txBody>
      </p:sp>
      <p:sp>
        <p:nvSpPr>
          <p:cNvPr id="13" name="Text 10"/>
          <p:cNvSpPr/>
          <p:nvPr/>
        </p:nvSpPr>
        <p:spPr>
          <a:xfrm>
            <a:off x="777240" y="4434840"/>
            <a:ext cx="10881360" cy="502920"/>
          </a:xfrm>
          <a:prstGeom prst="rect">
            <a:avLst/>
          </a:prstGeom>
          <a:noFill/>
          <a:ln/>
        </p:spPr>
        <p:txBody>
          <a:bodyPr wrap="square" lIns="0" tIns="0" rIns="0" bIns="0" rtlCol="0" anchor="ctr"/>
          <a:lstStyle/>
          <a:p>
            <a:pPr algn="ctr" indent="0" marL="0">
              <a:buNone/>
            </a:pPr>
            <a:r>
              <a:rPr lang="en-US" sz="2600" i="1" dirty="0">
                <a:solidFill>
                  <a:srgbClr val="0F1B3D"/>
                </a:solidFill>
                <a:latin typeface="Cambria Math" pitchFamily="34" charset="0"/>
                <a:ea typeface="Cambria Math" pitchFamily="34" charset="-122"/>
                <a:cs typeface="Cambria Math" pitchFamily="34" charset="-120"/>
              </a:rPr>
              <a:t>y_t = φ ( V · h_t + c )</a:t>
            </a:r>
            <a:endParaRPr lang="en-US" sz="2600" dirty="0"/>
          </a:p>
        </p:txBody>
      </p:sp>
      <p:sp>
        <p:nvSpPr>
          <p:cNvPr id="14" name="Text 11"/>
          <p:cNvSpPr/>
          <p:nvPr/>
        </p:nvSpPr>
        <p:spPr>
          <a:xfrm>
            <a:off x="777240" y="5074920"/>
            <a:ext cx="10881360" cy="457200"/>
          </a:xfrm>
          <a:prstGeom prst="rect">
            <a:avLst/>
          </a:prstGeom>
          <a:noFill/>
          <a:ln/>
        </p:spPr>
        <p:txBody>
          <a:bodyPr wrap="square" lIns="0" tIns="0" rIns="0" bIns="0" rtlCol="0" anchor="ctr"/>
          <a:lstStyle/>
          <a:p>
            <a:pPr indent="0" marL="0">
              <a:buNone/>
            </a:pPr>
            <a:r>
              <a:rPr lang="en-US" sz="1200" b="1" i="1" dirty="0">
                <a:solidFill>
                  <a:srgbClr val="0F1B3D"/>
                </a:solidFill>
                <a:latin typeface="Calibri" pitchFamily="34" charset="0"/>
                <a:ea typeface="Calibri" pitchFamily="34" charset="-122"/>
                <a:cs typeface="Calibri" pitchFamily="34" charset="-120"/>
              </a:rPr>
              <a:t>V</a:t>
            </a:r>
            <a:pPr indent="0" marL="0">
              <a:buNone/>
            </a:pPr>
            <a:r>
              <a:rPr lang="en-US" sz="1200" dirty="0">
                <a:solidFill>
                  <a:srgbClr val="374151"/>
                </a:solidFill>
                <a:latin typeface="Calibri" pitchFamily="34" charset="0"/>
                <a:ea typeface="Calibri" pitchFamily="34" charset="-122"/>
                <a:cs typeface="Calibri" pitchFamily="34" charset="-120"/>
              </a:rPr>
              <a:t>: çıktı katmanı ağırlık matrisi.   </a:t>
            </a:r>
            <a:pPr indent="0" marL="0">
              <a:buNone/>
            </a:pPr>
            <a:r>
              <a:rPr lang="en-US" sz="1200" b="1" i="1" dirty="0">
                <a:solidFill>
                  <a:srgbClr val="0F1B3D"/>
                </a:solidFill>
                <a:latin typeface="Calibri" pitchFamily="34" charset="0"/>
                <a:ea typeface="Calibri" pitchFamily="34" charset="-122"/>
                <a:cs typeface="Calibri" pitchFamily="34" charset="-120"/>
              </a:rPr>
              <a:t>c</a:t>
            </a:r>
            <a:pPr indent="0" marL="0">
              <a:buNone/>
            </a:pPr>
            <a:r>
              <a:rPr lang="en-US" sz="1200" dirty="0">
                <a:solidFill>
                  <a:srgbClr val="374151"/>
                </a:solidFill>
                <a:latin typeface="Calibri" pitchFamily="34" charset="0"/>
                <a:ea typeface="Calibri" pitchFamily="34" charset="-122"/>
                <a:cs typeface="Calibri" pitchFamily="34" charset="-120"/>
              </a:rPr>
              <a:t>: çıktı bias.   </a:t>
            </a:r>
            <a:pPr indent="0" marL="0">
              <a:buNone/>
            </a:pPr>
            <a:r>
              <a:rPr lang="en-US" sz="1200" b="1" i="1" dirty="0">
                <a:solidFill>
                  <a:srgbClr val="0F1B3D"/>
                </a:solidFill>
                <a:latin typeface="Calibri" pitchFamily="34" charset="0"/>
                <a:ea typeface="Calibri" pitchFamily="34" charset="-122"/>
                <a:cs typeface="Calibri" pitchFamily="34" charset="-120"/>
              </a:rPr>
              <a:t>φ</a:t>
            </a:r>
            <a:pPr indent="0" marL="0">
              <a:buNone/>
            </a:pPr>
            <a:r>
              <a:rPr lang="en-US" sz="1200" dirty="0">
                <a:solidFill>
                  <a:srgbClr val="374151"/>
                </a:solidFill>
                <a:latin typeface="Calibri" pitchFamily="34" charset="0"/>
                <a:ea typeface="Calibri" pitchFamily="34" charset="-122"/>
                <a:cs typeface="Calibri" pitchFamily="34" charset="-120"/>
              </a:rPr>
              <a:t>: probleme uygun aktivasyon — sınıflandırmada softmax/sigmoid, regresyonda lineer.</a:t>
            </a:r>
            <a:endParaRPr lang="en-US" sz="1200" dirty="0"/>
          </a:p>
        </p:txBody>
      </p:sp>
      <p:sp>
        <p:nvSpPr>
          <p:cNvPr id="15" name="Text 12"/>
          <p:cNvSpPr/>
          <p:nvPr/>
        </p:nvSpPr>
        <p:spPr>
          <a:xfrm>
            <a:off x="777240" y="5623560"/>
            <a:ext cx="10881360" cy="548640"/>
          </a:xfrm>
          <a:prstGeom prst="rect">
            <a:avLst/>
          </a:prstGeom>
          <a:noFill/>
          <a:ln/>
        </p:spPr>
        <p:txBody>
          <a:bodyPr wrap="square" lIns="0" tIns="0" rIns="0" bIns="0" rtlCol="0" anchor="t"/>
          <a:lstStyle/>
          <a:p>
            <a:pPr indent="0" marL="0">
              <a:buNone/>
            </a:pPr>
            <a:r>
              <a:rPr lang="en-US" sz="1200" b="1" i="1" dirty="0">
                <a:solidFill>
                  <a:srgbClr val="0F1B3D"/>
                </a:solidFill>
                <a:latin typeface="Calibri" pitchFamily="34" charset="0"/>
                <a:ea typeface="Calibri" pitchFamily="34" charset="-122"/>
                <a:cs typeface="Calibri" pitchFamily="34" charset="-120"/>
              </a:rPr>
              <a:t>⚠  Önemli: W, U, V, b, c parametreleri TÜM zaman adımlarında AYNIDIR (parameter sharing). Bu özellik, RNN'in değişken uzunluktaki dizileri işleyebilmesinin temelidir.</a:t>
            </a:r>
            <a:endParaRPr lang="en-US" sz="1200" dirty="0"/>
          </a:p>
        </p:txBody>
      </p:sp>
      <p:sp>
        <p:nvSpPr>
          <p:cNvPr id="16" name="Text 13"/>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7" name="Text 14"/>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33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RNN Türleri — Giriş/Çıkış Eşleşmeleri</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Aynı RNN mimarisi, giriş–çıkış kardinalitelerini değiştirerek farklı görevlere uyarlanır.</a:t>
            </a:r>
            <a:endParaRPr lang="en-US" sz="1300" dirty="0"/>
          </a:p>
        </p:txBody>
      </p:sp>
      <p:sp>
        <p:nvSpPr>
          <p:cNvPr id="5" name="Shape 3"/>
          <p:cNvSpPr/>
          <p:nvPr/>
        </p:nvSpPr>
        <p:spPr>
          <a:xfrm>
            <a:off x="457200" y="1371600"/>
            <a:ext cx="11247120" cy="30175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6" name="Image 0" descr="/home/claude/diagrams/rnn_types.png">    </p:cNvPr>
          <p:cNvPicPr>
            <a:picLocks noChangeAspect="1"/>
          </p:cNvPicPr>
          <p:nvPr/>
        </p:nvPicPr>
        <p:blipFill>
          <a:blip r:embed="rId1"/>
          <a:srcRect l="0" r="0" t="0" b="0"/>
          <a:stretch/>
        </p:blipFill>
        <p:spPr>
          <a:xfrm>
            <a:off x="548640" y="1463040"/>
            <a:ext cx="11064240" cy="2834640"/>
          </a:xfrm>
          <a:prstGeom prst="rect">
            <a:avLst/>
          </a:prstGeom>
        </p:spPr>
      </p:pic>
      <p:sp>
        <p:nvSpPr>
          <p:cNvPr id="7" name="Shape 4"/>
          <p:cNvSpPr/>
          <p:nvPr/>
        </p:nvSpPr>
        <p:spPr>
          <a:xfrm>
            <a:off x="457200" y="4572000"/>
            <a:ext cx="11247120" cy="17373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8" name="Text 5"/>
          <p:cNvSpPr/>
          <p:nvPr/>
        </p:nvSpPr>
        <p:spPr>
          <a:xfrm>
            <a:off x="640080" y="4663440"/>
            <a:ext cx="10881360" cy="320040"/>
          </a:xfrm>
          <a:prstGeom prst="rect">
            <a:avLst/>
          </a:prstGeom>
          <a:noFill/>
          <a:ln/>
        </p:spPr>
        <p:txBody>
          <a:bodyPr wrap="square" lIns="0" tIns="0" rIns="0" bIns="0" rtlCol="0" anchor="ctr"/>
          <a:lstStyle/>
          <a:p>
            <a:pPr indent="0" marL="0">
              <a:buNone/>
            </a:pPr>
            <a:r>
              <a:rPr lang="en-US" sz="1600" b="1" dirty="0">
                <a:solidFill>
                  <a:srgbClr val="E07856"/>
                </a:solidFill>
                <a:latin typeface="Cambria" pitchFamily="34" charset="0"/>
                <a:ea typeface="Cambria" pitchFamily="34" charset="-122"/>
                <a:cs typeface="Cambria" pitchFamily="34" charset="-120"/>
              </a:rPr>
              <a:t>Pratik Kullanım Senaryoları</a:t>
            </a:r>
            <a:endParaRPr lang="en-US" sz="1600" dirty="0"/>
          </a:p>
        </p:txBody>
      </p:sp>
      <p:sp>
        <p:nvSpPr>
          <p:cNvPr id="9" name="Text 6"/>
          <p:cNvSpPr/>
          <p:nvPr/>
        </p:nvSpPr>
        <p:spPr>
          <a:xfrm>
            <a:off x="640080" y="5029200"/>
            <a:ext cx="10881360" cy="320040"/>
          </a:xfrm>
          <a:prstGeom prst="rect">
            <a:avLst/>
          </a:prstGeom>
          <a:noFill/>
          <a:ln/>
        </p:spPr>
        <p:txBody>
          <a:bodyPr wrap="square" lIns="0" tIns="0" rIns="0" bIns="0" rtlCol="0" anchor="ctr"/>
          <a:lstStyle/>
          <a:p>
            <a:pPr indent="0" marL="0">
              <a:buNone/>
            </a:pPr>
            <a:r>
              <a:rPr lang="en-US" sz="1200" b="1" dirty="0">
                <a:solidFill>
                  <a:srgbClr val="0F1B3D"/>
                </a:solidFill>
                <a:latin typeface="Calibri" pitchFamily="34" charset="0"/>
                <a:ea typeface="Calibri" pitchFamily="34" charset="-122"/>
                <a:cs typeface="Calibri" pitchFamily="34" charset="-120"/>
              </a:rPr>
              <a:t>one-to-many: </a:t>
            </a:r>
            <a:pPr indent="0" marL="0">
              <a:buNone/>
            </a:pPr>
            <a:r>
              <a:rPr lang="en-US" sz="1200" dirty="0">
                <a:solidFill>
                  <a:srgbClr val="374151"/>
                </a:solidFill>
                <a:latin typeface="Calibri" pitchFamily="34" charset="0"/>
                <a:ea typeface="Calibri" pitchFamily="34" charset="-122"/>
                <a:cs typeface="Calibri" pitchFamily="34" charset="-120"/>
              </a:rPr>
              <a:t>tek bir görüntüden birden fazla kelime üretmek (image captioning).   </a:t>
            </a:r>
            <a:pPr indent="0" marL="0">
              <a:buNone/>
            </a:pPr>
            <a:r>
              <a:rPr lang="en-US" sz="1200" b="1" dirty="0">
                <a:solidFill>
                  <a:srgbClr val="0F1B3D"/>
                </a:solidFill>
                <a:latin typeface="Calibri" pitchFamily="34" charset="0"/>
                <a:ea typeface="Calibri" pitchFamily="34" charset="-122"/>
                <a:cs typeface="Calibri" pitchFamily="34" charset="-120"/>
              </a:rPr>
              <a:t>many-to-one: </a:t>
            </a:r>
            <a:endParaRPr lang="en-US" sz="1200" dirty="0"/>
          </a:p>
        </p:txBody>
      </p:sp>
      <p:sp>
        <p:nvSpPr>
          <p:cNvPr id="10" name="Text 7"/>
          <p:cNvSpPr/>
          <p:nvPr/>
        </p:nvSpPr>
        <p:spPr>
          <a:xfrm>
            <a:off x="640080" y="5349240"/>
            <a:ext cx="10881360" cy="320040"/>
          </a:xfrm>
          <a:prstGeom prst="rect">
            <a:avLst/>
          </a:prstGeom>
          <a:noFill/>
          <a:ln/>
        </p:spPr>
        <p:txBody>
          <a:bodyPr wrap="square" lIns="0" tIns="0" rIns="0" bIns="0" rtlCol="0" anchor="ctr"/>
          <a:lstStyle/>
          <a:p>
            <a:pPr indent="0" marL="0">
              <a:buNone/>
            </a:pPr>
            <a:r>
              <a:rPr lang="en-US" sz="1200" b="1" dirty="0">
                <a:solidFill>
                  <a:srgbClr val="0F1B3D"/>
                </a:solidFill>
                <a:latin typeface="Calibri" pitchFamily="34" charset="0"/>
                <a:ea typeface="Calibri" pitchFamily="34" charset="-122"/>
                <a:cs typeface="Calibri" pitchFamily="34" charset="-120"/>
              </a:rPr>
              <a:t>many-to-one: </a:t>
            </a:r>
            <a:pPr indent="0" marL="0">
              <a:buNone/>
            </a:pPr>
            <a:r>
              <a:rPr lang="en-US" sz="1200" dirty="0">
                <a:solidFill>
                  <a:srgbClr val="374151"/>
                </a:solidFill>
                <a:latin typeface="Calibri" pitchFamily="34" charset="0"/>
                <a:ea typeface="Calibri" pitchFamily="34" charset="-122"/>
                <a:cs typeface="Calibri" pitchFamily="34" charset="-120"/>
              </a:rPr>
              <a:t>bir film yorumunun tamamını okuyup tek bir 'olumlu/olumsuz' kararı vermek (duygu analizi).</a:t>
            </a:r>
            <a:endParaRPr lang="en-US" sz="1200" dirty="0"/>
          </a:p>
        </p:txBody>
      </p:sp>
      <p:sp>
        <p:nvSpPr>
          <p:cNvPr id="11" name="Text 8"/>
          <p:cNvSpPr/>
          <p:nvPr/>
        </p:nvSpPr>
        <p:spPr>
          <a:xfrm>
            <a:off x="640080" y="5669280"/>
            <a:ext cx="10881360" cy="640080"/>
          </a:xfrm>
          <a:prstGeom prst="rect">
            <a:avLst/>
          </a:prstGeom>
          <a:noFill/>
          <a:ln/>
        </p:spPr>
        <p:txBody>
          <a:bodyPr wrap="square" lIns="0" tIns="0" rIns="0" bIns="0" rtlCol="0" anchor="ctr"/>
          <a:lstStyle/>
          <a:p>
            <a:pPr indent="0" marL="0">
              <a:buNone/>
            </a:pPr>
            <a:r>
              <a:rPr lang="en-US" sz="1200" b="1" dirty="0">
                <a:solidFill>
                  <a:srgbClr val="0F1B3D"/>
                </a:solidFill>
                <a:latin typeface="Calibri" pitchFamily="34" charset="0"/>
                <a:ea typeface="Calibri" pitchFamily="34" charset="-122"/>
                <a:cs typeface="Calibri" pitchFamily="34" charset="-120"/>
              </a:rPr>
              <a:t>many-to-many (eşit): </a:t>
            </a:r>
            <a:pPr indent="0" marL="0">
              <a:buNone/>
            </a:pPr>
            <a:r>
              <a:rPr lang="en-US" sz="1200" dirty="0">
                <a:solidFill>
                  <a:srgbClr val="374151"/>
                </a:solidFill>
                <a:latin typeface="Calibri" pitchFamily="34" charset="0"/>
                <a:ea typeface="Calibri" pitchFamily="34" charset="-122"/>
                <a:cs typeface="Calibri" pitchFamily="34" charset="-120"/>
              </a:rPr>
              <a:t>video karelerinin her birine etiket atamak.   </a:t>
            </a:r>
            <a:pPr indent="0" marL="0">
              <a:buNone/>
            </a:pPr>
            <a:r>
              <a:rPr lang="en-US" sz="1200" b="1" dirty="0">
                <a:solidFill>
                  <a:srgbClr val="0F1B3D"/>
                </a:solidFill>
                <a:latin typeface="Calibri" pitchFamily="34" charset="0"/>
                <a:ea typeface="Calibri" pitchFamily="34" charset="-122"/>
                <a:cs typeface="Calibri" pitchFamily="34" charset="-120"/>
              </a:rPr>
              <a:t>many-to-many (farklı): </a:t>
            </a:r>
            <a:pPr indent="0" marL="0">
              <a:buNone/>
            </a:pPr>
            <a:r>
              <a:rPr lang="en-US" sz="1200" dirty="0">
                <a:solidFill>
                  <a:srgbClr val="374151"/>
                </a:solidFill>
                <a:latin typeface="Calibri" pitchFamily="34" charset="0"/>
                <a:ea typeface="Calibri" pitchFamily="34" charset="-122"/>
                <a:cs typeface="Calibri" pitchFamily="34" charset="-120"/>
              </a:rPr>
              <a:t>encoder-decoder ile çeviri (örn. Türkçe → İngilizce).</a:t>
            </a:r>
            <a:endParaRPr lang="en-US" sz="1200" dirty="0"/>
          </a:p>
        </p:txBody>
      </p:sp>
      <p:sp>
        <p:nvSpPr>
          <p:cNvPr id="12" name="Text 9"/>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3" name="Text 10"/>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E07856"/>
          </a:solidFill>
          <a:ln w="12700">
            <a:solidFill>
              <a:srgbClr val="E07856"/>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SORU 1</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RNN İleri Geçiş — RoboSense</a:t>
            </a:r>
            <a:endParaRPr lang="en-US" sz="2200" dirty="0"/>
          </a:p>
        </p:txBody>
      </p:sp>
      <p:sp>
        <p:nvSpPr>
          <p:cNvPr id="5" name="Shape 3"/>
          <p:cNvSpPr/>
          <p:nvPr/>
        </p:nvSpPr>
        <p:spPr>
          <a:xfrm>
            <a:off x="457200" y="960120"/>
            <a:ext cx="11247120" cy="17830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640080" y="1051560"/>
            <a:ext cx="1088136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Senaryo</a:t>
            </a:r>
            <a:endParaRPr lang="en-US" sz="1400" dirty="0"/>
          </a:p>
        </p:txBody>
      </p:sp>
      <p:sp>
        <p:nvSpPr>
          <p:cNvPr id="7" name="Text 5"/>
          <p:cNvSpPr/>
          <p:nvPr/>
        </p:nvSpPr>
        <p:spPr>
          <a:xfrm>
            <a:off x="640080" y="1371600"/>
            <a:ext cx="10881360" cy="13258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Üniversitenin Robotik Laboratuvarı'nda </a:t>
            </a:r>
            <a:pPr indent="0" marL="0">
              <a:buNone/>
            </a:pPr>
            <a:r>
              <a:rPr lang="en-US" sz="1300" b="1" dirty="0">
                <a:solidFill>
                  <a:srgbClr val="0F1B3D"/>
                </a:solidFill>
                <a:latin typeface="Calibri" pitchFamily="34" charset="0"/>
                <a:ea typeface="Calibri" pitchFamily="34" charset="-122"/>
                <a:cs typeface="Calibri" pitchFamily="34" charset="-120"/>
              </a:rPr>
              <a:t>RoboSense</a:t>
            </a:r>
            <a:pPr indent="0" marL="0">
              <a:buNone/>
            </a:pPr>
            <a:r>
              <a:rPr lang="en-US" sz="1300" dirty="0">
                <a:solidFill>
                  <a:srgbClr val="374151"/>
                </a:solidFill>
                <a:latin typeface="Calibri" pitchFamily="34" charset="0"/>
                <a:ea typeface="Calibri" pitchFamily="34" charset="-122"/>
                <a:cs typeface="Calibri" pitchFamily="34" charset="-120"/>
              </a:rPr>
              <a:t> adlı bir robot, sıcaklık ve nem verilerini toplayarak ortam koşullarını analiz etmektedir. RoboSense, her zaman adımında alınan ölçümlerle iç mekânın durumunu takip edebilmek için bir RNN hücresi kullanır. Hücre, geçmiş bilgiyi hafızasında tutar ve yeni gelen sensör verileriyle güncellenir.</a:t>
            </a:r>
            <a:endParaRPr lang="en-US" sz="1300" dirty="0"/>
          </a:p>
        </p:txBody>
      </p:sp>
      <p:sp>
        <p:nvSpPr>
          <p:cNvPr id="8" name="Shape 6"/>
          <p:cNvSpPr/>
          <p:nvPr/>
        </p:nvSpPr>
        <p:spPr>
          <a:xfrm>
            <a:off x="457200" y="2880360"/>
            <a:ext cx="11247120" cy="914400"/>
          </a:xfrm>
          <a:prstGeom prst="rect">
            <a:avLst/>
          </a:prstGeom>
          <a:solidFill>
            <a:srgbClr val="0F1B3D"/>
          </a:solidFill>
          <a:ln w="12700">
            <a:solidFill>
              <a:srgbClr val="0F1B3D"/>
            </a:solidFill>
            <a:prstDash val="solid"/>
          </a:ln>
        </p:spPr>
      </p:sp>
      <p:sp>
        <p:nvSpPr>
          <p:cNvPr id="9" name="Text 7"/>
          <p:cNvSpPr/>
          <p:nvPr/>
        </p:nvSpPr>
        <p:spPr>
          <a:xfrm>
            <a:off x="640080" y="2971800"/>
            <a:ext cx="2743200" cy="274320"/>
          </a:xfrm>
          <a:prstGeom prst="rect">
            <a:avLst/>
          </a:prstGeom>
          <a:noFill/>
          <a:ln/>
        </p:spPr>
        <p:txBody>
          <a:bodyPr wrap="square" lIns="0" tIns="0" rIns="0" bIns="0" rtlCol="0" anchor="ctr"/>
          <a:lstStyle/>
          <a:p>
            <a:pPr indent="0" marL="0">
              <a:buNone/>
            </a:pPr>
            <a:r>
              <a:rPr lang="en-US" sz="1300" i="1" dirty="0">
                <a:solidFill>
                  <a:srgbClr val="E0A458"/>
                </a:solidFill>
                <a:latin typeface="Calibri" pitchFamily="34" charset="0"/>
                <a:ea typeface="Calibri" pitchFamily="34" charset="-122"/>
                <a:cs typeface="Calibri" pitchFamily="34" charset="-120"/>
              </a:rPr>
              <a:t>Hücre denklemi:</a:t>
            </a:r>
            <a:endParaRPr lang="en-US" sz="1300" dirty="0"/>
          </a:p>
        </p:txBody>
      </p:sp>
      <p:pic>
        <p:nvPicPr>
          <p:cNvPr id="10" name="Image 0" descr="/home/claude/equations/rnn_h_formula_white.png">    </p:cNvPr>
          <p:cNvPicPr>
            <a:picLocks noChangeAspect="1"/>
          </p:cNvPicPr>
          <p:nvPr/>
        </p:nvPicPr>
        <p:blipFill>
          <a:blip r:embed="rId1"/>
          <a:srcRect l="0" r="0" t="0" b="0"/>
          <a:stretch/>
        </p:blipFill>
        <p:spPr>
          <a:xfrm>
            <a:off x="3200400" y="2971800"/>
            <a:ext cx="6858000" cy="731520"/>
          </a:xfrm>
          <a:prstGeom prst="rect">
            <a:avLst/>
          </a:prstGeom>
        </p:spPr>
      </p:pic>
      <p:sp>
        <p:nvSpPr>
          <p:cNvPr id="11" name="Text 8"/>
          <p:cNvSpPr/>
          <p:nvPr/>
        </p:nvSpPr>
        <p:spPr>
          <a:xfrm>
            <a:off x="457200" y="3950208"/>
            <a:ext cx="11247120" cy="36576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Verilen Değerler</a:t>
            </a:r>
            <a:endParaRPr lang="en-US" sz="1600" dirty="0"/>
          </a:p>
        </p:txBody>
      </p:sp>
      <p:sp>
        <p:nvSpPr>
          <p:cNvPr id="12" name="Shape 9"/>
          <p:cNvSpPr/>
          <p:nvPr/>
        </p:nvSpPr>
        <p:spPr>
          <a:xfrm>
            <a:off x="457200" y="4434840"/>
            <a:ext cx="2212848"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13" name="Image 1" descr="/home/claude/equations/s1_xt.png">    </p:cNvPr>
          <p:cNvPicPr>
            <a:picLocks noChangeAspect="1"/>
          </p:cNvPicPr>
          <p:nvPr/>
        </p:nvPicPr>
        <p:blipFill>
          <a:blip r:embed="rId2"/>
          <a:srcRect l="0" r="0" t="0" b="0"/>
          <a:stretch/>
        </p:blipFill>
        <p:spPr>
          <a:xfrm>
            <a:off x="548640" y="4572000"/>
            <a:ext cx="2029968" cy="1005840"/>
          </a:xfrm>
          <a:prstGeom prst="rect">
            <a:avLst/>
          </a:prstGeom>
        </p:spPr>
      </p:pic>
      <p:sp>
        <p:nvSpPr>
          <p:cNvPr id="14" name="Text 10"/>
          <p:cNvSpPr/>
          <p:nvPr/>
        </p:nvSpPr>
        <p:spPr>
          <a:xfrm>
            <a:off x="548640" y="5641848"/>
            <a:ext cx="2029968" cy="256032"/>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Giriş vektörü</a:t>
            </a:r>
            <a:endParaRPr lang="en-US" sz="1100" dirty="0"/>
          </a:p>
        </p:txBody>
      </p:sp>
      <p:sp>
        <p:nvSpPr>
          <p:cNvPr id="15" name="Text 11"/>
          <p:cNvSpPr/>
          <p:nvPr/>
        </p:nvSpPr>
        <p:spPr>
          <a:xfrm>
            <a:off x="548640" y="5897880"/>
            <a:ext cx="2029968"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1 birim sıcaklık ↑, 2 birim nem ↑</a:t>
            </a:r>
            <a:endParaRPr lang="en-US" sz="900" dirty="0"/>
          </a:p>
        </p:txBody>
      </p:sp>
      <p:sp>
        <p:nvSpPr>
          <p:cNvPr id="16" name="Shape 12"/>
          <p:cNvSpPr/>
          <p:nvPr/>
        </p:nvSpPr>
        <p:spPr>
          <a:xfrm>
            <a:off x="2715768" y="4434840"/>
            <a:ext cx="2212848"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17" name="Image 2" descr="/home/claude/equations/s1_ht_prev.png">    </p:cNvPr>
          <p:cNvPicPr>
            <a:picLocks noChangeAspect="1"/>
          </p:cNvPicPr>
          <p:nvPr/>
        </p:nvPicPr>
        <p:blipFill>
          <a:blip r:embed="rId3"/>
          <a:srcRect l="0" r="0" t="0" b="0"/>
          <a:stretch/>
        </p:blipFill>
        <p:spPr>
          <a:xfrm>
            <a:off x="2807208" y="4572000"/>
            <a:ext cx="2029968" cy="1005840"/>
          </a:xfrm>
          <a:prstGeom prst="rect">
            <a:avLst/>
          </a:prstGeom>
        </p:spPr>
      </p:pic>
      <p:sp>
        <p:nvSpPr>
          <p:cNvPr id="18" name="Text 13"/>
          <p:cNvSpPr/>
          <p:nvPr/>
        </p:nvSpPr>
        <p:spPr>
          <a:xfrm>
            <a:off x="2807208" y="5641848"/>
            <a:ext cx="2029968" cy="256032"/>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Önceki gizli durum</a:t>
            </a:r>
            <a:endParaRPr lang="en-US" sz="1100" dirty="0"/>
          </a:p>
        </p:txBody>
      </p:sp>
      <p:sp>
        <p:nvSpPr>
          <p:cNvPr id="19" name="Text 14"/>
          <p:cNvSpPr/>
          <p:nvPr/>
        </p:nvSpPr>
        <p:spPr>
          <a:xfrm>
            <a:off x="2807208" y="5897880"/>
            <a:ext cx="2029968"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geçmiş bilginin özeti</a:t>
            </a:r>
            <a:endParaRPr lang="en-US" sz="900" dirty="0"/>
          </a:p>
        </p:txBody>
      </p:sp>
      <p:sp>
        <p:nvSpPr>
          <p:cNvPr id="20" name="Shape 15"/>
          <p:cNvSpPr/>
          <p:nvPr/>
        </p:nvSpPr>
        <p:spPr>
          <a:xfrm>
            <a:off x="4974336" y="4434840"/>
            <a:ext cx="2212848"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21" name="Image 3" descr="/home/claude/equations/s1_W.png">    </p:cNvPr>
          <p:cNvPicPr>
            <a:picLocks noChangeAspect="1"/>
          </p:cNvPicPr>
          <p:nvPr/>
        </p:nvPicPr>
        <p:blipFill>
          <a:blip r:embed="rId4"/>
          <a:srcRect l="0" r="0" t="0" b="0"/>
          <a:stretch/>
        </p:blipFill>
        <p:spPr>
          <a:xfrm>
            <a:off x="5065776" y="4572000"/>
            <a:ext cx="2029968" cy="1005840"/>
          </a:xfrm>
          <a:prstGeom prst="rect">
            <a:avLst/>
          </a:prstGeom>
        </p:spPr>
      </p:pic>
      <p:sp>
        <p:nvSpPr>
          <p:cNvPr id="22" name="Text 16"/>
          <p:cNvSpPr/>
          <p:nvPr/>
        </p:nvSpPr>
        <p:spPr>
          <a:xfrm>
            <a:off x="5065776" y="5641848"/>
            <a:ext cx="2029968" cy="256032"/>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Giriş ağırlığı W</a:t>
            </a:r>
            <a:endParaRPr lang="en-US" sz="1100" dirty="0"/>
          </a:p>
        </p:txBody>
      </p:sp>
      <p:sp>
        <p:nvSpPr>
          <p:cNvPr id="23" name="Text 17"/>
          <p:cNvSpPr/>
          <p:nvPr/>
        </p:nvSpPr>
        <p:spPr>
          <a:xfrm>
            <a:off x="5065776" y="5897880"/>
            <a:ext cx="2029968"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x_t için</a:t>
            </a:r>
            <a:endParaRPr lang="en-US" sz="900" dirty="0"/>
          </a:p>
        </p:txBody>
      </p:sp>
      <p:sp>
        <p:nvSpPr>
          <p:cNvPr id="24" name="Shape 18"/>
          <p:cNvSpPr/>
          <p:nvPr/>
        </p:nvSpPr>
        <p:spPr>
          <a:xfrm>
            <a:off x="7232904" y="4434840"/>
            <a:ext cx="2212848"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25" name="Image 4" descr="/home/claude/equations/s1_U.png">    </p:cNvPr>
          <p:cNvPicPr>
            <a:picLocks noChangeAspect="1"/>
          </p:cNvPicPr>
          <p:nvPr/>
        </p:nvPicPr>
        <p:blipFill>
          <a:blip r:embed="rId5"/>
          <a:srcRect l="0" r="0" t="0" b="0"/>
          <a:stretch/>
        </p:blipFill>
        <p:spPr>
          <a:xfrm>
            <a:off x="7324344" y="4572000"/>
            <a:ext cx="2029968" cy="1005840"/>
          </a:xfrm>
          <a:prstGeom prst="rect">
            <a:avLst/>
          </a:prstGeom>
        </p:spPr>
      </p:pic>
      <p:sp>
        <p:nvSpPr>
          <p:cNvPr id="26" name="Text 19"/>
          <p:cNvSpPr/>
          <p:nvPr/>
        </p:nvSpPr>
        <p:spPr>
          <a:xfrm>
            <a:off x="7324344" y="5641848"/>
            <a:ext cx="2029968" cy="256032"/>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Geri besleme U</a:t>
            </a:r>
            <a:endParaRPr lang="en-US" sz="1100" dirty="0"/>
          </a:p>
        </p:txBody>
      </p:sp>
      <p:sp>
        <p:nvSpPr>
          <p:cNvPr id="27" name="Text 20"/>
          <p:cNvSpPr/>
          <p:nvPr/>
        </p:nvSpPr>
        <p:spPr>
          <a:xfrm>
            <a:off x="7324344" y="5897880"/>
            <a:ext cx="2029968"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h_(t-1) için</a:t>
            </a:r>
            <a:endParaRPr lang="en-US" sz="900" dirty="0"/>
          </a:p>
        </p:txBody>
      </p:sp>
      <p:sp>
        <p:nvSpPr>
          <p:cNvPr id="28" name="Shape 21"/>
          <p:cNvSpPr/>
          <p:nvPr/>
        </p:nvSpPr>
        <p:spPr>
          <a:xfrm>
            <a:off x="9491472" y="4434840"/>
            <a:ext cx="2212848"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29" name="Image 5" descr="/home/claude/equations/s1_b.png">    </p:cNvPr>
          <p:cNvPicPr>
            <a:picLocks noChangeAspect="1"/>
          </p:cNvPicPr>
          <p:nvPr/>
        </p:nvPicPr>
        <p:blipFill>
          <a:blip r:embed="rId6"/>
          <a:srcRect l="0" r="0" t="0" b="0"/>
          <a:stretch/>
        </p:blipFill>
        <p:spPr>
          <a:xfrm>
            <a:off x="9582912" y="4572000"/>
            <a:ext cx="2029968" cy="1005840"/>
          </a:xfrm>
          <a:prstGeom prst="rect">
            <a:avLst/>
          </a:prstGeom>
        </p:spPr>
      </p:pic>
      <p:sp>
        <p:nvSpPr>
          <p:cNvPr id="30" name="Text 22"/>
          <p:cNvSpPr/>
          <p:nvPr/>
        </p:nvSpPr>
        <p:spPr>
          <a:xfrm>
            <a:off x="9582912" y="5641848"/>
            <a:ext cx="2029968" cy="256032"/>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Bias b</a:t>
            </a:r>
            <a:endParaRPr lang="en-US" sz="1100" dirty="0"/>
          </a:p>
        </p:txBody>
      </p:sp>
      <p:sp>
        <p:nvSpPr>
          <p:cNvPr id="31" name="Text 23"/>
          <p:cNvSpPr/>
          <p:nvPr/>
        </p:nvSpPr>
        <p:spPr>
          <a:xfrm>
            <a:off x="9582912" y="5897880"/>
            <a:ext cx="2029968"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sabit kayma</a:t>
            </a:r>
            <a:endParaRPr lang="en-US" sz="900" dirty="0"/>
          </a:p>
        </p:txBody>
      </p:sp>
      <p:sp>
        <p:nvSpPr>
          <p:cNvPr id="32" name="Text 2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33" name="Text 2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33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E07856"/>
          </a:solidFill>
          <a:ln w="12700">
            <a:solidFill>
              <a:srgbClr val="E07856"/>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SORU 1</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Görev</a:t>
            </a:r>
            <a:endParaRPr lang="en-US" sz="2200" dirty="0"/>
          </a:p>
        </p:txBody>
      </p:sp>
      <p:sp>
        <p:nvSpPr>
          <p:cNvPr id="5" name="Shape 3"/>
          <p:cNvSpPr/>
          <p:nvPr/>
        </p:nvSpPr>
        <p:spPr>
          <a:xfrm>
            <a:off x="1371600" y="2286000"/>
            <a:ext cx="9418320" cy="2286000"/>
          </a:xfrm>
          <a:prstGeom prst="rect">
            <a:avLst/>
          </a:prstGeom>
          <a:solidFill>
            <a:srgbClr val="FFFFFF"/>
          </a:solidFill>
          <a:ln w="25400">
            <a:solidFill>
              <a:srgbClr val="48A6A7"/>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1371600" y="2286000"/>
            <a:ext cx="9418320" cy="457200"/>
          </a:xfrm>
          <a:prstGeom prst="rect">
            <a:avLst/>
          </a:prstGeom>
          <a:solidFill>
            <a:srgbClr val="48A6A7"/>
          </a:solidFill>
          <a:ln w="12700">
            <a:solidFill>
              <a:srgbClr val="48A6A7"/>
            </a:solidFill>
            <a:prstDash val="solid"/>
          </a:ln>
        </p:spPr>
      </p:sp>
      <p:sp>
        <p:nvSpPr>
          <p:cNvPr id="7" name="Text 5"/>
          <p:cNvSpPr/>
          <p:nvPr/>
        </p:nvSpPr>
        <p:spPr>
          <a:xfrm>
            <a:off x="1371600" y="2286000"/>
            <a:ext cx="941832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GÖREV</a:t>
            </a:r>
            <a:endParaRPr lang="en-US" sz="1600" dirty="0"/>
          </a:p>
        </p:txBody>
      </p:sp>
      <p:sp>
        <p:nvSpPr>
          <p:cNvPr id="8" name="Text 6"/>
          <p:cNvSpPr/>
          <p:nvPr/>
        </p:nvSpPr>
        <p:spPr>
          <a:xfrm>
            <a:off x="1645920" y="2926080"/>
            <a:ext cx="8869680" cy="155448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RoboSense'in güncel gizli durumu </a:t>
            </a:r>
            <a:pPr indent="0" marL="0">
              <a:buNone/>
            </a:pPr>
            <a:r>
              <a:rPr lang="en-US" sz="1400" b="1" i="1" dirty="0">
                <a:solidFill>
                  <a:srgbClr val="E07856"/>
                </a:solidFill>
                <a:latin typeface="Cambria Math" pitchFamily="34" charset="0"/>
                <a:ea typeface="Cambria Math" pitchFamily="34" charset="-122"/>
                <a:cs typeface="Cambria Math" pitchFamily="34" charset="-120"/>
              </a:rPr>
              <a:t>h_t</a:t>
            </a:r>
            <a:pPr indent="0" marL="0">
              <a:buNone/>
            </a:pPr>
            <a:r>
              <a:rPr lang="en-US" sz="1400" dirty="0">
                <a:solidFill>
                  <a:srgbClr val="374151"/>
                </a:solidFill>
                <a:latin typeface="Calibri" pitchFamily="34" charset="0"/>
                <a:ea typeface="Calibri" pitchFamily="34" charset="-122"/>
                <a:cs typeface="Calibri" pitchFamily="34" charset="-120"/>
              </a:rPr>
              <a:t>'yi hesaplayınız.
</a:t>
            </a:r>
            <a:pPr indent="0" marL="0">
              <a:buNone/>
            </a:pPr>
            <a:r>
              <a:rPr lang="en-US" sz="1400" dirty="0">
                <a:solidFill>
                  <a:srgbClr val="0F1B3D"/>
                </a:solidFill>
                <a:latin typeface="Calibri" pitchFamily="34" charset="0"/>
                <a:ea typeface="Calibri" pitchFamily="34" charset="-122"/>
                <a:cs typeface="Calibri" pitchFamily="34" charset="-120"/>
              </a:rPr>
              <a:t>✓  Tüm ara hesaplamaları gösteriniz.
</a:t>
            </a:r>
            <a:pPr indent="0" marL="0">
              <a:buNone/>
            </a:pPr>
            <a:r>
              <a:rPr lang="en-US" sz="1400" dirty="0">
                <a:solidFill>
                  <a:srgbClr val="0F1B3D"/>
                </a:solidFill>
                <a:latin typeface="Calibri" pitchFamily="34" charset="0"/>
                <a:ea typeface="Calibri" pitchFamily="34" charset="-122"/>
                <a:cs typeface="Calibri" pitchFamily="34" charset="-120"/>
              </a:rPr>
              <a:t>✓  </a:t>
            </a:r>
            <a:pPr indent="0" marL="0">
              <a:buNone/>
            </a:pPr>
            <a:r>
              <a:rPr lang="en-US" sz="1400" i="1" dirty="0">
                <a:solidFill>
                  <a:srgbClr val="0F1B3D"/>
                </a:solidFill>
                <a:latin typeface="Cambria Math" pitchFamily="34" charset="0"/>
                <a:ea typeface="Cambria Math" pitchFamily="34" charset="-122"/>
                <a:cs typeface="Cambria Math" pitchFamily="34" charset="-120"/>
              </a:rPr>
              <a:t>tanh</a:t>
            </a:r>
            <a:pPr indent="0" marL="0">
              <a:buNone/>
            </a:pPr>
            <a:r>
              <a:rPr lang="en-US" sz="1400" dirty="0">
                <a:solidFill>
                  <a:srgbClr val="0F1B3D"/>
                </a:solidFill>
                <a:latin typeface="Calibri" pitchFamily="34" charset="0"/>
                <a:ea typeface="Calibri" pitchFamily="34" charset="-122"/>
                <a:cs typeface="Calibri" pitchFamily="34" charset="-120"/>
              </a:rPr>
              <a:t> fonksiyonunu her eleman için yaklaşık 2 ondalık basamağa yuvarlayarak kullanınız.</a:t>
            </a:r>
            <a:endParaRPr lang="en-US" sz="1400" dirty="0"/>
          </a:p>
        </p:txBody>
      </p:sp>
      <p:sp>
        <p:nvSpPr>
          <p:cNvPr id="9" name="Shape 7"/>
          <p:cNvSpPr/>
          <p:nvPr/>
        </p:nvSpPr>
        <p:spPr>
          <a:xfrm>
            <a:off x="1371600" y="5029200"/>
            <a:ext cx="9418320" cy="914400"/>
          </a:xfrm>
          <a:prstGeom prst="rect">
            <a:avLst/>
          </a:prstGeom>
          <a:solidFill>
            <a:srgbClr val="0F1B3D">
              <a:alpha val="8000"/>
            </a:srgbClr>
          </a:solidFill>
          <a:ln w="12700">
            <a:solidFill>
              <a:srgbClr val="0F1B3D"/>
            </a:solidFill>
            <a:prstDash val="solid"/>
          </a:ln>
        </p:spPr>
      </p:sp>
      <p:sp>
        <p:nvSpPr>
          <p:cNvPr id="10" name="Text 8"/>
          <p:cNvSpPr/>
          <p:nvPr/>
        </p:nvSpPr>
        <p:spPr>
          <a:xfrm>
            <a:off x="1554480" y="5120640"/>
            <a:ext cx="9052560" cy="731520"/>
          </a:xfrm>
          <a:prstGeom prst="rect">
            <a:avLst/>
          </a:prstGeom>
          <a:noFill/>
          <a:ln/>
        </p:spPr>
        <p:txBody>
          <a:bodyPr wrap="square" lIns="0" tIns="0" rIns="0" bIns="0" rtlCol="0" anchor="t"/>
          <a:lstStyle/>
          <a:p>
            <a:pPr indent="0" marL="0">
              <a:buNone/>
            </a:pPr>
            <a:r>
              <a:rPr lang="en-US" sz="1200" b="1" dirty="0">
                <a:solidFill>
                  <a:srgbClr val="0F1B3D"/>
                </a:solidFill>
                <a:latin typeface="Calibri" pitchFamily="34" charset="0"/>
                <a:ea typeface="Calibri" pitchFamily="34" charset="-122"/>
                <a:cs typeface="Calibri" pitchFamily="34" charset="-120"/>
              </a:rPr>
              <a:t>💡 İpucu: </a:t>
            </a:r>
            <a:pPr indent="0" marL="0">
              <a:buNone/>
            </a:pPr>
            <a:r>
              <a:rPr lang="en-US" sz="1200" dirty="0">
                <a:solidFill>
                  <a:srgbClr val="374151"/>
                </a:solidFill>
                <a:latin typeface="Calibri" pitchFamily="34" charset="0"/>
                <a:ea typeface="Calibri" pitchFamily="34" charset="-122"/>
                <a:cs typeface="Calibri" pitchFamily="34" charset="-120"/>
              </a:rPr>
              <a:t>Önce boyutları kontrol edin. </a:t>
            </a:r>
            <a:pPr indent="0" marL="0">
              <a:buNone/>
            </a:pPr>
            <a:r>
              <a:rPr lang="en-US" sz="1200" i="1" dirty="0">
                <a:solidFill>
                  <a:srgbClr val="0F1B3D"/>
                </a:solidFill>
                <a:latin typeface="Cambria Math" pitchFamily="34" charset="0"/>
                <a:ea typeface="Cambria Math" pitchFamily="34" charset="-122"/>
                <a:cs typeface="Cambria Math" pitchFamily="34" charset="-120"/>
              </a:rPr>
              <a:t>x_t ∈ ℝ², h_(t-1) ∈ ℝ², W ve U her ikisi de 2×2 </a:t>
            </a:r>
            <a:pPr indent="0" marL="0">
              <a:buNone/>
            </a:pPr>
            <a:r>
              <a:rPr lang="en-US" sz="1200" dirty="0">
                <a:solidFill>
                  <a:srgbClr val="374151"/>
                </a:solidFill>
                <a:latin typeface="Calibri" pitchFamily="34" charset="0"/>
                <a:ea typeface="Calibri" pitchFamily="34" charset="-122"/>
                <a:cs typeface="Calibri" pitchFamily="34" charset="-120"/>
              </a:rPr>
              <a:t>olduğundan </a:t>
            </a:r>
            <a:pPr indent="0" marL="0">
              <a:buNone/>
            </a:pPr>
            <a:r>
              <a:rPr lang="en-US" sz="1200" i="1" dirty="0">
                <a:solidFill>
                  <a:srgbClr val="0F1B3D"/>
                </a:solidFill>
                <a:latin typeface="Cambria Math" pitchFamily="34" charset="0"/>
                <a:ea typeface="Cambria Math" pitchFamily="34" charset="-122"/>
                <a:cs typeface="Cambria Math" pitchFamily="34" charset="-120"/>
              </a:rPr>
              <a:t>W·x_t, U·h_(t-1)</a:t>
            </a:r>
            <a:pPr indent="0" marL="0">
              <a:buNone/>
            </a:pPr>
            <a:r>
              <a:rPr lang="en-US" sz="1200" dirty="0">
                <a:solidFill>
                  <a:srgbClr val="374151"/>
                </a:solidFill>
                <a:latin typeface="Calibri" pitchFamily="34" charset="0"/>
                <a:ea typeface="Calibri" pitchFamily="34" charset="-122"/>
                <a:cs typeface="Calibri" pitchFamily="34" charset="-120"/>
              </a:rPr>
              <a:t> ve </a:t>
            </a:r>
            <a:pPr indent="0" marL="0">
              <a:buNone/>
            </a:pPr>
            <a:r>
              <a:rPr lang="en-US" sz="1200" i="1" dirty="0">
                <a:solidFill>
                  <a:srgbClr val="0F1B3D"/>
                </a:solidFill>
                <a:latin typeface="Cambria Math" pitchFamily="34" charset="0"/>
                <a:ea typeface="Cambria Math" pitchFamily="34" charset="-122"/>
                <a:cs typeface="Cambria Math" pitchFamily="34" charset="-120"/>
              </a:rPr>
              <a:t>b ∈ ℝ²</a:t>
            </a:r>
            <a:pPr indent="0" marL="0">
              <a:buNone/>
            </a:pPr>
            <a:r>
              <a:rPr lang="en-US" sz="1200" dirty="0">
                <a:solidFill>
                  <a:srgbClr val="374151"/>
                </a:solidFill>
                <a:latin typeface="Calibri" pitchFamily="34" charset="0"/>
                <a:ea typeface="Calibri" pitchFamily="34" charset="-122"/>
                <a:cs typeface="Calibri" pitchFamily="34" charset="-120"/>
              </a:rPr>
              <a:t> toplanabilir; sonuç ℝ²'de bir vektör olur.</a:t>
            </a:r>
            <a:endParaRPr lang="en-US" sz="1200" dirty="0"/>
          </a:p>
        </p:txBody>
      </p:sp>
      <p:sp>
        <p:nvSpPr>
          <p:cNvPr id="11" name="Text 9"/>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2" name="Text 10"/>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33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1</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Çözüm — Adım 1 ve 2</a:t>
            </a:r>
            <a:endParaRPr lang="en-US" sz="2200" dirty="0"/>
          </a:p>
        </p:txBody>
      </p:sp>
      <p:sp>
        <p:nvSpPr>
          <p:cNvPr id="5" name="Shape 3"/>
          <p:cNvSpPr/>
          <p:nvPr/>
        </p:nvSpPr>
        <p:spPr>
          <a:xfrm>
            <a:off x="457200" y="1005840"/>
            <a:ext cx="11247120" cy="26060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640080" y="1188720"/>
            <a:ext cx="502920" cy="502920"/>
          </a:xfrm>
          <a:prstGeom prst="ellipse">
            <a:avLst/>
          </a:prstGeom>
          <a:solidFill>
            <a:srgbClr val="E07856"/>
          </a:solidFill>
          <a:ln w="12700">
            <a:solidFill>
              <a:srgbClr val="E07856"/>
            </a:solidFill>
            <a:prstDash val="solid"/>
          </a:ln>
        </p:spPr>
      </p:sp>
      <p:sp>
        <p:nvSpPr>
          <p:cNvPr id="7" name="Text 5"/>
          <p:cNvSpPr/>
          <p:nvPr/>
        </p:nvSpPr>
        <p:spPr>
          <a:xfrm>
            <a:off x="640080" y="11887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280160" y="1188720"/>
            <a:ext cx="1005840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W · x_t Hesabı — Mevcut girdinin gizli uzaya izdüşümü</a:t>
            </a:r>
            <a:endParaRPr lang="en-US" sz="1600" dirty="0"/>
          </a:p>
        </p:txBody>
      </p:sp>
      <p:pic>
        <p:nvPicPr>
          <p:cNvPr id="9" name="Image 0" descr="/home/claude/equations/s1_step1.png">    </p:cNvPr>
          <p:cNvPicPr>
            <a:picLocks noChangeAspect="1"/>
          </p:cNvPicPr>
          <p:nvPr/>
        </p:nvPicPr>
        <p:blipFill>
          <a:blip r:embed="rId1"/>
          <a:srcRect l="0" r="0" t="0" b="0"/>
          <a:stretch/>
        </p:blipFill>
        <p:spPr>
          <a:xfrm>
            <a:off x="731520" y="1828800"/>
            <a:ext cx="10515600" cy="1280160"/>
          </a:xfrm>
          <a:prstGeom prst="rect">
            <a:avLst/>
          </a:prstGeom>
        </p:spPr>
      </p:pic>
      <p:sp>
        <p:nvSpPr>
          <p:cNvPr id="10" name="Text 7"/>
          <p:cNvSpPr/>
          <p:nvPr/>
        </p:nvSpPr>
        <p:spPr>
          <a:xfrm>
            <a:off x="731520" y="3154680"/>
            <a:ext cx="105156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 Sıcaklık ve nem girdileri, W ile çarpılarak 2-boyutlu gizli temsile dönüştürülür.</a:t>
            </a:r>
            <a:endParaRPr lang="en-US" sz="1100" dirty="0"/>
          </a:p>
        </p:txBody>
      </p:sp>
      <p:sp>
        <p:nvSpPr>
          <p:cNvPr id="11" name="Shape 8"/>
          <p:cNvSpPr/>
          <p:nvPr/>
        </p:nvSpPr>
        <p:spPr>
          <a:xfrm>
            <a:off x="457200" y="3749040"/>
            <a:ext cx="11247120" cy="26060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Shape 9"/>
          <p:cNvSpPr/>
          <p:nvPr/>
        </p:nvSpPr>
        <p:spPr>
          <a:xfrm>
            <a:off x="640080" y="3931920"/>
            <a:ext cx="502920" cy="502920"/>
          </a:xfrm>
          <a:prstGeom prst="ellipse">
            <a:avLst/>
          </a:prstGeom>
          <a:solidFill>
            <a:srgbClr val="E07856"/>
          </a:solidFill>
          <a:ln w="12700">
            <a:solidFill>
              <a:srgbClr val="E07856"/>
            </a:solidFill>
            <a:prstDash val="solid"/>
          </a:ln>
        </p:spPr>
      </p:sp>
      <p:sp>
        <p:nvSpPr>
          <p:cNvPr id="13" name="Text 10"/>
          <p:cNvSpPr/>
          <p:nvPr/>
        </p:nvSpPr>
        <p:spPr>
          <a:xfrm>
            <a:off x="640080" y="39319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1280160" y="3931920"/>
            <a:ext cx="1005840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U · h_(t-1) Hesabı — Geçmiş hafızanın taşınması</a:t>
            </a:r>
            <a:endParaRPr lang="en-US" sz="1600" dirty="0"/>
          </a:p>
        </p:txBody>
      </p:sp>
      <p:pic>
        <p:nvPicPr>
          <p:cNvPr id="15" name="Image 1" descr="/home/claude/equations/s1_step2.png">    </p:cNvPr>
          <p:cNvPicPr>
            <a:picLocks noChangeAspect="1"/>
          </p:cNvPicPr>
          <p:nvPr/>
        </p:nvPicPr>
        <p:blipFill>
          <a:blip r:embed="rId2"/>
          <a:srcRect l="0" r="0" t="0" b="0"/>
          <a:stretch/>
        </p:blipFill>
        <p:spPr>
          <a:xfrm>
            <a:off x="731520" y="4572000"/>
            <a:ext cx="10515600" cy="1280160"/>
          </a:xfrm>
          <a:prstGeom prst="rect">
            <a:avLst/>
          </a:prstGeom>
        </p:spPr>
      </p:pic>
      <p:sp>
        <p:nvSpPr>
          <p:cNvPr id="16" name="Text 12"/>
          <p:cNvSpPr/>
          <p:nvPr/>
        </p:nvSpPr>
        <p:spPr>
          <a:xfrm>
            <a:off x="731520" y="5897880"/>
            <a:ext cx="105156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 Önceki gizli durum, U ağırlığı ile yeniden değerlendirilip mevcut hesaplamaya katkı olarak hazırlanır.</a:t>
            </a:r>
            <a:endParaRPr lang="en-US" sz="1100" dirty="0"/>
          </a:p>
        </p:txBody>
      </p:sp>
      <p:sp>
        <p:nvSpPr>
          <p:cNvPr id="17" name="Text 13"/>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8" name="Text 14"/>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 / 33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1</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Çözüm — Adım 3 ve 4</a:t>
            </a:r>
            <a:endParaRPr lang="en-US" sz="2200" dirty="0"/>
          </a:p>
        </p:txBody>
      </p:sp>
      <p:sp>
        <p:nvSpPr>
          <p:cNvPr id="5" name="Shape 3"/>
          <p:cNvSpPr/>
          <p:nvPr/>
        </p:nvSpPr>
        <p:spPr>
          <a:xfrm>
            <a:off x="457200" y="1005840"/>
            <a:ext cx="11247120" cy="26060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640080" y="1188720"/>
            <a:ext cx="502920" cy="502920"/>
          </a:xfrm>
          <a:prstGeom prst="ellipse">
            <a:avLst/>
          </a:prstGeom>
          <a:solidFill>
            <a:srgbClr val="E07856"/>
          </a:solidFill>
          <a:ln w="12700">
            <a:solidFill>
              <a:srgbClr val="E07856"/>
            </a:solidFill>
            <a:prstDash val="solid"/>
          </a:ln>
        </p:spPr>
      </p:sp>
      <p:sp>
        <p:nvSpPr>
          <p:cNvPr id="7" name="Text 5"/>
          <p:cNvSpPr/>
          <p:nvPr/>
        </p:nvSpPr>
        <p:spPr>
          <a:xfrm>
            <a:off x="640080" y="11887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8" name="Text 6"/>
          <p:cNvSpPr/>
          <p:nvPr/>
        </p:nvSpPr>
        <p:spPr>
          <a:xfrm>
            <a:off x="1280160" y="1188720"/>
            <a:ext cx="1005840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Toplam Girdi — Şimdi + Hafıza + Bias</a:t>
            </a:r>
            <a:endParaRPr lang="en-US" sz="1600" dirty="0"/>
          </a:p>
        </p:txBody>
      </p:sp>
      <p:pic>
        <p:nvPicPr>
          <p:cNvPr id="9" name="Image 0" descr="/home/claude/equations/s1_step3.png">    </p:cNvPr>
          <p:cNvPicPr>
            <a:picLocks noChangeAspect="1"/>
          </p:cNvPicPr>
          <p:nvPr/>
        </p:nvPicPr>
        <p:blipFill>
          <a:blip r:embed="rId1"/>
          <a:srcRect l="0" r="0" t="0" b="0"/>
          <a:stretch/>
        </p:blipFill>
        <p:spPr>
          <a:xfrm>
            <a:off x="731520" y="1828800"/>
            <a:ext cx="10515600" cy="1280160"/>
          </a:xfrm>
          <a:prstGeom prst="rect">
            <a:avLst/>
          </a:prstGeom>
        </p:spPr>
      </p:pic>
      <p:sp>
        <p:nvSpPr>
          <p:cNvPr id="10" name="Text 7"/>
          <p:cNvSpPr/>
          <p:nvPr/>
        </p:nvSpPr>
        <p:spPr>
          <a:xfrm>
            <a:off x="731520" y="3154680"/>
            <a:ext cx="105156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 Aktivasyon öncesi 'pre-activation' değer: girdi + hafıza + bias.</a:t>
            </a:r>
            <a:endParaRPr lang="en-US" sz="1100" dirty="0"/>
          </a:p>
        </p:txBody>
      </p:sp>
      <p:sp>
        <p:nvSpPr>
          <p:cNvPr id="11" name="Shape 8"/>
          <p:cNvSpPr/>
          <p:nvPr/>
        </p:nvSpPr>
        <p:spPr>
          <a:xfrm>
            <a:off x="457200" y="3749040"/>
            <a:ext cx="11247120" cy="26060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Shape 9"/>
          <p:cNvSpPr/>
          <p:nvPr/>
        </p:nvSpPr>
        <p:spPr>
          <a:xfrm>
            <a:off x="640080" y="3931920"/>
            <a:ext cx="502920" cy="502920"/>
          </a:xfrm>
          <a:prstGeom prst="ellipse">
            <a:avLst/>
          </a:prstGeom>
          <a:solidFill>
            <a:srgbClr val="E07856"/>
          </a:solidFill>
          <a:ln w="12700">
            <a:solidFill>
              <a:srgbClr val="E07856"/>
            </a:solidFill>
            <a:prstDash val="solid"/>
          </a:ln>
        </p:spPr>
      </p:sp>
      <p:sp>
        <p:nvSpPr>
          <p:cNvPr id="13" name="Text 10"/>
          <p:cNvSpPr/>
          <p:nvPr/>
        </p:nvSpPr>
        <p:spPr>
          <a:xfrm>
            <a:off x="640080" y="39319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4" name="Text 11"/>
          <p:cNvSpPr/>
          <p:nvPr/>
        </p:nvSpPr>
        <p:spPr>
          <a:xfrm>
            <a:off x="1280160" y="3931920"/>
            <a:ext cx="1005840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tanh Aktivasyonu — Sınırlandırma</a:t>
            </a:r>
            <a:endParaRPr lang="en-US" sz="1600" dirty="0"/>
          </a:p>
        </p:txBody>
      </p:sp>
      <p:pic>
        <p:nvPicPr>
          <p:cNvPr id="15" name="Image 1" descr="/home/claude/equations/s1_step4.png">    </p:cNvPr>
          <p:cNvPicPr>
            <a:picLocks noChangeAspect="1"/>
          </p:cNvPicPr>
          <p:nvPr/>
        </p:nvPicPr>
        <p:blipFill>
          <a:blip r:embed="rId2"/>
          <a:srcRect l="0" r="0" t="0" b="0"/>
          <a:stretch/>
        </p:blipFill>
        <p:spPr>
          <a:xfrm>
            <a:off x="731520" y="4572000"/>
            <a:ext cx="10515600" cy="1280160"/>
          </a:xfrm>
          <a:prstGeom prst="rect">
            <a:avLst/>
          </a:prstGeom>
        </p:spPr>
      </p:pic>
      <p:sp>
        <p:nvSpPr>
          <p:cNvPr id="16" name="Shape 12"/>
          <p:cNvSpPr/>
          <p:nvPr/>
        </p:nvSpPr>
        <p:spPr>
          <a:xfrm>
            <a:off x="4114800" y="5870448"/>
            <a:ext cx="3931920" cy="457200"/>
          </a:xfrm>
          <a:prstGeom prst="rect">
            <a:avLst/>
          </a:prstGeom>
          <a:solidFill>
            <a:srgbClr val="48A6A7"/>
          </a:solidFill>
          <a:ln w="12700">
            <a:solidFill>
              <a:srgbClr val="48A6A7"/>
            </a:solidFill>
            <a:prstDash val="solid"/>
          </a:ln>
        </p:spPr>
      </p:sp>
      <p:sp>
        <p:nvSpPr>
          <p:cNvPr id="17" name="Text 13"/>
          <p:cNvSpPr/>
          <p:nvPr/>
        </p:nvSpPr>
        <p:spPr>
          <a:xfrm>
            <a:off x="4114800" y="5870448"/>
            <a:ext cx="39319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  h_t ≈ (0.72, 0.70)ᵀ</a:t>
            </a:r>
            <a:endParaRPr lang="en-US" sz="1500" dirty="0"/>
          </a:p>
        </p:txBody>
      </p:sp>
      <p:sp>
        <p:nvSpPr>
          <p:cNvPr id="18" name="Text 1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9" name="Text 1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 / 33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E07856"/>
          </a:solidFill>
          <a:ln w="12700">
            <a:solidFill>
              <a:srgbClr val="E07856"/>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SORU 2</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RNN ile Yağış Tahmini — WeatherBot</a:t>
            </a:r>
            <a:endParaRPr lang="en-US" sz="2200" dirty="0"/>
          </a:p>
        </p:txBody>
      </p:sp>
      <p:sp>
        <p:nvSpPr>
          <p:cNvPr id="5" name="Shape 3"/>
          <p:cNvSpPr/>
          <p:nvPr/>
        </p:nvSpPr>
        <p:spPr>
          <a:xfrm>
            <a:off x="457200" y="960120"/>
            <a:ext cx="11247120" cy="15087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640080" y="1051560"/>
            <a:ext cx="1088136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Senaryo</a:t>
            </a:r>
            <a:endParaRPr lang="en-US" sz="1400" dirty="0"/>
          </a:p>
        </p:txBody>
      </p:sp>
      <p:sp>
        <p:nvSpPr>
          <p:cNvPr id="7" name="Text 5"/>
          <p:cNvSpPr/>
          <p:nvPr/>
        </p:nvSpPr>
        <p:spPr>
          <a:xfrm>
            <a:off x="640080" y="1371600"/>
            <a:ext cx="10881360" cy="10515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Üniversitenin Meteoroloji ve Yapay Zekâ Laboratuvarı'nda </a:t>
            </a:r>
            <a:pPr indent="0" marL="0">
              <a:buNone/>
            </a:pPr>
            <a:r>
              <a:rPr lang="en-US" sz="1300" b="1" dirty="0">
                <a:solidFill>
                  <a:srgbClr val="0F1B3D"/>
                </a:solidFill>
                <a:latin typeface="Calibri" pitchFamily="34" charset="0"/>
                <a:ea typeface="Calibri" pitchFamily="34" charset="-122"/>
                <a:cs typeface="Calibri" pitchFamily="34" charset="-120"/>
              </a:rPr>
              <a:t>WeatherBot</a:t>
            </a:r>
            <a:pPr indent="0" marL="0">
              <a:buNone/>
            </a:pPr>
            <a:r>
              <a:rPr lang="en-US" sz="1300" dirty="0">
                <a:solidFill>
                  <a:srgbClr val="374151"/>
                </a:solidFill>
                <a:latin typeface="Calibri" pitchFamily="34" charset="0"/>
                <a:ea typeface="Calibri" pitchFamily="34" charset="-122"/>
                <a:cs typeface="Calibri" pitchFamily="34" charset="-120"/>
              </a:rPr>
              <a:t> geliştirilmiştir. WeatherBot, hava koşullarını sürekli izleyip yağış olasılığını tahmin eder. RNN hücresi geçmiş ölçümleri ve anlık sensör verisini harmanlayarak gizli durumu günceller, ardından bu durumdan bir yağış olasılığı çıkarır. Çıktı, sigmoid ile [0, 1] aralığına normalize edilir.</a:t>
            </a:r>
            <a:endParaRPr lang="en-US" sz="1300" dirty="0"/>
          </a:p>
        </p:txBody>
      </p:sp>
      <p:sp>
        <p:nvSpPr>
          <p:cNvPr id="8" name="Shape 6"/>
          <p:cNvSpPr/>
          <p:nvPr/>
        </p:nvSpPr>
        <p:spPr>
          <a:xfrm>
            <a:off x="457200" y="2606040"/>
            <a:ext cx="5532120" cy="1463040"/>
          </a:xfrm>
          <a:prstGeom prst="rect">
            <a:avLst/>
          </a:prstGeom>
          <a:solidFill>
            <a:srgbClr val="0F1B3D"/>
          </a:solidFill>
          <a:ln w="12700">
            <a:solidFill>
              <a:srgbClr val="0F1B3D"/>
            </a:solidFill>
            <a:prstDash val="solid"/>
          </a:ln>
        </p:spPr>
      </p:sp>
      <p:sp>
        <p:nvSpPr>
          <p:cNvPr id="9" name="Text 7"/>
          <p:cNvSpPr/>
          <p:nvPr/>
        </p:nvSpPr>
        <p:spPr>
          <a:xfrm>
            <a:off x="640080" y="2697480"/>
            <a:ext cx="5303520" cy="320040"/>
          </a:xfrm>
          <a:prstGeom prst="rect">
            <a:avLst/>
          </a:prstGeom>
          <a:noFill/>
          <a:ln/>
        </p:spPr>
        <p:txBody>
          <a:bodyPr wrap="square" lIns="0" tIns="0" rIns="0" bIns="0" rtlCol="0" anchor="ctr"/>
          <a:lstStyle/>
          <a:p>
            <a:pPr indent="0" marL="0">
              <a:buNone/>
            </a:pPr>
            <a:r>
              <a:rPr lang="en-US" sz="1200" i="1" dirty="0">
                <a:solidFill>
                  <a:srgbClr val="E0A458"/>
                </a:solidFill>
                <a:latin typeface="Calibri" pitchFamily="34" charset="0"/>
                <a:ea typeface="Calibri" pitchFamily="34" charset="-122"/>
                <a:cs typeface="Calibri" pitchFamily="34" charset="-120"/>
              </a:rPr>
              <a:t>1. Gizli Durum (ReLU)</a:t>
            </a:r>
            <a:endParaRPr lang="en-US" sz="1200" dirty="0"/>
          </a:p>
        </p:txBody>
      </p:sp>
      <p:pic>
        <p:nvPicPr>
          <p:cNvPr id="10" name="Image 0" descr="/home/claude/equations/s2_h_formula.png">    </p:cNvPr>
          <p:cNvPicPr>
            <a:picLocks noChangeAspect="1"/>
          </p:cNvPicPr>
          <p:nvPr/>
        </p:nvPicPr>
        <p:blipFill>
          <a:blip r:embed="rId1"/>
          <a:srcRect l="0" r="0" t="0" b="0"/>
          <a:stretch/>
        </p:blipFill>
        <p:spPr>
          <a:xfrm>
            <a:off x="640080" y="3017520"/>
            <a:ext cx="5212080" cy="914400"/>
          </a:xfrm>
          <a:prstGeom prst="rect">
            <a:avLst/>
          </a:prstGeom>
        </p:spPr>
      </p:pic>
      <p:sp>
        <p:nvSpPr>
          <p:cNvPr id="11" name="Shape 8"/>
          <p:cNvSpPr/>
          <p:nvPr/>
        </p:nvSpPr>
        <p:spPr>
          <a:xfrm>
            <a:off x="6172200" y="2606040"/>
            <a:ext cx="5532120" cy="1463040"/>
          </a:xfrm>
          <a:prstGeom prst="rect">
            <a:avLst/>
          </a:prstGeom>
          <a:solidFill>
            <a:srgbClr val="0F1B3D"/>
          </a:solidFill>
          <a:ln w="12700">
            <a:solidFill>
              <a:srgbClr val="0F1B3D"/>
            </a:solidFill>
            <a:prstDash val="solid"/>
          </a:ln>
        </p:spPr>
      </p:sp>
      <p:sp>
        <p:nvSpPr>
          <p:cNvPr id="12" name="Text 9"/>
          <p:cNvSpPr/>
          <p:nvPr/>
        </p:nvSpPr>
        <p:spPr>
          <a:xfrm>
            <a:off x="6355080" y="2697480"/>
            <a:ext cx="5303520" cy="320040"/>
          </a:xfrm>
          <a:prstGeom prst="rect">
            <a:avLst/>
          </a:prstGeom>
          <a:noFill/>
          <a:ln/>
        </p:spPr>
        <p:txBody>
          <a:bodyPr wrap="square" lIns="0" tIns="0" rIns="0" bIns="0" rtlCol="0" anchor="ctr"/>
          <a:lstStyle/>
          <a:p>
            <a:pPr indent="0" marL="0">
              <a:buNone/>
            </a:pPr>
            <a:r>
              <a:rPr lang="en-US" sz="1200" i="1" dirty="0">
                <a:solidFill>
                  <a:srgbClr val="E0A458"/>
                </a:solidFill>
                <a:latin typeface="Calibri" pitchFamily="34" charset="0"/>
                <a:ea typeface="Calibri" pitchFamily="34" charset="-122"/>
                <a:cs typeface="Calibri" pitchFamily="34" charset="-120"/>
              </a:rPr>
              <a:t>2. Çıktı (Sigmoid)</a:t>
            </a:r>
            <a:endParaRPr lang="en-US" sz="1200" dirty="0"/>
          </a:p>
        </p:txBody>
      </p:sp>
      <p:pic>
        <p:nvPicPr>
          <p:cNvPr id="13" name="Image 1" descr="/home/claude/equations/s2_y_formula.png">    </p:cNvPr>
          <p:cNvPicPr>
            <a:picLocks noChangeAspect="1"/>
          </p:cNvPicPr>
          <p:nvPr/>
        </p:nvPicPr>
        <p:blipFill>
          <a:blip r:embed="rId2"/>
          <a:srcRect l="0" r="0" t="0" b="0"/>
          <a:stretch/>
        </p:blipFill>
        <p:spPr>
          <a:xfrm>
            <a:off x="6355080" y="3017520"/>
            <a:ext cx="5212080" cy="914400"/>
          </a:xfrm>
          <a:prstGeom prst="rect">
            <a:avLst/>
          </a:prstGeom>
        </p:spPr>
      </p:pic>
      <p:sp>
        <p:nvSpPr>
          <p:cNvPr id="14" name="Shape 10"/>
          <p:cNvSpPr/>
          <p:nvPr/>
        </p:nvSpPr>
        <p:spPr>
          <a:xfrm>
            <a:off x="457200" y="4206240"/>
            <a:ext cx="11247120" cy="21031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5" name="Text 11"/>
          <p:cNvSpPr/>
          <p:nvPr/>
        </p:nvSpPr>
        <p:spPr>
          <a:xfrm>
            <a:off x="640080" y="4297680"/>
            <a:ext cx="10881360" cy="320040"/>
          </a:xfrm>
          <a:prstGeom prst="rect">
            <a:avLst/>
          </a:prstGeom>
          <a:noFill/>
          <a:ln/>
        </p:spPr>
        <p:txBody>
          <a:bodyPr wrap="square" lIns="0" tIns="0" rIns="0" bIns="0" rtlCol="0" anchor="ctr"/>
          <a:lstStyle/>
          <a:p>
            <a:pPr indent="0" marL="0">
              <a:buNone/>
            </a:pPr>
            <a:r>
              <a:rPr lang="en-US" sz="1600" b="1" dirty="0">
                <a:solidFill>
                  <a:srgbClr val="E07856"/>
                </a:solidFill>
                <a:latin typeface="Cambria" pitchFamily="34" charset="0"/>
                <a:ea typeface="Cambria" pitchFamily="34" charset="-122"/>
                <a:cs typeface="Cambria" pitchFamily="34" charset="-120"/>
              </a:rPr>
              <a:t>Değişkenler ve Boyutlar</a:t>
            </a:r>
            <a:endParaRPr lang="en-US" sz="1600" dirty="0"/>
          </a:p>
        </p:txBody>
      </p:sp>
      <p:sp>
        <p:nvSpPr>
          <p:cNvPr id="16" name="Text 12"/>
          <p:cNvSpPr/>
          <p:nvPr/>
        </p:nvSpPr>
        <p:spPr>
          <a:xfrm>
            <a:off x="640080" y="4663440"/>
            <a:ext cx="1691640" cy="411480"/>
          </a:xfrm>
          <a:prstGeom prst="rect">
            <a:avLst/>
          </a:prstGeom>
          <a:noFill/>
          <a:ln/>
        </p:spPr>
        <p:txBody>
          <a:bodyPr wrap="square" lIns="0" tIns="0" rIns="0" bIns="0" rtlCol="0" anchor="ctr"/>
          <a:lstStyle/>
          <a:p>
            <a:pPr indent="0" marL="0">
              <a:buNone/>
            </a:pPr>
            <a:r>
              <a:rPr lang="en-US" sz="1200" b="1" i="1" dirty="0">
                <a:solidFill>
                  <a:srgbClr val="E07856"/>
                </a:solidFill>
                <a:latin typeface="Cambria Math" pitchFamily="34" charset="0"/>
                <a:ea typeface="Cambria Math" pitchFamily="34" charset="-122"/>
                <a:cs typeface="Cambria Math" pitchFamily="34" charset="-120"/>
              </a:rPr>
              <a:t>x_t ∈ ℝ³</a:t>
            </a:r>
            <a:endParaRPr lang="en-US" sz="1200" dirty="0"/>
          </a:p>
        </p:txBody>
      </p:sp>
      <p:sp>
        <p:nvSpPr>
          <p:cNvPr id="17" name="Text 13"/>
          <p:cNvSpPr/>
          <p:nvPr/>
        </p:nvSpPr>
        <p:spPr>
          <a:xfrm>
            <a:off x="2377440" y="4663440"/>
            <a:ext cx="3794760" cy="45720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t anındaki sensör verileri (örn. sıcaklık, nem, basınç değişimi)</a:t>
            </a:r>
            <a:endParaRPr lang="en-US" sz="1000" dirty="0"/>
          </a:p>
        </p:txBody>
      </p:sp>
      <p:sp>
        <p:nvSpPr>
          <p:cNvPr id="18" name="Text 14"/>
          <p:cNvSpPr/>
          <p:nvPr/>
        </p:nvSpPr>
        <p:spPr>
          <a:xfrm>
            <a:off x="640080" y="5166360"/>
            <a:ext cx="1691640" cy="411480"/>
          </a:xfrm>
          <a:prstGeom prst="rect">
            <a:avLst/>
          </a:prstGeom>
          <a:noFill/>
          <a:ln/>
        </p:spPr>
        <p:txBody>
          <a:bodyPr wrap="square" lIns="0" tIns="0" rIns="0" bIns="0" rtlCol="0" anchor="ctr"/>
          <a:lstStyle/>
          <a:p>
            <a:pPr indent="0" marL="0">
              <a:buNone/>
            </a:pPr>
            <a:r>
              <a:rPr lang="en-US" sz="1200" b="1" i="1" dirty="0">
                <a:solidFill>
                  <a:srgbClr val="E07856"/>
                </a:solidFill>
                <a:latin typeface="Cambria Math" pitchFamily="34" charset="0"/>
                <a:ea typeface="Cambria Math" pitchFamily="34" charset="-122"/>
                <a:cs typeface="Cambria Math" pitchFamily="34" charset="-120"/>
              </a:rPr>
              <a:t>h_(t-1) ∈ ℝ²</a:t>
            </a:r>
            <a:endParaRPr lang="en-US" sz="1200" dirty="0"/>
          </a:p>
        </p:txBody>
      </p:sp>
      <p:sp>
        <p:nvSpPr>
          <p:cNvPr id="19" name="Text 15"/>
          <p:cNvSpPr/>
          <p:nvPr/>
        </p:nvSpPr>
        <p:spPr>
          <a:xfrm>
            <a:off x="2377440" y="5166360"/>
            <a:ext cx="3794760" cy="45720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önceki zaman adımındaki gizli durum (geçmişin özeti)</a:t>
            </a:r>
            <a:endParaRPr lang="en-US" sz="1000" dirty="0"/>
          </a:p>
        </p:txBody>
      </p:sp>
      <p:sp>
        <p:nvSpPr>
          <p:cNvPr id="20" name="Text 16"/>
          <p:cNvSpPr/>
          <p:nvPr/>
        </p:nvSpPr>
        <p:spPr>
          <a:xfrm>
            <a:off x="640080" y="5669280"/>
            <a:ext cx="1691640" cy="411480"/>
          </a:xfrm>
          <a:prstGeom prst="rect">
            <a:avLst/>
          </a:prstGeom>
          <a:noFill/>
          <a:ln/>
        </p:spPr>
        <p:txBody>
          <a:bodyPr wrap="square" lIns="0" tIns="0" rIns="0" bIns="0" rtlCol="0" anchor="ctr"/>
          <a:lstStyle/>
          <a:p>
            <a:pPr indent="0" marL="0">
              <a:buNone/>
            </a:pPr>
            <a:r>
              <a:rPr lang="en-US" sz="1200" b="1" i="1" dirty="0">
                <a:solidFill>
                  <a:srgbClr val="E07856"/>
                </a:solidFill>
                <a:latin typeface="Cambria Math" pitchFamily="34" charset="0"/>
                <a:ea typeface="Cambria Math" pitchFamily="34" charset="-122"/>
                <a:cs typeface="Cambria Math" pitchFamily="34" charset="-120"/>
              </a:rPr>
              <a:t>W_x ∈ ℝ^(2×3)</a:t>
            </a:r>
            <a:endParaRPr lang="en-US" sz="1200" dirty="0"/>
          </a:p>
        </p:txBody>
      </p:sp>
      <p:sp>
        <p:nvSpPr>
          <p:cNvPr id="21" name="Text 17"/>
          <p:cNvSpPr/>
          <p:nvPr/>
        </p:nvSpPr>
        <p:spPr>
          <a:xfrm>
            <a:off x="2377440" y="5669280"/>
            <a:ext cx="3794760" cy="45720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girişten gizli duruma dönüşüm matrisi</a:t>
            </a:r>
            <a:endParaRPr lang="en-US" sz="1000" dirty="0"/>
          </a:p>
        </p:txBody>
      </p:sp>
      <p:sp>
        <p:nvSpPr>
          <p:cNvPr id="22" name="Text 18"/>
          <p:cNvSpPr/>
          <p:nvPr/>
        </p:nvSpPr>
        <p:spPr>
          <a:xfrm>
            <a:off x="6263640" y="4663440"/>
            <a:ext cx="1691640" cy="411480"/>
          </a:xfrm>
          <a:prstGeom prst="rect">
            <a:avLst/>
          </a:prstGeom>
          <a:noFill/>
          <a:ln/>
        </p:spPr>
        <p:txBody>
          <a:bodyPr wrap="square" lIns="0" tIns="0" rIns="0" bIns="0" rtlCol="0" anchor="ctr"/>
          <a:lstStyle/>
          <a:p>
            <a:pPr indent="0" marL="0">
              <a:buNone/>
            </a:pPr>
            <a:r>
              <a:rPr lang="en-US" sz="1200" b="1" i="1" dirty="0">
                <a:solidFill>
                  <a:srgbClr val="E07856"/>
                </a:solidFill>
                <a:latin typeface="Cambria Math" pitchFamily="34" charset="0"/>
                <a:ea typeface="Cambria Math" pitchFamily="34" charset="-122"/>
                <a:cs typeface="Cambria Math" pitchFamily="34" charset="-120"/>
              </a:rPr>
              <a:t>W_h ∈ ℝ^(2×2)</a:t>
            </a:r>
            <a:endParaRPr lang="en-US" sz="1200" dirty="0"/>
          </a:p>
        </p:txBody>
      </p:sp>
      <p:sp>
        <p:nvSpPr>
          <p:cNvPr id="23" name="Text 19"/>
          <p:cNvSpPr/>
          <p:nvPr/>
        </p:nvSpPr>
        <p:spPr>
          <a:xfrm>
            <a:off x="8001000" y="4663440"/>
            <a:ext cx="3794760" cy="45720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gizli durumdan gizli duruma dönüşüm (tekrarlayan ağırlık)</a:t>
            </a:r>
            <a:endParaRPr lang="en-US" sz="1000" dirty="0"/>
          </a:p>
        </p:txBody>
      </p:sp>
      <p:sp>
        <p:nvSpPr>
          <p:cNvPr id="24" name="Text 20"/>
          <p:cNvSpPr/>
          <p:nvPr/>
        </p:nvSpPr>
        <p:spPr>
          <a:xfrm>
            <a:off x="6263640" y="5166360"/>
            <a:ext cx="1691640" cy="411480"/>
          </a:xfrm>
          <a:prstGeom prst="rect">
            <a:avLst/>
          </a:prstGeom>
          <a:noFill/>
          <a:ln/>
        </p:spPr>
        <p:txBody>
          <a:bodyPr wrap="square" lIns="0" tIns="0" rIns="0" bIns="0" rtlCol="0" anchor="ctr"/>
          <a:lstStyle/>
          <a:p>
            <a:pPr indent="0" marL="0">
              <a:buNone/>
            </a:pPr>
            <a:r>
              <a:rPr lang="en-US" sz="1200" b="1" i="1" dirty="0">
                <a:solidFill>
                  <a:srgbClr val="E07856"/>
                </a:solidFill>
                <a:latin typeface="Cambria Math" pitchFamily="34" charset="0"/>
                <a:ea typeface="Cambria Math" pitchFamily="34" charset="-122"/>
                <a:cs typeface="Cambria Math" pitchFamily="34" charset="-120"/>
              </a:rPr>
              <a:t>b ∈ ℝ²</a:t>
            </a:r>
            <a:endParaRPr lang="en-US" sz="1200" dirty="0"/>
          </a:p>
        </p:txBody>
      </p:sp>
      <p:sp>
        <p:nvSpPr>
          <p:cNvPr id="25" name="Text 21"/>
          <p:cNvSpPr/>
          <p:nvPr/>
        </p:nvSpPr>
        <p:spPr>
          <a:xfrm>
            <a:off x="8001000" y="5166360"/>
            <a:ext cx="3794760" cy="45720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gizli katman bias vektörü</a:t>
            </a:r>
            <a:endParaRPr lang="en-US" sz="1000" dirty="0"/>
          </a:p>
        </p:txBody>
      </p:sp>
      <p:sp>
        <p:nvSpPr>
          <p:cNvPr id="26" name="Text 22"/>
          <p:cNvSpPr/>
          <p:nvPr/>
        </p:nvSpPr>
        <p:spPr>
          <a:xfrm>
            <a:off x="6263640" y="5669280"/>
            <a:ext cx="1691640" cy="411480"/>
          </a:xfrm>
          <a:prstGeom prst="rect">
            <a:avLst/>
          </a:prstGeom>
          <a:noFill/>
          <a:ln/>
        </p:spPr>
        <p:txBody>
          <a:bodyPr wrap="square" lIns="0" tIns="0" rIns="0" bIns="0" rtlCol="0" anchor="ctr"/>
          <a:lstStyle/>
          <a:p>
            <a:pPr indent="0" marL="0">
              <a:buNone/>
            </a:pPr>
            <a:r>
              <a:rPr lang="en-US" sz="1200" b="1" i="1" dirty="0">
                <a:solidFill>
                  <a:srgbClr val="E07856"/>
                </a:solidFill>
                <a:latin typeface="Cambria Math" pitchFamily="34" charset="0"/>
                <a:ea typeface="Cambria Math" pitchFamily="34" charset="-122"/>
                <a:cs typeface="Cambria Math" pitchFamily="34" charset="-120"/>
              </a:rPr>
              <a:t>V ∈ ℝ^(1×2), c ∈ ℝ</a:t>
            </a:r>
            <a:endParaRPr lang="en-US" sz="1200" dirty="0"/>
          </a:p>
        </p:txBody>
      </p:sp>
      <p:sp>
        <p:nvSpPr>
          <p:cNvPr id="27" name="Text 23"/>
          <p:cNvSpPr/>
          <p:nvPr/>
        </p:nvSpPr>
        <p:spPr>
          <a:xfrm>
            <a:off x="8001000" y="5669280"/>
            <a:ext cx="3794760" cy="45720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çıktı katmanı parametreleri (yağış olasılığı tek skaler ürettiğinden)</a:t>
            </a:r>
            <a:endParaRPr lang="en-US" sz="1000" dirty="0"/>
          </a:p>
        </p:txBody>
      </p:sp>
      <p:sp>
        <p:nvSpPr>
          <p:cNvPr id="28" name="Text 2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9" name="Text 2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 / 33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E07856"/>
          </a:solidFill>
          <a:ln w="12700">
            <a:solidFill>
              <a:srgbClr val="E07856"/>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SORU 2</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Verilen Değerler ve Görev</a:t>
            </a:r>
            <a:endParaRPr lang="en-US" sz="2200" dirty="0"/>
          </a:p>
        </p:txBody>
      </p:sp>
      <p:sp>
        <p:nvSpPr>
          <p:cNvPr id="5" name="Shape 3"/>
          <p:cNvSpPr/>
          <p:nvPr/>
        </p:nvSpPr>
        <p:spPr>
          <a:xfrm>
            <a:off x="457200" y="1005840"/>
            <a:ext cx="18745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6" name="Image 0" descr="/home/claude/equations/s2_xt.png">    </p:cNvPr>
          <p:cNvPicPr>
            <a:picLocks noChangeAspect="1"/>
          </p:cNvPicPr>
          <p:nvPr/>
        </p:nvPicPr>
        <p:blipFill>
          <a:blip r:embed="rId1"/>
          <a:srcRect l="0" r="0" t="0" b="0"/>
          <a:stretch/>
        </p:blipFill>
        <p:spPr>
          <a:xfrm>
            <a:off x="502920" y="1143000"/>
            <a:ext cx="1783080" cy="1188720"/>
          </a:xfrm>
          <a:prstGeom prst="rect">
            <a:avLst/>
          </a:prstGeom>
        </p:spPr>
      </p:pic>
      <p:sp>
        <p:nvSpPr>
          <p:cNvPr id="7" name="Text 4"/>
          <p:cNvSpPr/>
          <p:nvPr/>
        </p:nvSpPr>
        <p:spPr>
          <a:xfrm>
            <a:off x="502920" y="2377440"/>
            <a:ext cx="1783080" cy="274320"/>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Giriş x_t</a:t>
            </a:r>
            <a:endParaRPr lang="en-US" sz="1100" dirty="0"/>
          </a:p>
        </p:txBody>
      </p:sp>
      <p:sp>
        <p:nvSpPr>
          <p:cNvPr id="8" name="Text 5"/>
          <p:cNvSpPr/>
          <p:nvPr/>
        </p:nvSpPr>
        <p:spPr>
          <a:xfrm>
            <a:off x="502920" y="2633472"/>
            <a:ext cx="1783080"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3 sensör değeri</a:t>
            </a:r>
            <a:endParaRPr lang="en-US" sz="900" dirty="0"/>
          </a:p>
        </p:txBody>
      </p:sp>
      <p:sp>
        <p:nvSpPr>
          <p:cNvPr id="9" name="Shape 6"/>
          <p:cNvSpPr/>
          <p:nvPr/>
        </p:nvSpPr>
        <p:spPr>
          <a:xfrm>
            <a:off x="2354580" y="1005840"/>
            <a:ext cx="18745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10" name="Image 1" descr="/home/claude/equations/s2_ht_prev.png">    </p:cNvPr>
          <p:cNvPicPr>
            <a:picLocks noChangeAspect="1"/>
          </p:cNvPicPr>
          <p:nvPr/>
        </p:nvPicPr>
        <p:blipFill>
          <a:blip r:embed="rId2"/>
          <a:srcRect l="0" r="0" t="0" b="0"/>
          <a:stretch/>
        </p:blipFill>
        <p:spPr>
          <a:xfrm>
            <a:off x="2400300" y="1143000"/>
            <a:ext cx="1783080" cy="1188720"/>
          </a:xfrm>
          <a:prstGeom prst="rect">
            <a:avLst/>
          </a:prstGeom>
        </p:spPr>
      </p:pic>
      <p:sp>
        <p:nvSpPr>
          <p:cNvPr id="11" name="Text 7"/>
          <p:cNvSpPr/>
          <p:nvPr/>
        </p:nvSpPr>
        <p:spPr>
          <a:xfrm>
            <a:off x="2400300" y="2377440"/>
            <a:ext cx="1783080" cy="274320"/>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Önceki h_(t-1)</a:t>
            </a:r>
            <a:endParaRPr lang="en-US" sz="1100" dirty="0"/>
          </a:p>
        </p:txBody>
      </p:sp>
      <p:sp>
        <p:nvSpPr>
          <p:cNvPr id="12" name="Text 8"/>
          <p:cNvSpPr/>
          <p:nvPr/>
        </p:nvSpPr>
        <p:spPr>
          <a:xfrm>
            <a:off x="2400300" y="2633472"/>
            <a:ext cx="1783080"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2-boyutlu hafıza</a:t>
            </a:r>
            <a:endParaRPr lang="en-US" sz="900" dirty="0"/>
          </a:p>
        </p:txBody>
      </p:sp>
      <p:sp>
        <p:nvSpPr>
          <p:cNvPr id="13" name="Shape 9"/>
          <p:cNvSpPr/>
          <p:nvPr/>
        </p:nvSpPr>
        <p:spPr>
          <a:xfrm>
            <a:off x="4251960" y="1005840"/>
            <a:ext cx="18745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14" name="Image 2" descr="/home/claude/equations/s2_Wx.png">    </p:cNvPr>
          <p:cNvPicPr>
            <a:picLocks noChangeAspect="1"/>
          </p:cNvPicPr>
          <p:nvPr/>
        </p:nvPicPr>
        <p:blipFill>
          <a:blip r:embed="rId3"/>
          <a:srcRect l="0" r="0" t="0" b="0"/>
          <a:stretch/>
        </p:blipFill>
        <p:spPr>
          <a:xfrm>
            <a:off x="4297680" y="1143000"/>
            <a:ext cx="1783080" cy="1188720"/>
          </a:xfrm>
          <a:prstGeom prst="rect">
            <a:avLst/>
          </a:prstGeom>
        </p:spPr>
      </p:pic>
      <p:sp>
        <p:nvSpPr>
          <p:cNvPr id="15" name="Text 10"/>
          <p:cNvSpPr/>
          <p:nvPr/>
        </p:nvSpPr>
        <p:spPr>
          <a:xfrm>
            <a:off x="4297680" y="2377440"/>
            <a:ext cx="1783080" cy="274320"/>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W_x</a:t>
            </a:r>
            <a:endParaRPr lang="en-US" sz="1100" dirty="0"/>
          </a:p>
        </p:txBody>
      </p:sp>
      <p:sp>
        <p:nvSpPr>
          <p:cNvPr id="16" name="Text 11"/>
          <p:cNvSpPr/>
          <p:nvPr/>
        </p:nvSpPr>
        <p:spPr>
          <a:xfrm>
            <a:off x="4297680" y="2633472"/>
            <a:ext cx="1783080"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2×3 ağırlık</a:t>
            </a:r>
            <a:endParaRPr lang="en-US" sz="900" dirty="0"/>
          </a:p>
        </p:txBody>
      </p:sp>
      <p:sp>
        <p:nvSpPr>
          <p:cNvPr id="17" name="Shape 12"/>
          <p:cNvSpPr/>
          <p:nvPr/>
        </p:nvSpPr>
        <p:spPr>
          <a:xfrm>
            <a:off x="6149340" y="1005840"/>
            <a:ext cx="18745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18" name="Image 3" descr="/home/claude/equations/s2_Wh.png">    </p:cNvPr>
          <p:cNvPicPr>
            <a:picLocks noChangeAspect="1"/>
          </p:cNvPicPr>
          <p:nvPr/>
        </p:nvPicPr>
        <p:blipFill>
          <a:blip r:embed="rId4"/>
          <a:srcRect l="0" r="0" t="0" b="0"/>
          <a:stretch/>
        </p:blipFill>
        <p:spPr>
          <a:xfrm>
            <a:off x="6195060" y="1143000"/>
            <a:ext cx="1783080" cy="1188720"/>
          </a:xfrm>
          <a:prstGeom prst="rect">
            <a:avLst/>
          </a:prstGeom>
        </p:spPr>
      </p:pic>
      <p:sp>
        <p:nvSpPr>
          <p:cNvPr id="19" name="Text 13"/>
          <p:cNvSpPr/>
          <p:nvPr/>
        </p:nvSpPr>
        <p:spPr>
          <a:xfrm>
            <a:off x="6195060" y="2377440"/>
            <a:ext cx="1783080" cy="274320"/>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W_h</a:t>
            </a:r>
            <a:endParaRPr lang="en-US" sz="1100" dirty="0"/>
          </a:p>
        </p:txBody>
      </p:sp>
      <p:sp>
        <p:nvSpPr>
          <p:cNvPr id="20" name="Text 14"/>
          <p:cNvSpPr/>
          <p:nvPr/>
        </p:nvSpPr>
        <p:spPr>
          <a:xfrm>
            <a:off x="6195060" y="2633472"/>
            <a:ext cx="1783080"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2×2 tekrarlayan</a:t>
            </a:r>
            <a:endParaRPr lang="en-US" sz="900" dirty="0"/>
          </a:p>
        </p:txBody>
      </p:sp>
      <p:sp>
        <p:nvSpPr>
          <p:cNvPr id="21" name="Shape 15"/>
          <p:cNvSpPr/>
          <p:nvPr/>
        </p:nvSpPr>
        <p:spPr>
          <a:xfrm>
            <a:off x="8046720" y="1005840"/>
            <a:ext cx="18745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22" name="Image 4" descr="/home/claude/equations/s2_b.png">    </p:cNvPr>
          <p:cNvPicPr>
            <a:picLocks noChangeAspect="1"/>
          </p:cNvPicPr>
          <p:nvPr/>
        </p:nvPicPr>
        <p:blipFill>
          <a:blip r:embed="rId5"/>
          <a:srcRect l="0" r="0" t="0" b="0"/>
          <a:stretch/>
        </p:blipFill>
        <p:spPr>
          <a:xfrm>
            <a:off x="8092440" y="1143000"/>
            <a:ext cx="1783080" cy="1188720"/>
          </a:xfrm>
          <a:prstGeom prst="rect">
            <a:avLst/>
          </a:prstGeom>
        </p:spPr>
      </p:pic>
      <p:sp>
        <p:nvSpPr>
          <p:cNvPr id="23" name="Text 16"/>
          <p:cNvSpPr/>
          <p:nvPr/>
        </p:nvSpPr>
        <p:spPr>
          <a:xfrm>
            <a:off x="8092440" y="2377440"/>
            <a:ext cx="1783080" cy="274320"/>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b</a:t>
            </a:r>
            <a:endParaRPr lang="en-US" sz="1100" dirty="0"/>
          </a:p>
        </p:txBody>
      </p:sp>
      <p:sp>
        <p:nvSpPr>
          <p:cNvPr id="24" name="Text 17"/>
          <p:cNvSpPr/>
          <p:nvPr/>
        </p:nvSpPr>
        <p:spPr>
          <a:xfrm>
            <a:off x="8092440" y="2633472"/>
            <a:ext cx="1783080"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ℝ² bias</a:t>
            </a:r>
            <a:endParaRPr lang="en-US" sz="900" dirty="0"/>
          </a:p>
        </p:txBody>
      </p:sp>
      <p:sp>
        <p:nvSpPr>
          <p:cNvPr id="25" name="Shape 18"/>
          <p:cNvSpPr/>
          <p:nvPr/>
        </p:nvSpPr>
        <p:spPr>
          <a:xfrm>
            <a:off x="9944100" y="1005840"/>
            <a:ext cx="18745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26" name="Image 5" descr="/home/claude/equations/s2_V_c.png">    </p:cNvPr>
          <p:cNvPicPr>
            <a:picLocks noChangeAspect="1"/>
          </p:cNvPicPr>
          <p:nvPr/>
        </p:nvPicPr>
        <p:blipFill>
          <a:blip r:embed="rId6"/>
          <a:srcRect l="0" r="0" t="0" b="0"/>
          <a:stretch/>
        </p:blipFill>
        <p:spPr>
          <a:xfrm>
            <a:off x="9989820" y="1143000"/>
            <a:ext cx="1783080" cy="1188720"/>
          </a:xfrm>
          <a:prstGeom prst="rect">
            <a:avLst/>
          </a:prstGeom>
        </p:spPr>
      </p:pic>
      <p:sp>
        <p:nvSpPr>
          <p:cNvPr id="27" name="Text 19"/>
          <p:cNvSpPr/>
          <p:nvPr/>
        </p:nvSpPr>
        <p:spPr>
          <a:xfrm>
            <a:off x="9989820" y="2377440"/>
            <a:ext cx="1783080" cy="274320"/>
          </a:xfrm>
          <a:prstGeom prst="rect">
            <a:avLst/>
          </a:prstGeom>
          <a:noFill/>
          <a:ln/>
        </p:spPr>
        <p:txBody>
          <a:bodyPr wrap="square" lIns="0" tIns="0" rIns="0" bIns="0" rtlCol="0" anchor="ctr"/>
          <a:lstStyle/>
          <a:p>
            <a:pPr algn="ctr" indent="0" marL="0">
              <a:buNone/>
            </a:pPr>
            <a:r>
              <a:rPr lang="en-US" sz="1100" b="1" dirty="0">
                <a:solidFill>
                  <a:srgbClr val="E07856"/>
                </a:solidFill>
                <a:latin typeface="Cambria" pitchFamily="34" charset="0"/>
                <a:ea typeface="Cambria" pitchFamily="34" charset="-122"/>
                <a:cs typeface="Cambria" pitchFamily="34" charset="-120"/>
              </a:rPr>
              <a:t>V, c</a:t>
            </a:r>
            <a:endParaRPr lang="en-US" sz="1100" dirty="0"/>
          </a:p>
        </p:txBody>
      </p:sp>
      <p:sp>
        <p:nvSpPr>
          <p:cNvPr id="28" name="Text 20"/>
          <p:cNvSpPr/>
          <p:nvPr/>
        </p:nvSpPr>
        <p:spPr>
          <a:xfrm>
            <a:off x="9989820" y="2633472"/>
            <a:ext cx="1783080" cy="32004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çıktı parametreleri</a:t>
            </a:r>
            <a:endParaRPr lang="en-US" sz="900" dirty="0"/>
          </a:p>
        </p:txBody>
      </p:sp>
      <p:sp>
        <p:nvSpPr>
          <p:cNvPr id="29" name="Shape 21"/>
          <p:cNvSpPr/>
          <p:nvPr/>
        </p:nvSpPr>
        <p:spPr>
          <a:xfrm>
            <a:off x="457200" y="3291840"/>
            <a:ext cx="11247120" cy="3017520"/>
          </a:xfrm>
          <a:prstGeom prst="rect">
            <a:avLst/>
          </a:prstGeom>
          <a:solidFill>
            <a:srgbClr val="FFFFFF"/>
          </a:solidFill>
          <a:ln w="25400">
            <a:solidFill>
              <a:srgbClr val="48A6A7"/>
            </a:solidFill>
            <a:prstDash val="solid"/>
          </a:ln>
          <a:effectLst>
            <a:outerShdw sx="100000" sy="100000" kx="0" ky="0" algn="bl" rotWithShape="0" blurRad="127000" dist="38100" dir="5400000">
              <a:srgbClr val="000000">
                <a:alpha val="10000"/>
              </a:srgbClr>
            </a:outerShdw>
          </a:effectLst>
        </p:spPr>
      </p:sp>
      <p:sp>
        <p:nvSpPr>
          <p:cNvPr id="30" name="Shape 22"/>
          <p:cNvSpPr/>
          <p:nvPr/>
        </p:nvSpPr>
        <p:spPr>
          <a:xfrm>
            <a:off x="457200" y="3291840"/>
            <a:ext cx="11247120" cy="457200"/>
          </a:xfrm>
          <a:prstGeom prst="rect">
            <a:avLst/>
          </a:prstGeom>
          <a:solidFill>
            <a:srgbClr val="48A6A7"/>
          </a:solidFill>
          <a:ln w="12700">
            <a:solidFill>
              <a:srgbClr val="48A6A7"/>
            </a:solidFill>
            <a:prstDash val="solid"/>
          </a:ln>
        </p:spPr>
      </p:sp>
      <p:sp>
        <p:nvSpPr>
          <p:cNvPr id="31" name="Text 23"/>
          <p:cNvSpPr/>
          <p:nvPr/>
        </p:nvSpPr>
        <p:spPr>
          <a:xfrm>
            <a:off x="457200" y="3291840"/>
            <a:ext cx="1124712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GÖREV</a:t>
            </a:r>
            <a:endParaRPr lang="en-US" sz="1600" dirty="0"/>
          </a:p>
        </p:txBody>
      </p:sp>
      <p:sp>
        <p:nvSpPr>
          <p:cNvPr id="32" name="Text 24"/>
          <p:cNvSpPr/>
          <p:nvPr/>
        </p:nvSpPr>
        <p:spPr>
          <a:xfrm>
            <a:off x="731520" y="3931920"/>
            <a:ext cx="10698480" cy="54864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Verilen </a:t>
            </a:r>
            <a:pPr indent="0" marL="0">
              <a:buNone/>
            </a:pPr>
            <a:r>
              <a:rPr lang="en-US" sz="1400" b="1" i="1" dirty="0">
                <a:solidFill>
                  <a:srgbClr val="E07856"/>
                </a:solidFill>
                <a:latin typeface="Cambria Math" pitchFamily="34" charset="0"/>
                <a:ea typeface="Cambria Math" pitchFamily="34" charset="-122"/>
                <a:cs typeface="Cambria Math" pitchFamily="34" charset="-120"/>
              </a:rPr>
              <a:t>x_t</a:t>
            </a:r>
            <a:pPr indent="0" marL="0">
              <a:buNone/>
            </a:pPr>
            <a:r>
              <a:rPr lang="en-US" sz="1400" dirty="0">
                <a:solidFill>
                  <a:srgbClr val="374151"/>
                </a:solidFill>
                <a:latin typeface="Calibri" pitchFamily="34" charset="0"/>
                <a:ea typeface="Calibri" pitchFamily="34" charset="-122"/>
                <a:cs typeface="Calibri" pitchFamily="34" charset="-120"/>
              </a:rPr>
              <a:t> ve </a:t>
            </a:r>
            <a:pPr indent="0" marL="0">
              <a:buNone/>
            </a:pPr>
            <a:r>
              <a:rPr lang="en-US" sz="1400" b="1" i="1" dirty="0">
                <a:solidFill>
                  <a:srgbClr val="E07856"/>
                </a:solidFill>
                <a:latin typeface="Cambria Math" pitchFamily="34" charset="0"/>
                <a:ea typeface="Cambria Math" pitchFamily="34" charset="-122"/>
                <a:cs typeface="Cambria Math" pitchFamily="34" charset="-120"/>
              </a:rPr>
              <a:t>h_(t-1)</a:t>
            </a:r>
            <a:pPr indent="0" marL="0">
              <a:buNone/>
            </a:pPr>
            <a:r>
              <a:rPr lang="en-US" sz="1400" dirty="0">
                <a:solidFill>
                  <a:srgbClr val="374151"/>
                </a:solidFill>
                <a:latin typeface="Calibri" pitchFamily="34" charset="0"/>
                <a:ea typeface="Calibri" pitchFamily="34" charset="-122"/>
                <a:cs typeface="Calibri" pitchFamily="34" charset="-120"/>
              </a:rPr>
              <a:t> değerlerini kullanarak güncel gizli durumu </a:t>
            </a:r>
            <a:pPr indent="0" marL="0">
              <a:buNone/>
            </a:pPr>
            <a:r>
              <a:rPr lang="en-US" sz="1400" b="1" i="1" dirty="0">
                <a:solidFill>
                  <a:srgbClr val="E07856"/>
                </a:solidFill>
                <a:latin typeface="Cambria Math" pitchFamily="34" charset="0"/>
                <a:ea typeface="Cambria Math" pitchFamily="34" charset="-122"/>
                <a:cs typeface="Cambria Math" pitchFamily="34" charset="-120"/>
              </a:rPr>
              <a:t>h_t</a:t>
            </a:r>
            <a:pPr indent="0" marL="0">
              <a:buNone/>
            </a:pPr>
            <a:r>
              <a:rPr lang="en-US" sz="1400" dirty="0">
                <a:solidFill>
                  <a:srgbClr val="374151"/>
                </a:solidFill>
                <a:latin typeface="Calibri" pitchFamily="34" charset="0"/>
                <a:ea typeface="Calibri" pitchFamily="34" charset="-122"/>
                <a:cs typeface="Calibri" pitchFamily="34" charset="-120"/>
              </a:rPr>
              <a:t> ve yağış olasılığına karşılık gelen çıktı </a:t>
            </a:r>
            <a:pPr indent="0" marL="0">
              <a:buNone/>
            </a:pPr>
            <a:r>
              <a:rPr lang="en-US" sz="1400" b="1" i="1" dirty="0">
                <a:solidFill>
                  <a:srgbClr val="E07856"/>
                </a:solidFill>
                <a:latin typeface="Cambria Math" pitchFamily="34" charset="0"/>
                <a:ea typeface="Cambria Math" pitchFamily="34" charset="-122"/>
                <a:cs typeface="Cambria Math" pitchFamily="34" charset="-120"/>
              </a:rPr>
              <a:t>y_t</a:t>
            </a:r>
            <a:pPr indent="0" marL="0">
              <a:buNone/>
            </a:pPr>
            <a:r>
              <a:rPr lang="en-US" sz="1400" dirty="0">
                <a:solidFill>
                  <a:srgbClr val="374151"/>
                </a:solidFill>
                <a:latin typeface="Calibri" pitchFamily="34" charset="0"/>
                <a:ea typeface="Calibri" pitchFamily="34" charset="-122"/>
                <a:cs typeface="Calibri" pitchFamily="34" charset="-120"/>
              </a:rPr>
              <a:t>'yi hesaplayınız.</a:t>
            </a:r>
            <a:endParaRPr lang="en-US" sz="1400" dirty="0"/>
          </a:p>
        </p:txBody>
      </p:sp>
      <p:sp>
        <p:nvSpPr>
          <p:cNvPr id="33" name="Text 25"/>
          <p:cNvSpPr/>
          <p:nvPr/>
        </p:nvSpPr>
        <p:spPr>
          <a:xfrm>
            <a:off x="731520" y="4572000"/>
            <a:ext cx="10698480" cy="1554480"/>
          </a:xfrm>
          <a:prstGeom prst="rect">
            <a:avLst/>
          </a:prstGeom>
          <a:noFill/>
          <a:ln/>
        </p:spPr>
        <p:txBody>
          <a:bodyPr wrap="square" lIns="0" tIns="0" rIns="0" bIns="0" rtlCol="0" anchor="t"/>
          <a:lstStyle/>
          <a:p>
            <a:pPr indent="0" marL="0">
              <a:buNone/>
            </a:pPr>
            <a:r>
              <a:rPr lang="en-US" sz="1300" b="1" dirty="0">
                <a:solidFill>
                  <a:srgbClr val="0F1B3D"/>
                </a:solidFill>
                <a:latin typeface="Calibri" pitchFamily="34" charset="0"/>
                <a:ea typeface="Calibri" pitchFamily="34" charset="-122"/>
                <a:cs typeface="Calibri" pitchFamily="34" charset="-120"/>
              </a:rPr>
              <a:t>✓  </a:t>
            </a:r>
            <a:pPr indent="0" marL="0">
              <a:buNone/>
            </a:pPr>
            <a:r>
              <a:rPr lang="en-US" sz="1300" dirty="0">
                <a:solidFill>
                  <a:srgbClr val="0F1B3D"/>
                </a:solidFill>
                <a:latin typeface="Calibri" pitchFamily="34" charset="0"/>
                <a:ea typeface="Calibri" pitchFamily="34" charset="-122"/>
                <a:cs typeface="Calibri" pitchFamily="34" charset="-120"/>
              </a:rPr>
              <a:t>Gizli durum için</a:t>
            </a:r>
            <a:pPr indent="0" marL="0">
              <a:buNone/>
            </a:pPr>
            <a:r>
              <a:rPr lang="en-US" sz="1300" b="1" dirty="0">
                <a:solidFill>
                  <a:srgbClr val="0F1B3D"/>
                </a:solidFill>
                <a:latin typeface="Calibri" pitchFamily="34" charset="0"/>
                <a:ea typeface="Calibri" pitchFamily="34" charset="-122"/>
                <a:cs typeface="Calibri" pitchFamily="34" charset="-120"/>
              </a:rPr>
              <a:t> ReLU</a:t>
            </a:r>
            <a:pPr indent="0" marL="0">
              <a:buNone/>
            </a:pPr>
            <a:r>
              <a:rPr lang="en-US" sz="1300" dirty="0">
                <a:solidFill>
                  <a:srgbClr val="0F1B3D"/>
                </a:solidFill>
                <a:latin typeface="Calibri" pitchFamily="34" charset="0"/>
                <a:ea typeface="Calibri" pitchFamily="34" charset="-122"/>
                <a:cs typeface="Calibri" pitchFamily="34" charset="-120"/>
              </a:rPr>
              <a:t> kullanılacaktır.
</a:t>
            </a:r>
            <a:pPr indent="0" marL="0">
              <a:buNone/>
            </a:pPr>
            <a:r>
              <a:rPr lang="en-US" sz="1300" b="1" dirty="0">
                <a:solidFill>
                  <a:srgbClr val="0F1B3D"/>
                </a:solidFill>
                <a:latin typeface="Calibri" pitchFamily="34" charset="0"/>
                <a:ea typeface="Calibri" pitchFamily="34" charset="-122"/>
                <a:cs typeface="Calibri" pitchFamily="34" charset="-120"/>
              </a:rPr>
              <a:t>✓  </a:t>
            </a:r>
            <a:pPr indent="0" marL="0">
              <a:buNone/>
            </a:pPr>
            <a:r>
              <a:rPr lang="en-US" sz="1300" dirty="0">
                <a:solidFill>
                  <a:srgbClr val="0F1B3D"/>
                </a:solidFill>
                <a:latin typeface="Calibri" pitchFamily="34" charset="0"/>
                <a:ea typeface="Calibri" pitchFamily="34" charset="-122"/>
                <a:cs typeface="Calibri" pitchFamily="34" charset="-120"/>
              </a:rPr>
              <a:t>Çıktı için</a:t>
            </a:r>
            <a:pPr indent="0" marL="0">
              <a:buNone/>
            </a:pPr>
            <a:r>
              <a:rPr lang="en-US" sz="1300" b="1" dirty="0">
                <a:solidFill>
                  <a:srgbClr val="0F1B3D"/>
                </a:solidFill>
                <a:latin typeface="Calibri" pitchFamily="34" charset="0"/>
                <a:ea typeface="Calibri" pitchFamily="34" charset="-122"/>
                <a:cs typeface="Calibri" pitchFamily="34" charset="-120"/>
              </a:rPr>
              <a:t> sigmoid</a:t>
            </a:r>
            <a:pPr indent="0" marL="0">
              <a:buNone/>
            </a:pPr>
            <a:r>
              <a:rPr lang="en-US" sz="1300" dirty="0">
                <a:solidFill>
                  <a:srgbClr val="0F1B3D"/>
                </a:solidFill>
                <a:latin typeface="Calibri" pitchFamily="34" charset="0"/>
                <a:ea typeface="Calibri" pitchFamily="34" charset="-122"/>
                <a:cs typeface="Calibri" pitchFamily="34" charset="-120"/>
              </a:rPr>
              <a:t> kullanılacaktır.
</a:t>
            </a:r>
            <a:pPr indent="0" marL="0">
              <a:buNone/>
            </a:pPr>
            <a:r>
              <a:rPr lang="en-US" sz="1300" b="1" dirty="0">
                <a:solidFill>
                  <a:srgbClr val="0F1B3D"/>
                </a:solidFill>
                <a:latin typeface="Calibri" pitchFamily="34" charset="0"/>
                <a:ea typeface="Calibri" pitchFamily="34" charset="-122"/>
                <a:cs typeface="Calibri" pitchFamily="34" charset="-120"/>
              </a:rPr>
              <a:t>✓  </a:t>
            </a:r>
            <a:pPr indent="0" marL="0">
              <a:buNone/>
            </a:pPr>
            <a:r>
              <a:rPr lang="en-US" sz="1300" dirty="0">
                <a:solidFill>
                  <a:srgbClr val="0F1B3D"/>
                </a:solidFill>
                <a:latin typeface="Calibri" pitchFamily="34" charset="0"/>
                <a:ea typeface="Calibri" pitchFamily="34" charset="-122"/>
                <a:cs typeface="Calibri" pitchFamily="34" charset="-120"/>
              </a:rPr>
              <a:t>Tüm ara adımları gösteriniz; sonucu yaklaşık ondalık değerlerle ifade ediniz.</a:t>
            </a:r>
            <a:endParaRPr lang="en-US" sz="1300" dirty="0"/>
          </a:p>
        </p:txBody>
      </p:sp>
      <p:sp>
        <p:nvSpPr>
          <p:cNvPr id="34" name="Text 26"/>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35" name="Text 27"/>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 / 33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2</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Adım 1: W_x · x_t</a:t>
            </a:r>
            <a:endParaRPr lang="en-US" sz="2200" dirty="0"/>
          </a:p>
        </p:txBody>
      </p:sp>
      <p:sp>
        <p:nvSpPr>
          <p:cNvPr id="5" name="Shape 3"/>
          <p:cNvSpPr/>
          <p:nvPr/>
        </p:nvSpPr>
        <p:spPr>
          <a:xfrm>
            <a:off x="457200" y="1005840"/>
            <a:ext cx="11247120" cy="21945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6" name="Image 0" descr="/home/claude/equations/s2_step1.png">    </p:cNvPr>
          <p:cNvPicPr>
            <a:picLocks noChangeAspect="1"/>
          </p:cNvPicPr>
          <p:nvPr/>
        </p:nvPicPr>
        <p:blipFill>
          <a:blip r:embed="rId1"/>
          <a:srcRect l="0" r="0" t="0" b="0"/>
          <a:stretch/>
        </p:blipFill>
        <p:spPr>
          <a:xfrm>
            <a:off x="731520" y="1188720"/>
            <a:ext cx="10698480" cy="1828800"/>
          </a:xfrm>
          <a:prstGeom prst="rect">
            <a:avLst/>
          </a:prstGeom>
        </p:spPr>
      </p:pic>
      <p:sp>
        <p:nvSpPr>
          <p:cNvPr id="7" name="Shape 4"/>
          <p:cNvSpPr/>
          <p:nvPr/>
        </p:nvSpPr>
        <p:spPr>
          <a:xfrm>
            <a:off x="457200" y="3337560"/>
            <a:ext cx="11247120"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8" name="Text 5"/>
          <p:cNvSpPr/>
          <p:nvPr/>
        </p:nvSpPr>
        <p:spPr>
          <a:xfrm>
            <a:off x="640080" y="3429000"/>
            <a:ext cx="1088136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Satır Satır Hesap</a:t>
            </a:r>
            <a:endParaRPr lang="en-US" sz="1400" dirty="0"/>
          </a:p>
        </p:txBody>
      </p:sp>
      <p:pic>
        <p:nvPicPr>
          <p:cNvPr id="9" name="Image 1" descr="/home/claude/equations/s2_step1_detail1.png">    </p:cNvPr>
          <p:cNvPicPr>
            <a:picLocks noChangeAspect="1"/>
          </p:cNvPicPr>
          <p:nvPr/>
        </p:nvPicPr>
        <p:blipFill>
          <a:blip r:embed="rId2"/>
          <a:srcRect l="0" r="0" t="0" b="0"/>
          <a:stretch/>
        </p:blipFill>
        <p:spPr>
          <a:xfrm>
            <a:off x="731520" y="3794760"/>
            <a:ext cx="10698480" cy="594360"/>
          </a:xfrm>
          <a:prstGeom prst="rect">
            <a:avLst/>
          </a:prstGeom>
        </p:spPr>
      </p:pic>
      <p:pic>
        <p:nvPicPr>
          <p:cNvPr id="10" name="Image 2" descr="/home/claude/equations/s2_step1_detail2.png">    </p:cNvPr>
          <p:cNvPicPr>
            <a:picLocks noChangeAspect="1"/>
          </p:cNvPicPr>
          <p:nvPr/>
        </p:nvPicPr>
        <p:blipFill>
          <a:blip r:embed="rId3"/>
          <a:srcRect l="0" r="0" t="0" b="0"/>
          <a:stretch/>
        </p:blipFill>
        <p:spPr>
          <a:xfrm>
            <a:off x="731520" y="4434840"/>
            <a:ext cx="10698480" cy="594360"/>
          </a:xfrm>
          <a:prstGeom prst="rect">
            <a:avLst/>
          </a:prstGeom>
        </p:spPr>
      </p:pic>
      <p:sp>
        <p:nvSpPr>
          <p:cNvPr id="11" name="Shape 6"/>
          <p:cNvSpPr/>
          <p:nvPr/>
        </p:nvSpPr>
        <p:spPr>
          <a:xfrm>
            <a:off x="457200" y="5349240"/>
            <a:ext cx="11247120" cy="960120"/>
          </a:xfrm>
          <a:prstGeom prst="rect">
            <a:avLst/>
          </a:prstGeom>
          <a:solidFill>
            <a:srgbClr val="0F1B3D">
              <a:alpha val="8000"/>
            </a:srgbClr>
          </a:solidFill>
          <a:ln w="12700">
            <a:solidFill>
              <a:srgbClr val="0F1B3D"/>
            </a:solidFill>
            <a:prstDash val="solid"/>
          </a:ln>
        </p:spPr>
      </p:sp>
      <p:sp>
        <p:nvSpPr>
          <p:cNvPr id="12" name="Text 7"/>
          <p:cNvSpPr/>
          <p:nvPr/>
        </p:nvSpPr>
        <p:spPr>
          <a:xfrm>
            <a:off x="640080" y="5440680"/>
            <a:ext cx="10881360" cy="777240"/>
          </a:xfrm>
          <a:prstGeom prst="rect">
            <a:avLst/>
          </a:prstGeom>
          <a:noFill/>
          <a:ln/>
        </p:spPr>
        <p:txBody>
          <a:bodyPr wrap="square" lIns="0" tIns="0" rIns="0" bIns="0" rtlCol="0" anchor="t"/>
          <a:lstStyle/>
          <a:p>
            <a:pPr indent="0" marL="0">
              <a:buNone/>
            </a:pPr>
            <a:r>
              <a:rPr lang="en-US" sz="1200" b="1" dirty="0">
                <a:solidFill>
                  <a:srgbClr val="0F1B3D"/>
                </a:solidFill>
                <a:latin typeface="Calibri" pitchFamily="34" charset="0"/>
                <a:ea typeface="Calibri" pitchFamily="34" charset="-122"/>
                <a:cs typeface="Calibri" pitchFamily="34" charset="-120"/>
              </a:rPr>
              <a:t>Yorum: </a:t>
            </a:r>
            <a:pPr indent="0" marL="0">
              <a:buNone/>
            </a:pPr>
            <a:r>
              <a:rPr lang="en-US" sz="1200" i="1" dirty="0">
                <a:solidFill>
                  <a:srgbClr val="0F1B3D"/>
                </a:solidFill>
                <a:latin typeface="Cambria Math" pitchFamily="34" charset="0"/>
                <a:ea typeface="Cambria Math" pitchFamily="34" charset="-122"/>
                <a:cs typeface="Cambria Math" pitchFamily="34" charset="-120"/>
              </a:rPr>
              <a:t>W_x ∈ ℝ^(2×3)</a:t>
            </a:r>
            <a:pPr indent="0" marL="0">
              <a:buNone/>
            </a:pPr>
            <a:r>
              <a:rPr lang="en-US" sz="1200" dirty="0">
                <a:solidFill>
                  <a:srgbClr val="374151"/>
                </a:solidFill>
                <a:latin typeface="Calibri" pitchFamily="34" charset="0"/>
                <a:ea typeface="Calibri" pitchFamily="34" charset="-122"/>
                <a:cs typeface="Calibri" pitchFamily="34" charset="-120"/>
              </a:rPr>
              <a:t> matrisi, </a:t>
            </a:r>
            <a:pPr indent="0" marL="0">
              <a:buNone/>
            </a:pPr>
            <a:r>
              <a:rPr lang="en-US" sz="1200" i="1" dirty="0">
                <a:solidFill>
                  <a:srgbClr val="0F1B3D"/>
                </a:solidFill>
                <a:latin typeface="Cambria Math" pitchFamily="34" charset="0"/>
                <a:ea typeface="Cambria Math" pitchFamily="34" charset="-122"/>
                <a:cs typeface="Cambria Math" pitchFamily="34" charset="-120"/>
              </a:rPr>
              <a:t>x_t ∈ ℝ³</a:t>
            </a:r>
            <a:pPr indent="0" marL="0">
              <a:buNone/>
            </a:pPr>
            <a:r>
              <a:rPr lang="en-US" sz="1200" dirty="0">
                <a:solidFill>
                  <a:srgbClr val="374151"/>
                </a:solidFill>
                <a:latin typeface="Calibri" pitchFamily="34" charset="0"/>
                <a:ea typeface="Calibri" pitchFamily="34" charset="-122"/>
                <a:cs typeface="Calibri" pitchFamily="34" charset="-120"/>
              </a:rPr>
              <a:t> (3 sensör değeri) girdisini, gizli durumun yaşadığı 2-boyutlu uzaya izdüşürüyor. Sonuç (0.6, -0.2)ᵀ; bu, 'şimdiki ölçümün ham gizli temsili'dir.</a:t>
            </a:r>
            <a:endParaRPr lang="en-US" sz="1200" dirty="0"/>
          </a:p>
        </p:txBody>
      </p:sp>
      <p:sp>
        <p:nvSpPr>
          <p:cNvPr id="13" name="Text 8"/>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4" name="Text 9"/>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 / 33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2</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Adım 2: W_h · h_(t-1)</a:t>
            </a:r>
            <a:endParaRPr lang="en-US" sz="2200" dirty="0"/>
          </a:p>
        </p:txBody>
      </p:sp>
      <p:sp>
        <p:nvSpPr>
          <p:cNvPr id="5" name="Shape 3"/>
          <p:cNvSpPr/>
          <p:nvPr/>
        </p:nvSpPr>
        <p:spPr>
          <a:xfrm>
            <a:off x="457200" y="1005840"/>
            <a:ext cx="11247120" cy="21945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6" name="Image 0" descr="/home/claude/equations/s2_step2.png">    </p:cNvPr>
          <p:cNvPicPr>
            <a:picLocks noChangeAspect="1"/>
          </p:cNvPicPr>
          <p:nvPr/>
        </p:nvPicPr>
        <p:blipFill>
          <a:blip r:embed="rId1"/>
          <a:srcRect l="0" r="0" t="0" b="0"/>
          <a:stretch/>
        </p:blipFill>
        <p:spPr>
          <a:xfrm>
            <a:off x="731520" y="1188720"/>
            <a:ext cx="10698480" cy="1828800"/>
          </a:xfrm>
          <a:prstGeom prst="rect">
            <a:avLst/>
          </a:prstGeom>
        </p:spPr>
      </p:pic>
      <p:sp>
        <p:nvSpPr>
          <p:cNvPr id="7" name="Shape 4"/>
          <p:cNvSpPr/>
          <p:nvPr/>
        </p:nvSpPr>
        <p:spPr>
          <a:xfrm>
            <a:off x="457200" y="3337560"/>
            <a:ext cx="11247120"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8" name="Text 5"/>
          <p:cNvSpPr/>
          <p:nvPr/>
        </p:nvSpPr>
        <p:spPr>
          <a:xfrm>
            <a:off x="640080" y="3429000"/>
            <a:ext cx="1088136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Satır Satır Hesap</a:t>
            </a:r>
            <a:endParaRPr lang="en-US" sz="1400" dirty="0"/>
          </a:p>
        </p:txBody>
      </p:sp>
      <p:pic>
        <p:nvPicPr>
          <p:cNvPr id="9" name="Image 1" descr="/home/claude/equations/s2_step2_detail1.png">    </p:cNvPr>
          <p:cNvPicPr>
            <a:picLocks noChangeAspect="1"/>
          </p:cNvPicPr>
          <p:nvPr/>
        </p:nvPicPr>
        <p:blipFill>
          <a:blip r:embed="rId2"/>
          <a:srcRect l="0" r="0" t="0" b="0"/>
          <a:stretch/>
        </p:blipFill>
        <p:spPr>
          <a:xfrm>
            <a:off x="731520" y="3794760"/>
            <a:ext cx="10698480" cy="594360"/>
          </a:xfrm>
          <a:prstGeom prst="rect">
            <a:avLst/>
          </a:prstGeom>
        </p:spPr>
      </p:pic>
      <p:pic>
        <p:nvPicPr>
          <p:cNvPr id="10" name="Image 2" descr="/home/claude/equations/s2_step2_detail2.png">    </p:cNvPr>
          <p:cNvPicPr>
            <a:picLocks noChangeAspect="1"/>
          </p:cNvPicPr>
          <p:nvPr/>
        </p:nvPicPr>
        <p:blipFill>
          <a:blip r:embed="rId3"/>
          <a:srcRect l="0" r="0" t="0" b="0"/>
          <a:stretch/>
        </p:blipFill>
        <p:spPr>
          <a:xfrm>
            <a:off x="731520" y="4434840"/>
            <a:ext cx="10698480" cy="594360"/>
          </a:xfrm>
          <a:prstGeom prst="rect">
            <a:avLst/>
          </a:prstGeom>
        </p:spPr>
      </p:pic>
      <p:sp>
        <p:nvSpPr>
          <p:cNvPr id="11" name="Shape 6"/>
          <p:cNvSpPr/>
          <p:nvPr/>
        </p:nvSpPr>
        <p:spPr>
          <a:xfrm>
            <a:off x="457200" y="5349240"/>
            <a:ext cx="11247120" cy="960120"/>
          </a:xfrm>
          <a:prstGeom prst="rect">
            <a:avLst/>
          </a:prstGeom>
          <a:solidFill>
            <a:srgbClr val="0F1B3D">
              <a:alpha val="8000"/>
            </a:srgbClr>
          </a:solidFill>
          <a:ln w="12700">
            <a:solidFill>
              <a:srgbClr val="0F1B3D"/>
            </a:solidFill>
            <a:prstDash val="solid"/>
          </a:ln>
        </p:spPr>
      </p:sp>
      <p:sp>
        <p:nvSpPr>
          <p:cNvPr id="12" name="Text 7"/>
          <p:cNvSpPr/>
          <p:nvPr/>
        </p:nvSpPr>
        <p:spPr>
          <a:xfrm>
            <a:off x="640080" y="5440680"/>
            <a:ext cx="10881360" cy="777240"/>
          </a:xfrm>
          <a:prstGeom prst="rect">
            <a:avLst/>
          </a:prstGeom>
          <a:noFill/>
          <a:ln/>
        </p:spPr>
        <p:txBody>
          <a:bodyPr wrap="square" lIns="0" tIns="0" rIns="0" bIns="0" rtlCol="0" anchor="t"/>
          <a:lstStyle/>
          <a:p>
            <a:pPr indent="0" marL="0">
              <a:buNone/>
            </a:pPr>
            <a:r>
              <a:rPr lang="en-US" sz="1200" b="1" dirty="0">
                <a:solidFill>
                  <a:srgbClr val="0F1B3D"/>
                </a:solidFill>
                <a:latin typeface="Calibri" pitchFamily="34" charset="0"/>
                <a:ea typeface="Calibri" pitchFamily="34" charset="-122"/>
                <a:cs typeface="Calibri" pitchFamily="34" charset="-120"/>
              </a:rPr>
              <a:t>Yorum: </a:t>
            </a:r>
            <a:pPr indent="0" marL="0">
              <a:buNone/>
            </a:pPr>
            <a:r>
              <a:rPr lang="en-US" sz="1200" dirty="0">
                <a:solidFill>
                  <a:srgbClr val="374151"/>
                </a:solidFill>
                <a:latin typeface="Calibri" pitchFamily="34" charset="0"/>
                <a:ea typeface="Calibri" pitchFamily="34" charset="-122"/>
                <a:cs typeface="Calibri" pitchFamily="34" charset="-120"/>
              </a:rPr>
              <a:t>Bu hesap geçmişin 'taşınmış' halidir. </a:t>
            </a:r>
            <a:pPr indent="0" marL="0">
              <a:buNone/>
            </a:pPr>
            <a:r>
              <a:rPr lang="en-US" sz="1200" i="1" dirty="0">
                <a:solidFill>
                  <a:srgbClr val="0F1B3D"/>
                </a:solidFill>
                <a:latin typeface="Cambria Math" pitchFamily="34" charset="0"/>
                <a:ea typeface="Cambria Math" pitchFamily="34" charset="-122"/>
                <a:cs typeface="Cambria Math" pitchFamily="34" charset="-120"/>
              </a:rPr>
              <a:t>W_h</a:t>
            </a:r>
            <a:pPr indent="0" marL="0">
              <a:buNone/>
            </a:pPr>
            <a:r>
              <a:rPr lang="en-US" sz="1200" dirty="0">
                <a:solidFill>
                  <a:srgbClr val="374151"/>
                </a:solidFill>
                <a:latin typeface="Calibri" pitchFamily="34" charset="0"/>
                <a:ea typeface="Calibri" pitchFamily="34" charset="-122"/>
                <a:cs typeface="Calibri" pitchFamily="34" charset="-120"/>
              </a:rPr>
              <a:t> ağırlıkları, önceki gizli durumun hangi bileşeninin ne kadar geçeceğine karar verir. Sonuç (-0.09, -0.08)ᵀ — geçmişin küçük bir negatif katkısı.</a:t>
            </a:r>
            <a:endParaRPr lang="en-US" sz="1200" dirty="0"/>
          </a:p>
        </p:txBody>
      </p:sp>
      <p:sp>
        <p:nvSpPr>
          <p:cNvPr id="13" name="Text 8"/>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4" name="Text 9"/>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 / 33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2</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Adım 3: Toplama  |  Adım 4: ReLU</a:t>
            </a:r>
            <a:endParaRPr lang="en-US" sz="2200" dirty="0"/>
          </a:p>
        </p:txBody>
      </p:sp>
      <p:sp>
        <p:nvSpPr>
          <p:cNvPr id="5" name="Shape 3"/>
          <p:cNvSpPr/>
          <p:nvPr/>
        </p:nvSpPr>
        <p:spPr>
          <a:xfrm>
            <a:off x="457200" y="1005840"/>
            <a:ext cx="11247120" cy="23774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640080" y="1188720"/>
            <a:ext cx="502920" cy="502920"/>
          </a:xfrm>
          <a:prstGeom prst="ellipse">
            <a:avLst/>
          </a:prstGeom>
          <a:solidFill>
            <a:srgbClr val="E07856"/>
          </a:solidFill>
          <a:ln w="12700">
            <a:solidFill>
              <a:srgbClr val="E07856"/>
            </a:solidFill>
            <a:prstDash val="solid"/>
          </a:ln>
        </p:spPr>
      </p:sp>
      <p:sp>
        <p:nvSpPr>
          <p:cNvPr id="7" name="Text 5"/>
          <p:cNvSpPr/>
          <p:nvPr/>
        </p:nvSpPr>
        <p:spPr>
          <a:xfrm>
            <a:off x="640080" y="11887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8" name="Text 6"/>
          <p:cNvSpPr/>
          <p:nvPr/>
        </p:nvSpPr>
        <p:spPr>
          <a:xfrm>
            <a:off x="1280160" y="1188720"/>
            <a:ext cx="1005840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Toplam Pre-activation z</a:t>
            </a:r>
            <a:endParaRPr lang="en-US" sz="1600" dirty="0"/>
          </a:p>
        </p:txBody>
      </p:sp>
      <p:pic>
        <p:nvPicPr>
          <p:cNvPr id="9" name="Image 0" descr="/home/claude/equations/s2_step3.png">    </p:cNvPr>
          <p:cNvPicPr>
            <a:picLocks noChangeAspect="1"/>
          </p:cNvPicPr>
          <p:nvPr/>
        </p:nvPicPr>
        <p:blipFill>
          <a:blip r:embed="rId1"/>
          <a:srcRect l="0" r="0" t="0" b="0"/>
          <a:stretch/>
        </p:blipFill>
        <p:spPr>
          <a:xfrm>
            <a:off x="731520" y="1828800"/>
            <a:ext cx="10698480" cy="1371600"/>
          </a:xfrm>
          <a:prstGeom prst="rect">
            <a:avLst/>
          </a:prstGeom>
        </p:spPr>
      </p:pic>
      <p:sp>
        <p:nvSpPr>
          <p:cNvPr id="10" name="Shape 7"/>
          <p:cNvSpPr/>
          <p:nvPr/>
        </p:nvSpPr>
        <p:spPr>
          <a:xfrm>
            <a:off x="457200" y="3520440"/>
            <a:ext cx="11247120" cy="27889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1" name="Shape 8"/>
          <p:cNvSpPr/>
          <p:nvPr/>
        </p:nvSpPr>
        <p:spPr>
          <a:xfrm>
            <a:off x="640080" y="3703320"/>
            <a:ext cx="502920" cy="502920"/>
          </a:xfrm>
          <a:prstGeom prst="ellipse">
            <a:avLst/>
          </a:prstGeom>
          <a:solidFill>
            <a:srgbClr val="E07856"/>
          </a:solidFill>
          <a:ln w="12700">
            <a:solidFill>
              <a:srgbClr val="E07856"/>
            </a:solidFill>
            <a:prstDash val="solid"/>
          </a:ln>
        </p:spPr>
      </p:sp>
      <p:sp>
        <p:nvSpPr>
          <p:cNvPr id="12" name="Text 9"/>
          <p:cNvSpPr/>
          <p:nvPr/>
        </p:nvSpPr>
        <p:spPr>
          <a:xfrm>
            <a:off x="640080" y="37033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3" name="Text 10"/>
          <p:cNvSpPr/>
          <p:nvPr/>
        </p:nvSpPr>
        <p:spPr>
          <a:xfrm>
            <a:off x="1280160" y="3703320"/>
            <a:ext cx="1005840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ReLU Aktivasyonu — Negatifleri sıfırla</a:t>
            </a:r>
            <a:endParaRPr lang="en-US" sz="1600" dirty="0"/>
          </a:p>
        </p:txBody>
      </p:sp>
      <p:pic>
        <p:nvPicPr>
          <p:cNvPr id="14" name="Image 1" descr="/home/claude/equations/s2_step4.png">    </p:cNvPr>
          <p:cNvPicPr>
            <a:picLocks noChangeAspect="1"/>
          </p:cNvPicPr>
          <p:nvPr/>
        </p:nvPicPr>
        <p:blipFill>
          <a:blip r:embed="rId2"/>
          <a:srcRect l="0" r="0" t="0" b="0"/>
          <a:stretch/>
        </p:blipFill>
        <p:spPr>
          <a:xfrm>
            <a:off x="731520" y="4297680"/>
            <a:ext cx="10698480" cy="1371600"/>
          </a:xfrm>
          <a:prstGeom prst="rect">
            <a:avLst/>
          </a:prstGeom>
        </p:spPr>
      </p:pic>
      <p:sp>
        <p:nvSpPr>
          <p:cNvPr id="15" name="Shape 11"/>
          <p:cNvSpPr/>
          <p:nvPr/>
        </p:nvSpPr>
        <p:spPr>
          <a:xfrm>
            <a:off x="4114800" y="5760720"/>
            <a:ext cx="3931920" cy="457200"/>
          </a:xfrm>
          <a:prstGeom prst="rect">
            <a:avLst/>
          </a:prstGeom>
          <a:solidFill>
            <a:srgbClr val="48A6A7"/>
          </a:solidFill>
          <a:ln w="12700">
            <a:solidFill>
              <a:srgbClr val="48A6A7"/>
            </a:solidFill>
            <a:prstDash val="solid"/>
          </a:ln>
        </p:spPr>
      </p:sp>
      <p:sp>
        <p:nvSpPr>
          <p:cNvPr id="16" name="Text 12"/>
          <p:cNvSpPr/>
          <p:nvPr/>
        </p:nvSpPr>
        <p:spPr>
          <a:xfrm>
            <a:off x="4114800" y="5760720"/>
            <a:ext cx="39319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  h_t = (0.61, 0)ᵀ</a:t>
            </a:r>
            <a:endParaRPr lang="en-US" sz="1500" dirty="0"/>
          </a:p>
        </p:txBody>
      </p:sp>
      <p:sp>
        <p:nvSpPr>
          <p:cNvPr id="17" name="Text 13"/>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8" name="Text 14"/>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 / 33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2</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Adım 5: Çıktı y_t — Yağış Olasılığı</a:t>
            </a:r>
            <a:endParaRPr lang="en-US" sz="2200" dirty="0"/>
          </a:p>
        </p:txBody>
      </p:sp>
      <p:sp>
        <p:nvSpPr>
          <p:cNvPr id="5" name="Shape 3"/>
          <p:cNvSpPr/>
          <p:nvPr/>
        </p:nvSpPr>
        <p:spPr>
          <a:xfrm>
            <a:off x="457200" y="1005840"/>
            <a:ext cx="11247120" cy="18288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640080" y="1097280"/>
            <a:ext cx="10881360" cy="365760"/>
          </a:xfrm>
          <a:prstGeom prst="rect">
            <a:avLst/>
          </a:prstGeom>
          <a:noFill/>
          <a:ln/>
        </p:spPr>
        <p:txBody>
          <a:bodyPr wrap="square" lIns="0" tIns="0" rIns="0" bIns="0" rtlCol="0" anchor="ctr"/>
          <a:lstStyle/>
          <a:p>
            <a:pPr indent="0" marL="0">
              <a:buNone/>
            </a:pPr>
            <a:r>
              <a:rPr lang="en-US" sz="1500" b="1" dirty="0">
                <a:solidFill>
                  <a:srgbClr val="E07856"/>
                </a:solidFill>
                <a:latin typeface="Cambria" pitchFamily="34" charset="0"/>
                <a:ea typeface="Cambria" pitchFamily="34" charset="-122"/>
                <a:cs typeface="Cambria" pitchFamily="34" charset="-120"/>
              </a:rPr>
              <a:t>a) Lineer kombinasyon: V·h_t + c</a:t>
            </a:r>
            <a:endParaRPr lang="en-US" sz="1500" dirty="0"/>
          </a:p>
        </p:txBody>
      </p:sp>
      <p:pic>
        <p:nvPicPr>
          <p:cNvPr id="7" name="Image 0" descr="/home/claude/equations/s2_step5a.png">    </p:cNvPr>
          <p:cNvPicPr>
            <a:picLocks noChangeAspect="1"/>
          </p:cNvPicPr>
          <p:nvPr/>
        </p:nvPicPr>
        <p:blipFill>
          <a:blip r:embed="rId1"/>
          <a:srcRect l="0" r="0" t="0" b="0"/>
          <a:stretch/>
        </p:blipFill>
        <p:spPr>
          <a:xfrm>
            <a:off x="731520" y="1508760"/>
            <a:ext cx="10698480" cy="1234440"/>
          </a:xfrm>
          <a:prstGeom prst="rect">
            <a:avLst/>
          </a:prstGeom>
        </p:spPr>
      </p:pic>
      <p:sp>
        <p:nvSpPr>
          <p:cNvPr id="8" name="Shape 5"/>
          <p:cNvSpPr/>
          <p:nvPr/>
        </p:nvSpPr>
        <p:spPr>
          <a:xfrm>
            <a:off x="457200" y="2971800"/>
            <a:ext cx="1124712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9" name="Text 6"/>
          <p:cNvSpPr/>
          <p:nvPr/>
        </p:nvSpPr>
        <p:spPr>
          <a:xfrm>
            <a:off x="640080" y="3063240"/>
            <a:ext cx="10881360" cy="365760"/>
          </a:xfrm>
          <a:prstGeom prst="rect">
            <a:avLst/>
          </a:prstGeom>
          <a:noFill/>
          <a:ln/>
        </p:spPr>
        <p:txBody>
          <a:bodyPr wrap="square" lIns="0" tIns="0" rIns="0" bIns="0" rtlCol="0" anchor="ctr"/>
          <a:lstStyle/>
          <a:p>
            <a:pPr indent="0" marL="0">
              <a:buNone/>
            </a:pPr>
            <a:r>
              <a:rPr lang="en-US" sz="1500" b="1" dirty="0">
                <a:solidFill>
                  <a:srgbClr val="E07856"/>
                </a:solidFill>
                <a:latin typeface="Cambria" pitchFamily="34" charset="0"/>
                <a:ea typeface="Cambria" pitchFamily="34" charset="-122"/>
                <a:cs typeface="Cambria" pitchFamily="34" charset="-120"/>
              </a:rPr>
              <a:t>b) Sigmoid normalizasyon: y_t = σ(z_out)</a:t>
            </a:r>
            <a:endParaRPr lang="en-US" sz="1500" dirty="0"/>
          </a:p>
        </p:txBody>
      </p:sp>
      <p:pic>
        <p:nvPicPr>
          <p:cNvPr id="10" name="Image 1" descr="/home/claude/equations/s2_step5b.png">    </p:cNvPr>
          <p:cNvPicPr>
            <a:picLocks noChangeAspect="1"/>
          </p:cNvPicPr>
          <p:nvPr/>
        </p:nvPicPr>
        <p:blipFill>
          <a:blip r:embed="rId2"/>
          <a:srcRect l="0" r="0" t="0" b="0"/>
          <a:stretch/>
        </p:blipFill>
        <p:spPr>
          <a:xfrm>
            <a:off x="731520" y="3474720"/>
            <a:ext cx="10698480" cy="1417320"/>
          </a:xfrm>
          <a:prstGeom prst="rect">
            <a:avLst/>
          </a:prstGeom>
        </p:spPr>
      </p:pic>
      <p:sp>
        <p:nvSpPr>
          <p:cNvPr id="11" name="Shape 7"/>
          <p:cNvSpPr/>
          <p:nvPr/>
        </p:nvSpPr>
        <p:spPr>
          <a:xfrm>
            <a:off x="457200" y="5166360"/>
            <a:ext cx="11247120" cy="1143000"/>
          </a:xfrm>
          <a:prstGeom prst="rect">
            <a:avLst/>
          </a:prstGeom>
          <a:solidFill>
            <a:srgbClr val="0F1B3D"/>
          </a:solidFill>
          <a:ln w="12700">
            <a:solidFill>
              <a:srgbClr val="0F1B3D"/>
            </a:solidFill>
            <a:prstDash val="solid"/>
          </a:ln>
        </p:spPr>
      </p:sp>
      <p:sp>
        <p:nvSpPr>
          <p:cNvPr id="12" name="Text 8"/>
          <p:cNvSpPr/>
          <p:nvPr/>
        </p:nvSpPr>
        <p:spPr>
          <a:xfrm>
            <a:off x="640080" y="5257800"/>
            <a:ext cx="10881360" cy="274320"/>
          </a:xfrm>
          <a:prstGeom prst="rect">
            <a:avLst/>
          </a:prstGeom>
          <a:noFill/>
          <a:ln/>
        </p:spPr>
        <p:txBody>
          <a:bodyPr wrap="square" lIns="0" tIns="0" rIns="0" bIns="0" rtlCol="0" anchor="ctr"/>
          <a:lstStyle/>
          <a:p>
            <a:pPr indent="0" marL="0">
              <a:buNone/>
            </a:pPr>
            <a:r>
              <a:rPr lang="en-US" sz="1200" b="1" spc="400" kern="0" dirty="0">
                <a:solidFill>
                  <a:srgbClr val="E0A458"/>
                </a:solidFill>
                <a:latin typeface="Calibri" pitchFamily="34" charset="0"/>
                <a:ea typeface="Calibri" pitchFamily="34" charset="-122"/>
                <a:cs typeface="Calibri" pitchFamily="34" charset="-120"/>
              </a:rPr>
              <a:t>SONUÇ</a:t>
            </a:r>
            <a:endParaRPr lang="en-US" sz="1200" dirty="0"/>
          </a:p>
        </p:txBody>
      </p:sp>
      <p:sp>
        <p:nvSpPr>
          <p:cNvPr id="13" name="Text 9"/>
          <p:cNvSpPr/>
          <p:nvPr/>
        </p:nvSpPr>
        <p:spPr>
          <a:xfrm>
            <a:off x="640080" y="5577840"/>
            <a:ext cx="1088136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WeatherBot, anlık sensör verileri ve geçmiş hafızayı harmanlayarak yaklaşık </a:t>
            </a:r>
            <a:pPr indent="0" marL="0">
              <a:buNone/>
            </a:pPr>
            <a:r>
              <a:rPr lang="en-US" sz="1800" b="1" dirty="0">
                <a:solidFill>
                  <a:srgbClr val="E0A458"/>
                </a:solidFill>
                <a:latin typeface="Calibri" pitchFamily="34" charset="0"/>
                <a:ea typeface="Calibri" pitchFamily="34" charset="-122"/>
                <a:cs typeface="Calibri" pitchFamily="34" charset="-120"/>
              </a:rPr>
              <a:t>%65 olasılıkla</a:t>
            </a:r>
            <a:pPr indent="0" marL="0">
              <a:buNone/>
            </a:pPr>
            <a:r>
              <a:rPr lang="en-US" sz="1400" dirty="0">
                <a:solidFill>
                  <a:srgbClr val="FFFFFF"/>
                </a:solidFill>
                <a:latin typeface="Calibri" pitchFamily="34" charset="0"/>
                <a:ea typeface="Calibri" pitchFamily="34" charset="-122"/>
                <a:cs typeface="Calibri" pitchFamily="34" charset="-120"/>
              </a:rPr>
              <a:t> yağmur bekleniyor sonucuna varmıştır.</a:t>
            </a:r>
            <a:endParaRPr lang="en-US" sz="1400" dirty="0"/>
          </a:p>
        </p:txBody>
      </p:sp>
      <p:sp>
        <p:nvSpPr>
          <p:cNvPr id="14" name="Text 10"/>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5" name="Text 11"/>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 / 33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2286000"/>
            <a:ext cx="3657600" cy="365760"/>
          </a:xfrm>
          <a:prstGeom prst="rect">
            <a:avLst/>
          </a:prstGeom>
          <a:noFill/>
          <a:ln/>
        </p:spPr>
        <p:txBody>
          <a:bodyPr wrap="square" rtlCol="0" anchor="ctr"/>
          <a:lstStyle/>
          <a:p>
            <a:pPr indent="0" marL="0">
              <a:buNone/>
            </a:pPr>
            <a:r>
              <a:rPr lang="en-US" sz="1400" b="1" spc="600" kern="0" dirty="0">
                <a:solidFill>
                  <a:srgbClr val="E07856"/>
                </a:solidFill>
                <a:latin typeface="Calibri" pitchFamily="34" charset="0"/>
                <a:ea typeface="Calibri" pitchFamily="34" charset="-122"/>
                <a:cs typeface="Calibri" pitchFamily="34" charset="-120"/>
              </a:rPr>
              <a:t>BÖLÜM 03</a:t>
            </a:r>
            <a:endParaRPr lang="en-US" sz="1400" dirty="0"/>
          </a:p>
        </p:txBody>
      </p:sp>
      <p:sp>
        <p:nvSpPr>
          <p:cNvPr id="3" name="Text 1"/>
          <p:cNvSpPr/>
          <p:nvPr/>
        </p:nvSpPr>
        <p:spPr>
          <a:xfrm>
            <a:off x="640080" y="2697480"/>
            <a:ext cx="10972800" cy="1097280"/>
          </a:xfrm>
          <a:prstGeom prst="rect">
            <a:avLst/>
          </a:prstGeom>
          <a:noFill/>
          <a:ln/>
        </p:spPr>
        <p:txBody>
          <a:bodyPr wrap="square"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Vanishing Gradient</a:t>
            </a:r>
            <a:endParaRPr lang="en-US" sz="5600" dirty="0"/>
          </a:p>
        </p:txBody>
      </p:sp>
      <p:sp>
        <p:nvSpPr>
          <p:cNvPr id="4" name="Text 2"/>
          <p:cNvSpPr/>
          <p:nvPr/>
        </p:nvSpPr>
        <p:spPr>
          <a:xfrm>
            <a:off x="640080" y="3886200"/>
            <a:ext cx="10972800" cy="548640"/>
          </a:xfrm>
          <a:prstGeom prst="rect">
            <a:avLst/>
          </a:prstGeom>
          <a:noFill/>
          <a:ln/>
        </p:spPr>
        <p:txBody>
          <a:bodyPr wrap="square" rtlCol="0" anchor="ctr"/>
          <a:lstStyle/>
          <a:p>
            <a:pPr indent="0" marL="0">
              <a:buNone/>
            </a:pPr>
            <a:r>
              <a:rPr lang="en-US" sz="2000" i="1" dirty="0">
                <a:solidFill>
                  <a:srgbClr val="E0A458"/>
                </a:solidFill>
                <a:latin typeface="Calibri" pitchFamily="34" charset="0"/>
                <a:ea typeface="Calibri" pitchFamily="34" charset="-122"/>
                <a:cs typeface="Calibri" pitchFamily="34" charset="-120"/>
              </a:rPr>
              <a:t>RNN'nin uzun bağımlılıklarda neden başarısız olduğunu anlamak</a:t>
            </a:r>
            <a:endParaRPr lang="en-US" sz="2000" dirty="0"/>
          </a:p>
        </p:txBody>
      </p:sp>
      <p:sp>
        <p:nvSpPr>
          <p:cNvPr id="5" name="Shape 3"/>
          <p:cNvSpPr/>
          <p:nvPr/>
        </p:nvSpPr>
        <p:spPr>
          <a:xfrm>
            <a:off x="640080" y="4572000"/>
            <a:ext cx="1097280" cy="36576"/>
          </a:xfrm>
          <a:prstGeom prst="rect">
            <a:avLst/>
          </a:prstGeom>
          <a:solidFill>
            <a:srgbClr val="E07856"/>
          </a:solidFill>
          <a:ln w="12700">
            <a:solidFill>
              <a:srgbClr val="E07856"/>
            </a:solidFill>
            <a:prstDash val="solid"/>
          </a:ln>
        </p:spPr>
      </p:sp>
      <p:sp>
        <p:nvSpPr>
          <p:cNvPr id="6" name="Text 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9CA3AF"/>
                </a:solidFill>
                <a:latin typeface="Calibri" pitchFamily="34" charset="0"/>
                <a:ea typeface="Calibri" pitchFamily="34" charset="-122"/>
                <a:cs typeface="Calibri" pitchFamily="34" charset="-120"/>
              </a:rPr>
              <a:t>YZM306 — Derin Öğrenme  |  Hafta 6: RNN ve LSTM</a:t>
            </a:r>
            <a:endParaRPr lang="en-US" sz="900" dirty="0"/>
          </a:p>
        </p:txBody>
      </p:sp>
      <p:sp>
        <p:nvSpPr>
          <p:cNvPr id="7" name="Text 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 / 33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Vanishing Gradient Problemi</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Geriye yayılım sırasında gradyanların katlanarak sönümlenmesi.</a:t>
            </a:r>
            <a:endParaRPr lang="en-US" sz="1300" dirty="0"/>
          </a:p>
        </p:txBody>
      </p:sp>
      <p:sp>
        <p:nvSpPr>
          <p:cNvPr id="5" name="Shape 3"/>
          <p:cNvSpPr/>
          <p:nvPr/>
        </p:nvSpPr>
        <p:spPr>
          <a:xfrm>
            <a:off x="457200" y="1371600"/>
            <a:ext cx="11247120" cy="12801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640080" y="1463040"/>
            <a:ext cx="10881360" cy="1097280"/>
          </a:xfrm>
          <a:prstGeom prst="rect">
            <a:avLst/>
          </a:prstGeom>
          <a:noFill/>
          <a:ln/>
        </p:spPr>
        <p:txBody>
          <a:bodyPr wrap="square" lIns="0" tIns="0" rIns="0" bIns="0" rtlCol="0" anchor="t"/>
          <a:lstStyle/>
          <a:p>
            <a:pPr indent="0" marL="0">
              <a:buNone/>
            </a:pPr>
            <a:r>
              <a:rPr lang="en-US" sz="1300" b="1" dirty="0">
                <a:solidFill>
                  <a:srgbClr val="E07856"/>
                </a:solidFill>
                <a:latin typeface="Calibri" pitchFamily="34" charset="0"/>
                <a:ea typeface="Calibri" pitchFamily="34" charset="-122"/>
                <a:cs typeface="Calibri" pitchFamily="34" charset="-120"/>
              </a:rPr>
              <a:t>Tanım: </a:t>
            </a:r>
            <a:pPr indent="0" marL="0">
              <a:buNone/>
            </a:pPr>
            <a:r>
              <a:rPr lang="en-US" sz="1300" dirty="0">
                <a:solidFill>
                  <a:srgbClr val="374151"/>
                </a:solidFill>
                <a:latin typeface="Calibri" pitchFamily="34" charset="0"/>
                <a:ea typeface="Calibri" pitchFamily="34" charset="-122"/>
                <a:cs typeface="Calibri" pitchFamily="34" charset="-120"/>
              </a:rPr>
              <a:t>RNN'lerde geriye yayılım sırasında (backpropagation through time, BPTT), gradyanlar her zaman adımında bir önceki adıma çarparak geçer. Türevler 1'den küçük olduğunda, derin/uzun ağlarda bu çarpımlar üstel olarak küçülür ve gradyan </a:t>
            </a:r>
            <a:pPr indent="0" marL="0">
              <a:buNone/>
            </a:pPr>
            <a:r>
              <a:rPr lang="en-US" sz="1300" b="1" dirty="0">
                <a:solidFill>
                  <a:srgbClr val="0F1B3D"/>
                </a:solidFill>
                <a:latin typeface="Calibri" pitchFamily="34" charset="0"/>
                <a:ea typeface="Calibri" pitchFamily="34" charset="-122"/>
                <a:cs typeface="Calibri" pitchFamily="34" charset="-120"/>
              </a:rPr>
              <a:t>yok olur (vanishing)</a:t>
            </a:r>
            <a:pPr indent="0" marL="0">
              <a:buNone/>
            </a:pPr>
            <a:r>
              <a:rPr lang="en-US" sz="1300" dirty="0">
                <a:solidFill>
                  <a:srgbClr val="374151"/>
                </a:solidFill>
                <a:latin typeface="Calibri" pitchFamily="34" charset="0"/>
                <a:ea typeface="Calibri" pitchFamily="34" charset="-122"/>
                <a:cs typeface="Calibri" pitchFamily="34" charset="-120"/>
              </a:rPr>
              <a:t>. Bu durumda ağın uzun bağımlılıkları öğrenmesi pratik olarak imkânsızdır.</a:t>
            </a:r>
            <a:endParaRPr lang="en-US" sz="1300" dirty="0"/>
          </a:p>
        </p:txBody>
      </p:sp>
      <p:sp>
        <p:nvSpPr>
          <p:cNvPr id="7" name="Shape 5"/>
          <p:cNvSpPr/>
          <p:nvPr/>
        </p:nvSpPr>
        <p:spPr>
          <a:xfrm>
            <a:off x="457200" y="2788920"/>
            <a:ext cx="11247120" cy="18745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8" name="Image 0" descr="/home/claude/diagrams/vanishing.png">    </p:cNvPr>
          <p:cNvPicPr>
            <a:picLocks noChangeAspect="1"/>
          </p:cNvPicPr>
          <p:nvPr/>
        </p:nvPicPr>
        <p:blipFill>
          <a:blip r:embed="rId1"/>
          <a:srcRect l="0" r="0" t="0" b="0"/>
          <a:stretch/>
        </p:blipFill>
        <p:spPr>
          <a:xfrm>
            <a:off x="640080" y="2880360"/>
            <a:ext cx="10881360" cy="1691640"/>
          </a:xfrm>
          <a:prstGeom prst="rect">
            <a:avLst/>
          </a:prstGeom>
        </p:spPr>
      </p:pic>
      <p:sp>
        <p:nvSpPr>
          <p:cNvPr id="9" name="Shape 6"/>
          <p:cNvSpPr/>
          <p:nvPr/>
        </p:nvSpPr>
        <p:spPr>
          <a:xfrm>
            <a:off x="457200" y="4800600"/>
            <a:ext cx="5532120" cy="1508760"/>
          </a:xfrm>
          <a:prstGeom prst="rect">
            <a:avLst/>
          </a:prstGeom>
          <a:solidFill>
            <a:srgbClr val="FFFFFF"/>
          </a:solidFill>
          <a:ln w="25400">
            <a:solidFill>
              <a:srgbClr val="48A6A7"/>
            </a:solidFill>
            <a:prstDash val="solid"/>
          </a:ln>
          <a:effectLst>
            <a:outerShdw sx="100000" sy="100000" kx="0" ky="0" algn="bl" rotWithShape="0" blurRad="127000" dist="38100" dir="5400000">
              <a:srgbClr val="000000">
                <a:alpha val="10000"/>
              </a:srgbClr>
            </a:outerShdw>
          </a:effectLst>
        </p:spPr>
      </p:sp>
      <p:sp>
        <p:nvSpPr>
          <p:cNvPr id="10" name="Text 7"/>
          <p:cNvSpPr/>
          <p:nvPr/>
        </p:nvSpPr>
        <p:spPr>
          <a:xfrm>
            <a:off x="640080" y="4892040"/>
            <a:ext cx="5212080" cy="320040"/>
          </a:xfrm>
          <a:prstGeom prst="rect">
            <a:avLst/>
          </a:prstGeom>
          <a:noFill/>
          <a:ln/>
        </p:spPr>
        <p:txBody>
          <a:bodyPr wrap="square" lIns="0" tIns="0" rIns="0" bIns="0" rtlCol="0" anchor="ctr"/>
          <a:lstStyle/>
          <a:p>
            <a:pPr indent="0" marL="0">
              <a:buNone/>
            </a:pPr>
            <a:r>
              <a:rPr lang="en-US" sz="1400" b="1" dirty="0">
                <a:solidFill>
                  <a:srgbClr val="48A6A7"/>
                </a:solidFill>
                <a:latin typeface="Cambria" pitchFamily="34" charset="0"/>
                <a:ea typeface="Cambria" pitchFamily="34" charset="-122"/>
                <a:cs typeface="Cambria" pitchFamily="34" charset="-120"/>
              </a:rPr>
              <a:t>Vanishing — Gradyan Yok Oluyor</a:t>
            </a:r>
            <a:endParaRPr lang="en-US" sz="1400" dirty="0"/>
          </a:p>
        </p:txBody>
      </p:sp>
      <p:sp>
        <p:nvSpPr>
          <p:cNvPr id="11" name="Text 8"/>
          <p:cNvSpPr/>
          <p:nvPr/>
        </p:nvSpPr>
        <p:spPr>
          <a:xfrm>
            <a:off x="640080" y="5212080"/>
            <a:ext cx="5212080" cy="109728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Türevler &lt; 1 olduğunda çarpımlar 0'a yaklaşır. Ağ uzak geçmişten öğrenemez; tespiti güçtür çünkü loss yine düşüyormuş gibi görünebilir.</a:t>
            </a:r>
            <a:endParaRPr lang="en-US" sz="1100" dirty="0"/>
          </a:p>
        </p:txBody>
      </p:sp>
      <p:sp>
        <p:nvSpPr>
          <p:cNvPr id="12" name="Shape 9"/>
          <p:cNvSpPr/>
          <p:nvPr/>
        </p:nvSpPr>
        <p:spPr>
          <a:xfrm>
            <a:off x="6172200" y="4800600"/>
            <a:ext cx="5532120" cy="1508760"/>
          </a:xfrm>
          <a:prstGeom prst="rect">
            <a:avLst/>
          </a:prstGeom>
          <a:solidFill>
            <a:srgbClr val="FFFFFF"/>
          </a:solidFill>
          <a:ln w="25400">
            <a:solidFill>
              <a:srgbClr val="E07856"/>
            </a:solidFill>
            <a:prstDash val="solid"/>
          </a:ln>
          <a:effectLst>
            <a:outerShdw sx="100000" sy="100000" kx="0" ky="0" algn="bl" rotWithShape="0" blurRad="127000" dist="38100" dir="5400000">
              <a:srgbClr val="000000">
                <a:alpha val="10000"/>
              </a:srgbClr>
            </a:outerShdw>
          </a:effectLst>
        </p:spPr>
      </p:sp>
      <p:sp>
        <p:nvSpPr>
          <p:cNvPr id="13" name="Text 10"/>
          <p:cNvSpPr/>
          <p:nvPr/>
        </p:nvSpPr>
        <p:spPr>
          <a:xfrm>
            <a:off x="6355080" y="4892040"/>
            <a:ext cx="521208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Exploding — Gradyan Patlıyor</a:t>
            </a:r>
            <a:endParaRPr lang="en-US" sz="1400" dirty="0"/>
          </a:p>
        </p:txBody>
      </p:sp>
      <p:sp>
        <p:nvSpPr>
          <p:cNvPr id="14" name="Text 11"/>
          <p:cNvSpPr/>
          <p:nvPr/>
        </p:nvSpPr>
        <p:spPr>
          <a:xfrm>
            <a:off x="6355080" y="5212080"/>
            <a:ext cx="5212080" cy="1097280"/>
          </a:xfrm>
          <a:prstGeom prst="rect">
            <a:avLst/>
          </a:prstGeom>
          <a:noFill/>
          <a:ln/>
        </p:spPr>
        <p:txBody>
          <a:bodyPr wrap="square" lIns="0" tIns="0" rIns="0" bIns="0" rtlCol="0" anchor="t"/>
          <a:lstStyle/>
          <a:p>
            <a:pPr indent="0" marL="0">
              <a:buNone/>
            </a:pPr>
            <a:r>
              <a:rPr lang="en-US" sz="1100" dirty="0">
                <a:solidFill>
                  <a:srgbClr val="374151"/>
                </a:solidFill>
                <a:latin typeface="Calibri" pitchFamily="34" charset="0"/>
                <a:ea typeface="Calibri" pitchFamily="34" charset="-122"/>
                <a:cs typeface="Calibri" pitchFamily="34" charset="-120"/>
              </a:rPr>
              <a:t>Türevler &gt; 1 olduğunda çarpımlar üstel büyür; ağırlıklar uçar (NaN). Çözüm: gradient clipping ile bir eşiğin (threshold) üstündeki değerleri kırpmak.</a:t>
            </a:r>
            <a:endParaRPr lang="en-US" sz="1100" dirty="0"/>
          </a:p>
        </p:txBody>
      </p:sp>
      <p:sp>
        <p:nvSpPr>
          <p:cNvPr id="15" name="Text 12"/>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6" name="Text 13"/>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 / 33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Vanishing Gradient — Olası Çözümler</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Sorunu hafifletmek için kullanılan başlıca yöntemler.</a:t>
            </a:r>
            <a:endParaRPr lang="en-US" sz="1300" dirty="0"/>
          </a:p>
        </p:txBody>
      </p:sp>
      <p:sp>
        <p:nvSpPr>
          <p:cNvPr id="5" name="Shape 3"/>
          <p:cNvSpPr/>
          <p:nvPr/>
        </p:nvSpPr>
        <p:spPr>
          <a:xfrm>
            <a:off x="457200" y="1554480"/>
            <a:ext cx="5440680" cy="23317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554480"/>
            <a:ext cx="91440" cy="2331720"/>
          </a:xfrm>
          <a:prstGeom prst="rect">
            <a:avLst/>
          </a:prstGeom>
          <a:solidFill>
            <a:srgbClr val="E07856"/>
          </a:solidFill>
          <a:ln w="12700">
            <a:solidFill>
              <a:srgbClr val="E07856"/>
            </a:solidFill>
            <a:prstDash val="solid"/>
          </a:ln>
        </p:spPr>
      </p:sp>
      <p:sp>
        <p:nvSpPr>
          <p:cNvPr id="7" name="Shape 5"/>
          <p:cNvSpPr/>
          <p:nvPr/>
        </p:nvSpPr>
        <p:spPr>
          <a:xfrm>
            <a:off x="777240" y="1828800"/>
            <a:ext cx="594360" cy="594360"/>
          </a:xfrm>
          <a:prstGeom prst="ellipse">
            <a:avLst/>
          </a:prstGeom>
          <a:solidFill>
            <a:srgbClr val="0F1B3D"/>
          </a:solidFill>
          <a:ln w="12700">
            <a:solidFill>
              <a:srgbClr val="0F1B3D"/>
            </a:solidFill>
            <a:prstDash val="solid"/>
          </a:ln>
        </p:spPr>
      </p:sp>
      <p:sp>
        <p:nvSpPr>
          <p:cNvPr id="8" name="Text 6"/>
          <p:cNvSpPr/>
          <p:nvPr/>
        </p:nvSpPr>
        <p:spPr>
          <a:xfrm>
            <a:off x="777240" y="1828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508760" y="1874520"/>
            <a:ext cx="425196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Akıllı Ağırlık Başlatma</a:t>
            </a:r>
            <a:endParaRPr lang="en-US" sz="1600" dirty="0"/>
          </a:p>
        </p:txBody>
      </p:sp>
      <p:sp>
        <p:nvSpPr>
          <p:cNvPr id="10" name="Text 8"/>
          <p:cNvSpPr/>
          <p:nvPr/>
        </p:nvSpPr>
        <p:spPr>
          <a:xfrm>
            <a:off x="777240" y="2514600"/>
            <a:ext cx="4937760" cy="123444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W için Xavier (Glorot) ya da He başlatma kullanılır. Ağırlıkların varyansı katmanlar boyunca dengelenir, böylece gradyan sönümü/patlaması yavaşlar.</a:t>
            </a:r>
            <a:endParaRPr lang="en-US" sz="1200" dirty="0"/>
          </a:p>
        </p:txBody>
      </p:sp>
      <p:sp>
        <p:nvSpPr>
          <p:cNvPr id="11" name="Shape 9"/>
          <p:cNvSpPr/>
          <p:nvPr/>
        </p:nvSpPr>
        <p:spPr>
          <a:xfrm>
            <a:off x="6263640" y="1554480"/>
            <a:ext cx="5440680" cy="23317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Shape 10"/>
          <p:cNvSpPr/>
          <p:nvPr/>
        </p:nvSpPr>
        <p:spPr>
          <a:xfrm>
            <a:off x="6263640" y="1554480"/>
            <a:ext cx="91440" cy="2331720"/>
          </a:xfrm>
          <a:prstGeom prst="rect">
            <a:avLst/>
          </a:prstGeom>
          <a:solidFill>
            <a:srgbClr val="E07856"/>
          </a:solidFill>
          <a:ln w="12700">
            <a:solidFill>
              <a:srgbClr val="E07856"/>
            </a:solidFill>
            <a:prstDash val="solid"/>
          </a:ln>
        </p:spPr>
      </p:sp>
      <p:sp>
        <p:nvSpPr>
          <p:cNvPr id="13" name="Shape 11"/>
          <p:cNvSpPr/>
          <p:nvPr/>
        </p:nvSpPr>
        <p:spPr>
          <a:xfrm>
            <a:off x="6583680" y="1828800"/>
            <a:ext cx="594360" cy="594360"/>
          </a:xfrm>
          <a:prstGeom prst="ellipse">
            <a:avLst/>
          </a:prstGeom>
          <a:solidFill>
            <a:srgbClr val="0F1B3D"/>
          </a:solidFill>
          <a:ln w="12700">
            <a:solidFill>
              <a:srgbClr val="0F1B3D"/>
            </a:solidFill>
            <a:prstDash val="solid"/>
          </a:ln>
        </p:spPr>
      </p:sp>
      <p:sp>
        <p:nvSpPr>
          <p:cNvPr id="14" name="Text 12"/>
          <p:cNvSpPr/>
          <p:nvPr/>
        </p:nvSpPr>
        <p:spPr>
          <a:xfrm>
            <a:off x="6583680" y="1828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7315200" y="1874520"/>
            <a:ext cx="425196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ReLU Aktivasyonu</a:t>
            </a:r>
            <a:endParaRPr lang="en-US" sz="1600" dirty="0"/>
          </a:p>
        </p:txBody>
      </p:sp>
      <p:sp>
        <p:nvSpPr>
          <p:cNvPr id="16" name="Text 14"/>
          <p:cNvSpPr/>
          <p:nvPr/>
        </p:nvSpPr>
        <p:spPr>
          <a:xfrm>
            <a:off x="6583680" y="2514600"/>
            <a:ext cx="4937760" cy="123444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Sigmoid ve tanh'ın türevi 1'den küçüktür ve sönümü hızlandırır. ReLU'nun türevi 0 ya da 1 olduğundan, pozitif bölgede gradyan korunur.</a:t>
            </a:r>
            <a:endParaRPr lang="en-US" sz="1200" dirty="0"/>
          </a:p>
        </p:txBody>
      </p:sp>
      <p:sp>
        <p:nvSpPr>
          <p:cNvPr id="17" name="Shape 15"/>
          <p:cNvSpPr/>
          <p:nvPr/>
        </p:nvSpPr>
        <p:spPr>
          <a:xfrm>
            <a:off x="457200" y="4023360"/>
            <a:ext cx="5440680" cy="23317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8" name="Shape 16"/>
          <p:cNvSpPr/>
          <p:nvPr/>
        </p:nvSpPr>
        <p:spPr>
          <a:xfrm>
            <a:off x="457200" y="4023360"/>
            <a:ext cx="91440" cy="2331720"/>
          </a:xfrm>
          <a:prstGeom prst="rect">
            <a:avLst/>
          </a:prstGeom>
          <a:solidFill>
            <a:srgbClr val="E07856"/>
          </a:solidFill>
          <a:ln w="12700">
            <a:solidFill>
              <a:srgbClr val="E07856"/>
            </a:solidFill>
            <a:prstDash val="solid"/>
          </a:ln>
        </p:spPr>
      </p:sp>
      <p:sp>
        <p:nvSpPr>
          <p:cNvPr id="19" name="Shape 17"/>
          <p:cNvSpPr/>
          <p:nvPr/>
        </p:nvSpPr>
        <p:spPr>
          <a:xfrm>
            <a:off x="777240" y="4297680"/>
            <a:ext cx="594360" cy="594360"/>
          </a:xfrm>
          <a:prstGeom prst="ellipse">
            <a:avLst/>
          </a:prstGeom>
          <a:solidFill>
            <a:srgbClr val="0F1B3D"/>
          </a:solidFill>
          <a:ln w="12700">
            <a:solidFill>
              <a:srgbClr val="0F1B3D"/>
            </a:solidFill>
            <a:prstDash val="solid"/>
          </a:ln>
        </p:spPr>
      </p:sp>
      <p:sp>
        <p:nvSpPr>
          <p:cNvPr id="20" name="Text 18"/>
          <p:cNvSpPr/>
          <p:nvPr/>
        </p:nvSpPr>
        <p:spPr>
          <a:xfrm>
            <a:off x="777240" y="42976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1508760" y="4343400"/>
            <a:ext cx="425196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Gradient Clipping</a:t>
            </a:r>
            <a:endParaRPr lang="en-US" sz="1600" dirty="0"/>
          </a:p>
        </p:txBody>
      </p:sp>
      <p:sp>
        <p:nvSpPr>
          <p:cNvPr id="22" name="Text 20"/>
          <p:cNvSpPr/>
          <p:nvPr/>
        </p:nvSpPr>
        <p:spPr>
          <a:xfrm>
            <a:off x="777240" y="4983480"/>
            <a:ext cx="4937760" cy="123444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Patlama durumunda bir eşik değer (threshold) belirlenip aşan gradyanlar küçültülür. Eğitim kararlılığı belirgin biçimde artar.</a:t>
            </a:r>
            <a:endParaRPr lang="en-US" sz="1200" dirty="0"/>
          </a:p>
        </p:txBody>
      </p:sp>
      <p:sp>
        <p:nvSpPr>
          <p:cNvPr id="23" name="Shape 21"/>
          <p:cNvSpPr/>
          <p:nvPr/>
        </p:nvSpPr>
        <p:spPr>
          <a:xfrm>
            <a:off x="6263640" y="4023360"/>
            <a:ext cx="5440680" cy="23317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4" name="Shape 22"/>
          <p:cNvSpPr/>
          <p:nvPr/>
        </p:nvSpPr>
        <p:spPr>
          <a:xfrm>
            <a:off x="6263640" y="4023360"/>
            <a:ext cx="91440" cy="2331720"/>
          </a:xfrm>
          <a:prstGeom prst="rect">
            <a:avLst/>
          </a:prstGeom>
          <a:solidFill>
            <a:srgbClr val="E07856"/>
          </a:solidFill>
          <a:ln w="12700">
            <a:solidFill>
              <a:srgbClr val="E07856"/>
            </a:solidFill>
            <a:prstDash val="solid"/>
          </a:ln>
        </p:spPr>
      </p:sp>
      <p:sp>
        <p:nvSpPr>
          <p:cNvPr id="25" name="Shape 23"/>
          <p:cNvSpPr/>
          <p:nvPr/>
        </p:nvSpPr>
        <p:spPr>
          <a:xfrm>
            <a:off x="6583680" y="4297680"/>
            <a:ext cx="594360" cy="594360"/>
          </a:xfrm>
          <a:prstGeom prst="ellipse">
            <a:avLst/>
          </a:prstGeom>
          <a:solidFill>
            <a:srgbClr val="0F1B3D"/>
          </a:solidFill>
          <a:ln w="12700">
            <a:solidFill>
              <a:srgbClr val="0F1B3D"/>
            </a:solidFill>
            <a:prstDash val="solid"/>
          </a:ln>
        </p:spPr>
      </p:sp>
      <p:sp>
        <p:nvSpPr>
          <p:cNvPr id="26" name="Text 24"/>
          <p:cNvSpPr/>
          <p:nvPr/>
        </p:nvSpPr>
        <p:spPr>
          <a:xfrm>
            <a:off x="6583680" y="42976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Text 25"/>
          <p:cNvSpPr/>
          <p:nvPr/>
        </p:nvSpPr>
        <p:spPr>
          <a:xfrm>
            <a:off x="7315200" y="4343400"/>
            <a:ext cx="4251960" cy="502920"/>
          </a:xfrm>
          <a:prstGeom prst="rect">
            <a:avLst/>
          </a:prstGeom>
          <a:noFill/>
          <a:ln/>
        </p:spPr>
        <p:txBody>
          <a:bodyPr wrap="square" lIns="0" tIns="0" rIns="0" bIns="0" rtlCol="0" anchor="ctr"/>
          <a:lstStyle/>
          <a:p>
            <a:pPr indent="0" marL="0">
              <a:buNone/>
            </a:pPr>
            <a:r>
              <a:rPr lang="en-US" sz="1600" b="1" dirty="0">
                <a:solidFill>
                  <a:srgbClr val="0F1B3D"/>
                </a:solidFill>
                <a:latin typeface="Cambria" pitchFamily="34" charset="0"/>
                <a:ea typeface="Cambria" pitchFamily="34" charset="-122"/>
                <a:cs typeface="Cambria" pitchFamily="34" charset="-120"/>
              </a:rPr>
              <a:t>LSTM / GRU Mimarileri</a:t>
            </a:r>
            <a:endParaRPr lang="en-US" sz="1600" dirty="0"/>
          </a:p>
        </p:txBody>
      </p:sp>
      <p:sp>
        <p:nvSpPr>
          <p:cNvPr id="28" name="Text 26"/>
          <p:cNvSpPr/>
          <p:nvPr/>
        </p:nvSpPr>
        <p:spPr>
          <a:xfrm>
            <a:off x="6583680" y="4983480"/>
            <a:ext cx="4937760" cy="123444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Cell state ve kapı mekanizmaları sayesinde gradyan, çarpımlardan ziyade katmalı (additive) bir yol izler. Uzun bağımlılıklar etkili biçimde öğrenilir.</a:t>
            </a:r>
            <a:endParaRPr lang="en-US" sz="1200" dirty="0"/>
          </a:p>
        </p:txBody>
      </p:sp>
      <p:sp>
        <p:nvSpPr>
          <p:cNvPr id="29" name="Text 27"/>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30" name="Text 28"/>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 / 33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2286000"/>
            <a:ext cx="3657600" cy="365760"/>
          </a:xfrm>
          <a:prstGeom prst="rect">
            <a:avLst/>
          </a:prstGeom>
          <a:noFill/>
          <a:ln/>
        </p:spPr>
        <p:txBody>
          <a:bodyPr wrap="square" rtlCol="0" anchor="ctr"/>
          <a:lstStyle/>
          <a:p>
            <a:pPr indent="0" marL="0">
              <a:buNone/>
            </a:pPr>
            <a:r>
              <a:rPr lang="en-US" sz="1400" b="1" spc="600" kern="0" dirty="0">
                <a:solidFill>
                  <a:srgbClr val="E07856"/>
                </a:solidFill>
                <a:latin typeface="Calibri" pitchFamily="34" charset="0"/>
                <a:ea typeface="Calibri" pitchFamily="34" charset="-122"/>
                <a:cs typeface="Calibri" pitchFamily="34" charset="-120"/>
              </a:rPr>
              <a:t>BÖLÜM 04</a:t>
            </a:r>
            <a:endParaRPr lang="en-US" sz="1400" dirty="0"/>
          </a:p>
        </p:txBody>
      </p:sp>
      <p:sp>
        <p:nvSpPr>
          <p:cNvPr id="3" name="Text 1"/>
          <p:cNvSpPr/>
          <p:nvPr/>
        </p:nvSpPr>
        <p:spPr>
          <a:xfrm>
            <a:off x="640080" y="2697480"/>
            <a:ext cx="10972800" cy="1371600"/>
          </a:xfrm>
          <a:prstGeom prst="rect">
            <a:avLst/>
          </a:prstGeom>
          <a:noFill/>
          <a:ln/>
        </p:spPr>
        <p:txBody>
          <a:bodyPr wrap="square"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LSTM</a:t>
            </a:r>
            <a:endParaRPr lang="en-US" sz="8000" dirty="0"/>
          </a:p>
        </p:txBody>
      </p:sp>
      <p:sp>
        <p:nvSpPr>
          <p:cNvPr id="4" name="Text 2"/>
          <p:cNvSpPr/>
          <p:nvPr/>
        </p:nvSpPr>
        <p:spPr>
          <a:xfrm>
            <a:off x="640080" y="4160520"/>
            <a:ext cx="10972800" cy="457200"/>
          </a:xfrm>
          <a:prstGeom prst="rect">
            <a:avLst/>
          </a:prstGeom>
          <a:noFill/>
          <a:ln/>
        </p:spPr>
        <p:txBody>
          <a:bodyPr wrap="square" rtlCol="0" anchor="ctr"/>
          <a:lstStyle/>
          <a:p>
            <a:pPr indent="0" marL="0">
              <a:buNone/>
            </a:pPr>
            <a:r>
              <a:rPr lang="en-US" sz="2200" i="1" dirty="0">
                <a:solidFill>
                  <a:srgbClr val="E0A458"/>
                </a:solidFill>
                <a:latin typeface="Calibri" pitchFamily="34" charset="0"/>
                <a:ea typeface="Calibri" pitchFamily="34" charset="-122"/>
                <a:cs typeface="Calibri" pitchFamily="34" charset="-120"/>
              </a:rPr>
              <a:t>Long Short-Term Memory — Uzun Kısa Süreli Hafıza</a:t>
            </a:r>
            <a:endParaRPr lang="en-US" sz="2200" dirty="0"/>
          </a:p>
        </p:txBody>
      </p:sp>
      <p:sp>
        <p:nvSpPr>
          <p:cNvPr id="5" name="Shape 3"/>
          <p:cNvSpPr/>
          <p:nvPr/>
        </p:nvSpPr>
        <p:spPr>
          <a:xfrm>
            <a:off x="640080" y="4754880"/>
            <a:ext cx="1097280" cy="36576"/>
          </a:xfrm>
          <a:prstGeom prst="rect">
            <a:avLst/>
          </a:prstGeom>
          <a:solidFill>
            <a:srgbClr val="E07856"/>
          </a:solidFill>
          <a:ln w="12700">
            <a:solidFill>
              <a:srgbClr val="E07856"/>
            </a:solidFill>
            <a:prstDash val="solid"/>
          </a:ln>
        </p:spPr>
      </p:sp>
      <p:sp>
        <p:nvSpPr>
          <p:cNvPr id="6" name="Text 4"/>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9CA3AF"/>
                </a:solidFill>
                <a:latin typeface="Calibri" pitchFamily="34" charset="0"/>
                <a:ea typeface="Calibri" pitchFamily="34" charset="-122"/>
                <a:cs typeface="Calibri" pitchFamily="34" charset="-120"/>
              </a:rPr>
              <a:t>YZM306 — Derin Öğrenme  |  Hafta 6: RNN ve LSTM</a:t>
            </a:r>
            <a:endParaRPr lang="en-US" sz="900" dirty="0"/>
          </a:p>
        </p:txBody>
      </p:sp>
      <p:sp>
        <p:nvSpPr>
          <p:cNvPr id="7" name="Text 5"/>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 / 33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LSTM — Long Short-Term Memory</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Hochreiter &amp; Schmidhuber (1997). Vanishing gradient'i çözmek için tasarlanan özel RNN mimarisi.</a:t>
            </a:r>
            <a:endParaRPr lang="en-US" sz="1300" dirty="0"/>
          </a:p>
        </p:txBody>
      </p:sp>
      <p:sp>
        <p:nvSpPr>
          <p:cNvPr id="5" name="Shape 3"/>
          <p:cNvSpPr/>
          <p:nvPr/>
        </p:nvSpPr>
        <p:spPr>
          <a:xfrm>
            <a:off x="457200" y="1463040"/>
            <a:ext cx="5669280" cy="48463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463040"/>
            <a:ext cx="91440" cy="4846320"/>
          </a:xfrm>
          <a:prstGeom prst="rect">
            <a:avLst/>
          </a:prstGeom>
          <a:solidFill>
            <a:srgbClr val="48A6A7"/>
          </a:solidFill>
          <a:ln w="12700">
            <a:solidFill>
              <a:srgbClr val="48A6A7"/>
            </a:solidFill>
            <a:prstDash val="solid"/>
          </a:ln>
        </p:spPr>
      </p:sp>
      <p:sp>
        <p:nvSpPr>
          <p:cNvPr id="7" name="Text 5"/>
          <p:cNvSpPr/>
          <p:nvPr/>
        </p:nvSpPr>
        <p:spPr>
          <a:xfrm>
            <a:off x="777240" y="1600200"/>
            <a:ext cx="5212080" cy="365760"/>
          </a:xfrm>
          <a:prstGeom prst="rect">
            <a:avLst/>
          </a:prstGeom>
          <a:noFill/>
          <a:ln/>
        </p:spPr>
        <p:txBody>
          <a:bodyPr wrap="square" lIns="0" tIns="0" rIns="0" bIns="0" rtlCol="0" anchor="ctr"/>
          <a:lstStyle/>
          <a:p>
            <a:pPr indent="0" marL="0">
              <a:buNone/>
            </a:pPr>
            <a:r>
              <a:rPr lang="en-US" sz="1800" b="1" dirty="0">
                <a:solidFill>
                  <a:srgbClr val="48A6A7"/>
                </a:solidFill>
                <a:latin typeface="Cambria" pitchFamily="34" charset="0"/>
                <a:ea typeface="Cambria" pitchFamily="34" charset="-122"/>
                <a:cs typeface="Cambria" pitchFamily="34" charset="-120"/>
              </a:rPr>
              <a:t>Temel Fikir</a:t>
            </a:r>
            <a:endParaRPr lang="en-US" sz="1800" dirty="0"/>
          </a:p>
        </p:txBody>
      </p:sp>
      <p:sp>
        <p:nvSpPr>
          <p:cNvPr id="8" name="Text 6"/>
          <p:cNvSpPr/>
          <p:nvPr/>
        </p:nvSpPr>
        <p:spPr>
          <a:xfrm>
            <a:off x="777240" y="2057400"/>
            <a:ext cx="5212080" cy="169164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RNN, kısa cümlelerde iyi sonuç verir; ancak uzun paragraflarda başarısızdır. LSTM, </a:t>
            </a:r>
            <a:pPr indent="0" marL="0">
              <a:buNone/>
            </a:pPr>
            <a:r>
              <a:rPr lang="en-US" sz="1300" b="1" dirty="0">
                <a:solidFill>
                  <a:srgbClr val="0F1B3D"/>
                </a:solidFill>
                <a:latin typeface="Calibri" pitchFamily="34" charset="0"/>
                <a:ea typeface="Calibri" pitchFamily="34" charset="-122"/>
                <a:cs typeface="Calibri" pitchFamily="34" charset="-120"/>
              </a:rPr>
              <a:t>uzun vadeli bağımlılıkları öğrenebilen</a:t>
            </a:r>
            <a:pPr indent="0" marL="0">
              <a:buNone/>
            </a:pPr>
            <a:r>
              <a:rPr lang="en-US" sz="1300" dirty="0">
                <a:solidFill>
                  <a:srgbClr val="374151"/>
                </a:solidFill>
                <a:latin typeface="Calibri" pitchFamily="34" charset="0"/>
                <a:ea typeface="Calibri" pitchFamily="34" charset="-122"/>
                <a:cs typeface="Calibri" pitchFamily="34" charset="-120"/>
              </a:rPr>
              <a:t> özel bir RNN türüdür. Hücrenin içine </a:t>
            </a:r>
            <a:pPr indent="0" marL="0">
              <a:buNone/>
            </a:pPr>
            <a:r>
              <a:rPr lang="en-US" sz="1300" b="1" dirty="0">
                <a:solidFill>
                  <a:srgbClr val="0F1B3D"/>
                </a:solidFill>
                <a:latin typeface="Calibri" pitchFamily="34" charset="0"/>
                <a:ea typeface="Calibri" pitchFamily="34" charset="-122"/>
                <a:cs typeface="Calibri" pitchFamily="34" charset="-120"/>
              </a:rPr>
              <a:t>kapılar (gates)</a:t>
            </a:r>
            <a:pPr indent="0" marL="0">
              <a:buNone/>
            </a:pPr>
            <a:r>
              <a:rPr lang="en-US" sz="1300" dirty="0">
                <a:solidFill>
                  <a:srgbClr val="374151"/>
                </a:solidFill>
                <a:latin typeface="Calibri" pitchFamily="34" charset="0"/>
                <a:ea typeface="Calibri" pitchFamily="34" charset="-122"/>
                <a:cs typeface="Calibri" pitchFamily="34" charset="-120"/>
              </a:rPr>
              <a:t> ve ayrı bir </a:t>
            </a:r>
            <a:pPr indent="0" marL="0">
              <a:buNone/>
            </a:pPr>
            <a:r>
              <a:rPr lang="en-US" sz="1300" b="1" dirty="0">
                <a:solidFill>
                  <a:srgbClr val="0F1B3D"/>
                </a:solidFill>
                <a:latin typeface="Calibri" pitchFamily="34" charset="0"/>
                <a:ea typeface="Calibri" pitchFamily="34" charset="-122"/>
                <a:cs typeface="Calibri" pitchFamily="34" charset="-120"/>
              </a:rPr>
              <a:t>Cell State</a:t>
            </a:r>
            <a:pPr indent="0" marL="0">
              <a:buNone/>
            </a:pPr>
            <a:r>
              <a:rPr lang="en-US" sz="1300" dirty="0">
                <a:solidFill>
                  <a:srgbClr val="374151"/>
                </a:solidFill>
                <a:latin typeface="Calibri" pitchFamily="34" charset="0"/>
                <a:ea typeface="Calibri" pitchFamily="34" charset="-122"/>
                <a:cs typeface="Calibri" pitchFamily="34" charset="-120"/>
              </a:rPr>
              <a:t> yerleştirilerek bilgi akışı kontrollü hale getirilir.</a:t>
            </a:r>
            <a:endParaRPr lang="en-US" sz="1300" dirty="0"/>
          </a:p>
        </p:txBody>
      </p:sp>
      <p:sp>
        <p:nvSpPr>
          <p:cNvPr id="9" name="Text 7"/>
          <p:cNvSpPr/>
          <p:nvPr/>
        </p:nvSpPr>
        <p:spPr>
          <a:xfrm>
            <a:off x="777240" y="3840480"/>
            <a:ext cx="5212080" cy="365760"/>
          </a:xfrm>
          <a:prstGeom prst="rect">
            <a:avLst/>
          </a:prstGeom>
          <a:noFill/>
          <a:ln/>
        </p:spPr>
        <p:txBody>
          <a:bodyPr wrap="square" lIns="0" tIns="0" rIns="0" bIns="0" rtlCol="0" anchor="ctr"/>
          <a:lstStyle/>
          <a:p>
            <a:pPr indent="0" marL="0">
              <a:buNone/>
            </a:pPr>
            <a:r>
              <a:rPr lang="en-US" sz="1600" b="1" dirty="0">
                <a:solidFill>
                  <a:srgbClr val="48A6A7"/>
                </a:solidFill>
                <a:latin typeface="Cambria" pitchFamily="34" charset="0"/>
                <a:ea typeface="Cambria" pitchFamily="34" charset="-122"/>
                <a:cs typeface="Cambria" pitchFamily="34" charset="-120"/>
              </a:rPr>
              <a:t>Kullanım Alanları</a:t>
            </a:r>
            <a:endParaRPr lang="en-US" sz="1600" dirty="0"/>
          </a:p>
        </p:txBody>
      </p:sp>
      <p:sp>
        <p:nvSpPr>
          <p:cNvPr id="10" name="Text 8"/>
          <p:cNvSpPr/>
          <p:nvPr/>
        </p:nvSpPr>
        <p:spPr>
          <a:xfrm>
            <a:off x="777240" y="4251960"/>
            <a:ext cx="5212080" cy="1920240"/>
          </a:xfrm>
          <a:prstGeom prst="rect">
            <a:avLst/>
          </a:prstGeom>
          <a:noFill/>
          <a:ln/>
        </p:spPr>
        <p:txBody>
          <a:bodyPr wrap="square" rtlCol="0" anchor="t"/>
          <a:lstStyle/>
          <a:p>
            <a:pPr marL="342900" indent="-342900">
              <a:spcAft>
                <a:spcPts val="200"/>
              </a:spcAft>
              <a:buSzPct val="100000"/>
              <a:buChar char="•"/>
            </a:pPr>
            <a:r>
              <a:rPr lang="en-US" sz="1200" dirty="0">
                <a:solidFill>
                  <a:srgbClr val="374151"/>
                </a:solidFill>
                <a:latin typeface="Calibri" pitchFamily="34" charset="0"/>
                <a:ea typeface="Calibri" pitchFamily="34" charset="-122"/>
                <a:cs typeface="Calibri" pitchFamily="34" charset="-120"/>
              </a:rPr>
              <a:t>Duygu analizi ve metin sınıflandırma</a:t>
            </a:r>
            <a:endParaRPr lang="en-US" sz="1200" dirty="0"/>
          </a:p>
          <a:p>
            <a:pPr marL="342900" indent="-342900">
              <a:spcAft>
                <a:spcPts val="200"/>
              </a:spcAft>
              <a:buSzPct val="100000"/>
              <a:buChar char="•"/>
            </a:pPr>
            <a:r>
              <a:rPr lang="en-US" sz="1200" dirty="0">
                <a:solidFill>
                  <a:srgbClr val="374151"/>
                </a:solidFill>
                <a:latin typeface="Calibri" pitchFamily="34" charset="0"/>
                <a:ea typeface="Calibri" pitchFamily="34" charset="-122"/>
                <a:cs typeface="Calibri" pitchFamily="34" charset="-120"/>
              </a:rPr>
              <a:t>Makine çevirisi</a:t>
            </a:r>
            <a:endParaRPr lang="en-US" sz="1200" dirty="0"/>
          </a:p>
          <a:p>
            <a:pPr marL="342900" indent="-342900">
              <a:spcAft>
                <a:spcPts val="200"/>
              </a:spcAft>
              <a:buSzPct val="100000"/>
              <a:buChar char="•"/>
            </a:pPr>
            <a:r>
              <a:rPr lang="en-US" sz="1200" dirty="0">
                <a:solidFill>
                  <a:srgbClr val="374151"/>
                </a:solidFill>
                <a:latin typeface="Calibri" pitchFamily="34" charset="0"/>
                <a:ea typeface="Calibri" pitchFamily="34" charset="-122"/>
                <a:cs typeface="Calibri" pitchFamily="34" charset="-120"/>
              </a:rPr>
              <a:t>Konuşma tanıma</a:t>
            </a:r>
            <a:endParaRPr lang="en-US" sz="1200" dirty="0"/>
          </a:p>
          <a:p>
            <a:pPr marL="342900" indent="-342900">
              <a:spcAft>
                <a:spcPts val="200"/>
              </a:spcAft>
              <a:buSzPct val="100000"/>
              <a:buChar char="•"/>
            </a:pPr>
            <a:r>
              <a:rPr lang="en-US" sz="1200" dirty="0">
                <a:solidFill>
                  <a:srgbClr val="374151"/>
                </a:solidFill>
                <a:latin typeface="Calibri" pitchFamily="34" charset="0"/>
                <a:ea typeface="Calibri" pitchFamily="34" charset="-122"/>
                <a:cs typeface="Calibri" pitchFamily="34" charset="-120"/>
              </a:rPr>
              <a:t>Metin üretimi (text generation)</a:t>
            </a:r>
            <a:endParaRPr lang="en-US" sz="1200" dirty="0"/>
          </a:p>
          <a:p>
            <a:pPr marL="342900" indent="-342900">
              <a:spcAft>
                <a:spcPts val="200"/>
              </a:spcAft>
              <a:buSzPct val="100000"/>
              <a:buChar char="•"/>
            </a:pPr>
            <a:r>
              <a:rPr lang="en-US" sz="1200" dirty="0">
                <a:solidFill>
                  <a:srgbClr val="374151"/>
                </a:solidFill>
                <a:latin typeface="Calibri" pitchFamily="34" charset="0"/>
                <a:ea typeface="Calibri" pitchFamily="34" charset="-122"/>
                <a:cs typeface="Calibri" pitchFamily="34" charset="-120"/>
              </a:rPr>
              <a:t>Zaman serisi tahmini (finans, hava)</a:t>
            </a:r>
            <a:endParaRPr lang="en-US" sz="1200" dirty="0"/>
          </a:p>
        </p:txBody>
      </p:sp>
      <p:sp>
        <p:nvSpPr>
          <p:cNvPr id="11" name="Shape 9"/>
          <p:cNvSpPr/>
          <p:nvPr/>
        </p:nvSpPr>
        <p:spPr>
          <a:xfrm>
            <a:off x="6400800" y="1463040"/>
            <a:ext cx="5330952" cy="484632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Text 10"/>
          <p:cNvSpPr/>
          <p:nvPr/>
        </p:nvSpPr>
        <p:spPr>
          <a:xfrm>
            <a:off x="6583680" y="1600200"/>
            <a:ext cx="5029200" cy="365760"/>
          </a:xfrm>
          <a:prstGeom prst="rect">
            <a:avLst/>
          </a:prstGeom>
          <a:noFill/>
          <a:ln/>
        </p:spPr>
        <p:txBody>
          <a:bodyPr wrap="square" lIns="0" tIns="0" rIns="0" bIns="0" rtlCol="0" anchor="ctr"/>
          <a:lstStyle/>
          <a:p>
            <a:pPr algn="ctr" indent="0" marL="0">
              <a:buNone/>
            </a:pPr>
            <a:r>
              <a:rPr lang="en-US" sz="1600" b="1" dirty="0">
                <a:solidFill>
                  <a:srgbClr val="0F1B3D"/>
                </a:solidFill>
                <a:latin typeface="Cambria" pitchFamily="34" charset="0"/>
                <a:ea typeface="Cambria" pitchFamily="34" charset="-122"/>
                <a:cs typeface="Cambria" pitchFamily="34" charset="-120"/>
              </a:rPr>
              <a:t>İç Yapı Karşılaştırması</a:t>
            </a:r>
            <a:endParaRPr lang="en-US" sz="1600" dirty="0"/>
          </a:p>
        </p:txBody>
      </p:sp>
      <p:pic>
        <p:nvPicPr>
          <p:cNvPr id="13" name="Image 0" descr="/home/claude/diagrams/rnn_vs_lstm.png">    </p:cNvPr>
          <p:cNvPicPr>
            <a:picLocks noChangeAspect="1"/>
          </p:cNvPicPr>
          <p:nvPr/>
        </p:nvPicPr>
        <p:blipFill>
          <a:blip r:embed="rId1"/>
          <a:srcRect l="0" r="0" t="0" b="0"/>
          <a:stretch/>
        </p:blipFill>
        <p:spPr>
          <a:xfrm>
            <a:off x="6446520" y="2011680"/>
            <a:ext cx="5212080" cy="4114800"/>
          </a:xfrm>
          <a:prstGeom prst="rect">
            <a:avLst/>
          </a:prstGeom>
        </p:spPr>
      </p:pic>
      <p:sp>
        <p:nvSpPr>
          <p:cNvPr id="14" name="Text 11"/>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5" name="Text 12"/>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 / 33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LSTM Hücresi — İç Yapı</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Üç sigmoid kapı (forget, input, output), bir tanh aday hücre durumu ve bir cell state pipe-line.</a:t>
            </a:r>
            <a:endParaRPr lang="en-US" sz="1300" dirty="0"/>
          </a:p>
        </p:txBody>
      </p:sp>
      <p:sp>
        <p:nvSpPr>
          <p:cNvPr id="5" name="Shape 3"/>
          <p:cNvSpPr/>
          <p:nvPr/>
        </p:nvSpPr>
        <p:spPr>
          <a:xfrm>
            <a:off x="457200" y="1371600"/>
            <a:ext cx="11247120" cy="36576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pic>
        <p:nvPicPr>
          <p:cNvPr id="6" name="Image 0" descr="/home/claude/diagrams/lstm_cell.png">    </p:cNvPr>
          <p:cNvPicPr>
            <a:picLocks noChangeAspect="1"/>
          </p:cNvPicPr>
          <p:nvPr/>
        </p:nvPicPr>
        <p:blipFill>
          <a:blip r:embed="rId1"/>
          <a:srcRect l="0" r="0" t="0" b="0"/>
          <a:stretch/>
        </p:blipFill>
        <p:spPr>
          <a:xfrm>
            <a:off x="548640" y="1463040"/>
            <a:ext cx="11064240" cy="3520440"/>
          </a:xfrm>
          <a:prstGeom prst="rect">
            <a:avLst/>
          </a:prstGeom>
        </p:spPr>
      </p:pic>
      <p:sp>
        <p:nvSpPr>
          <p:cNvPr id="7" name="Shape 4"/>
          <p:cNvSpPr/>
          <p:nvPr/>
        </p:nvSpPr>
        <p:spPr>
          <a:xfrm>
            <a:off x="457200" y="5212080"/>
            <a:ext cx="2788920" cy="11430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8" name="Shape 5"/>
          <p:cNvSpPr/>
          <p:nvPr/>
        </p:nvSpPr>
        <p:spPr>
          <a:xfrm>
            <a:off x="457200" y="5212080"/>
            <a:ext cx="2788920" cy="73152"/>
          </a:xfrm>
          <a:prstGeom prst="rect">
            <a:avLst/>
          </a:prstGeom>
          <a:solidFill>
            <a:srgbClr val="E07856"/>
          </a:solidFill>
          <a:ln w="12700">
            <a:solidFill>
              <a:srgbClr val="E07856"/>
            </a:solidFill>
            <a:prstDash val="solid"/>
          </a:ln>
        </p:spPr>
      </p:sp>
      <p:sp>
        <p:nvSpPr>
          <p:cNvPr id="9" name="Text 6"/>
          <p:cNvSpPr/>
          <p:nvPr/>
        </p:nvSpPr>
        <p:spPr>
          <a:xfrm>
            <a:off x="594360" y="5376672"/>
            <a:ext cx="2514600" cy="320040"/>
          </a:xfrm>
          <a:prstGeom prst="rect">
            <a:avLst/>
          </a:prstGeom>
          <a:noFill/>
          <a:ln/>
        </p:spPr>
        <p:txBody>
          <a:bodyPr wrap="square" lIns="0" tIns="0" rIns="0" bIns="0" rtlCol="0" anchor="ctr"/>
          <a:lstStyle/>
          <a:p>
            <a:pPr indent="0" marL="0">
              <a:buNone/>
            </a:pPr>
            <a:r>
              <a:rPr lang="en-US" sz="1200" b="1" dirty="0">
                <a:solidFill>
                  <a:srgbClr val="0F1B3D"/>
                </a:solidFill>
                <a:latin typeface="Cambria" pitchFamily="34" charset="0"/>
                <a:ea typeface="Cambria" pitchFamily="34" charset="-122"/>
                <a:cs typeface="Cambria" pitchFamily="34" charset="-120"/>
              </a:rPr>
              <a:t>Cell State (c_t)</a:t>
            </a:r>
            <a:endParaRPr lang="en-US" sz="1200" dirty="0"/>
          </a:p>
        </p:txBody>
      </p:sp>
      <p:sp>
        <p:nvSpPr>
          <p:cNvPr id="10" name="Text 7"/>
          <p:cNvSpPr/>
          <p:nvPr/>
        </p:nvSpPr>
        <p:spPr>
          <a:xfrm>
            <a:off x="594360" y="5715000"/>
            <a:ext cx="2514600" cy="59436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Uzun vadeli hafıza — neredeyse hiç değiştirilmeden ilerler.</a:t>
            </a:r>
            <a:endParaRPr lang="en-US" sz="1000" dirty="0"/>
          </a:p>
        </p:txBody>
      </p:sp>
      <p:sp>
        <p:nvSpPr>
          <p:cNvPr id="11" name="Shape 8"/>
          <p:cNvSpPr/>
          <p:nvPr/>
        </p:nvSpPr>
        <p:spPr>
          <a:xfrm>
            <a:off x="3268980" y="5212080"/>
            <a:ext cx="2788920" cy="11430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2" name="Shape 9"/>
          <p:cNvSpPr/>
          <p:nvPr/>
        </p:nvSpPr>
        <p:spPr>
          <a:xfrm>
            <a:off x="3268980" y="5212080"/>
            <a:ext cx="2788920" cy="73152"/>
          </a:xfrm>
          <a:prstGeom prst="rect">
            <a:avLst/>
          </a:prstGeom>
          <a:solidFill>
            <a:srgbClr val="0F1B3D"/>
          </a:solidFill>
          <a:ln w="12700">
            <a:solidFill>
              <a:srgbClr val="0F1B3D"/>
            </a:solidFill>
            <a:prstDash val="solid"/>
          </a:ln>
        </p:spPr>
      </p:sp>
      <p:sp>
        <p:nvSpPr>
          <p:cNvPr id="13" name="Text 10"/>
          <p:cNvSpPr/>
          <p:nvPr/>
        </p:nvSpPr>
        <p:spPr>
          <a:xfrm>
            <a:off x="3406140" y="5376672"/>
            <a:ext cx="2514600" cy="320040"/>
          </a:xfrm>
          <a:prstGeom prst="rect">
            <a:avLst/>
          </a:prstGeom>
          <a:noFill/>
          <a:ln/>
        </p:spPr>
        <p:txBody>
          <a:bodyPr wrap="square" lIns="0" tIns="0" rIns="0" bIns="0" rtlCol="0" anchor="ctr"/>
          <a:lstStyle/>
          <a:p>
            <a:pPr indent="0" marL="0">
              <a:buNone/>
            </a:pPr>
            <a:r>
              <a:rPr lang="en-US" sz="1200" b="1" dirty="0">
                <a:solidFill>
                  <a:srgbClr val="0F1B3D"/>
                </a:solidFill>
                <a:latin typeface="Cambria" pitchFamily="34" charset="0"/>
                <a:ea typeface="Cambria" pitchFamily="34" charset="-122"/>
                <a:cs typeface="Cambria" pitchFamily="34" charset="-120"/>
              </a:rPr>
              <a:t>Forget Gate (f_t)</a:t>
            </a:r>
            <a:endParaRPr lang="en-US" sz="1200" dirty="0"/>
          </a:p>
        </p:txBody>
      </p:sp>
      <p:sp>
        <p:nvSpPr>
          <p:cNvPr id="14" name="Text 11"/>
          <p:cNvSpPr/>
          <p:nvPr/>
        </p:nvSpPr>
        <p:spPr>
          <a:xfrm>
            <a:off x="3406140" y="5715000"/>
            <a:ext cx="2514600" cy="59436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Geçmişin hangi kısmının unutulacağını belirler.</a:t>
            </a:r>
            <a:endParaRPr lang="en-US" sz="1000" dirty="0"/>
          </a:p>
        </p:txBody>
      </p:sp>
      <p:sp>
        <p:nvSpPr>
          <p:cNvPr id="15" name="Shape 12"/>
          <p:cNvSpPr/>
          <p:nvPr/>
        </p:nvSpPr>
        <p:spPr>
          <a:xfrm>
            <a:off x="6080760" y="5212080"/>
            <a:ext cx="2788920" cy="11430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6" name="Shape 13"/>
          <p:cNvSpPr/>
          <p:nvPr/>
        </p:nvSpPr>
        <p:spPr>
          <a:xfrm>
            <a:off x="6080760" y="5212080"/>
            <a:ext cx="2788920" cy="73152"/>
          </a:xfrm>
          <a:prstGeom prst="rect">
            <a:avLst/>
          </a:prstGeom>
          <a:solidFill>
            <a:srgbClr val="48A6A7"/>
          </a:solidFill>
          <a:ln w="12700">
            <a:solidFill>
              <a:srgbClr val="48A6A7"/>
            </a:solidFill>
            <a:prstDash val="solid"/>
          </a:ln>
        </p:spPr>
      </p:sp>
      <p:sp>
        <p:nvSpPr>
          <p:cNvPr id="17" name="Text 14"/>
          <p:cNvSpPr/>
          <p:nvPr/>
        </p:nvSpPr>
        <p:spPr>
          <a:xfrm>
            <a:off x="6217920" y="5376672"/>
            <a:ext cx="2514600" cy="320040"/>
          </a:xfrm>
          <a:prstGeom prst="rect">
            <a:avLst/>
          </a:prstGeom>
          <a:noFill/>
          <a:ln/>
        </p:spPr>
        <p:txBody>
          <a:bodyPr wrap="square" lIns="0" tIns="0" rIns="0" bIns="0" rtlCol="0" anchor="ctr"/>
          <a:lstStyle/>
          <a:p>
            <a:pPr indent="0" marL="0">
              <a:buNone/>
            </a:pPr>
            <a:r>
              <a:rPr lang="en-US" sz="1200" b="1" dirty="0">
                <a:solidFill>
                  <a:srgbClr val="0F1B3D"/>
                </a:solidFill>
                <a:latin typeface="Cambria" pitchFamily="34" charset="0"/>
                <a:ea typeface="Cambria" pitchFamily="34" charset="-122"/>
                <a:cs typeface="Cambria" pitchFamily="34" charset="-120"/>
              </a:rPr>
              <a:t>Input Gate (i_t) + Candidate (c̃_t)</a:t>
            </a:r>
            <a:endParaRPr lang="en-US" sz="1200" dirty="0"/>
          </a:p>
        </p:txBody>
      </p:sp>
      <p:sp>
        <p:nvSpPr>
          <p:cNvPr id="18" name="Text 15"/>
          <p:cNvSpPr/>
          <p:nvPr/>
        </p:nvSpPr>
        <p:spPr>
          <a:xfrm>
            <a:off x="6217920" y="5715000"/>
            <a:ext cx="2514600" cy="59436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Hangi yeni bilginin ekleneceğine karar verir.</a:t>
            </a:r>
            <a:endParaRPr lang="en-US" sz="1000" dirty="0"/>
          </a:p>
        </p:txBody>
      </p:sp>
      <p:sp>
        <p:nvSpPr>
          <p:cNvPr id="19" name="Shape 16"/>
          <p:cNvSpPr/>
          <p:nvPr/>
        </p:nvSpPr>
        <p:spPr>
          <a:xfrm>
            <a:off x="8892540" y="5212080"/>
            <a:ext cx="2788920" cy="11430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0" name="Shape 17"/>
          <p:cNvSpPr/>
          <p:nvPr/>
        </p:nvSpPr>
        <p:spPr>
          <a:xfrm>
            <a:off x="8892540" y="5212080"/>
            <a:ext cx="2788920" cy="73152"/>
          </a:xfrm>
          <a:prstGeom prst="rect">
            <a:avLst/>
          </a:prstGeom>
          <a:solidFill>
            <a:srgbClr val="E0A458"/>
          </a:solidFill>
          <a:ln w="12700">
            <a:solidFill>
              <a:srgbClr val="E0A458"/>
            </a:solidFill>
            <a:prstDash val="solid"/>
          </a:ln>
        </p:spPr>
      </p:sp>
      <p:sp>
        <p:nvSpPr>
          <p:cNvPr id="21" name="Text 18"/>
          <p:cNvSpPr/>
          <p:nvPr/>
        </p:nvSpPr>
        <p:spPr>
          <a:xfrm>
            <a:off x="9029700" y="5376672"/>
            <a:ext cx="2514600" cy="320040"/>
          </a:xfrm>
          <a:prstGeom prst="rect">
            <a:avLst/>
          </a:prstGeom>
          <a:noFill/>
          <a:ln/>
        </p:spPr>
        <p:txBody>
          <a:bodyPr wrap="square" lIns="0" tIns="0" rIns="0" bIns="0" rtlCol="0" anchor="ctr"/>
          <a:lstStyle/>
          <a:p>
            <a:pPr indent="0" marL="0">
              <a:buNone/>
            </a:pPr>
            <a:r>
              <a:rPr lang="en-US" sz="1200" b="1" dirty="0">
                <a:solidFill>
                  <a:srgbClr val="0F1B3D"/>
                </a:solidFill>
                <a:latin typeface="Cambria" pitchFamily="34" charset="0"/>
                <a:ea typeface="Cambria" pitchFamily="34" charset="-122"/>
                <a:cs typeface="Cambria" pitchFamily="34" charset="-120"/>
              </a:rPr>
              <a:t>Output Gate (o_t)</a:t>
            </a:r>
            <a:endParaRPr lang="en-US" sz="1200" dirty="0"/>
          </a:p>
        </p:txBody>
      </p:sp>
      <p:sp>
        <p:nvSpPr>
          <p:cNvPr id="22" name="Text 19"/>
          <p:cNvSpPr/>
          <p:nvPr/>
        </p:nvSpPr>
        <p:spPr>
          <a:xfrm>
            <a:off x="9029700" y="5715000"/>
            <a:ext cx="2514600" cy="594360"/>
          </a:xfrm>
          <a:prstGeom prst="rect">
            <a:avLst/>
          </a:prstGeom>
          <a:noFill/>
          <a:ln/>
        </p:spPr>
        <p:txBody>
          <a:bodyPr wrap="square" lIns="0" tIns="0" rIns="0" bIns="0" rtlCol="0" anchor="t"/>
          <a:lstStyle/>
          <a:p>
            <a:pPr indent="0" marL="0">
              <a:buNone/>
            </a:pPr>
            <a:r>
              <a:rPr lang="en-US" sz="1000" dirty="0">
                <a:solidFill>
                  <a:srgbClr val="374151"/>
                </a:solidFill>
                <a:latin typeface="Calibri" pitchFamily="34" charset="0"/>
                <a:ea typeface="Calibri" pitchFamily="34" charset="-122"/>
                <a:cs typeface="Calibri" pitchFamily="34" charset="-120"/>
              </a:rPr>
              <a:t>Hücre durumundan ne kadarının dışa aktarılacağına karar verir.</a:t>
            </a:r>
            <a:endParaRPr lang="en-US" sz="1000" dirty="0"/>
          </a:p>
        </p:txBody>
      </p:sp>
      <p:sp>
        <p:nvSpPr>
          <p:cNvPr id="23" name="Text 20"/>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4" name="Text 21"/>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 / 33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LSTM Hesap Adımları — Tüm Denklemler</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Bir zaman adımında ardışık olarak uygulanan altı denklem.</a:t>
            </a:r>
            <a:endParaRPr lang="en-US" sz="1300" dirty="0"/>
          </a:p>
        </p:txBody>
      </p:sp>
      <p:sp>
        <p:nvSpPr>
          <p:cNvPr id="5" name="Shape 3"/>
          <p:cNvSpPr/>
          <p:nvPr/>
        </p:nvSpPr>
        <p:spPr>
          <a:xfrm>
            <a:off x="457200" y="1417320"/>
            <a:ext cx="3703320" cy="22402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417320"/>
            <a:ext cx="3703320" cy="411480"/>
          </a:xfrm>
          <a:prstGeom prst="rect">
            <a:avLst/>
          </a:prstGeom>
          <a:solidFill>
            <a:srgbClr val="0F1B3D"/>
          </a:solidFill>
          <a:ln w="12700">
            <a:solidFill>
              <a:srgbClr val="0F1B3D"/>
            </a:solidFill>
            <a:prstDash val="solid"/>
          </a:ln>
        </p:spPr>
      </p:sp>
      <p:sp>
        <p:nvSpPr>
          <p:cNvPr id="7" name="Text 5"/>
          <p:cNvSpPr/>
          <p:nvPr/>
        </p:nvSpPr>
        <p:spPr>
          <a:xfrm>
            <a:off x="457200" y="1417320"/>
            <a:ext cx="3703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 Forget Gate</a:t>
            </a:r>
            <a:endParaRPr lang="en-US" sz="1300" dirty="0"/>
          </a:p>
        </p:txBody>
      </p:sp>
      <p:pic>
        <p:nvPicPr>
          <p:cNvPr id="8" name="Image 0" descr="/home/claude/equations/lstm_forget.png">    </p:cNvPr>
          <p:cNvPicPr>
            <a:picLocks noChangeAspect="1"/>
          </p:cNvPicPr>
          <p:nvPr/>
        </p:nvPicPr>
        <p:blipFill>
          <a:blip r:embed="rId1"/>
          <a:srcRect l="0" r="0" t="0" b="0"/>
          <a:stretch/>
        </p:blipFill>
        <p:spPr>
          <a:xfrm>
            <a:off x="594360" y="1920240"/>
            <a:ext cx="3429000" cy="1097280"/>
          </a:xfrm>
          <a:prstGeom prst="rect">
            <a:avLst/>
          </a:prstGeom>
        </p:spPr>
      </p:pic>
      <p:sp>
        <p:nvSpPr>
          <p:cNvPr id="9" name="Text 6"/>
          <p:cNvSpPr/>
          <p:nvPr/>
        </p:nvSpPr>
        <p:spPr>
          <a:xfrm>
            <a:off x="594360" y="3108960"/>
            <a:ext cx="3429000" cy="45720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Hangi geçmiş bilgi atılacak?</a:t>
            </a:r>
            <a:endParaRPr lang="en-US" sz="1100" dirty="0"/>
          </a:p>
        </p:txBody>
      </p:sp>
      <p:sp>
        <p:nvSpPr>
          <p:cNvPr id="10" name="Shape 7"/>
          <p:cNvSpPr/>
          <p:nvPr/>
        </p:nvSpPr>
        <p:spPr>
          <a:xfrm>
            <a:off x="4229100" y="1417320"/>
            <a:ext cx="3703320" cy="22402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1" name="Shape 8"/>
          <p:cNvSpPr/>
          <p:nvPr/>
        </p:nvSpPr>
        <p:spPr>
          <a:xfrm>
            <a:off x="4229100" y="1417320"/>
            <a:ext cx="3703320" cy="411480"/>
          </a:xfrm>
          <a:prstGeom prst="rect">
            <a:avLst/>
          </a:prstGeom>
          <a:solidFill>
            <a:srgbClr val="0F1B3D"/>
          </a:solidFill>
          <a:ln w="12700">
            <a:solidFill>
              <a:srgbClr val="0F1B3D"/>
            </a:solidFill>
            <a:prstDash val="solid"/>
          </a:ln>
        </p:spPr>
      </p:sp>
      <p:sp>
        <p:nvSpPr>
          <p:cNvPr id="12" name="Text 9"/>
          <p:cNvSpPr/>
          <p:nvPr/>
        </p:nvSpPr>
        <p:spPr>
          <a:xfrm>
            <a:off x="4229100" y="1417320"/>
            <a:ext cx="3703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 Input Gate</a:t>
            </a:r>
            <a:endParaRPr lang="en-US" sz="1300" dirty="0"/>
          </a:p>
        </p:txBody>
      </p:sp>
      <p:pic>
        <p:nvPicPr>
          <p:cNvPr id="13" name="Image 1" descr="/home/claude/equations/lstm_input.png">    </p:cNvPr>
          <p:cNvPicPr>
            <a:picLocks noChangeAspect="1"/>
          </p:cNvPicPr>
          <p:nvPr/>
        </p:nvPicPr>
        <p:blipFill>
          <a:blip r:embed="rId2"/>
          <a:srcRect l="0" r="0" t="0" b="0"/>
          <a:stretch/>
        </p:blipFill>
        <p:spPr>
          <a:xfrm>
            <a:off x="4366260" y="1920240"/>
            <a:ext cx="3429000" cy="1097280"/>
          </a:xfrm>
          <a:prstGeom prst="rect">
            <a:avLst/>
          </a:prstGeom>
        </p:spPr>
      </p:pic>
      <p:sp>
        <p:nvSpPr>
          <p:cNvPr id="14" name="Text 10"/>
          <p:cNvSpPr/>
          <p:nvPr/>
        </p:nvSpPr>
        <p:spPr>
          <a:xfrm>
            <a:off x="4366260" y="3108960"/>
            <a:ext cx="3429000" cy="45720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Hangi yeni bilgi eklenecek?</a:t>
            </a:r>
            <a:endParaRPr lang="en-US" sz="1100" dirty="0"/>
          </a:p>
        </p:txBody>
      </p:sp>
      <p:sp>
        <p:nvSpPr>
          <p:cNvPr id="15" name="Shape 11"/>
          <p:cNvSpPr/>
          <p:nvPr/>
        </p:nvSpPr>
        <p:spPr>
          <a:xfrm>
            <a:off x="8001000" y="1417320"/>
            <a:ext cx="3703320" cy="22402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6" name="Shape 12"/>
          <p:cNvSpPr/>
          <p:nvPr/>
        </p:nvSpPr>
        <p:spPr>
          <a:xfrm>
            <a:off x="8001000" y="1417320"/>
            <a:ext cx="3703320" cy="411480"/>
          </a:xfrm>
          <a:prstGeom prst="rect">
            <a:avLst/>
          </a:prstGeom>
          <a:solidFill>
            <a:srgbClr val="0F1B3D"/>
          </a:solidFill>
          <a:ln w="12700">
            <a:solidFill>
              <a:srgbClr val="0F1B3D"/>
            </a:solidFill>
            <a:prstDash val="solid"/>
          </a:ln>
        </p:spPr>
      </p:sp>
      <p:sp>
        <p:nvSpPr>
          <p:cNvPr id="17" name="Text 13"/>
          <p:cNvSpPr/>
          <p:nvPr/>
        </p:nvSpPr>
        <p:spPr>
          <a:xfrm>
            <a:off x="8001000" y="1417320"/>
            <a:ext cx="3703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 Candidate (c̃_t)</a:t>
            </a:r>
            <a:endParaRPr lang="en-US" sz="1300" dirty="0"/>
          </a:p>
        </p:txBody>
      </p:sp>
      <p:pic>
        <p:nvPicPr>
          <p:cNvPr id="18" name="Image 2" descr="/home/claude/equations/lstm_candidate.png">    </p:cNvPr>
          <p:cNvPicPr>
            <a:picLocks noChangeAspect="1"/>
          </p:cNvPicPr>
          <p:nvPr/>
        </p:nvPicPr>
        <p:blipFill>
          <a:blip r:embed="rId3"/>
          <a:srcRect l="0" r="0" t="0" b="0"/>
          <a:stretch/>
        </p:blipFill>
        <p:spPr>
          <a:xfrm>
            <a:off x="8138160" y="1920240"/>
            <a:ext cx="3429000" cy="1097280"/>
          </a:xfrm>
          <a:prstGeom prst="rect">
            <a:avLst/>
          </a:prstGeom>
        </p:spPr>
      </p:pic>
      <p:sp>
        <p:nvSpPr>
          <p:cNvPr id="19" name="Text 14"/>
          <p:cNvSpPr/>
          <p:nvPr/>
        </p:nvSpPr>
        <p:spPr>
          <a:xfrm>
            <a:off x="8138160" y="3108960"/>
            <a:ext cx="3429000" cy="45720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Önerilen yeni hücre içeriği</a:t>
            </a:r>
            <a:endParaRPr lang="en-US" sz="1100" dirty="0"/>
          </a:p>
        </p:txBody>
      </p:sp>
      <p:sp>
        <p:nvSpPr>
          <p:cNvPr id="20" name="Shape 15"/>
          <p:cNvSpPr/>
          <p:nvPr/>
        </p:nvSpPr>
        <p:spPr>
          <a:xfrm>
            <a:off x="457200" y="3794760"/>
            <a:ext cx="3703320" cy="22402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1" name="Shape 16"/>
          <p:cNvSpPr/>
          <p:nvPr/>
        </p:nvSpPr>
        <p:spPr>
          <a:xfrm>
            <a:off x="457200" y="3794760"/>
            <a:ext cx="3703320" cy="411480"/>
          </a:xfrm>
          <a:prstGeom prst="rect">
            <a:avLst/>
          </a:prstGeom>
          <a:solidFill>
            <a:srgbClr val="0F1B3D"/>
          </a:solidFill>
          <a:ln w="12700">
            <a:solidFill>
              <a:srgbClr val="0F1B3D"/>
            </a:solidFill>
            <a:prstDash val="solid"/>
          </a:ln>
        </p:spPr>
      </p:sp>
      <p:sp>
        <p:nvSpPr>
          <p:cNvPr id="22" name="Text 17"/>
          <p:cNvSpPr/>
          <p:nvPr/>
        </p:nvSpPr>
        <p:spPr>
          <a:xfrm>
            <a:off x="457200" y="3794760"/>
            <a:ext cx="3703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 Cell State Update</a:t>
            </a:r>
            <a:endParaRPr lang="en-US" sz="1300" dirty="0"/>
          </a:p>
        </p:txBody>
      </p:sp>
      <p:pic>
        <p:nvPicPr>
          <p:cNvPr id="23" name="Image 3" descr="/home/claude/equations/lstm_cell_update.png">    </p:cNvPr>
          <p:cNvPicPr>
            <a:picLocks noChangeAspect="1"/>
          </p:cNvPicPr>
          <p:nvPr/>
        </p:nvPicPr>
        <p:blipFill>
          <a:blip r:embed="rId4"/>
          <a:srcRect l="0" r="0" t="0" b="0"/>
          <a:stretch/>
        </p:blipFill>
        <p:spPr>
          <a:xfrm>
            <a:off x="594360" y="4297680"/>
            <a:ext cx="3429000" cy="1097280"/>
          </a:xfrm>
          <a:prstGeom prst="rect">
            <a:avLst/>
          </a:prstGeom>
        </p:spPr>
      </p:pic>
      <p:sp>
        <p:nvSpPr>
          <p:cNvPr id="24" name="Text 18"/>
          <p:cNvSpPr/>
          <p:nvPr/>
        </p:nvSpPr>
        <p:spPr>
          <a:xfrm>
            <a:off x="594360" y="5486400"/>
            <a:ext cx="3429000" cy="45720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Eskinin bir kısmı + yeni bilginin bir kısmı</a:t>
            </a:r>
            <a:endParaRPr lang="en-US" sz="1100" dirty="0"/>
          </a:p>
        </p:txBody>
      </p:sp>
      <p:sp>
        <p:nvSpPr>
          <p:cNvPr id="25" name="Shape 19"/>
          <p:cNvSpPr/>
          <p:nvPr/>
        </p:nvSpPr>
        <p:spPr>
          <a:xfrm>
            <a:off x="4229100" y="3794760"/>
            <a:ext cx="3703320" cy="22402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6" name="Shape 20"/>
          <p:cNvSpPr/>
          <p:nvPr/>
        </p:nvSpPr>
        <p:spPr>
          <a:xfrm>
            <a:off x="4229100" y="3794760"/>
            <a:ext cx="3703320" cy="411480"/>
          </a:xfrm>
          <a:prstGeom prst="rect">
            <a:avLst/>
          </a:prstGeom>
          <a:solidFill>
            <a:srgbClr val="0F1B3D"/>
          </a:solidFill>
          <a:ln w="12700">
            <a:solidFill>
              <a:srgbClr val="0F1B3D"/>
            </a:solidFill>
            <a:prstDash val="solid"/>
          </a:ln>
        </p:spPr>
      </p:sp>
      <p:sp>
        <p:nvSpPr>
          <p:cNvPr id="27" name="Text 21"/>
          <p:cNvSpPr/>
          <p:nvPr/>
        </p:nvSpPr>
        <p:spPr>
          <a:xfrm>
            <a:off x="4229100" y="3794760"/>
            <a:ext cx="3703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 Output Gate</a:t>
            </a:r>
            <a:endParaRPr lang="en-US" sz="1300" dirty="0"/>
          </a:p>
        </p:txBody>
      </p:sp>
      <p:pic>
        <p:nvPicPr>
          <p:cNvPr id="28" name="Image 4" descr="/home/claude/equations/lstm_output.png">    </p:cNvPr>
          <p:cNvPicPr>
            <a:picLocks noChangeAspect="1"/>
          </p:cNvPicPr>
          <p:nvPr/>
        </p:nvPicPr>
        <p:blipFill>
          <a:blip r:embed="rId5"/>
          <a:srcRect l="0" r="0" t="0" b="0"/>
          <a:stretch/>
        </p:blipFill>
        <p:spPr>
          <a:xfrm>
            <a:off x="4366260" y="4297680"/>
            <a:ext cx="3429000" cy="1097280"/>
          </a:xfrm>
          <a:prstGeom prst="rect">
            <a:avLst/>
          </a:prstGeom>
        </p:spPr>
      </p:pic>
      <p:sp>
        <p:nvSpPr>
          <p:cNvPr id="29" name="Text 22"/>
          <p:cNvSpPr/>
          <p:nvPr/>
        </p:nvSpPr>
        <p:spPr>
          <a:xfrm>
            <a:off x="4366260" y="5486400"/>
            <a:ext cx="3429000" cy="45720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Hücreden ne kadarı çıkışa gidecek?</a:t>
            </a:r>
            <a:endParaRPr lang="en-US" sz="1100" dirty="0"/>
          </a:p>
        </p:txBody>
      </p:sp>
      <p:sp>
        <p:nvSpPr>
          <p:cNvPr id="30" name="Shape 23"/>
          <p:cNvSpPr/>
          <p:nvPr/>
        </p:nvSpPr>
        <p:spPr>
          <a:xfrm>
            <a:off x="8001000" y="3794760"/>
            <a:ext cx="3703320" cy="22402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31" name="Shape 24"/>
          <p:cNvSpPr/>
          <p:nvPr/>
        </p:nvSpPr>
        <p:spPr>
          <a:xfrm>
            <a:off x="8001000" y="3794760"/>
            <a:ext cx="3703320" cy="411480"/>
          </a:xfrm>
          <a:prstGeom prst="rect">
            <a:avLst/>
          </a:prstGeom>
          <a:solidFill>
            <a:srgbClr val="0F1B3D"/>
          </a:solidFill>
          <a:ln w="12700">
            <a:solidFill>
              <a:srgbClr val="0F1B3D"/>
            </a:solidFill>
            <a:prstDash val="solid"/>
          </a:ln>
        </p:spPr>
      </p:sp>
      <p:sp>
        <p:nvSpPr>
          <p:cNvPr id="32" name="Text 25"/>
          <p:cNvSpPr/>
          <p:nvPr/>
        </p:nvSpPr>
        <p:spPr>
          <a:xfrm>
            <a:off x="8001000" y="3794760"/>
            <a:ext cx="3703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 Hidden State</a:t>
            </a:r>
            <a:endParaRPr lang="en-US" sz="1300" dirty="0"/>
          </a:p>
        </p:txBody>
      </p:sp>
      <p:pic>
        <p:nvPicPr>
          <p:cNvPr id="33" name="Image 5" descr="/home/claude/equations/lstm_hidden.png">    </p:cNvPr>
          <p:cNvPicPr>
            <a:picLocks noChangeAspect="1"/>
          </p:cNvPicPr>
          <p:nvPr/>
        </p:nvPicPr>
        <p:blipFill>
          <a:blip r:embed="rId6"/>
          <a:srcRect l="0" r="0" t="0" b="0"/>
          <a:stretch/>
        </p:blipFill>
        <p:spPr>
          <a:xfrm>
            <a:off x="8138160" y="4297680"/>
            <a:ext cx="3429000" cy="1097280"/>
          </a:xfrm>
          <a:prstGeom prst="rect">
            <a:avLst/>
          </a:prstGeom>
        </p:spPr>
      </p:pic>
      <p:sp>
        <p:nvSpPr>
          <p:cNvPr id="34" name="Text 26"/>
          <p:cNvSpPr/>
          <p:nvPr/>
        </p:nvSpPr>
        <p:spPr>
          <a:xfrm>
            <a:off x="8138160" y="5486400"/>
            <a:ext cx="3429000" cy="45720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Bir sonraki adıma aktarılacak çıktı</a:t>
            </a:r>
            <a:endParaRPr lang="en-US" sz="1100" dirty="0"/>
          </a:p>
        </p:txBody>
      </p:sp>
      <p:sp>
        <p:nvSpPr>
          <p:cNvPr id="35" name="Text 27"/>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36" name="Text 28"/>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 / 33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Kapıların Görevi — Değişken Açıklamaları</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Her bir denklemdeki sembollerin ne anlama geldiğini ayrıntılı olarak inceleyelim.</a:t>
            </a:r>
            <a:endParaRPr lang="en-US" sz="1300" dirty="0"/>
          </a:p>
        </p:txBody>
      </p:sp>
      <p:sp>
        <p:nvSpPr>
          <p:cNvPr id="5" name="Shape 3"/>
          <p:cNvSpPr/>
          <p:nvPr/>
        </p:nvSpPr>
        <p:spPr>
          <a:xfrm>
            <a:off x="457200" y="1463040"/>
            <a:ext cx="11247120" cy="1115568"/>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463040"/>
            <a:ext cx="91440" cy="1115568"/>
          </a:xfrm>
          <a:prstGeom prst="rect">
            <a:avLst/>
          </a:prstGeom>
          <a:solidFill>
            <a:srgbClr val="0F1B3D"/>
          </a:solidFill>
          <a:ln w="12700">
            <a:solidFill>
              <a:srgbClr val="0F1B3D"/>
            </a:solidFill>
            <a:prstDash val="solid"/>
          </a:ln>
        </p:spPr>
      </p:sp>
      <p:sp>
        <p:nvSpPr>
          <p:cNvPr id="7" name="Text 5"/>
          <p:cNvSpPr/>
          <p:nvPr/>
        </p:nvSpPr>
        <p:spPr>
          <a:xfrm>
            <a:off x="777240" y="1572768"/>
            <a:ext cx="10789920" cy="320040"/>
          </a:xfrm>
          <a:prstGeom prst="rect">
            <a:avLst/>
          </a:prstGeom>
          <a:noFill/>
          <a:ln/>
        </p:spPr>
        <p:txBody>
          <a:bodyPr wrap="square" lIns="0" tIns="0" rIns="0" bIns="0" rtlCol="0" anchor="ctr"/>
          <a:lstStyle/>
          <a:p>
            <a:pPr indent="0" marL="0">
              <a:buNone/>
            </a:pPr>
            <a:r>
              <a:rPr lang="en-US" sz="1400" b="1" dirty="0">
                <a:solidFill>
                  <a:srgbClr val="0F1B3D"/>
                </a:solidFill>
                <a:latin typeface="Cambria" pitchFamily="34" charset="0"/>
                <a:ea typeface="Cambria" pitchFamily="34" charset="-122"/>
                <a:cs typeface="Cambria" pitchFamily="34" charset="-120"/>
              </a:rPr>
              <a:t>FORGET GATE  (f_t)</a:t>
            </a:r>
            <a:endParaRPr lang="en-US" sz="1400" dirty="0"/>
          </a:p>
        </p:txBody>
      </p:sp>
      <p:sp>
        <p:nvSpPr>
          <p:cNvPr id="8" name="Text 6"/>
          <p:cNvSpPr/>
          <p:nvPr/>
        </p:nvSpPr>
        <p:spPr>
          <a:xfrm>
            <a:off x="777240" y="1920240"/>
            <a:ext cx="10789920" cy="594360"/>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h_(t-1) ile x_t birleşip W_f ağırlığı + b_f bias ile dönüştürülür ve sigmoid'den geçer. Çıktısı [0, 1] aralığında bir vektördür: 1'e yakınsa cell state'in o bileşeni KORUNUR, 0'a yakınsa SİLİNİR.</a:t>
            </a:r>
            <a:endParaRPr lang="en-US" sz="1150" dirty="0"/>
          </a:p>
        </p:txBody>
      </p:sp>
      <p:sp>
        <p:nvSpPr>
          <p:cNvPr id="9" name="Shape 7"/>
          <p:cNvSpPr/>
          <p:nvPr/>
        </p:nvSpPr>
        <p:spPr>
          <a:xfrm>
            <a:off x="457200" y="2670048"/>
            <a:ext cx="11247120" cy="1115568"/>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0" name="Shape 8"/>
          <p:cNvSpPr/>
          <p:nvPr/>
        </p:nvSpPr>
        <p:spPr>
          <a:xfrm>
            <a:off x="457200" y="2670048"/>
            <a:ext cx="91440" cy="1115568"/>
          </a:xfrm>
          <a:prstGeom prst="rect">
            <a:avLst/>
          </a:prstGeom>
          <a:solidFill>
            <a:srgbClr val="48A6A7"/>
          </a:solidFill>
          <a:ln w="12700">
            <a:solidFill>
              <a:srgbClr val="48A6A7"/>
            </a:solidFill>
            <a:prstDash val="solid"/>
          </a:ln>
        </p:spPr>
      </p:sp>
      <p:sp>
        <p:nvSpPr>
          <p:cNvPr id="11" name="Text 9"/>
          <p:cNvSpPr/>
          <p:nvPr/>
        </p:nvSpPr>
        <p:spPr>
          <a:xfrm>
            <a:off x="777240" y="2779776"/>
            <a:ext cx="10789920" cy="320040"/>
          </a:xfrm>
          <a:prstGeom prst="rect">
            <a:avLst/>
          </a:prstGeom>
          <a:noFill/>
          <a:ln/>
        </p:spPr>
        <p:txBody>
          <a:bodyPr wrap="square" lIns="0" tIns="0" rIns="0" bIns="0" rtlCol="0" anchor="ctr"/>
          <a:lstStyle/>
          <a:p>
            <a:pPr indent="0" marL="0">
              <a:buNone/>
            </a:pPr>
            <a:r>
              <a:rPr lang="en-US" sz="1400" b="1" dirty="0">
                <a:solidFill>
                  <a:srgbClr val="48A6A7"/>
                </a:solidFill>
                <a:latin typeface="Cambria" pitchFamily="34" charset="0"/>
                <a:ea typeface="Cambria" pitchFamily="34" charset="-122"/>
                <a:cs typeface="Cambria" pitchFamily="34" charset="-120"/>
              </a:rPr>
              <a:t>INPUT GATE  (i_t)  +  CANDIDATE  (c̃_t)</a:t>
            </a:r>
            <a:endParaRPr lang="en-US" sz="1400" dirty="0"/>
          </a:p>
        </p:txBody>
      </p:sp>
      <p:sp>
        <p:nvSpPr>
          <p:cNvPr id="12" name="Text 10"/>
          <p:cNvSpPr/>
          <p:nvPr/>
        </p:nvSpPr>
        <p:spPr>
          <a:xfrm>
            <a:off x="777240" y="3127248"/>
            <a:ext cx="10789920" cy="594360"/>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i_t (sigmoid) hangi kanalları güncelleyeceğini, c̃_t (tanh) hangi yeni içeriği teklif edeceğini söyler. Element-wise çarpımları, eklenecek 'filtrelenmiş yeni bilgi'dir.</a:t>
            </a:r>
            <a:endParaRPr lang="en-US" sz="1150" dirty="0"/>
          </a:p>
        </p:txBody>
      </p:sp>
      <p:sp>
        <p:nvSpPr>
          <p:cNvPr id="13" name="Shape 11"/>
          <p:cNvSpPr/>
          <p:nvPr/>
        </p:nvSpPr>
        <p:spPr>
          <a:xfrm>
            <a:off x="457200" y="3877056"/>
            <a:ext cx="11247120" cy="1115568"/>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4" name="Shape 12"/>
          <p:cNvSpPr/>
          <p:nvPr/>
        </p:nvSpPr>
        <p:spPr>
          <a:xfrm>
            <a:off x="457200" y="3877056"/>
            <a:ext cx="91440" cy="1115568"/>
          </a:xfrm>
          <a:prstGeom prst="rect">
            <a:avLst/>
          </a:prstGeom>
          <a:solidFill>
            <a:srgbClr val="E07856"/>
          </a:solidFill>
          <a:ln w="12700">
            <a:solidFill>
              <a:srgbClr val="E07856"/>
            </a:solidFill>
            <a:prstDash val="solid"/>
          </a:ln>
        </p:spPr>
      </p:sp>
      <p:sp>
        <p:nvSpPr>
          <p:cNvPr id="15" name="Text 13"/>
          <p:cNvSpPr/>
          <p:nvPr/>
        </p:nvSpPr>
        <p:spPr>
          <a:xfrm>
            <a:off x="777240" y="3986784"/>
            <a:ext cx="1078992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CELL STATE UPDATE  (c_t)</a:t>
            </a:r>
            <a:endParaRPr lang="en-US" sz="1400" dirty="0"/>
          </a:p>
        </p:txBody>
      </p:sp>
      <p:sp>
        <p:nvSpPr>
          <p:cNvPr id="16" name="Text 14"/>
          <p:cNvSpPr/>
          <p:nvPr/>
        </p:nvSpPr>
        <p:spPr>
          <a:xfrm>
            <a:off x="777240" y="4334256"/>
            <a:ext cx="10789920" cy="594360"/>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c_t = f_t ⊙ c_(t-1) + i_t ⊙ c̃_t. Forget kapısı eskiyi süzer, input kapısı yeniyi süzer; ikisi toplanır. Bu ADDİTİF güncelleme, gradyanın çarpım zincirinden kurtulup uzun mesafeleri taşımasının anahtarıdır.</a:t>
            </a:r>
            <a:endParaRPr lang="en-US" sz="1150" dirty="0"/>
          </a:p>
        </p:txBody>
      </p:sp>
      <p:sp>
        <p:nvSpPr>
          <p:cNvPr id="17" name="Shape 15"/>
          <p:cNvSpPr/>
          <p:nvPr/>
        </p:nvSpPr>
        <p:spPr>
          <a:xfrm>
            <a:off x="457200" y="5084064"/>
            <a:ext cx="11247120" cy="1115568"/>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8" name="Shape 16"/>
          <p:cNvSpPr/>
          <p:nvPr/>
        </p:nvSpPr>
        <p:spPr>
          <a:xfrm>
            <a:off x="457200" y="5084064"/>
            <a:ext cx="91440" cy="1115568"/>
          </a:xfrm>
          <a:prstGeom prst="rect">
            <a:avLst/>
          </a:prstGeom>
          <a:solidFill>
            <a:srgbClr val="E0A458"/>
          </a:solidFill>
          <a:ln w="12700">
            <a:solidFill>
              <a:srgbClr val="E0A458"/>
            </a:solidFill>
            <a:prstDash val="solid"/>
          </a:ln>
        </p:spPr>
      </p:sp>
      <p:sp>
        <p:nvSpPr>
          <p:cNvPr id="19" name="Text 17"/>
          <p:cNvSpPr/>
          <p:nvPr/>
        </p:nvSpPr>
        <p:spPr>
          <a:xfrm>
            <a:off x="777240" y="5193792"/>
            <a:ext cx="10789920" cy="320040"/>
          </a:xfrm>
          <a:prstGeom prst="rect">
            <a:avLst/>
          </a:prstGeom>
          <a:noFill/>
          <a:ln/>
        </p:spPr>
        <p:txBody>
          <a:bodyPr wrap="square" lIns="0" tIns="0" rIns="0" bIns="0" rtlCol="0" anchor="ctr"/>
          <a:lstStyle/>
          <a:p>
            <a:pPr indent="0" marL="0">
              <a:buNone/>
            </a:pPr>
            <a:r>
              <a:rPr lang="en-US" sz="1400" b="1" dirty="0">
                <a:solidFill>
                  <a:srgbClr val="E0A458"/>
                </a:solidFill>
                <a:latin typeface="Cambria" pitchFamily="34" charset="0"/>
                <a:ea typeface="Cambria" pitchFamily="34" charset="-122"/>
                <a:cs typeface="Cambria" pitchFamily="34" charset="-120"/>
              </a:rPr>
              <a:t>OUTPUT GATE  (o_t)  +  HIDDEN STATE  (h_t)</a:t>
            </a:r>
            <a:endParaRPr lang="en-US" sz="1400" dirty="0"/>
          </a:p>
        </p:txBody>
      </p:sp>
      <p:sp>
        <p:nvSpPr>
          <p:cNvPr id="20" name="Text 18"/>
          <p:cNvSpPr/>
          <p:nvPr/>
        </p:nvSpPr>
        <p:spPr>
          <a:xfrm>
            <a:off x="777240" y="5541264"/>
            <a:ext cx="10789920" cy="594360"/>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o_t (sigmoid) cell state'in hangi kısmının dışa açılacağına karar verir. h_t = o_t ⊙ tanh(c_t). h_t hem t anının çıktısıdır hem de bir sonraki adıma giden hafıza.</a:t>
            </a:r>
            <a:endParaRPr lang="en-US" sz="1150" dirty="0"/>
          </a:p>
        </p:txBody>
      </p:sp>
      <p:sp>
        <p:nvSpPr>
          <p:cNvPr id="21" name="Text 19"/>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2" name="Text 20"/>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 / 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LSTM'de Kullanılan Aktivasyonlar</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Her aktivasyonun rolü neden o yerde önemli?</a:t>
            </a:r>
            <a:endParaRPr lang="en-US" sz="1300" dirty="0"/>
          </a:p>
        </p:txBody>
      </p:sp>
      <p:sp>
        <p:nvSpPr>
          <p:cNvPr id="5" name="Shape 3"/>
          <p:cNvSpPr/>
          <p:nvPr/>
        </p:nvSpPr>
        <p:spPr>
          <a:xfrm>
            <a:off x="457200" y="1417320"/>
            <a:ext cx="3749040" cy="47548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457200" y="1417320"/>
            <a:ext cx="3749040" cy="502920"/>
          </a:xfrm>
          <a:prstGeom prst="rect">
            <a:avLst/>
          </a:prstGeom>
          <a:solidFill>
            <a:srgbClr val="0F1B3D"/>
          </a:solidFill>
          <a:ln w="12700">
            <a:solidFill>
              <a:srgbClr val="0F1B3D"/>
            </a:solidFill>
            <a:prstDash val="solid"/>
          </a:ln>
        </p:spPr>
      </p:sp>
      <p:sp>
        <p:nvSpPr>
          <p:cNvPr id="7" name="Text 5"/>
          <p:cNvSpPr/>
          <p:nvPr/>
        </p:nvSpPr>
        <p:spPr>
          <a:xfrm>
            <a:off x="457200" y="1417320"/>
            <a:ext cx="3749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Sigmoid (σ)</a:t>
            </a:r>
            <a:endParaRPr lang="en-US" sz="1800" dirty="0"/>
          </a:p>
        </p:txBody>
      </p:sp>
      <p:pic>
        <p:nvPicPr>
          <p:cNvPr id="8" name="Image 0" descr="/home/claude/equations/act_sigmoid.png">    </p:cNvPr>
          <p:cNvPicPr>
            <a:picLocks noChangeAspect="1"/>
          </p:cNvPicPr>
          <p:nvPr/>
        </p:nvPicPr>
        <p:blipFill>
          <a:blip r:embed="rId1"/>
          <a:srcRect l="0" r="0" t="0" b="0"/>
          <a:stretch/>
        </p:blipFill>
        <p:spPr>
          <a:xfrm>
            <a:off x="640080" y="2194560"/>
            <a:ext cx="3383280" cy="1371600"/>
          </a:xfrm>
          <a:prstGeom prst="rect">
            <a:avLst/>
          </a:prstGeom>
        </p:spPr>
      </p:pic>
      <p:sp>
        <p:nvSpPr>
          <p:cNvPr id="9" name="Text 6"/>
          <p:cNvSpPr/>
          <p:nvPr/>
        </p:nvSpPr>
        <p:spPr>
          <a:xfrm>
            <a:off x="731520" y="3703320"/>
            <a:ext cx="3200400" cy="228600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Çıkış (0, 1) — KAPI olarak kullanılır. 0 = 'kapat', 1 = 'aç'. Forget, Input ve Output kapılarında geçişin ne kadar açık olduğunu belirler.</a:t>
            </a:r>
            <a:endParaRPr lang="en-US" sz="1200" dirty="0"/>
          </a:p>
        </p:txBody>
      </p:sp>
      <p:sp>
        <p:nvSpPr>
          <p:cNvPr id="10" name="Shape 7"/>
          <p:cNvSpPr/>
          <p:nvPr/>
        </p:nvSpPr>
        <p:spPr>
          <a:xfrm>
            <a:off x="4274820" y="1417320"/>
            <a:ext cx="3749040" cy="47548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1" name="Shape 8"/>
          <p:cNvSpPr/>
          <p:nvPr/>
        </p:nvSpPr>
        <p:spPr>
          <a:xfrm>
            <a:off x="4274820" y="1417320"/>
            <a:ext cx="3749040" cy="502920"/>
          </a:xfrm>
          <a:prstGeom prst="rect">
            <a:avLst/>
          </a:prstGeom>
          <a:solidFill>
            <a:srgbClr val="48A6A7"/>
          </a:solidFill>
          <a:ln w="12700">
            <a:solidFill>
              <a:srgbClr val="48A6A7"/>
            </a:solidFill>
            <a:prstDash val="solid"/>
          </a:ln>
        </p:spPr>
      </p:sp>
      <p:sp>
        <p:nvSpPr>
          <p:cNvPr id="12" name="Text 9"/>
          <p:cNvSpPr/>
          <p:nvPr/>
        </p:nvSpPr>
        <p:spPr>
          <a:xfrm>
            <a:off x="4274820" y="1417320"/>
            <a:ext cx="3749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Tanh</a:t>
            </a:r>
            <a:endParaRPr lang="en-US" sz="1800" dirty="0"/>
          </a:p>
        </p:txBody>
      </p:sp>
      <p:pic>
        <p:nvPicPr>
          <p:cNvPr id="13" name="Image 1" descr="/home/claude/equations/act_tanh.png">    </p:cNvPr>
          <p:cNvPicPr>
            <a:picLocks noChangeAspect="1"/>
          </p:cNvPicPr>
          <p:nvPr/>
        </p:nvPicPr>
        <p:blipFill>
          <a:blip r:embed="rId2"/>
          <a:srcRect l="0" r="0" t="0" b="0"/>
          <a:stretch/>
        </p:blipFill>
        <p:spPr>
          <a:xfrm>
            <a:off x="4457700" y="2194560"/>
            <a:ext cx="3383280" cy="1371600"/>
          </a:xfrm>
          <a:prstGeom prst="rect">
            <a:avLst/>
          </a:prstGeom>
        </p:spPr>
      </p:pic>
      <p:sp>
        <p:nvSpPr>
          <p:cNvPr id="14" name="Text 10"/>
          <p:cNvSpPr/>
          <p:nvPr/>
        </p:nvSpPr>
        <p:spPr>
          <a:xfrm>
            <a:off x="4549140" y="3703320"/>
            <a:ext cx="3200400" cy="228600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Çıkış (-1, 1) — DEĞER olarak kullanılır. Hem aday hücre içeriği c̃_t üretmek hem de h_t için cell state'i sınırlandırmak amacıyla kullanılır.</a:t>
            </a:r>
            <a:endParaRPr lang="en-US" sz="1200" dirty="0"/>
          </a:p>
        </p:txBody>
      </p:sp>
      <p:sp>
        <p:nvSpPr>
          <p:cNvPr id="15" name="Shape 11"/>
          <p:cNvSpPr/>
          <p:nvPr/>
        </p:nvSpPr>
        <p:spPr>
          <a:xfrm>
            <a:off x="8092440" y="1417320"/>
            <a:ext cx="3749040" cy="47548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6" name="Shape 12"/>
          <p:cNvSpPr/>
          <p:nvPr/>
        </p:nvSpPr>
        <p:spPr>
          <a:xfrm>
            <a:off x="8092440" y="1417320"/>
            <a:ext cx="3749040" cy="502920"/>
          </a:xfrm>
          <a:prstGeom prst="rect">
            <a:avLst/>
          </a:prstGeom>
          <a:solidFill>
            <a:srgbClr val="E07856"/>
          </a:solidFill>
          <a:ln w="12700">
            <a:solidFill>
              <a:srgbClr val="E07856"/>
            </a:solidFill>
            <a:prstDash val="solid"/>
          </a:ln>
        </p:spPr>
      </p:sp>
      <p:sp>
        <p:nvSpPr>
          <p:cNvPr id="17" name="Text 13"/>
          <p:cNvSpPr/>
          <p:nvPr/>
        </p:nvSpPr>
        <p:spPr>
          <a:xfrm>
            <a:off x="8092440" y="1417320"/>
            <a:ext cx="37490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ReLU</a:t>
            </a:r>
            <a:endParaRPr lang="en-US" sz="1800" dirty="0"/>
          </a:p>
        </p:txBody>
      </p:sp>
      <p:pic>
        <p:nvPicPr>
          <p:cNvPr id="18" name="Image 2" descr="/home/claude/equations/act_relu.png">    </p:cNvPr>
          <p:cNvPicPr>
            <a:picLocks noChangeAspect="1"/>
          </p:cNvPicPr>
          <p:nvPr/>
        </p:nvPicPr>
        <p:blipFill>
          <a:blip r:embed="rId3"/>
          <a:srcRect l="0" r="0" t="0" b="0"/>
          <a:stretch/>
        </p:blipFill>
        <p:spPr>
          <a:xfrm>
            <a:off x="8275320" y="2194560"/>
            <a:ext cx="3383280" cy="1371600"/>
          </a:xfrm>
          <a:prstGeom prst="rect">
            <a:avLst/>
          </a:prstGeom>
        </p:spPr>
      </p:pic>
      <p:sp>
        <p:nvSpPr>
          <p:cNvPr id="19" name="Text 14"/>
          <p:cNvSpPr/>
          <p:nvPr/>
        </p:nvSpPr>
        <p:spPr>
          <a:xfrm>
            <a:off x="8366760" y="3703320"/>
            <a:ext cx="3200400" cy="228600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max(0, z) — Standart RNN'de tanh yerine vanishing gradient'i hafifletmek için tercih edilebilir. Negatif değerleri keser, pozitif gradyanı bozulmadan geçirir.</a:t>
            </a:r>
            <a:endParaRPr lang="en-US" sz="1200" dirty="0"/>
          </a:p>
        </p:txBody>
      </p:sp>
      <p:sp>
        <p:nvSpPr>
          <p:cNvPr id="20" name="Text 15"/>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1" name="Text 16"/>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 / 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E07856"/>
          </a:solidFill>
          <a:ln w="12700">
            <a:solidFill>
              <a:srgbClr val="E07856"/>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SORU 3</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2200" b="1" dirty="0">
                <a:solidFill>
                  <a:srgbClr val="0F1B3D"/>
                </a:solidFill>
                <a:latin typeface="Cambria" pitchFamily="34" charset="0"/>
                <a:ea typeface="Cambria" pitchFamily="34" charset="-122"/>
                <a:cs typeface="Cambria" pitchFamily="34" charset="-120"/>
              </a:rPr>
              <a:t>LSTM Tek Adımı — SmartGreen</a:t>
            </a:r>
            <a:endParaRPr lang="en-US" sz="2200" dirty="0"/>
          </a:p>
        </p:txBody>
      </p:sp>
      <p:sp>
        <p:nvSpPr>
          <p:cNvPr id="5" name="Shape 3"/>
          <p:cNvSpPr/>
          <p:nvPr/>
        </p:nvSpPr>
        <p:spPr>
          <a:xfrm>
            <a:off x="457200" y="960120"/>
            <a:ext cx="11247120" cy="150876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640080" y="1051560"/>
            <a:ext cx="10881360" cy="320040"/>
          </a:xfrm>
          <a:prstGeom prst="rect">
            <a:avLst/>
          </a:prstGeom>
          <a:noFill/>
          <a:ln/>
        </p:spPr>
        <p:txBody>
          <a:bodyPr wrap="square" lIns="0" tIns="0" rIns="0" bIns="0" rtlCol="0" anchor="ctr"/>
          <a:lstStyle/>
          <a:p>
            <a:pPr indent="0" marL="0">
              <a:buNone/>
            </a:pPr>
            <a:r>
              <a:rPr lang="en-US" sz="1400" b="1" dirty="0">
                <a:solidFill>
                  <a:srgbClr val="E07856"/>
                </a:solidFill>
                <a:latin typeface="Cambria" pitchFamily="34" charset="0"/>
                <a:ea typeface="Cambria" pitchFamily="34" charset="-122"/>
                <a:cs typeface="Cambria" pitchFamily="34" charset="-120"/>
              </a:rPr>
              <a:t>Senaryo</a:t>
            </a:r>
            <a:endParaRPr lang="en-US" sz="1400" dirty="0"/>
          </a:p>
        </p:txBody>
      </p:sp>
      <p:sp>
        <p:nvSpPr>
          <p:cNvPr id="7" name="Text 5"/>
          <p:cNvSpPr/>
          <p:nvPr/>
        </p:nvSpPr>
        <p:spPr>
          <a:xfrm>
            <a:off x="640080" y="1371600"/>
            <a:ext cx="10881360" cy="1051560"/>
          </a:xfrm>
          <a:prstGeom prst="rect">
            <a:avLst/>
          </a:prstGeom>
          <a:noFill/>
          <a:ln/>
        </p:spPr>
        <p:txBody>
          <a:bodyPr wrap="square" lIns="0" tIns="0" rIns="0" bIns="0" rtlCol="0" anchor="t"/>
          <a:lstStyle/>
          <a:p>
            <a:pPr indent="0" marL="0">
              <a:buNone/>
            </a:pPr>
            <a:r>
              <a:rPr lang="en-US" sz="1300" b="1" dirty="0">
                <a:solidFill>
                  <a:srgbClr val="0F1B3D"/>
                </a:solidFill>
                <a:latin typeface="Calibri" pitchFamily="34" charset="0"/>
                <a:ea typeface="Calibri" pitchFamily="34" charset="-122"/>
                <a:cs typeface="Calibri" pitchFamily="34" charset="-120"/>
              </a:rPr>
              <a:t>SmartGreen</a:t>
            </a:r>
            <a:pPr indent="0" marL="0">
              <a:buNone/>
            </a:pPr>
            <a:r>
              <a:rPr lang="en-US" sz="1300" dirty="0">
                <a:solidFill>
                  <a:srgbClr val="374151"/>
                </a:solidFill>
                <a:latin typeface="Calibri" pitchFamily="34" charset="0"/>
                <a:ea typeface="Calibri" pitchFamily="34" charset="-122"/>
                <a:cs typeface="Calibri" pitchFamily="34" charset="-120"/>
              </a:rPr>
              <a:t> akıllı ortam izleme sistemi, odadaki çevresel verileri sürekli toplar ve gelecekteki ortam durumunu tahmin etmek için bir LSTM hücresi kullanır. Bu hücrede, anlık giriş </a:t>
            </a:r>
            <a:pPr indent="0" marL="0">
              <a:buNone/>
            </a:pPr>
            <a:r>
              <a:rPr lang="en-US" sz="1300" i="1" dirty="0">
                <a:solidFill>
                  <a:srgbClr val="0F1B3D"/>
                </a:solidFill>
                <a:latin typeface="Cambria Math" pitchFamily="34" charset="0"/>
                <a:ea typeface="Cambria Math" pitchFamily="34" charset="-122"/>
                <a:cs typeface="Cambria Math" pitchFamily="34" charset="-120"/>
              </a:rPr>
              <a:t>x_t</a:t>
            </a:r>
            <a:pPr indent="0" marL="0">
              <a:buNone/>
            </a:pPr>
            <a:r>
              <a:rPr lang="en-US" sz="1300" dirty="0">
                <a:solidFill>
                  <a:srgbClr val="374151"/>
                </a:solidFill>
                <a:latin typeface="Calibri" pitchFamily="34" charset="0"/>
                <a:ea typeface="Calibri" pitchFamily="34" charset="-122"/>
                <a:cs typeface="Calibri" pitchFamily="34" charset="-120"/>
              </a:rPr>
              <a:t>, önceki gizli durum </a:t>
            </a:r>
            <a:pPr indent="0" marL="0">
              <a:buNone/>
            </a:pPr>
            <a:r>
              <a:rPr lang="en-US" sz="1300" i="1" dirty="0">
                <a:solidFill>
                  <a:srgbClr val="0F1B3D"/>
                </a:solidFill>
                <a:latin typeface="Cambria Math" pitchFamily="34" charset="0"/>
                <a:ea typeface="Cambria Math" pitchFamily="34" charset="-122"/>
                <a:cs typeface="Cambria Math" pitchFamily="34" charset="-120"/>
              </a:rPr>
              <a:t>h_(t-1)</a:t>
            </a:r>
            <a:pPr indent="0" marL="0">
              <a:buNone/>
            </a:pPr>
            <a:r>
              <a:rPr lang="en-US" sz="1300" dirty="0">
                <a:solidFill>
                  <a:srgbClr val="374151"/>
                </a:solidFill>
                <a:latin typeface="Calibri" pitchFamily="34" charset="0"/>
                <a:ea typeface="Calibri" pitchFamily="34" charset="-122"/>
                <a:cs typeface="Calibri" pitchFamily="34" charset="-120"/>
              </a:rPr>
              <a:t> ve önceki hücre durumu </a:t>
            </a:r>
            <a:pPr indent="0" marL="0">
              <a:buNone/>
            </a:pPr>
            <a:r>
              <a:rPr lang="en-US" sz="1300" i="1" dirty="0">
                <a:solidFill>
                  <a:srgbClr val="0F1B3D"/>
                </a:solidFill>
                <a:latin typeface="Cambria Math" pitchFamily="34" charset="0"/>
                <a:ea typeface="Cambria Math" pitchFamily="34" charset="-122"/>
                <a:cs typeface="Cambria Math" pitchFamily="34" charset="-120"/>
              </a:rPr>
              <a:t>c_(t-1)</a:t>
            </a:r>
            <a:pPr indent="0" marL="0">
              <a:buNone/>
            </a:pPr>
            <a:r>
              <a:rPr lang="en-US" sz="1300" dirty="0">
                <a:solidFill>
                  <a:srgbClr val="374151"/>
                </a:solidFill>
                <a:latin typeface="Calibri" pitchFamily="34" charset="0"/>
                <a:ea typeface="Calibri" pitchFamily="34" charset="-122"/>
                <a:cs typeface="Calibri" pitchFamily="34" charset="-120"/>
              </a:rPr>
              <a:t> kullanılarak yeni </a:t>
            </a:r>
            <a:pPr indent="0" marL="0">
              <a:buNone/>
            </a:pPr>
            <a:r>
              <a:rPr lang="en-US" sz="1300" i="1" dirty="0">
                <a:solidFill>
                  <a:srgbClr val="0F1B3D"/>
                </a:solidFill>
                <a:latin typeface="Cambria Math" pitchFamily="34" charset="0"/>
                <a:ea typeface="Cambria Math" pitchFamily="34" charset="-122"/>
                <a:cs typeface="Cambria Math" pitchFamily="34" charset="-120"/>
              </a:rPr>
              <a:t>c_t</a:t>
            </a:r>
            <a:pPr indent="0" marL="0">
              <a:buNone/>
            </a:pPr>
            <a:r>
              <a:rPr lang="en-US" sz="1300" dirty="0">
                <a:solidFill>
                  <a:srgbClr val="374151"/>
                </a:solidFill>
                <a:latin typeface="Calibri" pitchFamily="34" charset="0"/>
                <a:ea typeface="Calibri" pitchFamily="34" charset="-122"/>
                <a:cs typeface="Calibri" pitchFamily="34" charset="-120"/>
              </a:rPr>
              <a:t> ve </a:t>
            </a:r>
            <a:pPr indent="0" marL="0">
              <a:buNone/>
            </a:pPr>
            <a:r>
              <a:rPr lang="en-US" sz="1300" i="1" dirty="0">
                <a:solidFill>
                  <a:srgbClr val="0F1B3D"/>
                </a:solidFill>
                <a:latin typeface="Cambria Math" pitchFamily="34" charset="0"/>
                <a:ea typeface="Cambria Math" pitchFamily="34" charset="-122"/>
                <a:cs typeface="Cambria Math" pitchFamily="34" charset="-120"/>
              </a:rPr>
              <a:t>h_t</a:t>
            </a:r>
            <a:pPr indent="0" marL="0">
              <a:buNone/>
            </a:pPr>
            <a:r>
              <a:rPr lang="en-US" sz="1300" dirty="0">
                <a:solidFill>
                  <a:srgbClr val="374151"/>
                </a:solidFill>
                <a:latin typeface="Calibri" pitchFamily="34" charset="0"/>
                <a:ea typeface="Calibri" pitchFamily="34" charset="-122"/>
                <a:cs typeface="Calibri" pitchFamily="34" charset="-120"/>
              </a:rPr>
              <a:t> hesaplanır.</a:t>
            </a:r>
            <a:endParaRPr lang="en-US" sz="1300" dirty="0"/>
          </a:p>
        </p:txBody>
      </p:sp>
      <p:sp>
        <p:nvSpPr>
          <p:cNvPr id="8" name="Shape 6"/>
          <p:cNvSpPr/>
          <p:nvPr/>
        </p:nvSpPr>
        <p:spPr>
          <a:xfrm>
            <a:off x="457200" y="2606040"/>
            <a:ext cx="5532120" cy="14630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9" name="Text 7"/>
          <p:cNvSpPr/>
          <p:nvPr/>
        </p:nvSpPr>
        <p:spPr>
          <a:xfrm>
            <a:off x="640080" y="2697480"/>
            <a:ext cx="5212080" cy="320040"/>
          </a:xfrm>
          <a:prstGeom prst="rect">
            <a:avLst/>
          </a:prstGeom>
          <a:noFill/>
          <a:ln/>
        </p:spPr>
        <p:txBody>
          <a:bodyPr wrap="square" lIns="0" tIns="0" rIns="0" bIns="0" rtlCol="0" anchor="ctr"/>
          <a:lstStyle/>
          <a:p>
            <a:pPr indent="0" marL="0">
              <a:buNone/>
            </a:pPr>
            <a:r>
              <a:rPr lang="en-US" sz="1300" b="1" dirty="0">
                <a:solidFill>
                  <a:srgbClr val="E07856"/>
                </a:solidFill>
                <a:latin typeface="Cambria" pitchFamily="34" charset="0"/>
                <a:ea typeface="Cambria" pitchFamily="34" charset="-122"/>
                <a:cs typeface="Cambria" pitchFamily="34" charset="-120"/>
              </a:rPr>
              <a:t>Giriş ve Önceki Durumlar</a:t>
            </a:r>
            <a:endParaRPr lang="en-US" sz="1300" dirty="0"/>
          </a:p>
        </p:txBody>
      </p:sp>
      <p:pic>
        <p:nvPicPr>
          <p:cNvPr id="10" name="Image 0" descr="/home/claude/equations/s3_givens.png">    </p:cNvPr>
          <p:cNvPicPr>
            <a:picLocks noChangeAspect="1"/>
          </p:cNvPicPr>
          <p:nvPr/>
        </p:nvPicPr>
        <p:blipFill>
          <a:blip r:embed="rId1"/>
          <a:srcRect l="0" r="0" t="0" b="0"/>
          <a:stretch/>
        </p:blipFill>
        <p:spPr>
          <a:xfrm>
            <a:off x="640080" y="3017520"/>
            <a:ext cx="5212080" cy="777240"/>
          </a:xfrm>
          <a:prstGeom prst="rect">
            <a:avLst/>
          </a:prstGeom>
        </p:spPr>
      </p:pic>
      <p:sp>
        <p:nvSpPr>
          <p:cNvPr id="11" name="Text 8"/>
          <p:cNvSpPr/>
          <p:nvPr/>
        </p:nvSpPr>
        <p:spPr>
          <a:xfrm>
            <a:off x="640080" y="3794760"/>
            <a:ext cx="5212080" cy="228600"/>
          </a:xfrm>
          <a:prstGeom prst="rect">
            <a:avLst/>
          </a:prstGeom>
          <a:noFill/>
          <a:ln/>
        </p:spPr>
        <p:txBody>
          <a:bodyPr wrap="square" lIns="0" tIns="0" rIns="0" bIns="0"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(Tek-boyutlu skaler değerler — sadeleştirme için)</a:t>
            </a:r>
            <a:endParaRPr lang="en-US" sz="900" dirty="0"/>
          </a:p>
        </p:txBody>
      </p:sp>
      <p:sp>
        <p:nvSpPr>
          <p:cNvPr id="12" name="Shape 9"/>
          <p:cNvSpPr/>
          <p:nvPr/>
        </p:nvSpPr>
        <p:spPr>
          <a:xfrm>
            <a:off x="6172200" y="2606040"/>
            <a:ext cx="5532120" cy="14630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3" name="Text 10"/>
          <p:cNvSpPr/>
          <p:nvPr/>
        </p:nvSpPr>
        <p:spPr>
          <a:xfrm>
            <a:off x="6355080" y="2697480"/>
            <a:ext cx="5212080" cy="320040"/>
          </a:xfrm>
          <a:prstGeom prst="rect">
            <a:avLst/>
          </a:prstGeom>
          <a:noFill/>
          <a:ln/>
        </p:spPr>
        <p:txBody>
          <a:bodyPr wrap="square" lIns="0" tIns="0" rIns="0" bIns="0" rtlCol="0" anchor="ctr"/>
          <a:lstStyle/>
          <a:p>
            <a:pPr indent="0" marL="0">
              <a:buNone/>
            </a:pPr>
            <a:r>
              <a:rPr lang="en-US" sz="1300" b="1" dirty="0">
                <a:solidFill>
                  <a:srgbClr val="E07856"/>
                </a:solidFill>
                <a:latin typeface="Cambria" pitchFamily="34" charset="0"/>
                <a:ea typeface="Cambria" pitchFamily="34" charset="-122"/>
                <a:cs typeface="Cambria" pitchFamily="34" charset="-120"/>
              </a:rPr>
              <a:t>Tüm Kapılarda Kullanılacak Vektör</a:t>
            </a:r>
            <a:endParaRPr lang="en-US" sz="1300" dirty="0"/>
          </a:p>
        </p:txBody>
      </p:sp>
      <p:pic>
        <p:nvPicPr>
          <p:cNvPr id="14" name="Image 1" descr="/home/claude/equations/s3_combined.png">    </p:cNvPr>
          <p:cNvPicPr>
            <a:picLocks noChangeAspect="1"/>
          </p:cNvPicPr>
          <p:nvPr/>
        </p:nvPicPr>
        <p:blipFill>
          <a:blip r:embed="rId2"/>
          <a:srcRect l="0" r="0" t="0" b="0"/>
          <a:stretch/>
        </p:blipFill>
        <p:spPr>
          <a:xfrm>
            <a:off x="6355080" y="3017520"/>
            <a:ext cx="5212080" cy="914400"/>
          </a:xfrm>
          <a:prstGeom prst="rect">
            <a:avLst/>
          </a:prstGeom>
        </p:spPr>
      </p:pic>
      <p:sp>
        <p:nvSpPr>
          <p:cNvPr id="15" name="Shape 11"/>
          <p:cNvSpPr/>
          <p:nvPr/>
        </p:nvSpPr>
        <p:spPr>
          <a:xfrm>
            <a:off x="457200" y="4251960"/>
            <a:ext cx="274320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6" name="Shape 12"/>
          <p:cNvSpPr/>
          <p:nvPr/>
        </p:nvSpPr>
        <p:spPr>
          <a:xfrm>
            <a:off x="457200" y="4251960"/>
            <a:ext cx="2743200" cy="365760"/>
          </a:xfrm>
          <a:prstGeom prst="rect">
            <a:avLst/>
          </a:prstGeom>
          <a:solidFill>
            <a:srgbClr val="0F1B3D"/>
          </a:solidFill>
          <a:ln w="12700">
            <a:solidFill>
              <a:srgbClr val="0F1B3D"/>
            </a:solidFill>
            <a:prstDash val="solid"/>
          </a:ln>
        </p:spPr>
      </p:sp>
      <p:sp>
        <p:nvSpPr>
          <p:cNvPr id="17" name="Text 13"/>
          <p:cNvSpPr/>
          <p:nvPr/>
        </p:nvSpPr>
        <p:spPr>
          <a:xfrm>
            <a:off x="457200" y="42519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Forget Gate</a:t>
            </a:r>
            <a:endParaRPr lang="en-US" sz="1200" dirty="0"/>
          </a:p>
        </p:txBody>
      </p:sp>
      <p:pic>
        <p:nvPicPr>
          <p:cNvPr id="18" name="Image 2" descr="/home/claude/equations/s3_Wf.png">    </p:cNvPr>
          <p:cNvPicPr>
            <a:picLocks noChangeAspect="1"/>
          </p:cNvPicPr>
          <p:nvPr/>
        </p:nvPicPr>
        <p:blipFill>
          <a:blip r:embed="rId3"/>
          <a:srcRect l="0" r="0" t="0" b="0"/>
          <a:stretch/>
        </p:blipFill>
        <p:spPr>
          <a:xfrm>
            <a:off x="548640" y="4709160"/>
            <a:ext cx="2560320" cy="1417320"/>
          </a:xfrm>
          <a:prstGeom prst="rect">
            <a:avLst/>
          </a:prstGeom>
        </p:spPr>
      </p:pic>
      <p:sp>
        <p:nvSpPr>
          <p:cNvPr id="19" name="Shape 14"/>
          <p:cNvSpPr/>
          <p:nvPr/>
        </p:nvSpPr>
        <p:spPr>
          <a:xfrm>
            <a:off x="3264408" y="4251960"/>
            <a:ext cx="274320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0" name="Shape 15"/>
          <p:cNvSpPr/>
          <p:nvPr/>
        </p:nvSpPr>
        <p:spPr>
          <a:xfrm>
            <a:off x="3264408" y="4251960"/>
            <a:ext cx="2743200" cy="365760"/>
          </a:xfrm>
          <a:prstGeom prst="rect">
            <a:avLst/>
          </a:prstGeom>
          <a:solidFill>
            <a:srgbClr val="0F1B3D"/>
          </a:solidFill>
          <a:ln w="12700">
            <a:solidFill>
              <a:srgbClr val="0F1B3D"/>
            </a:solidFill>
            <a:prstDash val="solid"/>
          </a:ln>
        </p:spPr>
      </p:sp>
      <p:sp>
        <p:nvSpPr>
          <p:cNvPr id="21" name="Text 16"/>
          <p:cNvSpPr/>
          <p:nvPr/>
        </p:nvSpPr>
        <p:spPr>
          <a:xfrm>
            <a:off x="3264408" y="42519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Input Gate</a:t>
            </a:r>
            <a:endParaRPr lang="en-US" sz="1200" dirty="0"/>
          </a:p>
        </p:txBody>
      </p:sp>
      <p:pic>
        <p:nvPicPr>
          <p:cNvPr id="22" name="Image 3" descr="/home/claude/equations/s3_Wi.png">    </p:cNvPr>
          <p:cNvPicPr>
            <a:picLocks noChangeAspect="1"/>
          </p:cNvPicPr>
          <p:nvPr/>
        </p:nvPicPr>
        <p:blipFill>
          <a:blip r:embed="rId4"/>
          <a:srcRect l="0" r="0" t="0" b="0"/>
          <a:stretch/>
        </p:blipFill>
        <p:spPr>
          <a:xfrm>
            <a:off x="3355848" y="4709160"/>
            <a:ext cx="2560320" cy="1417320"/>
          </a:xfrm>
          <a:prstGeom prst="rect">
            <a:avLst/>
          </a:prstGeom>
        </p:spPr>
      </p:pic>
      <p:sp>
        <p:nvSpPr>
          <p:cNvPr id="23" name="Shape 17"/>
          <p:cNvSpPr/>
          <p:nvPr/>
        </p:nvSpPr>
        <p:spPr>
          <a:xfrm>
            <a:off x="6071616" y="4251960"/>
            <a:ext cx="274320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4" name="Shape 18"/>
          <p:cNvSpPr/>
          <p:nvPr/>
        </p:nvSpPr>
        <p:spPr>
          <a:xfrm>
            <a:off x="6071616" y="4251960"/>
            <a:ext cx="2743200" cy="365760"/>
          </a:xfrm>
          <a:prstGeom prst="rect">
            <a:avLst/>
          </a:prstGeom>
          <a:solidFill>
            <a:srgbClr val="48A6A7"/>
          </a:solidFill>
          <a:ln w="12700">
            <a:solidFill>
              <a:srgbClr val="48A6A7"/>
            </a:solidFill>
            <a:prstDash val="solid"/>
          </a:ln>
        </p:spPr>
      </p:sp>
      <p:sp>
        <p:nvSpPr>
          <p:cNvPr id="25" name="Text 19"/>
          <p:cNvSpPr/>
          <p:nvPr/>
        </p:nvSpPr>
        <p:spPr>
          <a:xfrm>
            <a:off x="6071616" y="42519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Candidate</a:t>
            </a:r>
            <a:endParaRPr lang="en-US" sz="1200" dirty="0"/>
          </a:p>
        </p:txBody>
      </p:sp>
      <p:pic>
        <p:nvPicPr>
          <p:cNvPr id="26" name="Image 4" descr="/home/claude/equations/s3_Wc.png">    </p:cNvPr>
          <p:cNvPicPr>
            <a:picLocks noChangeAspect="1"/>
          </p:cNvPicPr>
          <p:nvPr/>
        </p:nvPicPr>
        <p:blipFill>
          <a:blip r:embed="rId5"/>
          <a:srcRect l="0" r="0" t="0" b="0"/>
          <a:stretch/>
        </p:blipFill>
        <p:spPr>
          <a:xfrm>
            <a:off x="6163056" y="4709160"/>
            <a:ext cx="2560320" cy="1417320"/>
          </a:xfrm>
          <a:prstGeom prst="rect">
            <a:avLst/>
          </a:prstGeom>
        </p:spPr>
      </p:pic>
      <p:sp>
        <p:nvSpPr>
          <p:cNvPr id="27" name="Shape 20"/>
          <p:cNvSpPr/>
          <p:nvPr/>
        </p:nvSpPr>
        <p:spPr>
          <a:xfrm>
            <a:off x="8878824" y="4251960"/>
            <a:ext cx="2743200" cy="201168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8" name="Shape 21"/>
          <p:cNvSpPr/>
          <p:nvPr/>
        </p:nvSpPr>
        <p:spPr>
          <a:xfrm>
            <a:off x="8878824" y="4251960"/>
            <a:ext cx="2743200" cy="365760"/>
          </a:xfrm>
          <a:prstGeom prst="rect">
            <a:avLst/>
          </a:prstGeom>
          <a:solidFill>
            <a:srgbClr val="0F1B3D"/>
          </a:solidFill>
          <a:ln w="12700">
            <a:solidFill>
              <a:srgbClr val="0F1B3D"/>
            </a:solidFill>
            <a:prstDash val="solid"/>
          </a:ln>
        </p:spPr>
      </p:sp>
      <p:sp>
        <p:nvSpPr>
          <p:cNvPr id="29" name="Text 22"/>
          <p:cNvSpPr/>
          <p:nvPr/>
        </p:nvSpPr>
        <p:spPr>
          <a:xfrm>
            <a:off x="8878824" y="42519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Output Gate</a:t>
            </a:r>
            <a:endParaRPr lang="en-US" sz="1200" dirty="0"/>
          </a:p>
        </p:txBody>
      </p:sp>
      <p:pic>
        <p:nvPicPr>
          <p:cNvPr id="30" name="Image 5" descr="/home/claude/equations/s3_Wo.png">    </p:cNvPr>
          <p:cNvPicPr>
            <a:picLocks noChangeAspect="1"/>
          </p:cNvPicPr>
          <p:nvPr/>
        </p:nvPicPr>
        <p:blipFill>
          <a:blip r:embed="rId6"/>
          <a:srcRect l="0" r="0" t="0" b="0"/>
          <a:stretch/>
        </p:blipFill>
        <p:spPr>
          <a:xfrm>
            <a:off x="8970264" y="4709160"/>
            <a:ext cx="2560320" cy="1417320"/>
          </a:xfrm>
          <a:prstGeom prst="rect">
            <a:avLst/>
          </a:prstGeom>
        </p:spPr>
      </p:pic>
      <p:sp>
        <p:nvSpPr>
          <p:cNvPr id="31" name="Text 23"/>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32" name="Text 24"/>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 / 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3</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Adım 1: Forget  |  Adım 2: Input  |  Adım 3: Candidate</a:t>
            </a:r>
            <a:endParaRPr lang="en-US" sz="1800" dirty="0"/>
          </a:p>
        </p:txBody>
      </p:sp>
      <p:sp>
        <p:nvSpPr>
          <p:cNvPr id="5" name="Shape 3"/>
          <p:cNvSpPr/>
          <p:nvPr/>
        </p:nvSpPr>
        <p:spPr>
          <a:xfrm>
            <a:off x="457200" y="1051560"/>
            <a:ext cx="11247120" cy="16916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640080" y="1216152"/>
            <a:ext cx="457200" cy="457200"/>
          </a:xfrm>
          <a:prstGeom prst="ellipse">
            <a:avLst/>
          </a:prstGeom>
          <a:solidFill>
            <a:srgbClr val="0F1B3D"/>
          </a:solidFill>
          <a:ln w="12700">
            <a:solidFill>
              <a:srgbClr val="0F1B3D"/>
            </a:solidFill>
            <a:prstDash val="solid"/>
          </a:ln>
        </p:spPr>
      </p:sp>
      <p:sp>
        <p:nvSpPr>
          <p:cNvPr id="7" name="Text 5"/>
          <p:cNvSpPr/>
          <p:nvPr/>
        </p:nvSpPr>
        <p:spPr>
          <a:xfrm>
            <a:off x="640080" y="12161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34440" y="1234440"/>
            <a:ext cx="5029200" cy="411480"/>
          </a:xfrm>
          <a:prstGeom prst="rect">
            <a:avLst/>
          </a:prstGeom>
          <a:noFill/>
          <a:ln/>
        </p:spPr>
        <p:txBody>
          <a:bodyPr wrap="square" lIns="0" tIns="0" rIns="0" bIns="0" rtlCol="0" anchor="ctr"/>
          <a:lstStyle/>
          <a:p>
            <a:pPr indent="0" marL="0">
              <a:buNone/>
            </a:pPr>
            <a:r>
              <a:rPr lang="en-US" sz="1500" b="1" dirty="0">
                <a:solidFill>
                  <a:srgbClr val="0F1B3D"/>
                </a:solidFill>
                <a:latin typeface="Cambria" pitchFamily="34" charset="0"/>
                <a:ea typeface="Cambria" pitchFamily="34" charset="-122"/>
                <a:cs typeface="Cambria" pitchFamily="34" charset="-120"/>
              </a:rPr>
              <a:t>Forget Gate</a:t>
            </a:r>
            <a:endParaRPr lang="en-US" sz="1500" dirty="0"/>
          </a:p>
        </p:txBody>
      </p:sp>
      <p:sp>
        <p:nvSpPr>
          <p:cNvPr id="9" name="Text 7"/>
          <p:cNvSpPr/>
          <p:nvPr/>
        </p:nvSpPr>
        <p:spPr>
          <a:xfrm>
            <a:off x="6355080" y="1280160"/>
            <a:ext cx="5212080" cy="36576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Geçmişin %56'sı tutulacak.</a:t>
            </a:r>
            <a:endParaRPr lang="en-US" sz="1100" dirty="0"/>
          </a:p>
        </p:txBody>
      </p:sp>
      <p:pic>
        <p:nvPicPr>
          <p:cNvPr id="10" name="Image 0" descr="/home/claude/equations/s3_forget_calc.png">    </p:cNvPr>
          <p:cNvPicPr>
            <a:picLocks noChangeAspect="1"/>
          </p:cNvPicPr>
          <p:nvPr/>
        </p:nvPicPr>
        <p:blipFill>
          <a:blip r:embed="rId1"/>
          <a:srcRect l="0" r="0" t="0" b="0"/>
          <a:stretch/>
        </p:blipFill>
        <p:spPr>
          <a:xfrm>
            <a:off x="640080" y="1737360"/>
            <a:ext cx="5303520" cy="914400"/>
          </a:xfrm>
          <a:prstGeom prst="rect">
            <a:avLst/>
          </a:prstGeom>
        </p:spPr>
      </p:pic>
      <p:pic>
        <p:nvPicPr>
          <p:cNvPr id="11" name="Image 1" descr="/home/claude/equations/s3_forget_result.png">    </p:cNvPr>
          <p:cNvPicPr>
            <a:picLocks noChangeAspect="1"/>
          </p:cNvPicPr>
          <p:nvPr/>
        </p:nvPicPr>
        <p:blipFill>
          <a:blip r:embed="rId2"/>
          <a:srcRect l="0" r="0" t="0" b="0"/>
          <a:stretch/>
        </p:blipFill>
        <p:spPr>
          <a:xfrm>
            <a:off x="6126480" y="1737360"/>
            <a:ext cx="5394960" cy="914400"/>
          </a:xfrm>
          <a:prstGeom prst="rect">
            <a:avLst/>
          </a:prstGeom>
        </p:spPr>
      </p:pic>
      <p:sp>
        <p:nvSpPr>
          <p:cNvPr id="12" name="Shape 8"/>
          <p:cNvSpPr/>
          <p:nvPr/>
        </p:nvSpPr>
        <p:spPr>
          <a:xfrm>
            <a:off x="457200" y="2834640"/>
            <a:ext cx="11247120" cy="16916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3" name="Shape 9"/>
          <p:cNvSpPr/>
          <p:nvPr/>
        </p:nvSpPr>
        <p:spPr>
          <a:xfrm>
            <a:off x="640080" y="2999232"/>
            <a:ext cx="457200" cy="457200"/>
          </a:xfrm>
          <a:prstGeom prst="ellipse">
            <a:avLst/>
          </a:prstGeom>
          <a:solidFill>
            <a:srgbClr val="0F1B3D"/>
          </a:solidFill>
          <a:ln w="12700">
            <a:solidFill>
              <a:srgbClr val="0F1B3D"/>
            </a:solidFill>
            <a:prstDash val="solid"/>
          </a:ln>
        </p:spPr>
      </p:sp>
      <p:sp>
        <p:nvSpPr>
          <p:cNvPr id="14" name="Text 10"/>
          <p:cNvSpPr/>
          <p:nvPr/>
        </p:nvSpPr>
        <p:spPr>
          <a:xfrm>
            <a:off x="640080" y="299923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1"/>
          <p:cNvSpPr/>
          <p:nvPr/>
        </p:nvSpPr>
        <p:spPr>
          <a:xfrm>
            <a:off x="1234440" y="3017520"/>
            <a:ext cx="5029200" cy="411480"/>
          </a:xfrm>
          <a:prstGeom prst="rect">
            <a:avLst/>
          </a:prstGeom>
          <a:noFill/>
          <a:ln/>
        </p:spPr>
        <p:txBody>
          <a:bodyPr wrap="square" lIns="0" tIns="0" rIns="0" bIns="0" rtlCol="0" anchor="ctr"/>
          <a:lstStyle/>
          <a:p>
            <a:pPr indent="0" marL="0">
              <a:buNone/>
            </a:pPr>
            <a:r>
              <a:rPr lang="en-US" sz="1500" b="1" dirty="0">
                <a:solidFill>
                  <a:srgbClr val="0F1B3D"/>
                </a:solidFill>
                <a:latin typeface="Cambria" pitchFamily="34" charset="0"/>
                <a:ea typeface="Cambria" pitchFamily="34" charset="-122"/>
                <a:cs typeface="Cambria" pitchFamily="34" charset="-120"/>
              </a:rPr>
              <a:t>Input Gate</a:t>
            </a:r>
            <a:endParaRPr lang="en-US" sz="1500" dirty="0"/>
          </a:p>
        </p:txBody>
      </p:sp>
      <p:sp>
        <p:nvSpPr>
          <p:cNvPr id="16" name="Text 12"/>
          <p:cNvSpPr/>
          <p:nvPr/>
        </p:nvSpPr>
        <p:spPr>
          <a:xfrm>
            <a:off x="6355080" y="3063240"/>
            <a:ext cx="5212080" cy="36576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Yeni adayın %52.5'i kabul edilecek.</a:t>
            </a:r>
            <a:endParaRPr lang="en-US" sz="1100" dirty="0"/>
          </a:p>
        </p:txBody>
      </p:sp>
      <p:pic>
        <p:nvPicPr>
          <p:cNvPr id="17" name="Image 2" descr="/home/claude/equations/s3_input_calc.png">    </p:cNvPr>
          <p:cNvPicPr>
            <a:picLocks noChangeAspect="1"/>
          </p:cNvPicPr>
          <p:nvPr/>
        </p:nvPicPr>
        <p:blipFill>
          <a:blip r:embed="rId3"/>
          <a:srcRect l="0" r="0" t="0" b="0"/>
          <a:stretch/>
        </p:blipFill>
        <p:spPr>
          <a:xfrm>
            <a:off x="640080" y="3520440"/>
            <a:ext cx="5303520" cy="914400"/>
          </a:xfrm>
          <a:prstGeom prst="rect">
            <a:avLst/>
          </a:prstGeom>
        </p:spPr>
      </p:pic>
      <p:pic>
        <p:nvPicPr>
          <p:cNvPr id="18" name="Image 3" descr="/home/claude/equations/s3_input_result.png">    </p:cNvPr>
          <p:cNvPicPr>
            <a:picLocks noChangeAspect="1"/>
          </p:cNvPicPr>
          <p:nvPr/>
        </p:nvPicPr>
        <p:blipFill>
          <a:blip r:embed="rId4"/>
          <a:srcRect l="0" r="0" t="0" b="0"/>
          <a:stretch/>
        </p:blipFill>
        <p:spPr>
          <a:xfrm>
            <a:off x="6126480" y="3520440"/>
            <a:ext cx="5394960" cy="914400"/>
          </a:xfrm>
          <a:prstGeom prst="rect">
            <a:avLst/>
          </a:prstGeom>
        </p:spPr>
      </p:pic>
      <p:sp>
        <p:nvSpPr>
          <p:cNvPr id="19" name="Shape 13"/>
          <p:cNvSpPr/>
          <p:nvPr/>
        </p:nvSpPr>
        <p:spPr>
          <a:xfrm>
            <a:off x="457200" y="4617720"/>
            <a:ext cx="11247120" cy="169164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0" name="Shape 14"/>
          <p:cNvSpPr/>
          <p:nvPr/>
        </p:nvSpPr>
        <p:spPr>
          <a:xfrm>
            <a:off x="640080" y="4782312"/>
            <a:ext cx="457200" cy="457200"/>
          </a:xfrm>
          <a:prstGeom prst="ellipse">
            <a:avLst/>
          </a:prstGeom>
          <a:solidFill>
            <a:srgbClr val="48A6A7"/>
          </a:solidFill>
          <a:ln w="12700">
            <a:solidFill>
              <a:srgbClr val="48A6A7"/>
            </a:solidFill>
            <a:prstDash val="solid"/>
          </a:ln>
        </p:spPr>
      </p:sp>
      <p:sp>
        <p:nvSpPr>
          <p:cNvPr id="21" name="Text 15"/>
          <p:cNvSpPr/>
          <p:nvPr/>
        </p:nvSpPr>
        <p:spPr>
          <a:xfrm>
            <a:off x="640080" y="47823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16"/>
          <p:cNvSpPr/>
          <p:nvPr/>
        </p:nvSpPr>
        <p:spPr>
          <a:xfrm>
            <a:off x="1234440" y="4800600"/>
            <a:ext cx="5029200" cy="411480"/>
          </a:xfrm>
          <a:prstGeom prst="rect">
            <a:avLst/>
          </a:prstGeom>
          <a:noFill/>
          <a:ln/>
        </p:spPr>
        <p:txBody>
          <a:bodyPr wrap="square" lIns="0" tIns="0" rIns="0" bIns="0" rtlCol="0" anchor="ctr"/>
          <a:lstStyle/>
          <a:p>
            <a:pPr indent="0" marL="0">
              <a:buNone/>
            </a:pPr>
            <a:r>
              <a:rPr lang="en-US" sz="1500" b="1" dirty="0">
                <a:solidFill>
                  <a:srgbClr val="0F1B3D"/>
                </a:solidFill>
                <a:latin typeface="Cambria" pitchFamily="34" charset="0"/>
                <a:ea typeface="Cambria" pitchFamily="34" charset="-122"/>
                <a:cs typeface="Cambria" pitchFamily="34" charset="-120"/>
              </a:rPr>
              <a:t>Candidate Cell State</a:t>
            </a:r>
            <a:endParaRPr lang="en-US" sz="1500" dirty="0"/>
          </a:p>
        </p:txBody>
      </p:sp>
      <p:sp>
        <p:nvSpPr>
          <p:cNvPr id="23" name="Text 17"/>
          <p:cNvSpPr/>
          <p:nvPr/>
        </p:nvSpPr>
        <p:spPr>
          <a:xfrm>
            <a:off x="6355080" y="4846320"/>
            <a:ext cx="5212080" cy="36576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Önerilen yeni içerik (tanh ile sınırlı).</a:t>
            </a:r>
            <a:endParaRPr lang="en-US" sz="1100" dirty="0"/>
          </a:p>
        </p:txBody>
      </p:sp>
      <p:pic>
        <p:nvPicPr>
          <p:cNvPr id="24" name="Image 4" descr="/home/claude/equations/s3_cand_calc.png">    </p:cNvPr>
          <p:cNvPicPr>
            <a:picLocks noChangeAspect="1"/>
          </p:cNvPicPr>
          <p:nvPr/>
        </p:nvPicPr>
        <p:blipFill>
          <a:blip r:embed="rId5"/>
          <a:srcRect l="0" r="0" t="0" b="0"/>
          <a:stretch/>
        </p:blipFill>
        <p:spPr>
          <a:xfrm>
            <a:off x="640080" y="5303520"/>
            <a:ext cx="5303520" cy="914400"/>
          </a:xfrm>
          <a:prstGeom prst="rect">
            <a:avLst/>
          </a:prstGeom>
        </p:spPr>
      </p:pic>
      <p:pic>
        <p:nvPicPr>
          <p:cNvPr id="25" name="Image 5" descr="/home/claude/equations/s3_cand_result.png">    </p:cNvPr>
          <p:cNvPicPr>
            <a:picLocks noChangeAspect="1"/>
          </p:cNvPicPr>
          <p:nvPr/>
        </p:nvPicPr>
        <p:blipFill>
          <a:blip r:embed="rId6"/>
          <a:srcRect l="0" r="0" t="0" b="0"/>
          <a:stretch/>
        </p:blipFill>
        <p:spPr>
          <a:xfrm>
            <a:off x="6126480" y="5303520"/>
            <a:ext cx="5394960" cy="914400"/>
          </a:xfrm>
          <a:prstGeom prst="rect">
            <a:avLst/>
          </a:prstGeom>
        </p:spPr>
      </p:pic>
      <p:sp>
        <p:nvSpPr>
          <p:cNvPr id="26" name="Text 18"/>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7" name="Text 19"/>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 / 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20040"/>
            <a:ext cx="1463040" cy="457200"/>
          </a:xfrm>
          <a:prstGeom prst="rect">
            <a:avLst/>
          </a:prstGeom>
          <a:solidFill>
            <a:srgbClr val="48A6A7"/>
          </a:solidFill>
          <a:ln w="12700">
            <a:solidFill>
              <a:srgbClr val="48A6A7"/>
            </a:solidFill>
            <a:prstDash val="solid"/>
          </a:ln>
        </p:spPr>
      </p:sp>
      <p:sp>
        <p:nvSpPr>
          <p:cNvPr id="3" name="Text 1"/>
          <p:cNvSpPr/>
          <p:nvPr/>
        </p:nvSpPr>
        <p:spPr>
          <a:xfrm>
            <a:off x="457200" y="320040"/>
            <a:ext cx="1463040" cy="45720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Cambria" pitchFamily="34" charset="0"/>
                <a:ea typeface="Cambria" pitchFamily="34" charset="-122"/>
                <a:cs typeface="Cambria" pitchFamily="34" charset="-120"/>
              </a:rPr>
              <a:t>CEVAP 3</a:t>
            </a:r>
            <a:endParaRPr lang="en-US" sz="1600" dirty="0"/>
          </a:p>
        </p:txBody>
      </p:sp>
      <p:sp>
        <p:nvSpPr>
          <p:cNvPr id="4" name="Text 2"/>
          <p:cNvSpPr/>
          <p:nvPr/>
        </p:nvSpPr>
        <p:spPr>
          <a:xfrm>
            <a:off x="2011680" y="365760"/>
            <a:ext cx="9601200" cy="457200"/>
          </a:xfrm>
          <a:prstGeom prst="rect">
            <a:avLst/>
          </a:prstGeom>
          <a:noFill/>
          <a:ln/>
        </p:spPr>
        <p:txBody>
          <a:bodyPr wrap="square" lIns="0" tIns="0" rIns="0" bIns="0" rtlCol="0" anchor="ctr"/>
          <a:lstStyle/>
          <a:p>
            <a:pPr indent="0" marL="0">
              <a:buNone/>
            </a:pPr>
            <a:r>
              <a:rPr lang="en-US" sz="1800" b="1" dirty="0">
                <a:solidFill>
                  <a:srgbClr val="0F1B3D"/>
                </a:solidFill>
                <a:latin typeface="Cambria" pitchFamily="34" charset="0"/>
                <a:ea typeface="Cambria" pitchFamily="34" charset="-122"/>
                <a:cs typeface="Cambria" pitchFamily="34" charset="-120"/>
              </a:rPr>
              <a:t>Adım 4: Cell  |  Adım 5: Output  |  Adım 6: Hidden</a:t>
            </a:r>
            <a:endParaRPr lang="en-US" sz="1800" dirty="0"/>
          </a:p>
        </p:txBody>
      </p:sp>
      <p:sp>
        <p:nvSpPr>
          <p:cNvPr id="5" name="Shape 3"/>
          <p:cNvSpPr/>
          <p:nvPr/>
        </p:nvSpPr>
        <p:spPr>
          <a:xfrm>
            <a:off x="457200" y="1051560"/>
            <a:ext cx="11247120" cy="16002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6" name="Shape 4"/>
          <p:cNvSpPr/>
          <p:nvPr/>
        </p:nvSpPr>
        <p:spPr>
          <a:xfrm>
            <a:off x="640080" y="1188720"/>
            <a:ext cx="457200" cy="457200"/>
          </a:xfrm>
          <a:prstGeom prst="ellipse">
            <a:avLst/>
          </a:prstGeom>
          <a:solidFill>
            <a:srgbClr val="E07856"/>
          </a:solidFill>
          <a:ln w="12700">
            <a:solidFill>
              <a:srgbClr val="E07856"/>
            </a:solidFill>
            <a:prstDash val="solid"/>
          </a:ln>
        </p:spPr>
      </p:sp>
      <p:sp>
        <p:nvSpPr>
          <p:cNvPr id="7" name="Text 5"/>
          <p:cNvSpPr/>
          <p:nvPr/>
        </p:nvSpPr>
        <p:spPr>
          <a:xfrm>
            <a:off x="640080" y="11887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8" name="Text 6"/>
          <p:cNvSpPr/>
          <p:nvPr/>
        </p:nvSpPr>
        <p:spPr>
          <a:xfrm>
            <a:off x="1234440" y="1216152"/>
            <a:ext cx="5029200" cy="411480"/>
          </a:xfrm>
          <a:prstGeom prst="rect">
            <a:avLst/>
          </a:prstGeom>
          <a:noFill/>
          <a:ln/>
        </p:spPr>
        <p:txBody>
          <a:bodyPr wrap="square" lIns="0" tIns="0" rIns="0" bIns="0" rtlCol="0" anchor="ctr"/>
          <a:lstStyle/>
          <a:p>
            <a:pPr indent="0" marL="0">
              <a:buNone/>
            </a:pPr>
            <a:r>
              <a:rPr lang="en-US" sz="1500" b="1" dirty="0">
                <a:solidFill>
                  <a:srgbClr val="0F1B3D"/>
                </a:solidFill>
                <a:latin typeface="Cambria" pitchFamily="34" charset="0"/>
                <a:ea typeface="Cambria" pitchFamily="34" charset="-122"/>
                <a:cs typeface="Cambria" pitchFamily="34" charset="-120"/>
              </a:rPr>
              <a:t>Yeni Cell State (c_t)</a:t>
            </a:r>
            <a:endParaRPr lang="en-US" sz="1500" dirty="0"/>
          </a:p>
        </p:txBody>
      </p:sp>
      <p:sp>
        <p:nvSpPr>
          <p:cNvPr id="9" name="Text 7"/>
          <p:cNvSpPr/>
          <p:nvPr/>
        </p:nvSpPr>
        <p:spPr>
          <a:xfrm>
            <a:off x="6355080" y="1252728"/>
            <a:ext cx="5212080" cy="36576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Eskinin bir kısmı + yeninin bir kısmı.</a:t>
            </a:r>
            <a:endParaRPr lang="en-US" sz="1100" dirty="0"/>
          </a:p>
        </p:txBody>
      </p:sp>
      <p:pic>
        <p:nvPicPr>
          <p:cNvPr id="10" name="Image 0" descr="/home/claude/equations/s3_cell_calc.png">    </p:cNvPr>
          <p:cNvPicPr>
            <a:picLocks noChangeAspect="1"/>
          </p:cNvPicPr>
          <p:nvPr/>
        </p:nvPicPr>
        <p:blipFill>
          <a:blip r:embed="rId1"/>
          <a:srcRect l="0" r="0" t="0" b="0"/>
          <a:stretch/>
        </p:blipFill>
        <p:spPr>
          <a:xfrm>
            <a:off x="640080" y="1691640"/>
            <a:ext cx="5303520" cy="868680"/>
          </a:xfrm>
          <a:prstGeom prst="rect">
            <a:avLst/>
          </a:prstGeom>
        </p:spPr>
      </p:pic>
      <p:pic>
        <p:nvPicPr>
          <p:cNvPr id="11" name="Image 1" descr="/home/claude/equations/s3_cell_result.png">    </p:cNvPr>
          <p:cNvPicPr>
            <a:picLocks noChangeAspect="1"/>
          </p:cNvPicPr>
          <p:nvPr/>
        </p:nvPicPr>
        <p:blipFill>
          <a:blip r:embed="rId2"/>
          <a:srcRect l="0" r="0" t="0" b="0"/>
          <a:stretch/>
        </p:blipFill>
        <p:spPr>
          <a:xfrm>
            <a:off x="6126480" y="1691640"/>
            <a:ext cx="5394960" cy="868680"/>
          </a:xfrm>
          <a:prstGeom prst="rect">
            <a:avLst/>
          </a:prstGeom>
        </p:spPr>
      </p:pic>
      <p:sp>
        <p:nvSpPr>
          <p:cNvPr id="12" name="Shape 8"/>
          <p:cNvSpPr/>
          <p:nvPr/>
        </p:nvSpPr>
        <p:spPr>
          <a:xfrm>
            <a:off x="457200" y="2743200"/>
            <a:ext cx="11247120" cy="16002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13" name="Shape 9"/>
          <p:cNvSpPr/>
          <p:nvPr/>
        </p:nvSpPr>
        <p:spPr>
          <a:xfrm>
            <a:off x="640080" y="2880360"/>
            <a:ext cx="457200" cy="457200"/>
          </a:xfrm>
          <a:prstGeom prst="ellipse">
            <a:avLst/>
          </a:prstGeom>
          <a:solidFill>
            <a:srgbClr val="0F1B3D"/>
          </a:solidFill>
          <a:ln w="12700">
            <a:solidFill>
              <a:srgbClr val="0F1B3D"/>
            </a:solidFill>
            <a:prstDash val="solid"/>
          </a:ln>
        </p:spPr>
      </p:sp>
      <p:sp>
        <p:nvSpPr>
          <p:cNvPr id="14" name="Text 10"/>
          <p:cNvSpPr/>
          <p:nvPr/>
        </p:nvSpPr>
        <p:spPr>
          <a:xfrm>
            <a:off x="640080" y="28803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5" name="Text 11"/>
          <p:cNvSpPr/>
          <p:nvPr/>
        </p:nvSpPr>
        <p:spPr>
          <a:xfrm>
            <a:off x="1234440" y="2907792"/>
            <a:ext cx="5029200" cy="411480"/>
          </a:xfrm>
          <a:prstGeom prst="rect">
            <a:avLst/>
          </a:prstGeom>
          <a:noFill/>
          <a:ln/>
        </p:spPr>
        <p:txBody>
          <a:bodyPr wrap="square" lIns="0" tIns="0" rIns="0" bIns="0" rtlCol="0" anchor="ctr"/>
          <a:lstStyle/>
          <a:p>
            <a:pPr indent="0" marL="0">
              <a:buNone/>
            </a:pPr>
            <a:r>
              <a:rPr lang="en-US" sz="1500" b="1" dirty="0">
                <a:solidFill>
                  <a:srgbClr val="0F1B3D"/>
                </a:solidFill>
                <a:latin typeface="Cambria" pitchFamily="34" charset="0"/>
                <a:ea typeface="Cambria" pitchFamily="34" charset="-122"/>
                <a:cs typeface="Cambria" pitchFamily="34" charset="-120"/>
              </a:rPr>
              <a:t>Output Gate (o_t)</a:t>
            </a:r>
            <a:endParaRPr lang="en-US" sz="1500" dirty="0"/>
          </a:p>
        </p:txBody>
      </p:sp>
      <p:sp>
        <p:nvSpPr>
          <p:cNvPr id="16" name="Text 12"/>
          <p:cNvSpPr/>
          <p:nvPr/>
        </p:nvSpPr>
        <p:spPr>
          <a:xfrm>
            <a:off x="6355080" y="2944368"/>
            <a:ext cx="5212080" cy="36576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Cell state'in yarısı dışa verilecek.</a:t>
            </a:r>
            <a:endParaRPr lang="en-US" sz="1100" dirty="0"/>
          </a:p>
        </p:txBody>
      </p:sp>
      <p:pic>
        <p:nvPicPr>
          <p:cNvPr id="17" name="Image 2" descr="/home/claude/equations/s3_output_calc.png">    </p:cNvPr>
          <p:cNvPicPr>
            <a:picLocks noChangeAspect="1"/>
          </p:cNvPicPr>
          <p:nvPr/>
        </p:nvPicPr>
        <p:blipFill>
          <a:blip r:embed="rId3"/>
          <a:srcRect l="0" r="0" t="0" b="0"/>
          <a:stretch/>
        </p:blipFill>
        <p:spPr>
          <a:xfrm>
            <a:off x="640080" y="3383280"/>
            <a:ext cx="5303520" cy="868680"/>
          </a:xfrm>
          <a:prstGeom prst="rect">
            <a:avLst/>
          </a:prstGeom>
        </p:spPr>
      </p:pic>
      <p:pic>
        <p:nvPicPr>
          <p:cNvPr id="18" name="Image 3" descr="/home/claude/equations/s3_output_result.png">    </p:cNvPr>
          <p:cNvPicPr>
            <a:picLocks noChangeAspect="1"/>
          </p:cNvPicPr>
          <p:nvPr/>
        </p:nvPicPr>
        <p:blipFill>
          <a:blip r:embed="rId4"/>
          <a:srcRect l="0" r="0" t="0" b="0"/>
          <a:stretch/>
        </p:blipFill>
        <p:spPr>
          <a:xfrm>
            <a:off x="6126480" y="3383280"/>
            <a:ext cx="5394960" cy="868680"/>
          </a:xfrm>
          <a:prstGeom prst="rect">
            <a:avLst/>
          </a:prstGeom>
        </p:spPr>
      </p:pic>
      <p:sp>
        <p:nvSpPr>
          <p:cNvPr id="19" name="Shape 13"/>
          <p:cNvSpPr/>
          <p:nvPr/>
        </p:nvSpPr>
        <p:spPr>
          <a:xfrm>
            <a:off x="457200" y="4434840"/>
            <a:ext cx="11247120" cy="1600200"/>
          </a:xfrm>
          <a:prstGeom prst="rect">
            <a:avLst/>
          </a:prstGeom>
          <a:solidFill>
            <a:srgbClr val="FFFFFF"/>
          </a:solidFill>
          <a:ln w="12700">
            <a:solidFill>
              <a:srgbClr val="E5E7EB"/>
            </a:solidFill>
            <a:prstDash val="solid"/>
          </a:ln>
          <a:effectLst>
            <a:outerShdw sx="100000" sy="100000" kx="0" ky="0" algn="bl" rotWithShape="0" blurRad="127000" dist="38100" dir="5400000">
              <a:srgbClr val="000000">
                <a:alpha val="10000"/>
              </a:srgbClr>
            </a:outerShdw>
          </a:effectLst>
        </p:spPr>
      </p:sp>
      <p:sp>
        <p:nvSpPr>
          <p:cNvPr id="20" name="Shape 14"/>
          <p:cNvSpPr/>
          <p:nvPr/>
        </p:nvSpPr>
        <p:spPr>
          <a:xfrm>
            <a:off x="640080" y="4572000"/>
            <a:ext cx="457200" cy="457200"/>
          </a:xfrm>
          <a:prstGeom prst="ellipse">
            <a:avLst/>
          </a:prstGeom>
          <a:solidFill>
            <a:srgbClr val="E0A458"/>
          </a:solidFill>
          <a:ln w="12700">
            <a:solidFill>
              <a:srgbClr val="E0A458"/>
            </a:solidFill>
            <a:prstDash val="solid"/>
          </a:ln>
        </p:spPr>
      </p:sp>
      <p:sp>
        <p:nvSpPr>
          <p:cNvPr id="21" name="Text 15"/>
          <p:cNvSpPr/>
          <p:nvPr/>
        </p:nvSpPr>
        <p:spPr>
          <a:xfrm>
            <a:off x="640080" y="45720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2" name="Text 16"/>
          <p:cNvSpPr/>
          <p:nvPr/>
        </p:nvSpPr>
        <p:spPr>
          <a:xfrm>
            <a:off x="1234440" y="4599432"/>
            <a:ext cx="5029200" cy="411480"/>
          </a:xfrm>
          <a:prstGeom prst="rect">
            <a:avLst/>
          </a:prstGeom>
          <a:noFill/>
          <a:ln/>
        </p:spPr>
        <p:txBody>
          <a:bodyPr wrap="square" lIns="0" tIns="0" rIns="0" bIns="0" rtlCol="0" anchor="ctr"/>
          <a:lstStyle/>
          <a:p>
            <a:pPr indent="0" marL="0">
              <a:buNone/>
            </a:pPr>
            <a:r>
              <a:rPr lang="en-US" sz="1500" b="1" dirty="0">
                <a:solidFill>
                  <a:srgbClr val="0F1B3D"/>
                </a:solidFill>
                <a:latin typeface="Cambria" pitchFamily="34" charset="0"/>
                <a:ea typeface="Cambria" pitchFamily="34" charset="-122"/>
                <a:cs typeface="Cambria" pitchFamily="34" charset="-120"/>
              </a:rPr>
              <a:t>Yeni Hidden State (h_t)</a:t>
            </a:r>
            <a:endParaRPr lang="en-US" sz="1500" dirty="0"/>
          </a:p>
        </p:txBody>
      </p:sp>
      <p:sp>
        <p:nvSpPr>
          <p:cNvPr id="23" name="Text 17"/>
          <p:cNvSpPr/>
          <p:nvPr/>
        </p:nvSpPr>
        <p:spPr>
          <a:xfrm>
            <a:off x="6355080" y="4636008"/>
            <a:ext cx="5212080" cy="36576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Bir sonraki zaman adımına aktarılacak.</a:t>
            </a:r>
            <a:endParaRPr lang="en-US" sz="1100" dirty="0"/>
          </a:p>
        </p:txBody>
      </p:sp>
      <p:pic>
        <p:nvPicPr>
          <p:cNvPr id="24" name="Image 4" descr="/home/claude/equations/s3_hidden_calc.png">    </p:cNvPr>
          <p:cNvPicPr>
            <a:picLocks noChangeAspect="1"/>
          </p:cNvPicPr>
          <p:nvPr/>
        </p:nvPicPr>
        <p:blipFill>
          <a:blip r:embed="rId5"/>
          <a:srcRect l="0" r="0" t="0" b="0"/>
          <a:stretch/>
        </p:blipFill>
        <p:spPr>
          <a:xfrm>
            <a:off x="640080" y="5074920"/>
            <a:ext cx="5303520" cy="868680"/>
          </a:xfrm>
          <a:prstGeom prst="rect">
            <a:avLst/>
          </a:prstGeom>
        </p:spPr>
      </p:pic>
      <p:pic>
        <p:nvPicPr>
          <p:cNvPr id="25" name="Image 5" descr="/home/claude/equations/s3_hidden_result.png">    </p:cNvPr>
          <p:cNvPicPr>
            <a:picLocks noChangeAspect="1"/>
          </p:cNvPicPr>
          <p:nvPr/>
        </p:nvPicPr>
        <p:blipFill>
          <a:blip r:embed="rId6"/>
          <a:srcRect l="0" r="0" t="0" b="0"/>
          <a:stretch/>
        </p:blipFill>
        <p:spPr>
          <a:xfrm>
            <a:off x="6126480" y="5074920"/>
            <a:ext cx="5394960" cy="868680"/>
          </a:xfrm>
          <a:prstGeom prst="rect">
            <a:avLst/>
          </a:prstGeom>
        </p:spPr>
      </p:pic>
      <p:sp>
        <p:nvSpPr>
          <p:cNvPr id="26" name="Shape 18"/>
          <p:cNvSpPr/>
          <p:nvPr/>
        </p:nvSpPr>
        <p:spPr>
          <a:xfrm>
            <a:off x="457200" y="6126480"/>
            <a:ext cx="11247120" cy="502920"/>
          </a:xfrm>
          <a:prstGeom prst="rect">
            <a:avLst/>
          </a:prstGeom>
          <a:solidFill>
            <a:srgbClr val="0F1B3D"/>
          </a:solidFill>
          <a:ln w="12700">
            <a:solidFill>
              <a:srgbClr val="0F1B3D"/>
            </a:solidFill>
            <a:prstDash val="solid"/>
          </a:ln>
        </p:spPr>
      </p:sp>
      <p:sp>
        <p:nvSpPr>
          <p:cNvPr id="27" name="Text 19"/>
          <p:cNvSpPr/>
          <p:nvPr/>
        </p:nvSpPr>
        <p:spPr>
          <a:xfrm>
            <a:off x="457200" y="6126480"/>
            <a:ext cx="11247120" cy="502920"/>
          </a:xfrm>
          <a:prstGeom prst="rect">
            <a:avLst/>
          </a:prstGeom>
          <a:noFill/>
          <a:ln/>
        </p:spPr>
        <p:txBody>
          <a:bodyPr wrap="square" lIns="0" tIns="0" rIns="0" bIns="0" rtlCol="0" anchor="ctr"/>
          <a:lstStyle/>
          <a:p>
            <a:pPr algn="ctr" indent="0" marL="0">
              <a:buNone/>
            </a:pPr>
            <a:r>
              <a:rPr lang="en-US" sz="1600" b="1" dirty="0">
                <a:solidFill>
                  <a:srgbClr val="E0A458"/>
                </a:solidFill>
                <a:latin typeface="Cambria" pitchFamily="34" charset="0"/>
                <a:ea typeface="Cambria" pitchFamily="34" charset="-122"/>
                <a:cs typeface="Cambria" pitchFamily="34" charset="-120"/>
              </a:rPr>
              <a:t>✓  SONUÇ:   c_t ≈ 0.311     ·     h_t ≈ 0.151</a:t>
            </a:r>
            <a:endParaRPr lang="en-US" sz="1600" dirty="0"/>
          </a:p>
        </p:txBody>
      </p:sp>
      <p:sp>
        <p:nvSpPr>
          <p:cNvPr id="28" name="Text 20"/>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29" name="Text 21"/>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 / 33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457200" y="384048"/>
            <a:ext cx="54864" cy="457200"/>
          </a:xfrm>
          <a:prstGeom prst="rect">
            <a:avLst/>
          </a:prstGeom>
          <a:solidFill>
            <a:srgbClr val="E07856"/>
          </a:solidFill>
          <a:ln w="12700">
            <a:solidFill>
              <a:srgbClr val="E07856"/>
            </a:solidFill>
            <a:prstDash val="solid"/>
          </a:ln>
        </p:spPr>
      </p:sp>
      <p:sp>
        <p:nvSpPr>
          <p:cNvPr id="3" name="Text 1"/>
          <p:cNvSpPr/>
          <p:nvPr/>
        </p:nvSpPr>
        <p:spPr>
          <a:xfrm>
            <a:off x="640080" y="320040"/>
            <a:ext cx="11155680" cy="548640"/>
          </a:xfrm>
          <a:prstGeom prst="rect">
            <a:avLst/>
          </a:prstGeom>
          <a:noFill/>
          <a:ln/>
        </p:spPr>
        <p:txBody>
          <a:bodyPr wrap="square" lIns="0" tIns="0" rIns="0" bIns="0" rtlCol="0" anchor="ctr"/>
          <a:lstStyle/>
          <a:p>
            <a:pPr algn="l" indent="0" marL="0">
              <a:buNone/>
            </a:pPr>
            <a:r>
              <a:rPr lang="en-US" sz="2600" b="1" dirty="0">
                <a:solidFill>
                  <a:srgbClr val="0F1B3D"/>
                </a:solidFill>
                <a:latin typeface="Cambria" pitchFamily="34" charset="0"/>
                <a:ea typeface="Cambria" pitchFamily="34" charset="-122"/>
                <a:cs typeface="Cambria" pitchFamily="34" charset="-120"/>
              </a:rPr>
              <a:t>Özet — RNN ve LSTM Karşılaştırması</a:t>
            </a:r>
            <a:endParaRPr lang="en-US" sz="2600" dirty="0"/>
          </a:p>
        </p:txBody>
      </p:sp>
      <p:sp>
        <p:nvSpPr>
          <p:cNvPr id="4" name="Text 2"/>
          <p:cNvSpPr/>
          <p:nvPr/>
        </p:nvSpPr>
        <p:spPr>
          <a:xfrm>
            <a:off x="640080" y="868680"/>
            <a:ext cx="11155680" cy="292608"/>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Bu hafta öğrendiklerimizi tek bir tabloda topluyoruz.</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743200"/>
                <a:gridCol w="4206240"/>
                <a:gridCol w="4297680"/>
              </a:tblGrid>
              <a:tr h="5029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Özellik</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Standart RNN</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LSTM</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B3D"/>
                    </a:solidFill>
                  </a:tcPr>
                </a:tc>
              </a:tr>
              <a:tr h="502920">
                <a:tc>
                  <a:txBody>
                    <a:bodyPr/>
                    <a:lstStyle/>
                    <a:p>
                      <a:pPr algn="l" indent="0" marL="0">
                        <a:buNone/>
                      </a:pPr>
                      <a:r>
                        <a:rPr lang="en-US" sz="1100" b="1" dirty="0">
                          <a:solidFill>
                            <a:srgbClr val="0F1B3D"/>
                          </a:solidFill>
                          <a:latin typeface="Calibri" pitchFamily="34" charset="0"/>
                          <a:ea typeface="Calibri" pitchFamily="34" charset="-122"/>
                          <a:cs typeface="Calibri" pitchFamily="34" charset="-120"/>
                        </a:rPr>
                        <a:t>Uzun Bağımlılık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Zayıf — vanishing gradient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8A6A7"/>
                          </a:solidFill>
                          <a:latin typeface="Calibri" pitchFamily="34" charset="0"/>
                          <a:ea typeface="Calibri" pitchFamily="34" charset="-122"/>
                          <a:cs typeface="Calibri" pitchFamily="34" charset="-120"/>
                        </a:rPr>
                        <a:t>Güçlü — cell state ile korunur</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0F1B3D"/>
                          </a:solidFill>
                          <a:latin typeface="Calibri" pitchFamily="34" charset="0"/>
                          <a:ea typeface="Calibri" pitchFamily="34" charset="-122"/>
                          <a:cs typeface="Calibri" pitchFamily="34" charset="-120"/>
                        </a:rPr>
                        <a:t>Hücre İçi Yapı</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Tek tanh aktivasyonu</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3 sigmoid kapı + 1 tanh + cell state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0F1B3D"/>
                          </a:solidFill>
                          <a:latin typeface="Calibri" pitchFamily="34" charset="0"/>
                          <a:ea typeface="Calibri" pitchFamily="34" charset="-122"/>
                          <a:cs typeface="Calibri" pitchFamily="34" charset="-120"/>
                        </a:rPr>
                        <a:t>Parametre Sayısı</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Az</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~4 katı (her kapı için ayrı W, b)</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0F1B3D"/>
                          </a:solidFill>
                          <a:latin typeface="Calibri" pitchFamily="34" charset="0"/>
                          <a:ea typeface="Calibri" pitchFamily="34" charset="-122"/>
                          <a:cs typeface="Calibri" pitchFamily="34" charset="-120"/>
                        </a:rPr>
                        <a:t>Hesaplama Maliyeti</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Düşük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0F1B3D"/>
                          </a:solidFill>
                          <a:latin typeface="Calibri" pitchFamily="34" charset="0"/>
                          <a:ea typeface="Calibri" pitchFamily="34" charset="-122"/>
                          <a:cs typeface="Calibri" pitchFamily="34" charset="-120"/>
                        </a:rPr>
                        <a:t>Hafıza Kontrolü</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Yok — tüm geçmiş aynı şekilde gelir</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8A6A7"/>
                          </a:solidFill>
                          <a:latin typeface="Calibri" pitchFamily="34" charset="0"/>
                          <a:ea typeface="Calibri" pitchFamily="34" charset="-122"/>
                          <a:cs typeface="Calibri" pitchFamily="34" charset="-120"/>
                        </a:rPr>
                        <a:t>Var — kapılar bilgi akışını süzer</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0F1B3D"/>
                          </a:solidFill>
                          <a:latin typeface="Calibri" pitchFamily="34" charset="0"/>
                          <a:ea typeface="Calibri" pitchFamily="34" charset="-122"/>
                          <a:cs typeface="Calibri" pitchFamily="34" charset="-120"/>
                        </a:rPr>
                        <a:t>Tipik Kullanım</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Kısa diziler, basit zaman serileri</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Çeviri, metin üretimi, uzun seriler</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486400"/>
            <a:ext cx="11247120" cy="868680"/>
          </a:xfrm>
          <a:prstGeom prst="rect">
            <a:avLst/>
          </a:prstGeom>
          <a:solidFill>
            <a:srgbClr val="0F1B3D"/>
          </a:solidFill>
          <a:ln w="12700">
            <a:solidFill>
              <a:srgbClr val="0F1B3D"/>
            </a:solidFill>
            <a:prstDash val="solid"/>
          </a:ln>
        </p:spPr>
      </p:sp>
      <p:sp>
        <p:nvSpPr>
          <p:cNvPr id="7" name="Text 4"/>
          <p:cNvSpPr/>
          <p:nvPr/>
        </p:nvSpPr>
        <p:spPr>
          <a:xfrm>
            <a:off x="640080" y="5550408"/>
            <a:ext cx="10881360" cy="274320"/>
          </a:xfrm>
          <a:prstGeom prst="rect">
            <a:avLst/>
          </a:prstGeom>
          <a:noFill/>
          <a:ln/>
        </p:spPr>
        <p:txBody>
          <a:bodyPr wrap="square" lIns="0" tIns="0" rIns="0" bIns="0" rtlCol="0" anchor="ctr"/>
          <a:lstStyle/>
          <a:p>
            <a:pPr indent="0" marL="0">
              <a:buNone/>
            </a:pPr>
            <a:r>
              <a:rPr lang="en-US" sz="1100" b="1" spc="400" kern="0" dirty="0">
                <a:solidFill>
                  <a:srgbClr val="E0A458"/>
                </a:solidFill>
                <a:latin typeface="Calibri" pitchFamily="34" charset="0"/>
                <a:ea typeface="Calibri" pitchFamily="34" charset="-122"/>
                <a:cs typeface="Calibri" pitchFamily="34" charset="-120"/>
              </a:rPr>
              <a:t>ANAHTAR MESAJLAR</a:t>
            </a:r>
            <a:endParaRPr lang="en-US" sz="1100" dirty="0"/>
          </a:p>
        </p:txBody>
      </p:sp>
      <p:sp>
        <p:nvSpPr>
          <p:cNvPr id="8" name="Text 5"/>
          <p:cNvSpPr/>
          <p:nvPr/>
        </p:nvSpPr>
        <p:spPr>
          <a:xfrm>
            <a:off x="640080" y="5852160"/>
            <a:ext cx="1088136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  RNN </a:t>
            </a:r>
            <a:pPr indent="0" marL="0">
              <a:buNone/>
            </a:pPr>
            <a:r>
              <a:rPr lang="en-US" sz="1200" dirty="0">
                <a:solidFill>
                  <a:srgbClr val="FFFFFF"/>
                </a:solidFill>
                <a:latin typeface="Calibri" pitchFamily="34" charset="0"/>
                <a:ea typeface="Calibri" pitchFamily="34" charset="-122"/>
                <a:cs typeface="Calibri" pitchFamily="34" charset="-120"/>
              </a:rPr>
              <a:t>= sıralı veriyi sırayla işleyen, hafızalı sinir ağı.    </a:t>
            </a:r>
            <a:pPr indent="0" marL="0">
              <a:buNone/>
            </a:pPr>
            <a:r>
              <a:rPr lang="en-US" sz="1200" b="1" dirty="0">
                <a:solidFill>
                  <a:srgbClr val="FFFFFF"/>
                </a:solidFill>
                <a:latin typeface="Calibri" pitchFamily="34" charset="0"/>
                <a:ea typeface="Calibri" pitchFamily="34" charset="-122"/>
                <a:cs typeface="Calibri" pitchFamily="34" charset="-120"/>
              </a:rPr>
              <a:t>•  Vanishing Gradient </a:t>
            </a:r>
            <a:pPr indent="0" marL="0">
              <a:buNone/>
            </a:pPr>
            <a:r>
              <a:rPr lang="en-US" sz="1200" dirty="0">
                <a:solidFill>
                  <a:srgbClr val="FFFFFF"/>
                </a:solidFill>
                <a:latin typeface="Calibri" pitchFamily="34" charset="0"/>
                <a:ea typeface="Calibri" pitchFamily="34" charset="-122"/>
                <a:cs typeface="Calibri" pitchFamily="34" charset="-120"/>
              </a:rPr>
              <a:t>= uzun bağımlılıkların önündeki ana engel.    </a:t>
            </a:r>
            <a:pPr indent="0" marL="0">
              <a:buNone/>
            </a:pPr>
            <a:r>
              <a:rPr lang="en-US" sz="1200" b="1" dirty="0">
                <a:solidFill>
                  <a:srgbClr val="E0A458"/>
                </a:solidFill>
                <a:latin typeface="Calibri" pitchFamily="34" charset="0"/>
                <a:ea typeface="Calibri" pitchFamily="34" charset="-122"/>
                <a:cs typeface="Calibri" pitchFamily="34" charset="-120"/>
              </a:rPr>
              <a:t>•  LSTM </a:t>
            </a:r>
            <a:pPr indent="0" marL="0">
              <a:buNone/>
            </a:pPr>
            <a:r>
              <a:rPr lang="en-US" sz="1200" dirty="0">
                <a:solidFill>
                  <a:srgbClr val="FFFFFF"/>
                </a:solidFill>
                <a:latin typeface="Calibri" pitchFamily="34" charset="0"/>
                <a:ea typeface="Calibri" pitchFamily="34" charset="-122"/>
                <a:cs typeface="Calibri" pitchFamily="34" charset="-120"/>
              </a:rPr>
              <a:t>= kapılarla bilgi akışını yöneterek bu engeli aşan </a:t>
            </a:r>
            <a:pPr indent="0" marL="0">
              <a:buNone/>
            </a:pPr>
            <a:r>
              <a:rPr lang="en-US" sz="1200" b="1" dirty="0">
                <a:solidFill>
                  <a:srgbClr val="E0A458"/>
                </a:solidFill>
                <a:latin typeface="Calibri" pitchFamily="34" charset="0"/>
                <a:ea typeface="Calibri" pitchFamily="34" charset="-122"/>
                <a:cs typeface="Calibri" pitchFamily="34" charset="-120"/>
              </a:rPr>
              <a:t>kanonik mimari.</a:t>
            </a:r>
            <a:endParaRPr lang="en-US" sz="1200" dirty="0"/>
          </a:p>
        </p:txBody>
      </p:sp>
      <p:sp>
        <p:nvSpPr>
          <p:cNvPr id="9" name="Text 6"/>
          <p:cNvSpPr/>
          <p:nvPr/>
        </p:nvSpPr>
        <p:spPr>
          <a:xfrm>
            <a:off x="457200" y="6537960"/>
            <a:ext cx="7315200" cy="22860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YZM306 — Derin Öğrenme  |  Hafta 6: RNN ve LSTM</a:t>
            </a:r>
            <a:endParaRPr lang="en-US" sz="900" dirty="0"/>
          </a:p>
        </p:txBody>
      </p:sp>
      <p:sp>
        <p:nvSpPr>
          <p:cNvPr id="10" name="Text 7"/>
          <p:cNvSpPr/>
          <p:nvPr/>
        </p:nvSpPr>
        <p:spPr>
          <a:xfrm>
            <a:off x="10820095" y="6537960"/>
            <a:ext cx="91440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 / 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YZM306 - Derin Öğrenme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6: RNN ve LSTM</dc:title>
  <dc:subject>PptxGenJS Presentation</dc:subject>
  <dc:creator>Dr. Öğr. Üyesi Murat ŞİMŞEK</dc:creator>
  <cp:lastModifiedBy>Dr. Öğr. Üyesi Murat ŞİMŞEK</cp:lastModifiedBy>
  <cp:revision>1</cp:revision>
  <dcterms:created xsi:type="dcterms:W3CDTF">2026-04-30T06:59:25Z</dcterms:created>
  <dcterms:modified xsi:type="dcterms:W3CDTF">2026-04-30T06:59:25Z</dcterms:modified>
</cp:coreProperties>
</file>