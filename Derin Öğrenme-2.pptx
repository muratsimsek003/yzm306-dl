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4"/>
  </p:notesMasterIdLst>
  <p:sldIdLst>
    <p:sldId id="268" r:id="rId2"/>
    <p:sldId id="256" r:id="rId3"/>
    <p:sldId id="271" r:id="rId4"/>
    <p:sldId id="272" r:id="rId5"/>
    <p:sldId id="273" r:id="rId6"/>
    <p:sldId id="276" r:id="rId7"/>
    <p:sldId id="257" r:id="rId8"/>
    <p:sldId id="258" r:id="rId9"/>
    <p:sldId id="259" r:id="rId10"/>
    <p:sldId id="260" r:id="rId11"/>
    <p:sldId id="261" r:id="rId12"/>
    <p:sldId id="262" r:id="rId13"/>
    <p:sldId id="263" r:id="rId14"/>
    <p:sldId id="264" r:id="rId15"/>
    <p:sldId id="265" r:id="rId16"/>
    <p:sldId id="266" r:id="rId17"/>
    <p:sldId id="267" r:id="rId18"/>
    <p:sldId id="269" r:id="rId19"/>
    <p:sldId id="270" r:id="rId20"/>
    <p:sldId id="277" r:id="rId21"/>
    <p:sldId id="278" r:id="rId22"/>
    <p:sldId id="279" r:id="rId23"/>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86683" autoAdjust="0"/>
  </p:normalViewPr>
  <p:slideViewPr>
    <p:cSldViewPr snapToGrid="0" snapToObjects="1">
      <p:cViewPr varScale="1">
        <p:scale>
          <a:sx n="126" d="100"/>
          <a:sy n="126" d="100"/>
        </p:scale>
        <p:origin x="1194" y="12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7135366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ABBA40-6566-8CB7-E002-6BFFB432649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8357A30-EC20-5430-8E0A-03944DB1C22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F280D7D-46B7-07B9-EBB8-5BCC8B4FCDAA}"/>
              </a:ext>
            </a:extLst>
          </p:cNvPr>
          <p:cNvSpPr>
            <a:spLocks noGrp="1"/>
          </p:cNvSpPr>
          <p:nvPr>
            <p:ph type="body" idx="1"/>
          </p:nvPr>
        </p:nvSpPr>
        <p:spPr/>
        <p:txBody>
          <a:bodyPr/>
          <a:lstStyle/>
          <a:p>
            <a:r>
              <a:rPr lang="en-US" dirty="0"/>
              <a:t>Bugün, yapay sinir ağlarının (YSA) temelini ve biyolojik esin kaynaklarını inceleyeceğiz. YSA'lar, insan beyninin çalışma prensiplerinden ilham alarak geliştirilmiş güçlü hesaplama modelleridir. Biyolojik nöronların dendrit, hücre gövdesi, akson ve sinaps gibi yapıları, yapay nöronların girdileri, ağırlıkları ve aktivasyon fonksiyonları gibi matematiksel bileşenlerine ilham vermiştir. Bu benzetim, karmaşık problemleri çözebilen algoritmaların kapısını aralamıştır. Şimdi, bu biyolojik esinlenmenin en temel yapay karşılığı olan Perceptron modeline geçelim.</a:t>
            </a:r>
          </a:p>
        </p:txBody>
      </p:sp>
      <p:sp>
        <p:nvSpPr>
          <p:cNvPr id="4" name="Slide Number Placeholder 3">
            <a:extLst>
              <a:ext uri="{FF2B5EF4-FFF2-40B4-BE49-F238E27FC236}">
                <a16:creationId xmlns:a16="http://schemas.microsoft.com/office/drawing/2014/main" id="{5339CE08-D2F4-0F7A-FC30-FE783E4FB9E1}"/>
              </a:ext>
            </a:extLst>
          </p:cNvPr>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337726992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Bugün, yapay sinir ağlarının (YSA) temelini ve biyolojik esin kaynaklarını inceleyeceğiz. YSA'lar, insan beyninin çalışma prensiplerinden ilham alarak geliştirilmiş güçlü hesaplama modelleridir. Biyolojik nöronların dendrit, hücre gövdesi, akson ve sinaps gibi yapıları, yapay nöronların girdileri, ağırlıkları ve aktivasyon fonksiyonları gibi matematiksel bileşenlerine ilham vermiştir. Bu benzetim, karmaşık problemleri çözebilen algoritmaların kapısını aralamıştır. Şimdi, bu biyolojik esinlenmenin en temel yapay karşılığı olan Perceptron modeline geçelim.</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37A89C-BE72-1D4C-6B0E-E565C077C94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25135A7-BD69-F6A9-715D-6B8BA216620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02FCBE7-DD1D-AAD9-8C47-282860938C2E}"/>
              </a:ext>
            </a:extLst>
          </p:cNvPr>
          <p:cNvSpPr>
            <a:spLocks noGrp="1"/>
          </p:cNvSpPr>
          <p:nvPr>
            <p:ph type="body" idx="1"/>
          </p:nvPr>
        </p:nvSpPr>
        <p:spPr/>
        <p:txBody>
          <a:bodyPr/>
          <a:lstStyle/>
          <a:p>
            <a:r>
              <a:rPr lang="en-US" dirty="0"/>
              <a:t>Bugün, yapay sinir ağlarının (YSA) temelini ve biyolojik esin kaynaklarını inceleyeceğiz. YSA'lar, insan beyninin çalışma prensiplerinden ilham alarak geliştirilmiş güçlü hesaplama modelleridir. Biyolojik nöronların dendrit, hücre gövdesi, akson ve sinaps gibi yapıları, yapay nöronların girdileri, ağırlıkları ve aktivasyon fonksiyonları gibi matematiksel bileşenlerine ilham vermiştir. Bu benzetim, karmaşık problemleri çözebilen algoritmaların kapısını aralamıştır. Şimdi, bu biyolojik esinlenmenin en temel yapay karşılığı olan Perceptron modeline geçelim.</a:t>
            </a:r>
          </a:p>
        </p:txBody>
      </p:sp>
      <p:sp>
        <p:nvSpPr>
          <p:cNvPr id="4" name="Slide Number Placeholder 3">
            <a:extLst>
              <a:ext uri="{FF2B5EF4-FFF2-40B4-BE49-F238E27FC236}">
                <a16:creationId xmlns:a16="http://schemas.microsoft.com/office/drawing/2014/main" id="{4C62FB62-EBC7-4930-ABE4-80FFF497CF51}"/>
              </a:ext>
            </a:extLst>
          </p:cNvPr>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98516841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4B7AEF-8214-0E23-9EBB-EA0D16F8B8E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8474A81-6C24-4ACC-AF20-4EBBE68A2FC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76071F7-379A-E8C0-F14E-12CD0A206711}"/>
              </a:ext>
            </a:extLst>
          </p:cNvPr>
          <p:cNvSpPr>
            <a:spLocks noGrp="1"/>
          </p:cNvSpPr>
          <p:nvPr>
            <p:ph type="body" idx="1"/>
          </p:nvPr>
        </p:nvSpPr>
        <p:spPr/>
        <p:txBody>
          <a:bodyPr/>
          <a:lstStyle/>
          <a:p>
            <a:r>
              <a:rPr lang="en-US" dirty="0"/>
              <a:t>Bugün, yapay sinir ağlarının (YSA) temelini ve biyolojik esin kaynaklarını inceleyeceğiz. YSA'lar, insan beyninin çalışma prensiplerinden ilham alarak geliştirilmiş güçlü hesaplama modelleridir. Biyolojik nöronların dendrit, hücre gövdesi, akson ve sinaps gibi yapıları, yapay nöronların girdileri, ağırlıkları ve aktivasyon fonksiyonları gibi matematiksel bileşenlerine ilham vermiştir. Bu benzetim, karmaşık problemleri çözebilen algoritmaların kapısını aralamıştır. Şimdi, bu biyolojik esinlenmenin en temel yapay karşılığı olan Perceptron modeline geçelim.</a:t>
            </a:r>
          </a:p>
        </p:txBody>
      </p:sp>
      <p:sp>
        <p:nvSpPr>
          <p:cNvPr id="4" name="Slide Number Placeholder 3">
            <a:extLst>
              <a:ext uri="{FF2B5EF4-FFF2-40B4-BE49-F238E27FC236}">
                <a16:creationId xmlns:a16="http://schemas.microsoft.com/office/drawing/2014/main" id="{3AF86D8D-6C01-95B5-7BDB-AFAC3DB53597}"/>
              </a:ext>
            </a:extLst>
          </p:cNvPr>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207647217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40BE5B-0B52-B462-222A-497065074C6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DBB8487-85F8-3EDB-2B91-DC9A6D69926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B8A9E0D-6CC7-60A2-B73D-EE5D8F2BF239}"/>
              </a:ext>
            </a:extLst>
          </p:cNvPr>
          <p:cNvSpPr>
            <a:spLocks noGrp="1"/>
          </p:cNvSpPr>
          <p:nvPr>
            <p:ph type="body" idx="1"/>
          </p:nvPr>
        </p:nvSpPr>
        <p:spPr/>
        <p:txBody>
          <a:bodyPr/>
          <a:lstStyle/>
          <a:p>
            <a:r>
              <a:rPr lang="en-US" dirty="0"/>
              <a:t>Bugün, yapay sinir ağlarının (YSA) temelini ve biyolojik esin kaynaklarını inceleyeceğiz. YSA'lar, insan beyninin çalışma prensiplerinden ilham alarak geliştirilmiş güçlü hesaplama modelleridir. Biyolojik nöronların dendrit, hücre gövdesi, akson ve sinaps gibi yapıları, yapay nöronların girdileri, ağırlıkları ve aktivasyon fonksiyonları gibi matematiksel bileşenlerine ilham vermiştir. Bu benzetim, karmaşık problemleri çözebilen algoritmaların kapısını aralamıştır. Şimdi, bu biyolojik esinlenmenin en temel yapay karşılığı olan Perceptron modeline geçelim.</a:t>
            </a:r>
          </a:p>
        </p:txBody>
      </p:sp>
      <p:sp>
        <p:nvSpPr>
          <p:cNvPr id="4" name="Slide Number Placeholder 3">
            <a:extLst>
              <a:ext uri="{FF2B5EF4-FFF2-40B4-BE49-F238E27FC236}">
                <a16:creationId xmlns:a16="http://schemas.microsoft.com/office/drawing/2014/main" id="{2AF1DC3E-494B-F87B-D9FF-DD06150DEC5E}"/>
              </a:ext>
            </a:extLst>
          </p:cNvPr>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5469542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Perceptron, yapay sinir ağlarının en temel yapı taşıdır ve modern YSA'ların başlangıç noktasıdır. Bu modelde, girdiler (inputs) ağırlıklarla (weights) çarpılır ve bir yanlılık (bias) değeri eklenerek net girdi (z) hesaplanır. Bu ağırlıklı toplam, bir aktivasyon fonksiyonundan (f) geçirilerek nöronun çıktısını (y) oluşturur. Frank Rosenblatt tarafından 1958'de önerilen Perceptron, doğrusal olarak ayrılabilir problemleri çözebilir. Ancak, daha karmaşık problemleri çözmek için bu basit yapının ötesine geçmemiz gerekecek. Peki, bu aktivasyon fonksiyonları neden bu kadar önemli?</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Aktivasyon fonksiyonları, sinir ağlarına doğrusal olmayan (non-linear) özellikler kazandırır ve karmaşık ilişkileri öğrenmelerini sağlar. Sigmoid ve Tanh gibi fonksiyonlar çıktıyı belirli bir aralığa sıkıştırırken, ReLU (Rectified Linear Unit) günümüzde en popüler olanıdır. ReLU, hesaplama hızını artırır ve gradyan sönümlenmesi (vanishing gradient) sorununu azaltır. Softmax ise özellikle çok sınıflı sınıflandırma problemlerinde, çıktıları olasılıksal bir dağılıma dönüştürerek karar vermeyi kolaylaştırır. Bu fonksiyonlar olmadan, ağımız sadece doğrusal bir model olmaktan öteye gidemezdi. Şimdi, bu nöronların bir araya gelerek nasıl daha büyük yapılar oluşturduğuna bakalım.</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Çok Katmanlı Algılayıcı (MLP), birden fazla katmandan oluşan bir sinir ağı mimarisidir. Bu yapıda, ham veri giriş katmanından (input layer) girer, gizli katmanlarda (hidden layers) doğrusal olmayan dönüşümlerden geçer ve çıkış katmanında (output layer) nihai tahmini üretir. İleri yayılım (forward propagation) süreci, bilginin girişten çıkışa doğru katman katman akışını ifade eder. Her katmanda, önceki katmanın çıktısı ağırlıklarla çarpılır, yanlılık eklenir ve bir aktivasyon fonksiyonundan geçirilir. Bu süreç, ağın girdiden çıktıya nasıl bir tahmin ürettiğini gösterir. Ancak, bu yapıların da bazı sınırlılıkları var.</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Tek katmanlı Perceptron'un en büyük sınırlılığı, sadece doğrusal olarak ayrılabilir (linearly separable) problemleri çözebilmesidir. Yani, girdileri tek bir düz çizgi veya hiper-düzlem ile iki sınıfa ayırabilir. AND ve OR gibi basit mantık kapıları bu kategoriye girerken, XOR (Exclusive OR) problemi doğrusal olarak ayrılamaz. 1969'da Minsky ve Papert'in bu eleştirisi, yapay zeka araştırmalarında bir 'kış' dönemine yol açmıştır. XOR probleminde, aynı sınıfa ait noktaları tek bir çizgiyle ayıramazsınız. Bu durum, çok katmanlı yapıların neden gerekli olduğunu açıkça ortaya koyar. Peki, ağımız bir hata yaptığında bunu nasıl anlarız?</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Önceki slaytta tek katmanlı algılayıcıların sınırlılıklarını gördük. Şimdi, bir yapay sinir ağının ne kadar hata yaptığını nasıl ölçtüğümüze bakalım. Kayıp fonksiyonları (loss functions) modelimizin tahminleri ile gerçek değerler arasındaki farkı nicel olarak ifade eder. Regresyon problemleri için Ortalama Kare Hata (Mean Squared Error - MSE) sıkça kullanılır. Bu fonksiyon, büyük hataları daha fazla cezalandırarak modelin bu hatalardan daha hızlı öğrenmesini sağlar. Sınıflandırma problemleri için ise Çapraz Entropi (Cross-Entropy) kayıp fonksiyonu tercih edilir. Çapraz Entropi, özellikle modelin yanlış sınıfa yüksek güvenle tahmin yapmasını şiddetle cezalandırır. Amacımız, bu kayıp değerini minimize ederek modelimizin daha doğru tahminler yapmasını sağlamaktır. Peki bu minimizasyonu nasıl gerçekleştireceğiz? İşte bir sonraki slaytta Geri Yayılım algoritması devreye giriyor.</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Kayıp fonksiyonları ile modelimizin ne kadar hata yaptığını ölçtük. Şimdi bu hatayı kullanarak modelimizi nasıl eğiteceğimizi, yani öğrenmenin kalbi olan Geri Yayılım (Backpropagation) algoritmasını inceleyelim. Geri Yayılım, ağın yaptığı hatayı katmanlar arasında geriye doğru yayarak her bir ağırlığın bu hataya ne kadar katkıda bulunduğunu hesaplar. Bu süreçte Zincir Kuralı (Chain Rule) adı verilen matematiksel bir yöntem kullanılır. Her bir ağırlığın hataya olan türevi (gradyanı) hesaplandıktan sonra, bu gradyanlar kullanılarak ağırlıklar güncellenir. Ağırlık güncelleme formülünde öğrenme oranı (learning rate) olan eta (η) bulunur. Bu oran, ağırlıkların ne kadar büyük adımlarla güncelleneceğini belirler. Geri Yayılım sayesinde ağ, hatasından ders çıkarır ve zamanla daha doğru tahminler yapmaya başlar. Ancak bu ağırlık güncellemelerini daha verimli hale getirmek için farklı stratejiler de var. Bir sonraki slaytta optimizasyon algoritmalarına göz atacağız.</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Geri Yayılım algoritması ile ağırlıkların gradyanlarını hesapladık. Şimdi bu gradyanları kullanarak ağırlıkları nasıl güncelleyeceğimizi, yani optimizasyon stratejilerini konuşalım. Optimizasyonun temel amacı, kayıp fonksiyonunu minimize ederek modelimizin en iyi performansı göstermesini sağlamaktır. Stokastik Gradyan İnişi (Stochastic Gradient Descent - SGD), her bir veri örneği için ağırlıkları güncelleyerek hızlı bir yaklaşım sunar. Ancak bu durum, kayıp yüzeyinde dalgalı bir ilerleyişe neden olabilir. Momentum, önceki güncellemelerin yönünü dikkate alarak bu dalgalanmaları azaltır ve daha düz alanlarda daha hızlı ilerlemeyi sağlar. Günümüzde en popüler ve kararlı optimizasyon algoritması ise Adam'dır (Adaptive Moment Estimation). Adam, her parametre için ayrı bir öğrenme oranı belirler ve Momentum ile RMSProp'un avantajlarını birleştirir. Bu algoritmalar, modelimizin kayıp yüzeyindeki en düşük noktaya daha hızlı ve verimli bir şekilde ulaşmasına yardımcı olur. Peki tüm bu teorik bilgileri somut bir örnek üzerinde nasıl uygulayacağız? Bir sonraki slaytta sayısal bir örnekle ileri ve geri yayılımı adım adım göreceğiz.</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Optimizasyon algoritmalarını ve geri yayılımın mantığını anladık. Şimdi tüm bu kavramları basit bir sayısal örnek üzerinde adım adım uygulayalım. İlk olarak İleri Yayılım (Forward Propagation) ile başlıyoruz. Giriş değerimiz 0.5, ağırlığımız 0.8 ve hedef değerimiz 1.0 olsun. Net girdiyi hesaplamak için giriş ile ağırlığı çarpıyoruz, bu da 0.4 eder. Ardından bu değeri sigmoid aktivasyon fonksiyonundan geçirerek tahmin edilen çıktıyı, yani yaklaşık 0.6'yı buluyoruz. Son olarak, bu tahmin ile gerçek hedef arasındaki farkın karesini alarak kayıp değerini, yani 0.16'yı hesaplıyoruz. Şimdi Geri Yayılım (Backward Propagation) kısmına geçelim. Kayıp değerinden başlayarak zincir kuralını kullanarak her bir parametrenin gradyanını hesaplıyoruz. Bu gradyanlar bize ağırlığın ne kadar ve hangi yönde değişmesi gerektiğini söyler. Hesaplamalar sonucunda ağırlık güncelleme miktarını bulup, mevcut ağırlığımıza ekleyerek yeni ağırlığımızı elde ediyoruz. Bu basit örnek, tek bir nöronun hatadan nasıl ders çıkardığını ve ağırlıklarını nasıl güncellediğini net bir şekilde gösteriyor. Bu süreç, daha karmaşık ağlarda da benzer prensiplerle işler. Ancak bu kadar basit bir modelde bile bazı sorunlar ortaya çıkabilir. Bir sonraki slaytta aşırı öğrenme ve düzenlileştirme yöntemlerini inceleyeceğiz.</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Şimdiye kadar modelimizin nasıl öğrendiğini gördük. Peki, modelimiz her zaman doğru mu öğreniyor? İşte burada aşırı öğrenme (overfitting) kavramı devreye giriyor. Aşırı öğrenme, modelin eğitim verisini ezberlemesi, ancak yeni verilerde başarısız olması durumudur. Bunu önlemek için düzenlileştirme (regularization) yöntemleri kullanırız. L1 ve L2 düzenlileştirme, modelin ağırlıklarını küçük tutarak karmaşıklığını azaltır. Dropout ise eğitim sırasında nöronları rastgele devre dışı bırakarak modelin belirli nöronlara aşırı bağımlı olmasını engeller. Son olarak, erken durdurma (early stopping) ile doğrulama hatası artmaya başladığında eğitimi sonlandırırız. Bu yöntemler, modelimizin genelleme yeteneğini artırır.</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Aşırı öğrenme gibi sorunları aşmak ve daha karmaşık görevleri çözmek için derin öğrenme (deep learning) mimarilerine geçiyoruz. Özellikle iki ana mimari öne çıkıyor: Evrişimli Sinir Ağları (Convolutional Neural Networks - CNN) ve Özyinelemeli Sinir Ağları (Recurrent Neural Networks - RNN). CNN'ler, görüntü ve video gibi ızgara yapılı veriler için idealdir. Evrişim ve havuzlama katmanları sayesinde özellik çıkarır ve boyut azaltırlar. RNN'ler ise sıralı ve zamana bağlı veriler, yani metin veya ses gibi diziler için tasarlanmıştır. Bellek yapıları sayesinde önceki adımlardaki bilgiyi koruyabilirler. Bu mimariler, yapay zekada devrim niteliğinde uygulamalara yol açmıştır.</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Derin öğrenme mimarilerine değindikten sonra, şimdi bu sunumda öğrendiklerimizi pekiştirmek için bazı tartışma sorularına geçelim. İlk olarak, aktivasyon fonksiyonu olmadan bir sinir ağının neden sadece doğrusal bir model olduğunu düşünelim. İkinci olarak, geri yayılımda karşılaşılan 'kaybolan gradyan' (vanishing gradient) problemini ve ReLU'nun bu sorunu nasıl çözdüğünü konuşabiliriz. Üçüncü olarak, veri setimiz küçükse Dropout kullanmanın model performansını nasıl etkileyeceğini değerlendirelim. Son olarak, yapay sinir ağlarının biyolojik beyinle olan benzerlikleri ve temel farkları üzerine fikir alışverişinde bulunabiliriz. Katılımınız için teşekkür ederim, şimdi sorularınızı alabilirim.</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404569-9F4B-8B36-2AB2-AC489836AB1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DD062F7-2D2E-6532-330E-8D8A80BD6FD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24BF9D0-13C4-B021-F1A5-D322EC781859}"/>
              </a:ext>
            </a:extLst>
          </p:cNvPr>
          <p:cNvSpPr>
            <a:spLocks noGrp="1"/>
          </p:cNvSpPr>
          <p:nvPr>
            <p:ph type="body" idx="1"/>
          </p:nvPr>
        </p:nvSpPr>
        <p:spPr/>
        <p:txBody>
          <a:bodyPr/>
          <a:lstStyle/>
          <a:p>
            <a:r>
              <a:rPr lang="tr-TR" sz="1200" b="0" i="0" kern="1200" dirty="0">
                <a:solidFill>
                  <a:schemeClr val="tx1"/>
                </a:solidFill>
                <a:effectLst/>
                <a:latin typeface="+mn-lt"/>
                <a:ea typeface="+mn-ea"/>
                <a:cs typeface="+mn-cs"/>
              </a:rPr>
              <a:t> evrensel yaklaşım teoremleri ( </a:t>
            </a:r>
            <a:r>
              <a:rPr lang="tr-TR" sz="1200" b="0" i="0" kern="1200" dirty="0" err="1">
                <a:solidFill>
                  <a:schemeClr val="tx1"/>
                </a:solidFill>
                <a:effectLst/>
                <a:latin typeface="+mn-lt"/>
                <a:ea typeface="+mn-ea"/>
                <a:cs typeface="+mn-cs"/>
              </a:rPr>
              <a:t>UAT'ler</a:t>
            </a:r>
            <a:r>
              <a:rPr lang="tr-TR" sz="1200" b="0" i="0" kern="1200" dirty="0">
                <a:solidFill>
                  <a:schemeClr val="tx1"/>
                </a:solidFill>
                <a:effectLst/>
                <a:latin typeface="+mn-lt"/>
                <a:ea typeface="+mn-ea"/>
                <a:cs typeface="+mn-cs"/>
              </a:rPr>
              <a:t> ), belirli bir yapıya sahip sinir ağlarının , prensip olarak, herhangi bir sürekli fonksiyonu istenen herhangi bir doğruluk derecesine kadar yaklaşık olarak modelleyebileceğini belirtir</a:t>
            </a:r>
            <a:endParaRPr lang="en-US" dirty="0"/>
          </a:p>
        </p:txBody>
      </p:sp>
      <p:sp>
        <p:nvSpPr>
          <p:cNvPr id="4" name="Slide Number Placeholder 3">
            <a:extLst>
              <a:ext uri="{FF2B5EF4-FFF2-40B4-BE49-F238E27FC236}">
                <a16:creationId xmlns:a16="http://schemas.microsoft.com/office/drawing/2014/main" id="{3D39F9DF-5533-773A-520F-38DA82C039D2}"/>
              </a:ext>
            </a:extLst>
          </p:cNvPr>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5856664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44237E-D6EE-F0CC-21DF-FC7B99BE8D7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B565D92-AE12-7BAE-44BE-ABC3158E54E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B0C02B7-B804-BFA0-5389-5852B7BD29FB}"/>
              </a:ext>
            </a:extLst>
          </p:cNvPr>
          <p:cNvSpPr>
            <a:spLocks noGrp="1"/>
          </p:cNvSpPr>
          <p:nvPr>
            <p:ph type="body" idx="1"/>
          </p:nvPr>
        </p:nvSpPr>
        <p:spPr/>
        <p:txBody>
          <a:bodyPr/>
          <a:lstStyle/>
          <a:p>
            <a:r>
              <a:rPr lang="tr-TR" b="1" dirty="0" err="1"/>
              <a:t>Dying</a:t>
            </a:r>
            <a:r>
              <a:rPr lang="tr-TR" b="1" dirty="0"/>
              <a:t> </a:t>
            </a:r>
            <a:r>
              <a:rPr lang="tr-TR" b="1" dirty="0" err="1"/>
              <a:t>ReLU</a:t>
            </a:r>
            <a:r>
              <a:rPr lang="tr-TR" b="1" dirty="0"/>
              <a:t> (Ölen </a:t>
            </a:r>
            <a:r>
              <a:rPr lang="tr-TR" b="1" dirty="0" err="1"/>
              <a:t>ReLU</a:t>
            </a:r>
            <a:r>
              <a:rPr lang="tr-TR" b="1" dirty="0"/>
              <a:t>)</a:t>
            </a:r>
            <a:r>
              <a:rPr lang="tr-TR" dirty="0"/>
              <a:t>, derin öğrenme modellerinde </a:t>
            </a:r>
            <a:r>
              <a:rPr lang="tr-TR" dirty="0" err="1"/>
              <a:t>ReLU</a:t>
            </a:r>
            <a:r>
              <a:rPr lang="tr-TR" dirty="0"/>
              <a:t> (</a:t>
            </a:r>
            <a:r>
              <a:rPr lang="tr-TR" dirty="0" err="1"/>
              <a:t>Rectified</a:t>
            </a:r>
            <a:r>
              <a:rPr lang="tr-TR" dirty="0"/>
              <a:t> </a:t>
            </a:r>
            <a:r>
              <a:rPr lang="tr-TR" dirty="0" err="1"/>
              <a:t>Linear</a:t>
            </a:r>
            <a:r>
              <a:rPr lang="tr-TR" dirty="0"/>
              <a:t> </a:t>
            </a:r>
            <a:r>
              <a:rPr lang="tr-TR" dirty="0" err="1"/>
              <a:t>Unit</a:t>
            </a:r>
            <a:r>
              <a:rPr lang="tr-TR" dirty="0"/>
              <a:t>) aktivasyon fonksiyonu kullanıldığında ortaya çıkan ve sinir ağının belirli bölümlerinin kalıcı olarak "etkisiz" hale gelmesine neden olan bir sorundur.</a:t>
            </a:r>
            <a:endParaRPr lang="en-US" dirty="0"/>
          </a:p>
        </p:txBody>
      </p:sp>
      <p:sp>
        <p:nvSpPr>
          <p:cNvPr id="4" name="Slide Number Placeholder 3">
            <a:extLst>
              <a:ext uri="{FF2B5EF4-FFF2-40B4-BE49-F238E27FC236}">
                <a16:creationId xmlns:a16="http://schemas.microsoft.com/office/drawing/2014/main" id="{836C7F3B-E61F-74D8-D2C6-6588C9B23D08}"/>
              </a:ext>
            </a:extLst>
          </p:cNvPr>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309365402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5C0307-97A0-0F5B-8EC7-A828F40E229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E0AD42B-D3A9-6F9E-8FE6-9279C07CE78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FB719A8-AC97-3CDA-C7AC-33840D6EE26C}"/>
              </a:ext>
            </a:extLst>
          </p:cNvPr>
          <p:cNvSpPr>
            <a:spLocks noGrp="1"/>
          </p:cNvSpPr>
          <p:nvPr>
            <p:ph type="body" idx="1"/>
          </p:nvPr>
        </p:nvSpPr>
        <p:spPr/>
        <p:txBody>
          <a:bodyPr/>
          <a:lstStyle/>
          <a:p>
            <a:r>
              <a:rPr lang="tr-TR" b="1" dirty="0" err="1"/>
              <a:t>Dying</a:t>
            </a:r>
            <a:r>
              <a:rPr lang="tr-TR" b="1" dirty="0"/>
              <a:t> </a:t>
            </a:r>
            <a:r>
              <a:rPr lang="tr-TR" b="1" dirty="0" err="1"/>
              <a:t>ReLU</a:t>
            </a:r>
            <a:r>
              <a:rPr lang="tr-TR" b="1" dirty="0"/>
              <a:t> (Ölen </a:t>
            </a:r>
            <a:r>
              <a:rPr lang="tr-TR" b="1" dirty="0" err="1"/>
              <a:t>ReLU</a:t>
            </a:r>
            <a:r>
              <a:rPr lang="tr-TR" b="1" dirty="0"/>
              <a:t>)</a:t>
            </a:r>
            <a:r>
              <a:rPr lang="tr-TR" dirty="0"/>
              <a:t>, derin öğrenme modellerinde </a:t>
            </a:r>
            <a:r>
              <a:rPr lang="tr-TR" dirty="0" err="1"/>
              <a:t>ReLU</a:t>
            </a:r>
            <a:r>
              <a:rPr lang="tr-TR" dirty="0"/>
              <a:t> (</a:t>
            </a:r>
            <a:r>
              <a:rPr lang="tr-TR" dirty="0" err="1"/>
              <a:t>Rectified</a:t>
            </a:r>
            <a:r>
              <a:rPr lang="tr-TR" dirty="0"/>
              <a:t> </a:t>
            </a:r>
            <a:r>
              <a:rPr lang="tr-TR" dirty="0" err="1"/>
              <a:t>Linear</a:t>
            </a:r>
            <a:r>
              <a:rPr lang="tr-TR" dirty="0"/>
              <a:t> </a:t>
            </a:r>
            <a:r>
              <a:rPr lang="tr-TR" dirty="0" err="1"/>
              <a:t>Unit</a:t>
            </a:r>
            <a:r>
              <a:rPr lang="tr-TR" dirty="0"/>
              <a:t>) aktivasyon fonksiyonu kullanıldığında ortaya çıkan ve sinir ağının belirli bölümlerinin kalıcı olarak "etkisiz" hale gelmesine neden olan bir sorundur.</a:t>
            </a:r>
            <a:endParaRPr lang="en-US" dirty="0"/>
          </a:p>
        </p:txBody>
      </p:sp>
      <p:sp>
        <p:nvSpPr>
          <p:cNvPr id="4" name="Slide Number Placeholder 3">
            <a:extLst>
              <a:ext uri="{FF2B5EF4-FFF2-40B4-BE49-F238E27FC236}">
                <a16:creationId xmlns:a16="http://schemas.microsoft.com/office/drawing/2014/main" id="{E1B7C084-A743-9407-D9EE-12FD4664B8FF}"/>
              </a:ext>
            </a:extLst>
          </p:cNvPr>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54048909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2EE57C-5C26-4DCA-BE28-371E529443E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55AFEF8-0C03-6A4E-135F-A9AEE44C759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0F2D5A8-B7B0-A911-E2BE-FB55470BC174}"/>
              </a:ext>
            </a:extLst>
          </p:cNvPr>
          <p:cNvSpPr>
            <a:spLocks noGrp="1"/>
          </p:cNvSpPr>
          <p:nvPr>
            <p:ph type="body" idx="1"/>
          </p:nvPr>
        </p:nvSpPr>
        <p:spPr/>
        <p:txBody>
          <a:bodyPr/>
          <a:lstStyle/>
          <a:p>
            <a:r>
              <a:rPr lang="tr-TR" b="1" dirty="0" err="1"/>
              <a:t>Dying</a:t>
            </a:r>
            <a:r>
              <a:rPr lang="tr-TR" b="1" dirty="0"/>
              <a:t> </a:t>
            </a:r>
            <a:r>
              <a:rPr lang="tr-TR" b="1" dirty="0" err="1"/>
              <a:t>ReLU</a:t>
            </a:r>
            <a:r>
              <a:rPr lang="tr-TR" b="1" dirty="0"/>
              <a:t> (Ölen </a:t>
            </a:r>
            <a:r>
              <a:rPr lang="tr-TR" b="1" dirty="0" err="1"/>
              <a:t>ReLU</a:t>
            </a:r>
            <a:r>
              <a:rPr lang="tr-TR" b="1" dirty="0"/>
              <a:t>)</a:t>
            </a:r>
            <a:r>
              <a:rPr lang="tr-TR" dirty="0"/>
              <a:t>, derin öğrenme modellerinde </a:t>
            </a:r>
            <a:r>
              <a:rPr lang="tr-TR" dirty="0" err="1"/>
              <a:t>ReLU</a:t>
            </a:r>
            <a:r>
              <a:rPr lang="tr-TR" dirty="0"/>
              <a:t> (</a:t>
            </a:r>
            <a:r>
              <a:rPr lang="tr-TR" dirty="0" err="1"/>
              <a:t>Rectified</a:t>
            </a:r>
            <a:r>
              <a:rPr lang="tr-TR" dirty="0"/>
              <a:t> </a:t>
            </a:r>
            <a:r>
              <a:rPr lang="tr-TR" dirty="0" err="1"/>
              <a:t>Linear</a:t>
            </a:r>
            <a:r>
              <a:rPr lang="tr-TR" dirty="0"/>
              <a:t> </a:t>
            </a:r>
            <a:r>
              <a:rPr lang="tr-TR" dirty="0" err="1"/>
              <a:t>Unit</a:t>
            </a:r>
            <a:r>
              <a:rPr lang="tr-TR" dirty="0"/>
              <a:t>) aktivasyon fonksiyonu kullanıldığında ortaya çıkan ve sinir ağının belirli bölümlerinin kalıcı olarak "etkisiz" hale gelmesine neden olan bir sorundur.</a:t>
            </a:r>
            <a:endParaRPr lang="en-US" dirty="0"/>
          </a:p>
        </p:txBody>
      </p:sp>
      <p:sp>
        <p:nvSpPr>
          <p:cNvPr id="4" name="Slide Number Placeholder 3">
            <a:extLst>
              <a:ext uri="{FF2B5EF4-FFF2-40B4-BE49-F238E27FC236}">
                <a16:creationId xmlns:a16="http://schemas.microsoft.com/office/drawing/2014/main" id="{F2870627-877C-97E7-749C-AC2A690CE7B7}"/>
              </a:ext>
            </a:extLst>
          </p:cNvPr>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338121164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1FA37A-7BA7-F1BF-E403-6A2CBA9F323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C0BEAF7-0092-2687-4148-46D2BA131A5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3359278-201B-7B5D-7CA1-B1809B33D520}"/>
              </a:ext>
            </a:extLst>
          </p:cNvPr>
          <p:cNvSpPr>
            <a:spLocks noGrp="1"/>
          </p:cNvSpPr>
          <p:nvPr>
            <p:ph type="body" idx="1"/>
          </p:nvPr>
        </p:nvSpPr>
        <p:spPr/>
        <p:txBody>
          <a:bodyPr/>
          <a:lstStyle/>
          <a:p>
            <a:r>
              <a:rPr lang="tr-TR" b="1" dirty="0" err="1"/>
              <a:t>Dying</a:t>
            </a:r>
            <a:r>
              <a:rPr lang="tr-TR" b="1" dirty="0"/>
              <a:t> </a:t>
            </a:r>
            <a:r>
              <a:rPr lang="tr-TR" b="1" dirty="0" err="1"/>
              <a:t>ReLU</a:t>
            </a:r>
            <a:r>
              <a:rPr lang="tr-TR" b="1" dirty="0"/>
              <a:t> (Ölen </a:t>
            </a:r>
            <a:r>
              <a:rPr lang="tr-TR" b="1" dirty="0" err="1"/>
              <a:t>ReLU</a:t>
            </a:r>
            <a:r>
              <a:rPr lang="tr-TR" b="1" dirty="0"/>
              <a:t>)</a:t>
            </a:r>
            <a:r>
              <a:rPr lang="tr-TR" dirty="0"/>
              <a:t>, derin öğrenme modellerinde </a:t>
            </a:r>
            <a:r>
              <a:rPr lang="tr-TR" dirty="0" err="1"/>
              <a:t>ReLU</a:t>
            </a:r>
            <a:r>
              <a:rPr lang="tr-TR" dirty="0"/>
              <a:t> (</a:t>
            </a:r>
            <a:r>
              <a:rPr lang="tr-TR" dirty="0" err="1"/>
              <a:t>Rectified</a:t>
            </a:r>
            <a:r>
              <a:rPr lang="tr-TR" dirty="0"/>
              <a:t> </a:t>
            </a:r>
            <a:r>
              <a:rPr lang="tr-TR" dirty="0" err="1"/>
              <a:t>Linear</a:t>
            </a:r>
            <a:r>
              <a:rPr lang="tr-TR" dirty="0"/>
              <a:t> </a:t>
            </a:r>
            <a:r>
              <a:rPr lang="tr-TR" dirty="0" err="1"/>
              <a:t>Unit</a:t>
            </a:r>
            <a:r>
              <a:rPr lang="tr-TR" dirty="0"/>
              <a:t>) aktivasyon fonksiyonu kullanıldığında ortaya çıkan ve sinir ağının belirli bölümlerinin kalıcı olarak "etkisiz" hale gelmesine neden olan bir sorundur.</a:t>
            </a:r>
            <a:endParaRPr lang="en-US" dirty="0"/>
          </a:p>
        </p:txBody>
      </p:sp>
      <p:sp>
        <p:nvSpPr>
          <p:cNvPr id="4" name="Slide Number Placeholder 3">
            <a:extLst>
              <a:ext uri="{FF2B5EF4-FFF2-40B4-BE49-F238E27FC236}">
                <a16:creationId xmlns:a16="http://schemas.microsoft.com/office/drawing/2014/main" id="{F38824F7-B375-6782-7C4F-7C527141DF95}"/>
              </a:ext>
            </a:extLst>
          </p:cNvPr>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352583165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cSld name="Başlık ve İçeri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a:t>Asıl başlık stilini düzenlemek için tıklayın</a:t>
            </a:r>
            <a:endParaRPr lang="en-US" dirty="0"/>
          </a:p>
        </p:txBody>
      </p:sp>
      <p:sp>
        <p:nvSpPr>
          <p:cNvPr id="3" name="Content Placeholder 2"/>
          <p:cNvSpPr>
            <a:spLocks noGrp="1"/>
          </p:cNvSpPr>
          <p:nvPr>
            <p:ph idx="1"/>
          </p:nvPr>
        </p:nvSpPr>
        <p:spPr/>
        <p:txBody>
          <a:bodyPr anchor="ct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t>2/12/2026</a:t>
            </a:fld>
            <a:endParaRPr lang="en-US"/>
          </a:p>
        </p:txBody>
      </p:sp>
      <p:sp>
        <p:nvSpPr>
          <p:cNvPr id="5" name="Footer Placeholder 4"/>
          <p:cNvSpPr>
            <a:spLocks noGrp="1"/>
          </p:cNvSpPr>
          <p:nvPr>
            <p:ph type="ftr" sz="quarter" idx="11"/>
          </p:nvPr>
        </p:nvSpPr>
        <p:spPr>
          <a:xfrm>
            <a:off x="513159" y="4629150"/>
            <a:ext cx="5657850" cy="273844"/>
          </a:xfrm>
          <a:prstGeom prst="rect">
            <a:avLst/>
          </a:prstGeom>
        </p:spPr>
        <p:txBody>
          <a:bodyPr/>
          <a:lstStyle/>
          <a:p>
            <a:endParaRPr lang="tr-TR"/>
          </a:p>
        </p:txBody>
      </p:sp>
      <p:sp>
        <p:nvSpPr>
          <p:cNvPr id="6" name="Slide Number Placeholder 5"/>
          <p:cNvSpPr>
            <a:spLocks noGrp="1"/>
          </p:cNvSpPr>
          <p:nvPr>
            <p:ph type="sldNum" sz="quarter" idx="12"/>
          </p:nvPr>
        </p:nvSpPr>
        <p:spPr/>
        <p:txBody>
          <a:bodyPr/>
          <a:lstStyle/>
          <a:p>
            <a:pPr marL="28575">
              <a:spcBef>
                <a:spcPts val="30"/>
              </a:spcBef>
            </a:pPr>
            <a:fld id="{81D60167-4931-47E6-BA6A-407CBD079E47}" type="slidenum">
              <a:rPr lang="tr-TR" smtClean="0"/>
              <a:pPr marL="28575">
                <a:spcBef>
                  <a:spcPts val="30"/>
                </a:spcBef>
              </a:pPr>
              <a:t>‹#›</a:t>
            </a:fld>
            <a:endParaRPr lang="tr-TR" dirty="0"/>
          </a:p>
        </p:txBody>
      </p:sp>
    </p:spTree>
    <p:extLst>
      <p:ext uri="{BB962C8B-B14F-4D97-AF65-F5344CB8AC3E}">
        <p14:creationId xmlns:p14="http://schemas.microsoft.com/office/powerpoint/2010/main" val="1530413375"/>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3" Type="http://schemas.openxmlformats.org/officeDocument/2006/relationships/image" Target="../media/image15.png"/><Relationship Id="rId18" Type="http://schemas.openxmlformats.org/officeDocument/2006/relationships/image" Target="../media/image20.png"/><Relationship Id="rId26" Type="http://schemas.openxmlformats.org/officeDocument/2006/relationships/image" Target="../media/image28.png"/><Relationship Id="rId3" Type="http://schemas.openxmlformats.org/officeDocument/2006/relationships/image" Target="../media/image5.png"/><Relationship Id="rId21" Type="http://schemas.openxmlformats.org/officeDocument/2006/relationships/image" Target="../media/image23.jpg"/><Relationship Id="rId7" Type="http://schemas.openxmlformats.org/officeDocument/2006/relationships/image" Target="../media/image9.png"/><Relationship Id="rId12" Type="http://schemas.openxmlformats.org/officeDocument/2006/relationships/image" Target="../media/image14.png"/><Relationship Id="rId17" Type="http://schemas.openxmlformats.org/officeDocument/2006/relationships/image" Target="../media/image19.jpg"/><Relationship Id="rId25" Type="http://schemas.openxmlformats.org/officeDocument/2006/relationships/image" Target="../media/image27.png"/><Relationship Id="rId33" Type="http://schemas.openxmlformats.org/officeDocument/2006/relationships/image" Target="../media/image35.png"/><Relationship Id="rId2" Type="http://schemas.openxmlformats.org/officeDocument/2006/relationships/notesSlide" Target="../notesSlides/notesSlide4.xml"/><Relationship Id="rId16" Type="http://schemas.openxmlformats.org/officeDocument/2006/relationships/image" Target="../media/image18.png"/><Relationship Id="rId20" Type="http://schemas.openxmlformats.org/officeDocument/2006/relationships/image" Target="../media/image22.jpg"/><Relationship Id="rId29" Type="http://schemas.openxmlformats.org/officeDocument/2006/relationships/image" Target="../media/image31.png"/><Relationship Id="rId1" Type="http://schemas.openxmlformats.org/officeDocument/2006/relationships/slideLayout" Target="../slideLayouts/slideLayout1.xml"/><Relationship Id="rId6" Type="http://schemas.openxmlformats.org/officeDocument/2006/relationships/image" Target="../media/image8.png"/><Relationship Id="rId11" Type="http://schemas.openxmlformats.org/officeDocument/2006/relationships/image" Target="../media/image13.png"/><Relationship Id="rId24" Type="http://schemas.openxmlformats.org/officeDocument/2006/relationships/image" Target="../media/image26.png"/><Relationship Id="rId32" Type="http://schemas.openxmlformats.org/officeDocument/2006/relationships/image" Target="../media/image34.png"/><Relationship Id="rId5" Type="http://schemas.openxmlformats.org/officeDocument/2006/relationships/image" Target="../media/image7.jpg"/><Relationship Id="rId15" Type="http://schemas.openxmlformats.org/officeDocument/2006/relationships/image" Target="../media/image17.png"/><Relationship Id="rId23" Type="http://schemas.openxmlformats.org/officeDocument/2006/relationships/image" Target="../media/image25.png"/><Relationship Id="rId28" Type="http://schemas.openxmlformats.org/officeDocument/2006/relationships/image" Target="../media/image30.png"/><Relationship Id="rId10" Type="http://schemas.openxmlformats.org/officeDocument/2006/relationships/image" Target="../media/image12.png"/><Relationship Id="rId19" Type="http://schemas.openxmlformats.org/officeDocument/2006/relationships/image" Target="../media/image21.jpg"/><Relationship Id="rId31" Type="http://schemas.openxmlformats.org/officeDocument/2006/relationships/image" Target="../media/image33.png"/><Relationship Id="rId4" Type="http://schemas.openxmlformats.org/officeDocument/2006/relationships/image" Target="../media/image6.png"/><Relationship Id="rId9" Type="http://schemas.openxmlformats.org/officeDocument/2006/relationships/image" Target="../media/image11.png"/><Relationship Id="rId14" Type="http://schemas.openxmlformats.org/officeDocument/2006/relationships/image" Target="../media/image16.png"/><Relationship Id="rId22" Type="http://schemas.openxmlformats.org/officeDocument/2006/relationships/image" Target="../media/image24.png"/><Relationship Id="rId27" Type="http://schemas.openxmlformats.org/officeDocument/2006/relationships/image" Target="../media/image29.png"/><Relationship Id="rId30" Type="http://schemas.openxmlformats.org/officeDocument/2006/relationships/image" Target="../media/image32.png"/><Relationship Id="rId8" Type="http://schemas.openxmlformats.org/officeDocument/2006/relationships/image" Target="../media/image10.png"/></Relationships>
</file>

<file path=ppt/slides/_rels/slide5.xml.rels><?xml version="1.0" encoding="UTF-8" standalone="yes"?>
<Relationships xmlns="http://schemas.openxmlformats.org/package/2006/relationships"><Relationship Id="rId13" Type="http://schemas.openxmlformats.org/officeDocument/2006/relationships/image" Target="../media/image40.png"/><Relationship Id="rId18" Type="http://schemas.openxmlformats.org/officeDocument/2006/relationships/image" Target="../media/image18.png"/><Relationship Id="rId26" Type="http://schemas.openxmlformats.org/officeDocument/2006/relationships/image" Target="../media/image50.png"/><Relationship Id="rId39" Type="http://schemas.openxmlformats.org/officeDocument/2006/relationships/image" Target="../media/image55.png"/><Relationship Id="rId21" Type="http://schemas.openxmlformats.org/officeDocument/2006/relationships/image" Target="../media/image45.png"/><Relationship Id="rId34" Type="http://schemas.openxmlformats.org/officeDocument/2006/relationships/image" Target="../media/image26.png"/><Relationship Id="rId42" Type="http://schemas.openxmlformats.org/officeDocument/2006/relationships/image" Target="../media/image57.png"/><Relationship Id="rId47" Type="http://schemas.openxmlformats.org/officeDocument/2006/relationships/image" Target="../media/image61.png"/><Relationship Id="rId50" Type="http://schemas.openxmlformats.org/officeDocument/2006/relationships/image" Target="../media/image64.jpg"/><Relationship Id="rId7" Type="http://schemas.openxmlformats.org/officeDocument/2006/relationships/image" Target="../media/image7.jpg"/><Relationship Id="rId2" Type="http://schemas.openxmlformats.org/officeDocument/2006/relationships/notesSlide" Target="../notesSlides/notesSlide5.xml"/><Relationship Id="rId16" Type="http://schemas.openxmlformats.org/officeDocument/2006/relationships/image" Target="../media/image43.png"/><Relationship Id="rId29" Type="http://schemas.openxmlformats.org/officeDocument/2006/relationships/image" Target="../media/image21.jpg"/><Relationship Id="rId11" Type="http://schemas.openxmlformats.org/officeDocument/2006/relationships/image" Target="../media/image39.png"/><Relationship Id="rId24" Type="http://schemas.openxmlformats.org/officeDocument/2006/relationships/image" Target="../media/image48.png"/><Relationship Id="rId32" Type="http://schemas.openxmlformats.org/officeDocument/2006/relationships/image" Target="../media/image24.png"/><Relationship Id="rId37" Type="http://schemas.openxmlformats.org/officeDocument/2006/relationships/image" Target="../media/image54.png"/><Relationship Id="rId40" Type="http://schemas.openxmlformats.org/officeDocument/2006/relationships/image" Target="../media/image32.png"/><Relationship Id="rId45" Type="http://schemas.openxmlformats.org/officeDocument/2006/relationships/image" Target="../media/image59.png"/><Relationship Id="rId5" Type="http://schemas.openxmlformats.org/officeDocument/2006/relationships/image" Target="../media/image5.png"/><Relationship Id="rId15" Type="http://schemas.openxmlformats.org/officeDocument/2006/relationships/image" Target="../media/image42.png"/><Relationship Id="rId23" Type="http://schemas.openxmlformats.org/officeDocument/2006/relationships/image" Target="../media/image47.png"/><Relationship Id="rId28" Type="http://schemas.openxmlformats.org/officeDocument/2006/relationships/image" Target="../media/image52.png"/><Relationship Id="rId36" Type="http://schemas.openxmlformats.org/officeDocument/2006/relationships/image" Target="../media/image28.png"/><Relationship Id="rId49" Type="http://schemas.openxmlformats.org/officeDocument/2006/relationships/image" Target="../media/image63.jpg"/><Relationship Id="rId10" Type="http://schemas.openxmlformats.org/officeDocument/2006/relationships/image" Target="../media/image10.png"/><Relationship Id="rId19" Type="http://schemas.openxmlformats.org/officeDocument/2006/relationships/image" Target="../media/image19.jpg"/><Relationship Id="rId31" Type="http://schemas.openxmlformats.org/officeDocument/2006/relationships/image" Target="../media/image23.jpg"/><Relationship Id="rId44" Type="http://schemas.openxmlformats.org/officeDocument/2006/relationships/image" Target="../media/image58.png"/><Relationship Id="rId4" Type="http://schemas.openxmlformats.org/officeDocument/2006/relationships/image" Target="../media/image37.jpg"/><Relationship Id="rId9" Type="http://schemas.openxmlformats.org/officeDocument/2006/relationships/image" Target="../media/image38.png"/><Relationship Id="rId14" Type="http://schemas.openxmlformats.org/officeDocument/2006/relationships/image" Target="../media/image41.png"/><Relationship Id="rId22" Type="http://schemas.openxmlformats.org/officeDocument/2006/relationships/image" Target="../media/image46.png"/><Relationship Id="rId27" Type="http://schemas.openxmlformats.org/officeDocument/2006/relationships/image" Target="../media/image51.png"/><Relationship Id="rId30" Type="http://schemas.openxmlformats.org/officeDocument/2006/relationships/image" Target="../media/image22.jpg"/><Relationship Id="rId35" Type="http://schemas.openxmlformats.org/officeDocument/2006/relationships/image" Target="../media/image53.png"/><Relationship Id="rId43" Type="http://schemas.openxmlformats.org/officeDocument/2006/relationships/image" Target="../media/image35.png"/><Relationship Id="rId48" Type="http://schemas.openxmlformats.org/officeDocument/2006/relationships/image" Target="../media/image62.jpg"/><Relationship Id="rId8" Type="http://schemas.openxmlformats.org/officeDocument/2006/relationships/image" Target="../media/image8.png"/><Relationship Id="rId51" Type="http://schemas.openxmlformats.org/officeDocument/2006/relationships/image" Target="../media/image65.jpg"/><Relationship Id="rId3" Type="http://schemas.openxmlformats.org/officeDocument/2006/relationships/image" Target="../media/image36.jpg"/><Relationship Id="rId12" Type="http://schemas.openxmlformats.org/officeDocument/2006/relationships/image" Target="../media/image12.png"/><Relationship Id="rId17" Type="http://schemas.openxmlformats.org/officeDocument/2006/relationships/image" Target="../media/image44.png"/><Relationship Id="rId25" Type="http://schemas.openxmlformats.org/officeDocument/2006/relationships/image" Target="../media/image49.png"/><Relationship Id="rId33" Type="http://schemas.openxmlformats.org/officeDocument/2006/relationships/image" Target="../media/image25.png"/><Relationship Id="rId38" Type="http://schemas.openxmlformats.org/officeDocument/2006/relationships/image" Target="../media/image30.png"/><Relationship Id="rId46" Type="http://schemas.openxmlformats.org/officeDocument/2006/relationships/image" Target="../media/image60.png"/><Relationship Id="rId20" Type="http://schemas.openxmlformats.org/officeDocument/2006/relationships/image" Target="../media/image20.png"/><Relationship Id="rId41" Type="http://schemas.openxmlformats.org/officeDocument/2006/relationships/image" Target="../media/image56.png"/><Relationship Id="rId1" Type="http://schemas.openxmlformats.org/officeDocument/2006/relationships/slideLayout" Target="../slideLayouts/slideLayout1.xml"/><Relationship Id="rId6" Type="http://schemas.openxmlformats.org/officeDocument/2006/relationships/image" Target="../media/image6.png"/></Relationships>
</file>

<file path=ppt/slides/_rels/slide6.xml.rels><?xml version="1.0" encoding="UTF-8" standalone="yes"?>
<Relationships xmlns="http://schemas.openxmlformats.org/package/2006/relationships"><Relationship Id="rId13" Type="http://schemas.openxmlformats.org/officeDocument/2006/relationships/image" Target="../media/image77.png"/><Relationship Id="rId18" Type="http://schemas.openxmlformats.org/officeDocument/2006/relationships/image" Target="../media/image82.png"/><Relationship Id="rId26" Type="http://schemas.openxmlformats.org/officeDocument/2006/relationships/image" Target="../media/image90.png"/><Relationship Id="rId39" Type="http://schemas.openxmlformats.org/officeDocument/2006/relationships/image" Target="../media/image103.png"/><Relationship Id="rId21" Type="http://schemas.openxmlformats.org/officeDocument/2006/relationships/image" Target="../media/image85.png"/><Relationship Id="rId34" Type="http://schemas.openxmlformats.org/officeDocument/2006/relationships/image" Target="../media/image98.png"/><Relationship Id="rId42" Type="http://schemas.openxmlformats.org/officeDocument/2006/relationships/image" Target="../media/image106.png"/><Relationship Id="rId47" Type="http://schemas.openxmlformats.org/officeDocument/2006/relationships/image" Target="../media/image111.png"/><Relationship Id="rId50" Type="http://schemas.openxmlformats.org/officeDocument/2006/relationships/image" Target="../media/image114.png"/><Relationship Id="rId7" Type="http://schemas.openxmlformats.org/officeDocument/2006/relationships/image" Target="../media/image71.png"/><Relationship Id="rId2" Type="http://schemas.openxmlformats.org/officeDocument/2006/relationships/image" Target="../media/image66.png"/><Relationship Id="rId16" Type="http://schemas.openxmlformats.org/officeDocument/2006/relationships/image" Target="../media/image80.png"/><Relationship Id="rId29" Type="http://schemas.openxmlformats.org/officeDocument/2006/relationships/image" Target="../media/image93.png"/><Relationship Id="rId11" Type="http://schemas.openxmlformats.org/officeDocument/2006/relationships/image" Target="../media/image75.png"/><Relationship Id="rId24" Type="http://schemas.openxmlformats.org/officeDocument/2006/relationships/image" Target="../media/image88.png"/><Relationship Id="rId32" Type="http://schemas.openxmlformats.org/officeDocument/2006/relationships/image" Target="../media/image96.png"/><Relationship Id="rId37" Type="http://schemas.openxmlformats.org/officeDocument/2006/relationships/image" Target="../media/image101.png"/><Relationship Id="rId40" Type="http://schemas.openxmlformats.org/officeDocument/2006/relationships/image" Target="../media/image104.png"/><Relationship Id="rId45" Type="http://schemas.openxmlformats.org/officeDocument/2006/relationships/image" Target="../media/image109.png"/><Relationship Id="rId53" Type="http://schemas.openxmlformats.org/officeDocument/2006/relationships/image" Target="../media/image117.png"/><Relationship Id="rId5" Type="http://schemas.openxmlformats.org/officeDocument/2006/relationships/image" Target="../media/image69.png"/><Relationship Id="rId10" Type="http://schemas.openxmlformats.org/officeDocument/2006/relationships/image" Target="../media/image74.png"/><Relationship Id="rId19" Type="http://schemas.openxmlformats.org/officeDocument/2006/relationships/image" Target="../media/image83.png"/><Relationship Id="rId31" Type="http://schemas.openxmlformats.org/officeDocument/2006/relationships/image" Target="../media/image95.png"/><Relationship Id="rId44" Type="http://schemas.openxmlformats.org/officeDocument/2006/relationships/image" Target="../media/image108.png"/><Relationship Id="rId52" Type="http://schemas.openxmlformats.org/officeDocument/2006/relationships/image" Target="../media/image116.png"/><Relationship Id="rId4" Type="http://schemas.openxmlformats.org/officeDocument/2006/relationships/image" Target="../media/image68.png"/><Relationship Id="rId9" Type="http://schemas.openxmlformats.org/officeDocument/2006/relationships/image" Target="../media/image73.png"/><Relationship Id="rId14" Type="http://schemas.openxmlformats.org/officeDocument/2006/relationships/image" Target="../media/image78.png"/><Relationship Id="rId22" Type="http://schemas.openxmlformats.org/officeDocument/2006/relationships/image" Target="../media/image86.png"/><Relationship Id="rId27" Type="http://schemas.openxmlformats.org/officeDocument/2006/relationships/image" Target="../media/image91.png"/><Relationship Id="rId30" Type="http://schemas.openxmlformats.org/officeDocument/2006/relationships/image" Target="../media/image94.png"/><Relationship Id="rId35" Type="http://schemas.openxmlformats.org/officeDocument/2006/relationships/image" Target="../media/image99.png"/><Relationship Id="rId43" Type="http://schemas.openxmlformats.org/officeDocument/2006/relationships/image" Target="../media/image107.png"/><Relationship Id="rId48" Type="http://schemas.openxmlformats.org/officeDocument/2006/relationships/image" Target="../media/image112.png"/><Relationship Id="rId8" Type="http://schemas.openxmlformats.org/officeDocument/2006/relationships/image" Target="../media/image72.png"/><Relationship Id="rId51" Type="http://schemas.openxmlformats.org/officeDocument/2006/relationships/image" Target="../media/image115.png"/><Relationship Id="rId3" Type="http://schemas.openxmlformats.org/officeDocument/2006/relationships/image" Target="../media/image67.png"/><Relationship Id="rId12" Type="http://schemas.openxmlformats.org/officeDocument/2006/relationships/image" Target="../media/image76.png"/><Relationship Id="rId17" Type="http://schemas.openxmlformats.org/officeDocument/2006/relationships/image" Target="../media/image81.png"/><Relationship Id="rId25" Type="http://schemas.openxmlformats.org/officeDocument/2006/relationships/image" Target="../media/image89.png"/><Relationship Id="rId33" Type="http://schemas.openxmlformats.org/officeDocument/2006/relationships/image" Target="../media/image97.png"/><Relationship Id="rId38" Type="http://schemas.openxmlformats.org/officeDocument/2006/relationships/image" Target="../media/image102.png"/><Relationship Id="rId46" Type="http://schemas.openxmlformats.org/officeDocument/2006/relationships/image" Target="../media/image110.png"/><Relationship Id="rId20" Type="http://schemas.openxmlformats.org/officeDocument/2006/relationships/image" Target="../media/image84.png"/><Relationship Id="rId41" Type="http://schemas.openxmlformats.org/officeDocument/2006/relationships/image" Target="../media/image105.png"/><Relationship Id="rId1" Type="http://schemas.openxmlformats.org/officeDocument/2006/relationships/slideLayout" Target="../slideLayouts/slideLayout2.xml"/><Relationship Id="rId6" Type="http://schemas.openxmlformats.org/officeDocument/2006/relationships/image" Target="../media/image70.png"/><Relationship Id="rId15" Type="http://schemas.openxmlformats.org/officeDocument/2006/relationships/image" Target="../media/image79.png"/><Relationship Id="rId23" Type="http://schemas.openxmlformats.org/officeDocument/2006/relationships/image" Target="../media/image87.png"/><Relationship Id="rId28" Type="http://schemas.openxmlformats.org/officeDocument/2006/relationships/image" Target="../media/image92.png"/><Relationship Id="rId36" Type="http://schemas.openxmlformats.org/officeDocument/2006/relationships/image" Target="../media/image100.png"/><Relationship Id="rId49" Type="http://schemas.openxmlformats.org/officeDocument/2006/relationships/image" Target="../media/image113.png"/></Relationships>
</file>

<file path=ppt/slides/_rels/slide7.xml.rels><?xml version="1.0" encoding="UTF-8" standalone="yes"?>
<Relationships xmlns="http://schemas.openxmlformats.org/package/2006/relationships"><Relationship Id="rId3" Type="http://schemas.openxmlformats.org/officeDocument/2006/relationships/image" Target="../media/image118.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19.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20.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21.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19.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22.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19.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23.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19.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24.png"/><Relationship Id="rId2" Type="http://schemas.openxmlformats.org/officeDocument/2006/relationships/notesSlide" Target="../notesSlides/notesSlide15.xml"/><Relationship Id="rId1" Type="http://schemas.openxmlformats.org/officeDocument/2006/relationships/slideLayout" Target="../slideLayouts/slideLayout1.xml"/><Relationship Id="rId5" Type="http://schemas.openxmlformats.org/officeDocument/2006/relationships/image" Target="../media/image126.png"/><Relationship Id="rId4" Type="http://schemas.openxmlformats.org/officeDocument/2006/relationships/image" Target="../media/image125.png"/></Relationships>
</file>

<file path=ppt/slides/_rels/slide17.xml.rels><?xml version="1.0" encoding="UTF-8" standalone="yes"?>
<Relationships xmlns="http://schemas.openxmlformats.org/package/2006/relationships"><Relationship Id="rId3" Type="http://schemas.openxmlformats.org/officeDocument/2006/relationships/image" Target="../media/image119.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19.png"/><Relationship Id="rId2" Type="http://schemas.openxmlformats.org/officeDocument/2006/relationships/notesSlide" Target="../notesSlides/notesSlide17.xml"/><Relationship Id="rId1" Type="http://schemas.openxmlformats.org/officeDocument/2006/relationships/slideLayout" Target="../slideLayouts/slideLayout1.xml"/><Relationship Id="rId5" Type="http://schemas.openxmlformats.org/officeDocument/2006/relationships/image" Target="../media/image128.png"/><Relationship Id="rId4" Type="http://schemas.openxmlformats.org/officeDocument/2006/relationships/image" Target="../media/image127.png"/></Relationships>
</file>

<file path=ppt/slides/_rels/slide19.xml.rels><?xml version="1.0" encoding="UTF-8" standalone="yes"?>
<Relationships xmlns="http://schemas.openxmlformats.org/package/2006/relationships"><Relationship Id="rId3" Type="http://schemas.openxmlformats.org/officeDocument/2006/relationships/image" Target="../media/image119.png"/><Relationship Id="rId2" Type="http://schemas.openxmlformats.org/officeDocument/2006/relationships/notesSlide" Target="../notesSlides/notesSlide18.xml"/><Relationship Id="rId1" Type="http://schemas.openxmlformats.org/officeDocument/2006/relationships/slideLayout" Target="../slideLayouts/slideLayout1.xml"/><Relationship Id="rId5" Type="http://schemas.openxmlformats.org/officeDocument/2006/relationships/image" Target="../media/image130.png"/><Relationship Id="rId4" Type="http://schemas.openxmlformats.org/officeDocument/2006/relationships/image" Target="../media/image129.png"/></Relationships>
</file>

<file path=ppt/slides/_rels/slide20.xml.rels><?xml version="1.0" encoding="UTF-8" standalone="yes"?>
<Relationships xmlns="http://schemas.openxmlformats.org/package/2006/relationships"><Relationship Id="rId3" Type="http://schemas.openxmlformats.org/officeDocument/2006/relationships/image" Target="../media/image119.png"/><Relationship Id="rId2" Type="http://schemas.openxmlformats.org/officeDocument/2006/relationships/notesSlide" Target="../notesSlides/notesSlide19.xml"/><Relationship Id="rId1" Type="http://schemas.openxmlformats.org/officeDocument/2006/relationships/slideLayout" Target="../slideLayouts/slideLayout1.xml"/><Relationship Id="rId5" Type="http://schemas.openxmlformats.org/officeDocument/2006/relationships/image" Target="../media/image132.png"/><Relationship Id="rId4" Type="http://schemas.openxmlformats.org/officeDocument/2006/relationships/image" Target="../media/image131.png"/></Relationships>
</file>

<file path=ppt/slides/_rels/slide21.xml.rels><?xml version="1.0" encoding="UTF-8" standalone="yes"?>
<Relationships xmlns="http://schemas.openxmlformats.org/package/2006/relationships"><Relationship Id="rId3" Type="http://schemas.openxmlformats.org/officeDocument/2006/relationships/image" Target="../media/image119.png"/><Relationship Id="rId2" Type="http://schemas.openxmlformats.org/officeDocument/2006/relationships/notesSlide" Target="../notesSlides/notesSlide20.xml"/><Relationship Id="rId1" Type="http://schemas.openxmlformats.org/officeDocument/2006/relationships/slideLayout" Target="../slideLayouts/slideLayout1.xml"/><Relationship Id="rId5" Type="http://schemas.openxmlformats.org/officeDocument/2006/relationships/image" Target="../media/image134.png"/><Relationship Id="rId4" Type="http://schemas.openxmlformats.org/officeDocument/2006/relationships/image" Target="../media/image133.png"/></Relationships>
</file>

<file path=ppt/slides/_rels/slide22.xml.rels><?xml version="1.0" encoding="UTF-8" standalone="yes"?>
<Relationships xmlns="http://schemas.openxmlformats.org/package/2006/relationships"><Relationship Id="rId3" Type="http://schemas.openxmlformats.org/officeDocument/2006/relationships/hyperlink" Target="https://www.youtube.com/watch?v=PjqGbEE7EYc" TargetMode="External"/><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17EBB1-0792-4731-B095-6A99389D60B7}"/>
            </a:ext>
          </a:extLst>
        </p:cNvPr>
        <p:cNvGrpSpPr/>
        <p:nvPr/>
      </p:nvGrpSpPr>
      <p:grpSpPr>
        <a:xfrm>
          <a:off x="0" y="0"/>
          <a:ext cx="0" cy="0"/>
          <a:chOff x="0" y="0"/>
          <a:chExt cx="0" cy="0"/>
        </a:xfrm>
      </p:grpSpPr>
      <p:pic>
        <p:nvPicPr>
          <p:cNvPr id="3" name="Image 0" descr="preencoded.png">
            <a:extLst>
              <a:ext uri="{FF2B5EF4-FFF2-40B4-BE49-F238E27FC236}">
                <a16:creationId xmlns:a16="http://schemas.microsoft.com/office/drawing/2014/main" id="{C3EF900F-91E7-DA1F-F56B-FAB4CDCEDE88}"/>
              </a:ext>
            </a:extLst>
          </p:cNvPr>
          <p:cNvPicPr>
            <a:picLocks noChangeAspect="1"/>
          </p:cNvPicPr>
          <p:nvPr/>
        </p:nvPicPr>
        <p:blipFill>
          <a:blip r:embed="rId3"/>
          <a:stretch>
            <a:fillRect/>
          </a:stretch>
        </p:blipFill>
        <p:spPr>
          <a:xfrm>
            <a:off x="0" y="0"/>
            <a:ext cx="9144000" cy="5143500"/>
          </a:xfrm>
          <a:prstGeom prst="rect">
            <a:avLst/>
          </a:prstGeom>
        </p:spPr>
      </p:pic>
      <p:sp>
        <p:nvSpPr>
          <p:cNvPr id="4" name="Shape 0">
            <a:extLst>
              <a:ext uri="{FF2B5EF4-FFF2-40B4-BE49-F238E27FC236}">
                <a16:creationId xmlns:a16="http://schemas.microsoft.com/office/drawing/2014/main" id="{BF1310EC-9022-A1F8-A606-0ED2E9B72845}"/>
              </a:ext>
            </a:extLst>
          </p:cNvPr>
          <p:cNvSpPr/>
          <p:nvPr/>
        </p:nvSpPr>
        <p:spPr>
          <a:xfrm>
            <a:off x="0" y="0"/>
            <a:ext cx="3071813" cy="5143500"/>
          </a:xfrm>
          <a:prstGeom prst="rect">
            <a:avLst/>
          </a:prstGeom>
          <a:solidFill>
            <a:srgbClr val="000000"/>
          </a:solidFill>
          <a:ln/>
        </p:spPr>
        <p:txBody>
          <a:bodyPr/>
          <a:lstStyle/>
          <a:p>
            <a:endParaRPr lang="tr-TR"/>
          </a:p>
        </p:txBody>
      </p:sp>
      <p:sp>
        <p:nvSpPr>
          <p:cNvPr id="5" name="Text 1">
            <a:extLst>
              <a:ext uri="{FF2B5EF4-FFF2-40B4-BE49-F238E27FC236}">
                <a16:creationId xmlns:a16="http://schemas.microsoft.com/office/drawing/2014/main" id="{9EBA69FA-68BC-7481-3565-581FE2ADB021}"/>
              </a:ext>
            </a:extLst>
          </p:cNvPr>
          <p:cNvSpPr/>
          <p:nvPr/>
        </p:nvSpPr>
        <p:spPr>
          <a:xfrm>
            <a:off x="214313" y="428625"/>
            <a:ext cx="2857500" cy="974626"/>
          </a:xfrm>
          <a:prstGeom prst="rect">
            <a:avLst/>
          </a:prstGeom>
          <a:noFill/>
          <a:ln/>
        </p:spPr>
        <p:txBody>
          <a:bodyPr wrap="square" lIns="0" tIns="0" rIns="0" bIns="0" rtlCol="0" anchor="t">
            <a:spAutoFit/>
          </a:bodyPr>
          <a:lstStyle/>
          <a:p>
            <a:pPr marL="0" indent="0" algn="l">
              <a:lnSpc>
                <a:spcPts val="3800"/>
              </a:lnSpc>
              <a:buNone/>
            </a:pPr>
            <a:r>
              <a:rPr lang="tr-TR" sz="3294" b="1" dirty="0">
                <a:solidFill>
                  <a:srgbClr val="FFFFFF"/>
                </a:solidFill>
              </a:rPr>
              <a:t>DERİN ÖĞRENME-2</a:t>
            </a:r>
            <a:endParaRPr lang="en-US" sz="3294" dirty="0"/>
          </a:p>
        </p:txBody>
      </p:sp>
      <p:sp>
        <p:nvSpPr>
          <p:cNvPr id="17" name="Text 11">
            <a:extLst>
              <a:ext uri="{FF2B5EF4-FFF2-40B4-BE49-F238E27FC236}">
                <a16:creationId xmlns:a16="http://schemas.microsoft.com/office/drawing/2014/main" id="{BBD69597-0B86-521F-3CF8-B1CDD036D032}"/>
              </a:ext>
            </a:extLst>
          </p:cNvPr>
          <p:cNvSpPr/>
          <p:nvPr/>
        </p:nvSpPr>
        <p:spPr>
          <a:xfrm>
            <a:off x="3507377" y="2420025"/>
            <a:ext cx="5029200" cy="319959"/>
          </a:xfrm>
          <a:prstGeom prst="rect">
            <a:avLst/>
          </a:prstGeom>
          <a:noFill/>
          <a:ln/>
        </p:spPr>
        <p:txBody>
          <a:bodyPr wrap="square" lIns="0" tIns="0" rIns="0" bIns="0" rtlCol="0" anchor="t">
            <a:spAutoFit/>
          </a:bodyPr>
          <a:lstStyle/>
          <a:p>
            <a:pPr marL="0" indent="0" algn="l">
              <a:lnSpc>
                <a:spcPts val="2200"/>
              </a:lnSpc>
              <a:buNone/>
            </a:pPr>
            <a:r>
              <a:rPr lang="tr-TR" sz="3200" b="1" dirty="0" err="1"/>
              <a:t>Dr.Öğr.Üyesi</a:t>
            </a:r>
            <a:r>
              <a:rPr lang="tr-TR" sz="3200" b="1" dirty="0"/>
              <a:t> Murat ŞİMŞEK</a:t>
            </a:r>
            <a:endParaRPr lang="en-US" sz="3200" b="1" dirty="0"/>
          </a:p>
        </p:txBody>
      </p:sp>
    </p:spTree>
    <p:extLst>
      <p:ext uri="{BB962C8B-B14F-4D97-AF65-F5344CB8AC3E}">
        <p14:creationId xmlns:p14="http://schemas.microsoft.com/office/powerpoint/2010/main" val="6488626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4" name="Shape 0"/>
          <p:cNvSpPr/>
          <p:nvPr/>
        </p:nvSpPr>
        <p:spPr>
          <a:xfrm>
            <a:off x="0" y="0"/>
            <a:ext cx="3071813" cy="5143500"/>
          </a:xfrm>
          <a:prstGeom prst="rect">
            <a:avLst/>
          </a:prstGeom>
          <a:solidFill>
            <a:srgbClr val="000000"/>
          </a:solidFill>
          <a:ln/>
        </p:spPr>
        <p:txBody>
          <a:bodyPr/>
          <a:lstStyle/>
          <a:p>
            <a:endParaRPr lang="tr-TR"/>
          </a:p>
        </p:txBody>
      </p:sp>
      <p:sp>
        <p:nvSpPr>
          <p:cNvPr id="5" name="Text 1"/>
          <p:cNvSpPr/>
          <p:nvPr/>
        </p:nvSpPr>
        <p:spPr>
          <a:xfrm>
            <a:off x="214313" y="428625"/>
            <a:ext cx="2857500" cy="1440163"/>
          </a:xfrm>
          <a:prstGeom prst="rect">
            <a:avLst/>
          </a:prstGeom>
          <a:noFill/>
          <a:ln/>
        </p:spPr>
        <p:txBody>
          <a:bodyPr wrap="square" lIns="0" tIns="0" rIns="0" bIns="0" rtlCol="0" anchor="t">
            <a:spAutoFit/>
          </a:bodyPr>
          <a:lstStyle/>
          <a:p>
            <a:pPr marL="0" indent="0" algn="l">
              <a:lnSpc>
                <a:spcPts val="3800"/>
              </a:lnSpc>
              <a:buNone/>
            </a:pPr>
            <a:r>
              <a:rPr lang="en-US" sz="3294" b="1" dirty="0">
                <a:solidFill>
                  <a:srgbClr val="FFFFFF"/>
                </a:solidFill>
              </a:rPr>
              <a:t>Yapay
Sinir
Ağları</a:t>
            </a:r>
            <a:endParaRPr lang="en-US" sz="3294" dirty="0"/>
          </a:p>
        </p:txBody>
      </p:sp>
      <p:sp>
        <p:nvSpPr>
          <p:cNvPr id="6" name="Text 2"/>
          <p:cNvSpPr/>
          <p:nvPr/>
        </p:nvSpPr>
        <p:spPr>
          <a:xfrm>
            <a:off x="3286125" y="332603"/>
            <a:ext cx="3163146" cy="341114"/>
          </a:xfrm>
          <a:prstGeom prst="rect">
            <a:avLst/>
          </a:prstGeom>
          <a:noFill/>
          <a:ln/>
        </p:spPr>
        <p:txBody>
          <a:bodyPr wrap="none" lIns="0" tIns="0" rIns="0" bIns="0" rtlCol="0" anchor="t">
            <a:spAutoFit/>
          </a:bodyPr>
          <a:lstStyle/>
          <a:p>
            <a:pPr marL="0" indent="0" algn="l">
              <a:lnSpc>
                <a:spcPts val="2200"/>
              </a:lnSpc>
              <a:buNone/>
            </a:pPr>
            <a:r>
              <a:rPr lang="en-US" sz="1704" dirty="0">
                <a:solidFill>
                  <a:srgbClr val="000000"/>
                </a:solidFill>
              </a:rPr>
              <a:t>Giriş ve Biyolojik Esin Kaynağı</a:t>
            </a:r>
            <a:endParaRPr lang="en-US" sz="1704" dirty="0"/>
          </a:p>
        </p:txBody>
      </p:sp>
      <p:sp>
        <p:nvSpPr>
          <p:cNvPr id="7" name="Text 3"/>
          <p:cNvSpPr/>
          <p:nvPr/>
        </p:nvSpPr>
        <p:spPr>
          <a:xfrm>
            <a:off x="3286125" y="759442"/>
            <a:ext cx="5643563" cy="548618"/>
          </a:xfrm>
          <a:prstGeom prst="rect">
            <a:avLst/>
          </a:prstGeom>
          <a:noFill/>
          <a:ln/>
        </p:spPr>
        <p:txBody>
          <a:bodyPr wrap="square" lIns="0" tIns="0" rIns="0" bIns="0" rtlCol="0" anchor="t">
            <a:spAutoFit/>
          </a:bodyPr>
          <a:lstStyle/>
          <a:p>
            <a:pPr marL="0" indent="0" algn="l">
              <a:lnSpc>
                <a:spcPts val="2200"/>
              </a:lnSpc>
              <a:buNone/>
            </a:pPr>
            <a:r>
              <a:rPr lang="en-US" sz="1269" dirty="0">
                <a:solidFill>
                  <a:srgbClr val="333333"/>
                </a:solidFill>
              </a:rPr>
              <a:t>Yapay Sinir Ağları (YSA), insan beyninden esinlenen hesaplama modelleridir.</a:t>
            </a:r>
            <a:endParaRPr lang="en-US" sz="1269" dirty="0"/>
          </a:p>
        </p:txBody>
      </p:sp>
      <p:sp>
        <p:nvSpPr>
          <p:cNvPr id="8" name="Shape 4"/>
          <p:cNvSpPr/>
          <p:nvPr/>
        </p:nvSpPr>
        <p:spPr>
          <a:xfrm>
            <a:off x="3286125" y="1393785"/>
            <a:ext cx="2778919" cy="1818754"/>
          </a:xfrm>
          <a:prstGeom prst="rect">
            <a:avLst/>
          </a:prstGeom>
          <a:solidFill>
            <a:srgbClr val="F4F4F4"/>
          </a:solidFill>
          <a:ln/>
        </p:spPr>
        <p:txBody>
          <a:bodyPr/>
          <a:lstStyle/>
          <a:p>
            <a:endParaRPr lang="tr-TR"/>
          </a:p>
        </p:txBody>
      </p:sp>
      <p:sp>
        <p:nvSpPr>
          <p:cNvPr id="9" name="Shape 5"/>
          <p:cNvSpPr/>
          <p:nvPr/>
        </p:nvSpPr>
        <p:spPr>
          <a:xfrm>
            <a:off x="3286125" y="1393785"/>
            <a:ext cx="2778919" cy="35719"/>
          </a:xfrm>
          <a:prstGeom prst="rect">
            <a:avLst/>
          </a:prstGeom>
          <a:solidFill>
            <a:srgbClr val="000000"/>
          </a:solidFill>
          <a:ln/>
        </p:spPr>
        <p:txBody>
          <a:bodyPr/>
          <a:lstStyle/>
          <a:p>
            <a:endParaRPr lang="tr-TR"/>
          </a:p>
        </p:txBody>
      </p:sp>
      <p:pic>
        <p:nvPicPr>
          <p:cNvPr id="10" name="Image 1" descr="preencoded.png"/>
          <p:cNvPicPr>
            <a:picLocks noChangeAspect="1"/>
          </p:cNvPicPr>
          <p:nvPr/>
        </p:nvPicPr>
        <p:blipFill>
          <a:blip r:embed="rId4"/>
          <a:stretch>
            <a:fillRect/>
          </a:stretch>
        </p:blipFill>
        <p:spPr>
          <a:xfrm>
            <a:off x="3386138" y="1493797"/>
            <a:ext cx="342900" cy="342900"/>
          </a:xfrm>
          <a:prstGeom prst="rect">
            <a:avLst/>
          </a:prstGeom>
        </p:spPr>
      </p:pic>
      <p:sp>
        <p:nvSpPr>
          <p:cNvPr id="11" name="Text 6"/>
          <p:cNvSpPr/>
          <p:nvPr/>
        </p:nvSpPr>
        <p:spPr>
          <a:xfrm>
            <a:off x="3386138" y="1893847"/>
            <a:ext cx="2578894" cy="274309"/>
          </a:xfrm>
          <a:prstGeom prst="rect">
            <a:avLst/>
          </a:prstGeom>
          <a:noFill/>
          <a:ln/>
        </p:spPr>
        <p:txBody>
          <a:bodyPr wrap="none" lIns="0" tIns="0" rIns="0" bIns="0" rtlCol="0" anchor="t">
            <a:spAutoFit/>
          </a:bodyPr>
          <a:lstStyle/>
          <a:p>
            <a:pPr marL="0" indent="0" algn="l">
              <a:lnSpc>
                <a:spcPts val="2200"/>
              </a:lnSpc>
              <a:buNone/>
            </a:pPr>
            <a:r>
              <a:rPr lang="en-US" sz="1193" b="1" dirty="0">
                <a:solidFill>
                  <a:srgbClr val="333333"/>
                </a:solidFill>
              </a:rPr>
              <a:t>Biyolojik Temel</a:t>
            </a:r>
            <a:endParaRPr lang="en-US" sz="1193" dirty="0"/>
          </a:p>
        </p:txBody>
      </p:sp>
      <p:sp>
        <p:nvSpPr>
          <p:cNvPr id="12" name="Text 7"/>
          <p:cNvSpPr/>
          <p:nvPr/>
        </p:nvSpPr>
        <p:spPr>
          <a:xfrm>
            <a:off x="3386138" y="2211019"/>
            <a:ext cx="2578894" cy="548618"/>
          </a:xfrm>
          <a:prstGeom prst="rect">
            <a:avLst/>
          </a:prstGeom>
          <a:noFill/>
          <a:ln/>
        </p:spPr>
        <p:txBody>
          <a:bodyPr wrap="square" lIns="0" tIns="0" rIns="0" bIns="0" rtlCol="0" anchor="t">
            <a:spAutoFit/>
          </a:bodyPr>
          <a:lstStyle/>
          <a:p>
            <a:pPr marL="0" indent="0" algn="l">
              <a:lnSpc>
                <a:spcPts val="2200"/>
              </a:lnSpc>
              <a:buNone/>
            </a:pPr>
            <a:r>
              <a:rPr lang="en-US" sz="1269" dirty="0">
                <a:solidFill>
                  <a:srgbClr val="333333"/>
                </a:solidFill>
              </a:rPr>
              <a:t>Dendritler, Hücre Gövdesi, Akson ve Sinapslar.</a:t>
            </a:r>
            <a:endParaRPr lang="en-US" sz="1269" dirty="0"/>
          </a:p>
        </p:txBody>
      </p:sp>
      <p:sp>
        <p:nvSpPr>
          <p:cNvPr id="13" name="Shape 8"/>
          <p:cNvSpPr/>
          <p:nvPr/>
        </p:nvSpPr>
        <p:spPr>
          <a:xfrm>
            <a:off x="6150769" y="1393785"/>
            <a:ext cx="2778919" cy="1818754"/>
          </a:xfrm>
          <a:prstGeom prst="rect">
            <a:avLst/>
          </a:prstGeom>
          <a:solidFill>
            <a:srgbClr val="F4F4F4"/>
          </a:solidFill>
          <a:ln/>
        </p:spPr>
        <p:txBody>
          <a:bodyPr/>
          <a:lstStyle/>
          <a:p>
            <a:endParaRPr lang="tr-TR"/>
          </a:p>
        </p:txBody>
      </p:sp>
      <p:sp>
        <p:nvSpPr>
          <p:cNvPr id="14" name="Shape 9"/>
          <p:cNvSpPr/>
          <p:nvPr/>
        </p:nvSpPr>
        <p:spPr>
          <a:xfrm>
            <a:off x="6150769" y="1393785"/>
            <a:ext cx="2778919" cy="35719"/>
          </a:xfrm>
          <a:prstGeom prst="rect">
            <a:avLst/>
          </a:prstGeom>
          <a:solidFill>
            <a:srgbClr val="000000"/>
          </a:solidFill>
          <a:ln/>
        </p:spPr>
        <p:txBody>
          <a:bodyPr/>
          <a:lstStyle/>
          <a:p>
            <a:endParaRPr lang="tr-TR"/>
          </a:p>
        </p:txBody>
      </p:sp>
      <p:pic>
        <p:nvPicPr>
          <p:cNvPr id="15" name="Image 2" descr="preencoded.png"/>
          <p:cNvPicPr>
            <a:picLocks noChangeAspect="1"/>
          </p:cNvPicPr>
          <p:nvPr/>
        </p:nvPicPr>
        <p:blipFill>
          <a:blip r:embed="rId5"/>
          <a:stretch>
            <a:fillRect/>
          </a:stretch>
        </p:blipFill>
        <p:spPr>
          <a:xfrm>
            <a:off x="6250781" y="1493797"/>
            <a:ext cx="342900" cy="342900"/>
          </a:xfrm>
          <a:prstGeom prst="rect">
            <a:avLst/>
          </a:prstGeom>
        </p:spPr>
      </p:pic>
      <p:sp>
        <p:nvSpPr>
          <p:cNvPr id="16" name="Text 10"/>
          <p:cNvSpPr/>
          <p:nvPr/>
        </p:nvSpPr>
        <p:spPr>
          <a:xfrm>
            <a:off x="6250781" y="1893847"/>
            <a:ext cx="2578894" cy="274309"/>
          </a:xfrm>
          <a:prstGeom prst="rect">
            <a:avLst/>
          </a:prstGeom>
          <a:noFill/>
          <a:ln/>
        </p:spPr>
        <p:txBody>
          <a:bodyPr wrap="none" lIns="0" tIns="0" rIns="0" bIns="0" rtlCol="0" anchor="t">
            <a:spAutoFit/>
          </a:bodyPr>
          <a:lstStyle/>
          <a:p>
            <a:pPr marL="0" indent="0" algn="l">
              <a:lnSpc>
                <a:spcPts val="2200"/>
              </a:lnSpc>
              <a:buNone/>
            </a:pPr>
            <a:r>
              <a:rPr lang="en-US" sz="1193" b="1" dirty="0">
                <a:solidFill>
                  <a:srgbClr val="333333"/>
                </a:solidFill>
              </a:rPr>
              <a:t>Matematiksel Model</a:t>
            </a:r>
            <a:endParaRPr lang="en-US" sz="1193" dirty="0"/>
          </a:p>
        </p:txBody>
      </p:sp>
      <p:sp>
        <p:nvSpPr>
          <p:cNvPr id="17" name="Text 11"/>
          <p:cNvSpPr/>
          <p:nvPr/>
        </p:nvSpPr>
        <p:spPr>
          <a:xfrm>
            <a:off x="6250781" y="2211019"/>
            <a:ext cx="2578894" cy="822927"/>
          </a:xfrm>
          <a:prstGeom prst="rect">
            <a:avLst/>
          </a:prstGeom>
          <a:noFill/>
          <a:ln/>
        </p:spPr>
        <p:txBody>
          <a:bodyPr wrap="square" lIns="0" tIns="0" rIns="0" bIns="0" rtlCol="0" anchor="t">
            <a:spAutoFit/>
          </a:bodyPr>
          <a:lstStyle/>
          <a:p>
            <a:pPr marL="0" indent="0" algn="l">
              <a:lnSpc>
                <a:spcPts val="2200"/>
              </a:lnSpc>
              <a:buNone/>
            </a:pPr>
            <a:r>
              <a:rPr lang="en-US" sz="1269" dirty="0">
                <a:solidFill>
                  <a:srgbClr val="333333"/>
                </a:solidFill>
              </a:rPr>
              <a:t>Girdilerin ağırlıklarla çarpılıp toplanması ve aktivasyon fonksiyonu.</a:t>
            </a:r>
            <a:endParaRPr lang="en-US" sz="1269"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A26E60-1BE7-CD51-C426-831690B496AD}"/>
            </a:ext>
          </a:extLst>
        </p:cNvPr>
        <p:cNvGrpSpPr/>
        <p:nvPr/>
      </p:nvGrpSpPr>
      <p:grpSpPr>
        <a:xfrm>
          <a:off x="0" y="0"/>
          <a:ext cx="0" cy="0"/>
          <a:chOff x="0" y="0"/>
          <a:chExt cx="0" cy="0"/>
        </a:xfrm>
      </p:grpSpPr>
      <p:sp>
        <p:nvSpPr>
          <p:cNvPr id="4" name="Shape 0">
            <a:extLst>
              <a:ext uri="{FF2B5EF4-FFF2-40B4-BE49-F238E27FC236}">
                <a16:creationId xmlns:a16="http://schemas.microsoft.com/office/drawing/2014/main" id="{906C01EA-0132-8580-5BD6-20A2DBA8B7A4}"/>
              </a:ext>
            </a:extLst>
          </p:cNvPr>
          <p:cNvSpPr/>
          <p:nvPr/>
        </p:nvSpPr>
        <p:spPr>
          <a:xfrm>
            <a:off x="0" y="0"/>
            <a:ext cx="3071813" cy="5143500"/>
          </a:xfrm>
          <a:prstGeom prst="rect">
            <a:avLst/>
          </a:prstGeom>
          <a:solidFill>
            <a:srgbClr val="000000"/>
          </a:solidFill>
          <a:ln/>
        </p:spPr>
        <p:txBody>
          <a:bodyPr/>
          <a:lstStyle/>
          <a:p>
            <a:endParaRPr lang="tr-TR"/>
          </a:p>
        </p:txBody>
      </p:sp>
      <p:sp>
        <p:nvSpPr>
          <p:cNvPr id="5" name="Text 1">
            <a:extLst>
              <a:ext uri="{FF2B5EF4-FFF2-40B4-BE49-F238E27FC236}">
                <a16:creationId xmlns:a16="http://schemas.microsoft.com/office/drawing/2014/main" id="{CF5A6914-6855-82E7-6677-12C7E3F4A15E}"/>
              </a:ext>
            </a:extLst>
          </p:cNvPr>
          <p:cNvSpPr/>
          <p:nvPr/>
        </p:nvSpPr>
        <p:spPr>
          <a:xfrm>
            <a:off x="214313" y="428625"/>
            <a:ext cx="2857500" cy="1440163"/>
          </a:xfrm>
          <a:prstGeom prst="rect">
            <a:avLst/>
          </a:prstGeom>
          <a:noFill/>
          <a:ln/>
        </p:spPr>
        <p:txBody>
          <a:bodyPr wrap="square" lIns="0" tIns="0" rIns="0" bIns="0" rtlCol="0" anchor="t">
            <a:spAutoFit/>
          </a:bodyPr>
          <a:lstStyle/>
          <a:p>
            <a:pPr marL="0" indent="0" algn="l">
              <a:lnSpc>
                <a:spcPts val="3800"/>
              </a:lnSpc>
              <a:buNone/>
            </a:pPr>
            <a:r>
              <a:rPr lang="en-US" sz="3294" b="1" dirty="0">
                <a:solidFill>
                  <a:srgbClr val="FFFFFF"/>
                </a:solidFill>
              </a:rPr>
              <a:t>Yapay
Sinir
Ağları</a:t>
            </a:r>
            <a:endParaRPr lang="en-US" sz="3294" dirty="0"/>
          </a:p>
        </p:txBody>
      </p:sp>
      <p:pic>
        <p:nvPicPr>
          <p:cNvPr id="2" name="object 9">
            <a:extLst>
              <a:ext uri="{FF2B5EF4-FFF2-40B4-BE49-F238E27FC236}">
                <a16:creationId xmlns:a16="http://schemas.microsoft.com/office/drawing/2014/main" id="{A5A52177-FBE3-5DA2-4110-49D91E269ED2}"/>
              </a:ext>
            </a:extLst>
          </p:cNvPr>
          <p:cNvPicPr/>
          <p:nvPr/>
        </p:nvPicPr>
        <p:blipFill>
          <a:blip r:embed="rId3" cstate="print"/>
          <a:stretch>
            <a:fillRect/>
          </a:stretch>
        </p:blipFill>
        <p:spPr>
          <a:xfrm>
            <a:off x="3071812" y="1013460"/>
            <a:ext cx="6072187" cy="2880360"/>
          </a:xfrm>
          <a:prstGeom prst="rect">
            <a:avLst/>
          </a:prstGeom>
        </p:spPr>
      </p:pic>
    </p:spTree>
    <p:extLst>
      <p:ext uri="{BB962C8B-B14F-4D97-AF65-F5344CB8AC3E}">
        <p14:creationId xmlns:p14="http://schemas.microsoft.com/office/powerpoint/2010/main" val="72700257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E831CD-50BD-1871-EF2E-C7CB1BFAF289}"/>
            </a:ext>
          </a:extLst>
        </p:cNvPr>
        <p:cNvGrpSpPr/>
        <p:nvPr/>
      </p:nvGrpSpPr>
      <p:grpSpPr>
        <a:xfrm>
          <a:off x="0" y="0"/>
          <a:ext cx="0" cy="0"/>
          <a:chOff x="0" y="0"/>
          <a:chExt cx="0" cy="0"/>
        </a:xfrm>
      </p:grpSpPr>
      <p:sp>
        <p:nvSpPr>
          <p:cNvPr id="5" name="Text 1">
            <a:extLst>
              <a:ext uri="{FF2B5EF4-FFF2-40B4-BE49-F238E27FC236}">
                <a16:creationId xmlns:a16="http://schemas.microsoft.com/office/drawing/2014/main" id="{1A6CB207-CCDB-C484-0C38-D83486A23F47}"/>
              </a:ext>
            </a:extLst>
          </p:cNvPr>
          <p:cNvSpPr/>
          <p:nvPr/>
        </p:nvSpPr>
        <p:spPr>
          <a:xfrm>
            <a:off x="214312" y="10632"/>
            <a:ext cx="4798861" cy="487313"/>
          </a:xfrm>
          <a:prstGeom prst="rect">
            <a:avLst/>
          </a:prstGeom>
          <a:noFill/>
          <a:ln/>
        </p:spPr>
        <p:txBody>
          <a:bodyPr wrap="square" lIns="0" tIns="0" rIns="0" bIns="0" rtlCol="0" anchor="t">
            <a:spAutoFit/>
          </a:bodyPr>
          <a:lstStyle/>
          <a:p>
            <a:pPr marL="0" indent="0" algn="l">
              <a:lnSpc>
                <a:spcPts val="3800"/>
              </a:lnSpc>
              <a:buNone/>
            </a:pPr>
            <a:r>
              <a:rPr lang="en-US" sz="3294" b="1" dirty="0" err="1"/>
              <a:t>Yapay</a:t>
            </a:r>
            <a:r>
              <a:rPr lang="tr-TR" sz="3294" b="1" dirty="0"/>
              <a:t> </a:t>
            </a:r>
            <a:r>
              <a:rPr lang="en-US" sz="3294" b="1" dirty="0" err="1"/>
              <a:t>Sinir</a:t>
            </a:r>
            <a:r>
              <a:rPr lang="tr-TR" sz="3294" b="1" dirty="0"/>
              <a:t> A</a:t>
            </a:r>
            <a:r>
              <a:rPr lang="en-US" sz="3294" b="1" dirty="0" err="1"/>
              <a:t>ğları</a:t>
            </a:r>
            <a:endParaRPr lang="en-US" sz="3294" dirty="0"/>
          </a:p>
        </p:txBody>
      </p:sp>
      <p:grpSp>
        <p:nvGrpSpPr>
          <p:cNvPr id="3" name="object 6">
            <a:extLst>
              <a:ext uri="{FF2B5EF4-FFF2-40B4-BE49-F238E27FC236}">
                <a16:creationId xmlns:a16="http://schemas.microsoft.com/office/drawing/2014/main" id="{C8849DB2-9453-49E3-0C86-92F9BA429ED1}"/>
              </a:ext>
            </a:extLst>
          </p:cNvPr>
          <p:cNvGrpSpPr/>
          <p:nvPr/>
        </p:nvGrpSpPr>
        <p:grpSpPr>
          <a:xfrm>
            <a:off x="5135703" y="2458138"/>
            <a:ext cx="1684020" cy="1664970"/>
            <a:chOff x="6629223" y="4225978"/>
            <a:chExt cx="1684020" cy="1664970"/>
          </a:xfrm>
        </p:grpSpPr>
        <p:pic>
          <p:nvPicPr>
            <p:cNvPr id="6" name="object 7">
              <a:extLst>
                <a:ext uri="{FF2B5EF4-FFF2-40B4-BE49-F238E27FC236}">
                  <a16:creationId xmlns:a16="http://schemas.microsoft.com/office/drawing/2014/main" id="{EB929AC7-2D7A-53F1-8935-F3935BD081C2}"/>
                </a:ext>
              </a:extLst>
            </p:cNvPr>
            <p:cNvPicPr/>
            <p:nvPr/>
          </p:nvPicPr>
          <p:blipFill>
            <a:blip r:embed="rId3" cstate="print"/>
            <a:stretch>
              <a:fillRect/>
            </a:stretch>
          </p:blipFill>
          <p:spPr>
            <a:xfrm>
              <a:off x="6629223" y="4225978"/>
              <a:ext cx="1683626" cy="1664836"/>
            </a:xfrm>
            <a:prstGeom prst="rect">
              <a:avLst/>
            </a:prstGeom>
          </p:spPr>
        </p:pic>
        <p:sp>
          <p:nvSpPr>
            <p:cNvPr id="7" name="object 8">
              <a:extLst>
                <a:ext uri="{FF2B5EF4-FFF2-40B4-BE49-F238E27FC236}">
                  <a16:creationId xmlns:a16="http://schemas.microsoft.com/office/drawing/2014/main" id="{2D9E0600-72B2-9EC2-35D1-54A4D3571F1C}"/>
                </a:ext>
              </a:extLst>
            </p:cNvPr>
            <p:cNvSpPr/>
            <p:nvPr/>
          </p:nvSpPr>
          <p:spPr>
            <a:xfrm>
              <a:off x="6670780" y="4253705"/>
              <a:ext cx="1597025" cy="1574800"/>
            </a:xfrm>
            <a:custGeom>
              <a:avLst/>
              <a:gdLst/>
              <a:ahLst/>
              <a:cxnLst/>
              <a:rect l="l" t="t" r="r" b="b"/>
              <a:pathLst>
                <a:path w="1597025" h="1574800">
                  <a:moveTo>
                    <a:pt x="959064" y="1562099"/>
                  </a:moveTo>
                  <a:lnTo>
                    <a:pt x="637644" y="1562099"/>
                  </a:lnTo>
                  <a:lnTo>
                    <a:pt x="657217" y="1574799"/>
                  </a:lnTo>
                  <a:lnTo>
                    <a:pt x="939491" y="1574799"/>
                  </a:lnTo>
                  <a:lnTo>
                    <a:pt x="959064" y="1562099"/>
                  </a:lnTo>
                  <a:close/>
                </a:path>
                <a:path w="1597025" h="1574800">
                  <a:moveTo>
                    <a:pt x="679573" y="1549399"/>
                  </a:moveTo>
                  <a:lnTo>
                    <a:pt x="579946" y="1549399"/>
                  </a:lnTo>
                  <a:lnTo>
                    <a:pt x="598963" y="1562099"/>
                  </a:lnTo>
                  <a:lnTo>
                    <a:pt x="699053" y="1562099"/>
                  </a:lnTo>
                  <a:lnTo>
                    <a:pt x="679573" y="1549399"/>
                  </a:lnTo>
                  <a:close/>
                </a:path>
                <a:path w="1597025" h="1574800">
                  <a:moveTo>
                    <a:pt x="1016762" y="1549399"/>
                  </a:moveTo>
                  <a:lnTo>
                    <a:pt x="916857" y="1549399"/>
                  </a:lnTo>
                  <a:lnTo>
                    <a:pt x="897377" y="1562099"/>
                  </a:lnTo>
                  <a:lnTo>
                    <a:pt x="997746" y="1562099"/>
                  </a:lnTo>
                  <a:lnTo>
                    <a:pt x="1016762" y="1549399"/>
                  </a:lnTo>
                  <a:close/>
                </a:path>
                <a:path w="1597025" h="1574800">
                  <a:moveTo>
                    <a:pt x="603508" y="1536699"/>
                  </a:moveTo>
                  <a:lnTo>
                    <a:pt x="542471" y="1536699"/>
                  </a:lnTo>
                  <a:lnTo>
                    <a:pt x="561116" y="1549399"/>
                  </a:lnTo>
                  <a:lnTo>
                    <a:pt x="622246" y="1549399"/>
                  </a:lnTo>
                  <a:lnTo>
                    <a:pt x="603508" y="1536699"/>
                  </a:lnTo>
                  <a:close/>
                </a:path>
                <a:path w="1597025" h="1574800">
                  <a:moveTo>
                    <a:pt x="1054330" y="1536699"/>
                  </a:moveTo>
                  <a:lnTo>
                    <a:pt x="993015" y="1536699"/>
                  </a:lnTo>
                  <a:lnTo>
                    <a:pt x="974184" y="1549399"/>
                  </a:lnTo>
                  <a:lnTo>
                    <a:pt x="1035685" y="1549399"/>
                  </a:lnTo>
                  <a:lnTo>
                    <a:pt x="1054330" y="1536699"/>
                  </a:lnTo>
                  <a:close/>
                </a:path>
                <a:path w="1597025" h="1574800">
                  <a:moveTo>
                    <a:pt x="566496" y="1523999"/>
                  </a:moveTo>
                  <a:lnTo>
                    <a:pt x="505830" y="1523999"/>
                  </a:lnTo>
                  <a:lnTo>
                    <a:pt x="524104" y="1536699"/>
                  </a:lnTo>
                  <a:lnTo>
                    <a:pt x="584955" y="1536699"/>
                  </a:lnTo>
                  <a:lnTo>
                    <a:pt x="566496" y="1523999"/>
                  </a:lnTo>
                  <a:close/>
                </a:path>
                <a:path w="1597025" h="1574800">
                  <a:moveTo>
                    <a:pt x="1090971" y="1523999"/>
                  </a:moveTo>
                  <a:lnTo>
                    <a:pt x="1030027" y="1523999"/>
                  </a:lnTo>
                  <a:lnTo>
                    <a:pt x="1011567" y="1536699"/>
                  </a:lnTo>
                  <a:lnTo>
                    <a:pt x="1072790" y="1536699"/>
                  </a:lnTo>
                  <a:lnTo>
                    <a:pt x="1090971" y="1523999"/>
                  </a:lnTo>
                  <a:close/>
                </a:path>
                <a:path w="1597025" h="1574800">
                  <a:moveTo>
                    <a:pt x="649" y="774699"/>
                  </a:moveTo>
                  <a:lnTo>
                    <a:pt x="0" y="774699"/>
                  </a:lnTo>
                  <a:lnTo>
                    <a:pt x="556" y="812799"/>
                  </a:lnTo>
                  <a:lnTo>
                    <a:pt x="1298" y="838199"/>
                  </a:lnTo>
                  <a:lnTo>
                    <a:pt x="2597" y="850899"/>
                  </a:lnTo>
                  <a:lnTo>
                    <a:pt x="4359" y="876299"/>
                  </a:lnTo>
                  <a:lnTo>
                    <a:pt x="6678" y="888999"/>
                  </a:lnTo>
                  <a:lnTo>
                    <a:pt x="9461" y="914399"/>
                  </a:lnTo>
                  <a:lnTo>
                    <a:pt x="12801" y="927099"/>
                  </a:lnTo>
                  <a:lnTo>
                    <a:pt x="16511" y="952499"/>
                  </a:lnTo>
                  <a:lnTo>
                    <a:pt x="20685" y="965199"/>
                  </a:lnTo>
                  <a:lnTo>
                    <a:pt x="25416" y="990599"/>
                  </a:lnTo>
                  <a:lnTo>
                    <a:pt x="30611" y="1003299"/>
                  </a:lnTo>
                  <a:lnTo>
                    <a:pt x="36177" y="1028699"/>
                  </a:lnTo>
                  <a:lnTo>
                    <a:pt x="42206" y="1041399"/>
                  </a:lnTo>
                  <a:lnTo>
                    <a:pt x="48699" y="1066799"/>
                  </a:lnTo>
                  <a:lnTo>
                    <a:pt x="55657" y="1079499"/>
                  </a:lnTo>
                  <a:lnTo>
                    <a:pt x="62985" y="1104899"/>
                  </a:lnTo>
                  <a:lnTo>
                    <a:pt x="70870" y="1117599"/>
                  </a:lnTo>
                  <a:lnTo>
                    <a:pt x="79033" y="1130299"/>
                  </a:lnTo>
                  <a:lnTo>
                    <a:pt x="96657" y="1168399"/>
                  </a:lnTo>
                  <a:lnTo>
                    <a:pt x="115859" y="1206499"/>
                  </a:lnTo>
                  <a:lnTo>
                    <a:pt x="136638" y="1231899"/>
                  </a:lnTo>
                  <a:lnTo>
                    <a:pt x="158900" y="1269999"/>
                  </a:lnTo>
                  <a:lnTo>
                    <a:pt x="207693" y="1320799"/>
                  </a:lnTo>
                  <a:lnTo>
                    <a:pt x="261773" y="1371599"/>
                  </a:lnTo>
                  <a:lnTo>
                    <a:pt x="290808" y="1396999"/>
                  </a:lnTo>
                  <a:lnTo>
                    <a:pt x="320955" y="1422399"/>
                  </a:lnTo>
                  <a:lnTo>
                    <a:pt x="352216" y="1447799"/>
                  </a:lnTo>
                  <a:lnTo>
                    <a:pt x="384590" y="1473199"/>
                  </a:lnTo>
                  <a:lnTo>
                    <a:pt x="452399" y="1498599"/>
                  </a:lnTo>
                  <a:lnTo>
                    <a:pt x="487834" y="1523999"/>
                  </a:lnTo>
                  <a:lnTo>
                    <a:pt x="548315" y="1523999"/>
                  </a:lnTo>
                  <a:lnTo>
                    <a:pt x="530319" y="1511299"/>
                  </a:lnTo>
                  <a:lnTo>
                    <a:pt x="512509" y="1511299"/>
                  </a:lnTo>
                  <a:lnTo>
                    <a:pt x="494884" y="1498599"/>
                  </a:lnTo>
                  <a:lnTo>
                    <a:pt x="477537" y="1498599"/>
                  </a:lnTo>
                  <a:lnTo>
                    <a:pt x="460376" y="1485899"/>
                  </a:lnTo>
                  <a:lnTo>
                    <a:pt x="460655" y="1485899"/>
                  </a:lnTo>
                  <a:lnTo>
                    <a:pt x="426611" y="1473199"/>
                  </a:lnTo>
                  <a:lnTo>
                    <a:pt x="427075" y="1473199"/>
                  </a:lnTo>
                  <a:lnTo>
                    <a:pt x="394052" y="1447799"/>
                  </a:lnTo>
                  <a:lnTo>
                    <a:pt x="394423" y="1447799"/>
                  </a:lnTo>
                  <a:lnTo>
                    <a:pt x="362420" y="1435099"/>
                  </a:lnTo>
                  <a:lnTo>
                    <a:pt x="362791" y="1435099"/>
                  </a:lnTo>
                  <a:lnTo>
                    <a:pt x="331809" y="1409699"/>
                  </a:lnTo>
                  <a:lnTo>
                    <a:pt x="332180" y="1409699"/>
                  </a:lnTo>
                  <a:lnTo>
                    <a:pt x="302403" y="1384299"/>
                  </a:lnTo>
                  <a:lnTo>
                    <a:pt x="302774" y="1384299"/>
                  </a:lnTo>
                  <a:lnTo>
                    <a:pt x="274111" y="1358899"/>
                  </a:lnTo>
                  <a:lnTo>
                    <a:pt x="274482" y="1358899"/>
                  </a:lnTo>
                  <a:lnTo>
                    <a:pt x="247024" y="1333499"/>
                  </a:lnTo>
                  <a:lnTo>
                    <a:pt x="247303" y="1333499"/>
                  </a:lnTo>
                  <a:lnTo>
                    <a:pt x="221236" y="1308099"/>
                  </a:lnTo>
                  <a:lnTo>
                    <a:pt x="221515" y="1308099"/>
                  </a:lnTo>
                  <a:lnTo>
                    <a:pt x="196747" y="1282699"/>
                  </a:lnTo>
                  <a:lnTo>
                    <a:pt x="197026" y="1282699"/>
                  </a:lnTo>
                  <a:lnTo>
                    <a:pt x="173650" y="1257299"/>
                  </a:lnTo>
                  <a:lnTo>
                    <a:pt x="173835" y="1257299"/>
                  </a:lnTo>
                  <a:lnTo>
                    <a:pt x="151851" y="1219199"/>
                  </a:lnTo>
                  <a:lnTo>
                    <a:pt x="152129" y="1219199"/>
                  </a:lnTo>
                  <a:lnTo>
                    <a:pt x="131629" y="1193799"/>
                  </a:lnTo>
                  <a:lnTo>
                    <a:pt x="131814" y="1193799"/>
                  </a:lnTo>
                  <a:lnTo>
                    <a:pt x="112891" y="1155699"/>
                  </a:lnTo>
                  <a:lnTo>
                    <a:pt x="113076" y="1155699"/>
                  </a:lnTo>
                  <a:lnTo>
                    <a:pt x="95637" y="1130299"/>
                  </a:lnTo>
                  <a:lnTo>
                    <a:pt x="87659" y="1104899"/>
                  </a:lnTo>
                  <a:lnTo>
                    <a:pt x="80053" y="1092199"/>
                  </a:lnTo>
                  <a:lnTo>
                    <a:pt x="72818" y="1079499"/>
                  </a:lnTo>
                  <a:lnTo>
                    <a:pt x="66139" y="1054099"/>
                  </a:lnTo>
                  <a:lnTo>
                    <a:pt x="59831" y="1041399"/>
                  </a:lnTo>
                  <a:lnTo>
                    <a:pt x="53894" y="1015999"/>
                  </a:lnTo>
                  <a:lnTo>
                    <a:pt x="48421" y="1003299"/>
                  </a:lnTo>
                  <a:lnTo>
                    <a:pt x="43412" y="990599"/>
                  </a:lnTo>
                  <a:lnTo>
                    <a:pt x="38774" y="965199"/>
                  </a:lnTo>
                  <a:lnTo>
                    <a:pt x="34600" y="952499"/>
                  </a:lnTo>
                  <a:lnTo>
                    <a:pt x="30982" y="927099"/>
                  </a:lnTo>
                  <a:lnTo>
                    <a:pt x="27735" y="914399"/>
                  </a:lnTo>
                  <a:lnTo>
                    <a:pt x="25045" y="888999"/>
                  </a:lnTo>
                  <a:lnTo>
                    <a:pt x="22819" y="876299"/>
                  </a:lnTo>
                  <a:lnTo>
                    <a:pt x="21056" y="850899"/>
                  </a:lnTo>
                  <a:lnTo>
                    <a:pt x="19851" y="825499"/>
                  </a:lnTo>
                  <a:lnTo>
                    <a:pt x="19016" y="812799"/>
                  </a:lnTo>
                  <a:lnTo>
                    <a:pt x="8534" y="812799"/>
                  </a:lnTo>
                  <a:lnTo>
                    <a:pt x="1205" y="800099"/>
                  </a:lnTo>
                  <a:lnTo>
                    <a:pt x="18737" y="787399"/>
                  </a:lnTo>
                  <a:lnTo>
                    <a:pt x="371" y="787399"/>
                  </a:lnTo>
                  <a:lnTo>
                    <a:pt x="649" y="774699"/>
                  </a:lnTo>
                  <a:close/>
                </a:path>
                <a:path w="1597025" h="1574800">
                  <a:moveTo>
                    <a:pt x="1144495" y="76199"/>
                  </a:moveTo>
                  <a:lnTo>
                    <a:pt x="1101917" y="76199"/>
                  </a:lnTo>
                  <a:lnTo>
                    <a:pt x="1119356" y="88899"/>
                  </a:lnTo>
                  <a:lnTo>
                    <a:pt x="1136517" y="101599"/>
                  </a:lnTo>
                  <a:lnTo>
                    <a:pt x="1136239" y="101599"/>
                  </a:lnTo>
                  <a:lnTo>
                    <a:pt x="1170282" y="114299"/>
                  </a:lnTo>
                  <a:lnTo>
                    <a:pt x="1169819" y="114299"/>
                  </a:lnTo>
                  <a:lnTo>
                    <a:pt x="1202842" y="126999"/>
                  </a:lnTo>
                  <a:lnTo>
                    <a:pt x="1202471" y="126999"/>
                  </a:lnTo>
                  <a:lnTo>
                    <a:pt x="1234566" y="152399"/>
                  </a:lnTo>
                  <a:lnTo>
                    <a:pt x="1234195" y="152399"/>
                  </a:lnTo>
                  <a:lnTo>
                    <a:pt x="1265085" y="177799"/>
                  </a:lnTo>
                  <a:lnTo>
                    <a:pt x="1264714" y="177799"/>
                  </a:lnTo>
                  <a:lnTo>
                    <a:pt x="1294490" y="203199"/>
                  </a:lnTo>
                  <a:lnTo>
                    <a:pt x="1294119" y="203199"/>
                  </a:lnTo>
                  <a:lnTo>
                    <a:pt x="1322783" y="215899"/>
                  </a:lnTo>
                  <a:lnTo>
                    <a:pt x="1322505" y="215899"/>
                  </a:lnTo>
                  <a:lnTo>
                    <a:pt x="1349869" y="241299"/>
                  </a:lnTo>
                  <a:lnTo>
                    <a:pt x="1349591" y="241299"/>
                  </a:lnTo>
                  <a:lnTo>
                    <a:pt x="1375657" y="279399"/>
                  </a:lnTo>
                  <a:lnTo>
                    <a:pt x="1375379" y="279399"/>
                  </a:lnTo>
                  <a:lnTo>
                    <a:pt x="1400146" y="304799"/>
                  </a:lnTo>
                  <a:lnTo>
                    <a:pt x="1399868" y="304799"/>
                  </a:lnTo>
                  <a:lnTo>
                    <a:pt x="1423244" y="330199"/>
                  </a:lnTo>
                  <a:lnTo>
                    <a:pt x="1423058" y="330199"/>
                  </a:lnTo>
                  <a:lnTo>
                    <a:pt x="1445043" y="355599"/>
                  </a:lnTo>
                  <a:lnTo>
                    <a:pt x="1444765" y="355599"/>
                  </a:lnTo>
                  <a:lnTo>
                    <a:pt x="1465265" y="393699"/>
                  </a:lnTo>
                  <a:lnTo>
                    <a:pt x="1465079" y="393699"/>
                  </a:lnTo>
                  <a:lnTo>
                    <a:pt x="1484003" y="419099"/>
                  </a:lnTo>
                  <a:lnTo>
                    <a:pt x="1483817" y="419099"/>
                  </a:lnTo>
                  <a:lnTo>
                    <a:pt x="1501164" y="457199"/>
                  </a:lnTo>
                  <a:lnTo>
                    <a:pt x="1509234" y="469899"/>
                  </a:lnTo>
                  <a:lnTo>
                    <a:pt x="1516748" y="495299"/>
                  </a:lnTo>
                  <a:lnTo>
                    <a:pt x="1523983" y="507999"/>
                  </a:lnTo>
                  <a:lnTo>
                    <a:pt x="1530662" y="520699"/>
                  </a:lnTo>
                  <a:lnTo>
                    <a:pt x="1537155" y="546099"/>
                  </a:lnTo>
                  <a:lnTo>
                    <a:pt x="1542907" y="558799"/>
                  </a:lnTo>
                  <a:lnTo>
                    <a:pt x="1548472" y="584199"/>
                  </a:lnTo>
                  <a:lnTo>
                    <a:pt x="1553481" y="596899"/>
                  </a:lnTo>
                  <a:lnTo>
                    <a:pt x="1558027" y="622299"/>
                  </a:lnTo>
                  <a:lnTo>
                    <a:pt x="1562201" y="634999"/>
                  </a:lnTo>
                  <a:lnTo>
                    <a:pt x="1565819" y="660399"/>
                  </a:lnTo>
                  <a:lnTo>
                    <a:pt x="1568973" y="673099"/>
                  </a:lnTo>
                  <a:lnTo>
                    <a:pt x="1571756" y="698499"/>
                  </a:lnTo>
                  <a:lnTo>
                    <a:pt x="1573889" y="711199"/>
                  </a:lnTo>
                  <a:lnTo>
                    <a:pt x="1575744" y="736599"/>
                  </a:lnTo>
                  <a:lnTo>
                    <a:pt x="1576950" y="749299"/>
                  </a:lnTo>
                  <a:lnTo>
                    <a:pt x="1577692" y="774699"/>
                  </a:lnTo>
                  <a:lnTo>
                    <a:pt x="1577971" y="787399"/>
                  </a:lnTo>
                  <a:lnTo>
                    <a:pt x="1577785" y="812799"/>
                  </a:lnTo>
                  <a:lnTo>
                    <a:pt x="1577043" y="825499"/>
                  </a:lnTo>
                  <a:lnTo>
                    <a:pt x="1575744" y="850899"/>
                  </a:lnTo>
                  <a:lnTo>
                    <a:pt x="1573982" y="876299"/>
                  </a:lnTo>
                  <a:lnTo>
                    <a:pt x="1571756" y="888999"/>
                  </a:lnTo>
                  <a:lnTo>
                    <a:pt x="1568973" y="914399"/>
                  </a:lnTo>
                  <a:lnTo>
                    <a:pt x="1565819" y="927099"/>
                  </a:lnTo>
                  <a:lnTo>
                    <a:pt x="1562201" y="952499"/>
                  </a:lnTo>
                  <a:lnTo>
                    <a:pt x="1558120" y="965199"/>
                  </a:lnTo>
                  <a:lnTo>
                    <a:pt x="1553481" y="990599"/>
                  </a:lnTo>
                  <a:lnTo>
                    <a:pt x="1548472" y="1003299"/>
                  </a:lnTo>
                  <a:lnTo>
                    <a:pt x="1542907" y="1015999"/>
                  </a:lnTo>
                  <a:lnTo>
                    <a:pt x="1537063" y="1041399"/>
                  </a:lnTo>
                  <a:lnTo>
                    <a:pt x="1530662" y="1054099"/>
                  </a:lnTo>
                  <a:lnTo>
                    <a:pt x="1523890" y="1079499"/>
                  </a:lnTo>
                  <a:lnTo>
                    <a:pt x="1516748" y="1092199"/>
                  </a:lnTo>
                  <a:lnTo>
                    <a:pt x="1509141" y="1104899"/>
                  </a:lnTo>
                  <a:lnTo>
                    <a:pt x="1501164" y="1130299"/>
                  </a:lnTo>
                  <a:lnTo>
                    <a:pt x="1483817" y="1155699"/>
                  </a:lnTo>
                  <a:lnTo>
                    <a:pt x="1484003" y="1155699"/>
                  </a:lnTo>
                  <a:lnTo>
                    <a:pt x="1465079" y="1193799"/>
                  </a:lnTo>
                  <a:lnTo>
                    <a:pt x="1465265" y="1193799"/>
                  </a:lnTo>
                  <a:lnTo>
                    <a:pt x="1444765" y="1219199"/>
                  </a:lnTo>
                  <a:lnTo>
                    <a:pt x="1445043" y="1219199"/>
                  </a:lnTo>
                  <a:lnTo>
                    <a:pt x="1423058" y="1257299"/>
                  </a:lnTo>
                  <a:lnTo>
                    <a:pt x="1423244" y="1257299"/>
                  </a:lnTo>
                  <a:lnTo>
                    <a:pt x="1399868" y="1282699"/>
                  </a:lnTo>
                  <a:lnTo>
                    <a:pt x="1400146" y="1282699"/>
                  </a:lnTo>
                  <a:lnTo>
                    <a:pt x="1375379" y="1308099"/>
                  </a:lnTo>
                  <a:lnTo>
                    <a:pt x="1375657" y="1308099"/>
                  </a:lnTo>
                  <a:lnTo>
                    <a:pt x="1349498" y="1333499"/>
                  </a:lnTo>
                  <a:lnTo>
                    <a:pt x="1349777" y="1333499"/>
                  </a:lnTo>
                  <a:lnTo>
                    <a:pt x="1322412" y="1358899"/>
                  </a:lnTo>
                  <a:lnTo>
                    <a:pt x="1322690" y="1358899"/>
                  </a:lnTo>
                  <a:lnTo>
                    <a:pt x="1294119" y="1384299"/>
                  </a:lnTo>
                  <a:lnTo>
                    <a:pt x="1294491" y="1384299"/>
                  </a:lnTo>
                  <a:lnTo>
                    <a:pt x="1264621" y="1409699"/>
                  </a:lnTo>
                  <a:lnTo>
                    <a:pt x="1264992" y="1409699"/>
                  </a:lnTo>
                  <a:lnTo>
                    <a:pt x="1234103" y="1435099"/>
                  </a:lnTo>
                  <a:lnTo>
                    <a:pt x="1234474" y="1435099"/>
                  </a:lnTo>
                  <a:lnTo>
                    <a:pt x="1202378" y="1447799"/>
                  </a:lnTo>
                  <a:lnTo>
                    <a:pt x="1202749" y="1447799"/>
                  </a:lnTo>
                  <a:lnTo>
                    <a:pt x="1169726" y="1473199"/>
                  </a:lnTo>
                  <a:lnTo>
                    <a:pt x="1170097" y="1473199"/>
                  </a:lnTo>
                  <a:lnTo>
                    <a:pt x="1136053" y="1485899"/>
                  </a:lnTo>
                  <a:lnTo>
                    <a:pt x="1136332" y="1485899"/>
                  </a:lnTo>
                  <a:lnTo>
                    <a:pt x="1119078" y="1498599"/>
                  </a:lnTo>
                  <a:lnTo>
                    <a:pt x="1101732" y="1498599"/>
                  </a:lnTo>
                  <a:lnTo>
                    <a:pt x="1084107" y="1511299"/>
                  </a:lnTo>
                  <a:lnTo>
                    <a:pt x="1066296" y="1511299"/>
                  </a:lnTo>
                  <a:lnTo>
                    <a:pt x="1048208" y="1523999"/>
                  </a:lnTo>
                  <a:lnTo>
                    <a:pt x="1108967" y="1523999"/>
                  </a:lnTo>
                  <a:lnTo>
                    <a:pt x="1144402" y="1498599"/>
                  </a:lnTo>
                  <a:lnTo>
                    <a:pt x="1212211" y="1473199"/>
                  </a:lnTo>
                  <a:lnTo>
                    <a:pt x="1244677" y="1447799"/>
                  </a:lnTo>
                  <a:lnTo>
                    <a:pt x="1275938" y="1422399"/>
                  </a:lnTo>
                  <a:lnTo>
                    <a:pt x="1306086" y="1396999"/>
                  </a:lnTo>
                  <a:lnTo>
                    <a:pt x="1335027" y="1371599"/>
                  </a:lnTo>
                  <a:lnTo>
                    <a:pt x="1389200" y="1320799"/>
                  </a:lnTo>
                  <a:lnTo>
                    <a:pt x="1437993" y="1269999"/>
                  </a:lnTo>
                  <a:lnTo>
                    <a:pt x="1460256" y="1231899"/>
                  </a:lnTo>
                  <a:lnTo>
                    <a:pt x="1481035" y="1206499"/>
                  </a:lnTo>
                  <a:lnTo>
                    <a:pt x="1500236" y="1168399"/>
                  </a:lnTo>
                  <a:lnTo>
                    <a:pt x="1517861" y="1130299"/>
                  </a:lnTo>
                  <a:lnTo>
                    <a:pt x="1526024" y="1117599"/>
                  </a:lnTo>
                  <a:lnTo>
                    <a:pt x="1533909" y="1104899"/>
                  </a:lnTo>
                  <a:lnTo>
                    <a:pt x="1541237" y="1079499"/>
                  </a:lnTo>
                  <a:lnTo>
                    <a:pt x="1548194" y="1066799"/>
                  </a:lnTo>
                  <a:lnTo>
                    <a:pt x="1554595" y="1041399"/>
                  </a:lnTo>
                  <a:lnTo>
                    <a:pt x="1560717" y="1028699"/>
                  </a:lnTo>
                  <a:lnTo>
                    <a:pt x="1566283" y="1003299"/>
                  </a:lnTo>
                  <a:lnTo>
                    <a:pt x="1571477" y="990599"/>
                  </a:lnTo>
                  <a:lnTo>
                    <a:pt x="1576208" y="965199"/>
                  </a:lnTo>
                  <a:lnTo>
                    <a:pt x="1580382" y="952499"/>
                  </a:lnTo>
                  <a:lnTo>
                    <a:pt x="1584093" y="927099"/>
                  </a:lnTo>
                  <a:lnTo>
                    <a:pt x="1587340" y="914399"/>
                  </a:lnTo>
                  <a:lnTo>
                    <a:pt x="1590215" y="888999"/>
                  </a:lnTo>
                  <a:lnTo>
                    <a:pt x="1592441" y="876299"/>
                  </a:lnTo>
                  <a:lnTo>
                    <a:pt x="1594297" y="850899"/>
                  </a:lnTo>
                  <a:lnTo>
                    <a:pt x="1595503" y="838199"/>
                  </a:lnTo>
                  <a:lnTo>
                    <a:pt x="1596337" y="812799"/>
                  </a:lnTo>
                  <a:lnTo>
                    <a:pt x="1596523" y="787399"/>
                  </a:lnTo>
                  <a:lnTo>
                    <a:pt x="1596245" y="774699"/>
                  </a:lnTo>
                  <a:lnTo>
                    <a:pt x="1595503" y="749299"/>
                  </a:lnTo>
                  <a:lnTo>
                    <a:pt x="1594204" y="736599"/>
                  </a:lnTo>
                  <a:lnTo>
                    <a:pt x="1592349" y="711199"/>
                  </a:lnTo>
                  <a:lnTo>
                    <a:pt x="1590122" y="685799"/>
                  </a:lnTo>
                  <a:lnTo>
                    <a:pt x="1587340" y="673099"/>
                  </a:lnTo>
                  <a:lnTo>
                    <a:pt x="1584093" y="647699"/>
                  </a:lnTo>
                  <a:lnTo>
                    <a:pt x="1580290" y="634999"/>
                  </a:lnTo>
                  <a:lnTo>
                    <a:pt x="1576115" y="609599"/>
                  </a:lnTo>
                  <a:lnTo>
                    <a:pt x="1571384" y="596899"/>
                  </a:lnTo>
                  <a:lnTo>
                    <a:pt x="1566283" y="571499"/>
                  </a:lnTo>
                  <a:lnTo>
                    <a:pt x="1560624" y="558799"/>
                  </a:lnTo>
                  <a:lnTo>
                    <a:pt x="1554595" y="533399"/>
                  </a:lnTo>
                  <a:lnTo>
                    <a:pt x="1548101" y="520699"/>
                  </a:lnTo>
                  <a:lnTo>
                    <a:pt x="1541237" y="507999"/>
                  </a:lnTo>
                  <a:lnTo>
                    <a:pt x="1533816" y="482599"/>
                  </a:lnTo>
                  <a:lnTo>
                    <a:pt x="1526024" y="469899"/>
                  </a:lnTo>
                  <a:lnTo>
                    <a:pt x="1517768" y="444499"/>
                  </a:lnTo>
                  <a:lnTo>
                    <a:pt x="1500236" y="419099"/>
                  </a:lnTo>
                  <a:lnTo>
                    <a:pt x="1481034" y="380999"/>
                  </a:lnTo>
                  <a:lnTo>
                    <a:pt x="1460256" y="355599"/>
                  </a:lnTo>
                  <a:lnTo>
                    <a:pt x="1437993" y="317499"/>
                  </a:lnTo>
                  <a:lnTo>
                    <a:pt x="1414246" y="292099"/>
                  </a:lnTo>
                  <a:lnTo>
                    <a:pt x="1389200" y="266699"/>
                  </a:lnTo>
                  <a:lnTo>
                    <a:pt x="1362856" y="228599"/>
                  </a:lnTo>
                  <a:lnTo>
                    <a:pt x="1335120" y="203199"/>
                  </a:lnTo>
                  <a:lnTo>
                    <a:pt x="1306086" y="177799"/>
                  </a:lnTo>
                  <a:lnTo>
                    <a:pt x="1275938" y="165099"/>
                  </a:lnTo>
                  <a:lnTo>
                    <a:pt x="1244677" y="139699"/>
                  </a:lnTo>
                  <a:lnTo>
                    <a:pt x="1212304" y="114299"/>
                  </a:lnTo>
                  <a:lnTo>
                    <a:pt x="1178909" y="101599"/>
                  </a:lnTo>
                  <a:lnTo>
                    <a:pt x="1144495" y="76199"/>
                  </a:lnTo>
                  <a:close/>
                </a:path>
                <a:path w="1597025" h="1574800">
                  <a:moveTo>
                    <a:pt x="18737" y="787399"/>
                  </a:moveTo>
                  <a:lnTo>
                    <a:pt x="1205" y="800099"/>
                  </a:lnTo>
                  <a:lnTo>
                    <a:pt x="8534" y="812799"/>
                  </a:lnTo>
                  <a:lnTo>
                    <a:pt x="18737" y="812799"/>
                  </a:lnTo>
                  <a:lnTo>
                    <a:pt x="18884" y="800768"/>
                  </a:lnTo>
                  <a:lnTo>
                    <a:pt x="18737" y="787399"/>
                  </a:lnTo>
                  <a:close/>
                </a:path>
                <a:path w="1597025" h="1574800">
                  <a:moveTo>
                    <a:pt x="18884" y="800768"/>
                  </a:moveTo>
                  <a:lnTo>
                    <a:pt x="18737" y="812799"/>
                  </a:lnTo>
                  <a:lnTo>
                    <a:pt x="19016" y="812799"/>
                  </a:lnTo>
                  <a:lnTo>
                    <a:pt x="18884" y="800768"/>
                  </a:lnTo>
                  <a:close/>
                </a:path>
                <a:path w="1597025" h="1574800">
                  <a:moveTo>
                    <a:pt x="19201" y="774699"/>
                  </a:moveTo>
                  <a:lnTo>
                    <a:pt x="10574" y="774699"/>
                  </a:lnTo>
                  <a:lnTo>
                    <a:pt x="17903" y="787399"/>
                  </a:lnTo>
                  <a:lnTo>
                    <a:pt x="18737" y="787399"/>
                  </a:lnTo>
                  <a:lnTo>
                    <a:pt x="18884" y="800768"/>
                  </a:lnTo>
                  <a:lnTo>
                    <a:pt x="19201" y="774699"/>
                  </a:lnTo>
                  <a:close/>
                </a:path>
                <a:path w="1597025" h="1574800">
                  <a:moveTo>
                    <a:pt x="495069" y="76199"/>
                  </a:moveTo>
                  <a:lnTo>
                    <a:pt x="452306" y="76199"/>
                  </a:lnTo>
                  <a:lnTo>
                    <a:pt x="417891" y="101599"/>
                  </a:lnTo>
                  <a:lnTo>
                    <a:pt x="384590" y="114299"/>
                  </a:lnTo>
                  <a:lnTo>
                    <a:pt x="352123" y="139699"/>
                  </a:lnTo>
                  <a:lnTo>
                    <a:pt x="320955" y="165099"/>
                  </a:lnTo>
                  <a:lnTo>
                    <a:pt x="290715" y="177799"/>
                  </a:lnTo>
                  <a:lnTo>
                    <a:pt x="261773" y="203199"/>
                  </a:lnTo>
                  <a:lnTo>
                    <a:pt x="234038" y="228599"/>
                  </a:lnTo>
                  <a:lnTo>
                    <a:pt x="207693" y="266699"/>
                  </a:lnTo>
                  <a:lnTo>
                    <a:pt x="182647" y="292099"/>
                  </a:lnTo>
                  <a:lnTo>
                    <a:pt x="158900" y="317499"/>
                  </a:lnTo>
                  <a:lnTo>
                    <a:pt x="136638" y="355599"/>
                  </a:lnTo>
                  <a:lnTo>
                    <a:pt x="115859" y="380999"/>
                  </a:lnTo>
                  <a:lnTo>
                    <a:pt x="96657" y="419099"/>
                  </a:lnTo>
                  <a:lnTo>
                    <a:pt x="79125" y="444499"/>
                  </a:lnTo>
                  <a:lnTo>
                    <a:pt x="70870" y="469899"/>
                  </a:lnTo>
                  <a:lnTo>
                    <a:pt x="63078" y="482599"/>
                  </a:lnTo>
                  <a:lnTo>
                    <a:pt x="55657" y="507999"/>
                  </a:lnTo>
                  <a:lnTo>
                    <a:pt x="48792" y="520699"/>
                  </a:lnTo>
                  <a:lnTo>
                    <a:pt x="42299" y="533399"/>
                  </a:lnTo>
                  <a:lnTo>
                    <a:pt x="36269" y="558799"/>
                  </a:lnTo>
                  <a:lnTo>
                    <a:pt x="30611" y="571499"/>
                  </a:lnTo>
                  <a:lnTo>
                    <a:pt x="25509" y="596899"/>
                  </a:lnTo>
                  <a:lnTo>
                    <a:pt x="20778" y="609599"/>
                  </a:lnTo>
                  <a:lnTo>
                    <a:pt x="16604" y="634999"/>
                  </a:lnTo>
                  <a:lnTo>
                    <a:pt x="12801" y="647699"/>
                  </a:lnTo>
                  <a:lnTo>
                    <a:pt x="9554" y="673099"/>
                  </a:lnTo>
                  <a:lnTo>
                    <a:pt x="6771" y="685799"/>
                  </a:lnTo>
                  <a:lnTo>
                    <a:pt x="4545" y="711199"/>
                  </a:lnTo>
                  <a:lnTo>
                    <a:pt x="2690" y="736599"/>
                  </a:lnTo>
                  <a:lnTo>
                    <a:pt x="1391" y="749299"/>
                  </a:lnTo>
                  <a:lnTo>
                    <a:pt x="649" y="774699"/>
                  </a:lnTo>
                  <a:lnTo>
                    <a:pt x="371" y="787399"/>
                  </a:lnTo>
                  <a:lnTo>
                    <a:pt x="17903" y="787399"/>
                  </a:lnTo>
                  <a:lnTo>
                    <a:pt x="10574" y="774699"/>
                  </a:lnTo>
                  <a:lnTo>
                    <a:pt x="19201" y="774699"/>
                  </a:lnTo>
                  <a:lnTo>
                    <a:pt x="19943" y="749299"/>
                  </a:lnTo>
                  <a:lnTo>
                    <a:pt x="21242" y="736599"/>
                  </a:lnTo>
                  <a:lnTo>
                    <a:pt x="23004" y="711199"/>
                  </a:lnTo>
                  <a:lnTo>
                    <a:pt x="25231" y="698499"/>
                  </a:lnTo>
                  <a:lnTo>
                    <a:pt x="27921" y="673099"/>
                  </a:lnTo>
                  <a:lnTo>
                    <a:pt x="31075" y="660399"/>
                  </a:lnTo>
                  <a:lnTo>
                    <a:pt x="34785" y="634999"/>
                  </a:lnTo>
                  <a:lnTo>
                    <a:pt x="38867" y="622299"/>
                  </a:lnTo>
                  <a:lnTo>
                    <a:pt x="43505" y="596899"/>
                  </a:lnTo>
                  <a:lnTo>
                    <a:pt x="48514" y="584199"/>
                  </a:lnTo>
                  <a:lnTo>
                    <a:pt x="53987" y="558799"/>
                  </a:lnTo>
                  <a:lnTo>
                    <a:pt x="59924" y="546099"/>
                  </a:lnTo>
                  <a:lnTo>
                    <a:pt x="66231" y="520699"/>
                  </a:lnTo>
                  <a:lnTo>
                    <a:pt x="73003" y="507999"/>
                  </a:lnTo>
                  <a:lnTo>
                    <a:pt x="80238" y="495299"/>
                  </a:lnTo>
                  <a:lnTo>
                    <a:pt x="87752" y="469899"/>
                  </a:lnTo>
                  <a:lnTo>
                    <a:pt x="95822" y="457199"/>
                  </a:lnTo>
                  <a:lnTo>
                    <a:pt x="113076" y="419099"/>
                  </a:lnTo>
                  <a:lnTo>
                    <a:pt x="112891" y="419099"/>
                  </a:lnTo>
                  <a:lnTo>
                    <a:pt x="131814" y="393699"/>
                  </a:lnTo>
                  <a:lnTo>
                    <a:pt x="131628" y="393699"/>
                  </a:lnTo>
                  <a:lnTo>
                    <a:pt x="152129" y="355599"/>
                  </a:lnTo>
                  <a:lnTo>
                    <a:pt x="151943" y="355599"/>
                  </a:lnTo>
                  <a:lnTo>
                    <a:pt x="173928" y="330199"/>
                  </a:lnTo>
                  <a:lnTo>
                    <a:pt x="173650" y="330199"/>
                  </a:lnTo>
                  <a:lnTo>
                    <a:pt x="197026" y="304799"/>
                  </a:lnTo>
                  <a:lnTo>
                    <a:pt x="196747" y="304799"/>
                  </a:lnTo>
                  <a:lnTo>
                    <a:pt x="221515" y="279399"/>
                  </a:lnTo>
                  <a:lnTo>
                    <a:pt x="221236" y="279399"/>
                  </a:lnTo>
                  <a:lnTo>
                    <a:pt x="247302" y="241299"/>
                  </a:lnTo>
                  <a:lnTo>
                    <a:pt x="247024" y="241299"/>
                  </a:lnTo>
                  <a:lnTo>
                    <a:pt x="274389" y="215899"/>
                  </a:lnTo>
                  <a:lnTo>
                    <a:pt x="274111" y="215899"/>
                  </a:lnTo>
                  <a:lnTo>
                    <a:pt x="302681" y="203199"/>
                  </a:lnTo>
                  <a:lnTo>
                    <a:pt x="302403" y="203199"/>
                  </a:lnTo>
                  <a:lnTo>
                    <a:pt x="332179" y="177799"/>
                  </a:lnTo>
                  <a:lnTo>
                    <a:pt x="331808" y="177799"/>
                  </a:lnTo>
                  <a:lnTo>
                    <a:pt x="362698" y="152399"/>
                  </a:lnTo>
                  <a:lnTo>
                    <a:pt x="362327" y="152399"/>
                  </a:lnTo>
                  <a:lnTo>
                    <a:pt x="394330" y="126999"/>
                  </a:lnTo>
                  <a:lnTo>
                    <a:pt x="393959" y="126999"/>
                  </a:lnTo>
                  <a:lnTo>
                    <a:pt x="426982" y="114299"/>
                  </a:lnTo>
                  <a:lnTo>
                    <a:pt x="426611" y="114299"/>
                  </a:lnTo>
                  <a:lnTo>
                    <a:pt x="460562" y="101599"/>
                  </a:lnTo>
                  <a:lnTo>
                    <a:pt x="460284" y="101599"/>
                  </a:lnTo>
                  <a:lnTo>
                    <a:pt x="495069" y="76199"/>
                  </a:lnTo>
                  <a:close/>
                </a:path>
                <a:path w="1597025" h="1574800">
                  <a:moveTo>
                    <a:pt x="530411" y="63499"/>
                  </a:moveTo>
                  <a:lnTo>
                    <a:pt x="487648" y="63499"/>
                  </a:lnTo>
                  <a:lnTo>
                    <a:pt x="469931" y="76199"/>
                  </a:lnTo>
                  <a:lnTo>
                    <a:pt x="512601" y="76199"/>
                  </a:lnTo>
                  <a:lnTo>
                    <a:pt x="530411" y="63499"/>
                  </a:lnTo>
                  <a:close/>
                </a:path>
                <a:path w="1597025" h="1574800">
                  <a:moveTo>
                    <a:pt x="1109060" y="63499"/>
                  </a:moveTo>
                  <a:lnTo>
                    <a:pt x="1066667" y="63499"/>
                  </a:lnTo>
                  <a:lnTo>
                    <a:pt x="1084478" y="76199"/>
                  </a:lnTo>
                  <a:lnTo>
                    <a:pt x="1126870" y="76199"/>
                  </a:lnTo>
                  <a:lnTo>
                    <a:pt x="1109060" y="63499"/>
                  </a:lnTo>
                  <a:close/>
                </a:path>
                <a:path w="1597025" h="1574800">
                  <a:moveTo>
                    <a:pt x="622338" y="38099"/>
                  </a:moveTo>
                  <a:lnTo>
                    <a:pt x="542378" y="38099"/>
                  </a:lnTo>
                  <a:lnTo>
                    <a:pt x="523918" y="50799"/>
                  </a:lnTo>
                  <a:lnTo>
                    <a:pt x="505737" y="63499"/>
                  </a:lnTo>
                  <a:lnTo>
                    <a:pt x="548407" y="63499"/>
                  </a:lnTo>
                  <a:lnTo>
                    <a:pt x="566681" y="50799"/>
                  </a:lnTo>
                  <a:lnTo>
                    <a:pt x="603601" y="50799"/>
                  </a:lnTo>
                  <a:lnTo>
                    <a:pt x="622338" y="38099"/>
                  </a:lnTo>
                  <a:close/>
                </a:path>
                <a:path w="1597025" h="1574800">
                  <a:moveTo>
                    <a:pt x="1054423" y="38099"/>
                  </a:moveTo>
                  <a:lnTo>
                    <a:pt x="974648" y="38099"/>
                  </a:lnTo>
                  <a:lnTo>
                    <a:pt x="993386" y="50799"/>
                  </a:lnTo>
                  <a:lnTo>
                    <a:pt x="1030398" y="50799"/>
                  </a:lnTo>
                  <a:lnTo>
                    <a:pt x="1048579" y="63499"/>
                  </a:lnTo>
                  <a:lnTo>
                    <a:pt x="1091157" y="63499"/>
                  </a:lnTo>
                  <a:lnTo>
                    <a:pt x="1054423" y="38099"/>
                  </a:lnTo>
                  <a:close/>
                </a:path>
                <a:path w="1597025" h="1574800">
                  <a:moveTo>
                    <a:pt x="679665" y="25399"/>
                  </a:moveTo>
                  <a:lnTo>
                    <a:pt x="598870" y="25399"/>
                  </a:lnTo>
                  <a:lnTo>
                    <a:pt x="579854" y="38099"/>
                  </a:lnTo>
                  <a:lnTo>
                    <a:pt x="660371" y="38099"/>
                  </a:lnTo>
                  <a:lnTo>
                    <a:pt x="679665" y="25399"/>
                  </a:lnTo>
                  <a:close/>
                </a:path>
                <a:path w="1597025" h="1574800">
                  <a:moveTo>
                    <a:pt x="997931" y="25399"/>
                  </a:moveTo>
                  <a:lnTo>
                    <a:pt x="917321" y="25399"/>
                  </a:lnTo>
                  <a:lnTo>
                    <a:pt x="936615" y="38099"/>
                  </a:lnTo>
                  <a:lnTo>
                    <a:pt x="1016947" y="38099"/>
                  </a:lnTo>
                  <a:lnTo>
                    <a:pt x="997931" y="25399"/>
                  </a:lnTo>
                  <a:close/>
                </a:path>
                <a:path w="1597025" h="1574800">
                  <a:moveTo>
                    <a:pt x="959249" y="12699"/>
                  </a:moveTo>
                  <a:lnTo>
                    <a:pt x="637459" y="12699"/>
                  </a:lnTo>
                  <a:lnTo>
                    <a:pt x="618071" y="25399"/>
                  </a:lnTo>
                  <a:lnTo>
                    <a:pt x="978729" y="25399"/>
                  </a:lnTo>
                  <a:lnTo>
                    <a:pt x="959249" y="12699"/>
                  </a:lnTo>
                  <a:close/>
                </a:path>
                <a:path w="1597025" h="1574800">
                  <a:moveTo>
                    <a:pt x="859809" y="0"/>
                  </a:moveTo>
                  <a:lnTo>
                    <a:pt x="736899" y="0"/>
                  </a:lnTo>
                  <a:lnTo>
                    <a:pt x="716677" y="12699"/>
                  </a:lnTo>
                  <a:lnTo>
                    <a:pt x="880031" y="12699"/>
                  </a:lnTo>
                  <a:lnTo>
                    <a:pt x="859809" y="0"/>
                  </a:lnTo>
                  <a:close/>
                </a:path>
              </a:pathLst>
            </a:custGeom>
            <a:solidFill>
              <a:srgbClr val="FFFF00"/>
            </a:solidFill>
          </p:spPr>
          <p:txBody>
            <a:bodyPr wrap="square" lIns="0" tIns="0" rIns="0" bIns="0" rtlCol="0"/>
            <a:lstStyle/>
            <a:p>
              <a:endParaRPr/>
            </a:p>
          </p:txBody>
        </p:sp>
        <p:pic>
          <p:nvPicPr>
            <p:cNvPr id="8" name="object 9">
              <a:extLst>
                <a:ext uri="{FF2B5EF4-FFF2-40B4-BE49-F238E27FC236}">
                  <a16:creationId xmlns:a16="http://schemas.microsoft.com/office/drawing/2014/main" id="{ED0624FE-3A27-7B0A-3938-9C1B548E266F}"/>
                </a:ext>
              </a:extLst>
            </p:cNvPr>
            <p:cNvPicPr/>
            <p:nvPr/>
          </p:nvPicPr>
          <p:blipFill>
            <a:blip r:embed="rId4" cstate="print"/>
            <a:stretch>
              <a:fillRect/>
            </a:stretch>
          </p:blipFill>
          <p:spPr>
            <a:xfrm>
              <a:off x="6872723" y="4363531"/>
              <a:ext cx="1196627" cy="509082"/>
            </a:xfrm>
            <a:prstGeom prst="rect">
              <a:avLst/>
            </a:prstGeom>
          </p:spPr>
        </p:pic>
      </p:grpSp>
      <p:sp>
        <p:nvSpPr>
          <p:cNvPr id="9" name="object 10">
            <a:extLst>
              <a:ext uri="{FF2B5EF4-FFF2-40B4-BE49-F238E27FC236}">
                <a16:creationId xmlns:a16="http://schemas.microsoft.com/office/drawing/2014/main" id="{15A555C1-26FC-2FB7-33F2-F241D6C9AAB2}"/>
              </a:ext>
            </a:extLst>
          </p:cNvPr>
          <p:cNvSpPr txBox="1"/>
          <p:nvPr/>
        </p:nvSpPr>
        <p:spPr>
          <a:xfrm>
            <a:off x="5520765" y="2655730"/>
            <a:ext cx="916305" cy="278923"/>
          </a:xfrm>
          <a:prstGeom prst="rect">
            <a:avLst/>
          </a:prstGeom>
        </p:spPr>
        <p:txBody>
          <a:bodyPr vert="horz" wrap="square" lIns="0" tIns="17145" rIns="0" bIns="0" rtlCol="0">
            <a:spAutoFit/>
          </a:bodyPr>
          <a:lstStyle/>
          <a:p>
            <a:pPr marL="12700">
              <a:lnSpc>
                <a:spcPct val="100000"/>
              </a:lnSpc>
              <a:spcBef>
                <a:spcPts val="135"/>
              </a:spcBef>
            </a:pPr>
            <a:r>
              <a:rPr sz="1700" spc="15" dirty="0">
                <a:solidFill>
                  <a:srgbClr val="FFFF00"/>
                </a:solidFill>
                <a:latin typeface="Cambria"/>
                <a:cs typeface="Cambria"/>
              </a:rPr>
              <a:t>Cell</a:t>
            </a:r>
            <a:r>
              <a:rPr sz="1700" spc="-45" dirty="0">
                <a:solidFill>
                  <a:srgbClr val="FFFF00"/>
                </a:solidFill>
                <a:latin typeface="Cambria"/>
                <a:cs typeface="Cambria"/>
              </a:rPr>
              <a:t> </a:t>
            </a:r>
            <a:r>
              <a:rPr sz="1700" spc="20" dirty="0">
                <a:solidFill>
                  <a:srgbClr val="FFFF00"/>
                </a:solidFill>
                <a:latin typeface="Cambria"/>
                <a:cs typeface="Cambria"/>
              </a:rPr>
              <a:t>Body</a:t>
            </a:r>
            <a:endParaRPr sz="1700">
              <a:latin typeface="Cambria"/>
              <a:cs typeface="Cambria"/>
            </a:endParaRPr>
          </a:p>
        </p:txBody>
      </p:sp>
      <p:grpSp>
        <p:nvGrpSpPr>
          <p:cNvPr id="10" name="object 11">
            <a:extLst>
              <a:ext uri="{FF2B5EF4-FFF2-40B4-BE49-F238E27FC236}">
                <a16:creationId xmlns:a16="http://schemas.microsoft.com/office/drawing/2014/main" id="{7261C4F3-4186-E59D-C545-46C6A927B121}"/>
              </a:ext>
            </a:extLst>
          </p:cNvPr>
          <p:cNvGrpSpPr/>
          <p:nvPr/>
        </p:nvGrpSpPr>
        <p:grpSpPr>
          <a:xfrm>
            <a:off x="5311672" y="2710364"/>
            <a:ext cx="1549400" cy="1122680"/>
            <a:chOff x="6805192" y="4478204"/>
            <a:chExt cx="1549400" cy="1122680"/>
          </a:xfrm>
        </p:grpSpPr>
        <p:pic>
          <p:nvPicPr>
            <p:cNvPr id="11" name="object 12">
              <a:extLst>
                <a:ext uri="{FF2B5EF4-FFF2-40B4-BE49-F238E27FC236}">
                  <a16:creationId xmlns:a16="http://schemas.microsoft.com/office/drawing/2014/main" id="{25F308D4-EF7D-FD8C-B402-38E3B3B67DCD}"/>
                </a:ext>
              </a:extLst>
            </p:cNvPr>
            <p:cNvPicPr/>
            <p:nvPr/>
          </p:nvPicPr>
          <p:blipFill>
            <a:blip r:embed="rId5" cstate="print"/>
            <a:stretch>
              <a:fillRect/>
            </a:stretch>
          </p:blipFill>
          <p:spPr>
            <a:xfrm>
              <a:off x="6805192" y="4807322"/>
              <a:ext cx="1150431" cy="575914"/>
            </a:xfrm>
            <a:prstGeom prst="rect">
              <a:avLst/>
            </a:prstGeom>
          </p:spPr>
        </p:pic>
        <p:sp>
          <p:nvSpPr>
            <p:cNvPr id="12" name="object 13">
              <a:extLst>
                <a:ext uri="{FF2B5EF4-FFF2-40B4-BE49-F238E27FC236}">
                  <a16:creationId xmlns:a16="http://schemas.microsoft.com/office/drawing/2014/main" id="{2C5F5ED6-3AD9-1E42-C1F0-6D4EF5CF7D74}"/>
                </a:ext>
              </a:extLst>
            </p:cNvPr>
            <p:cNvSpPr/>
            <p:nvPr/>
          </p:nvSpPr>
          <p:spPr>
            <a:xfrm>
              <a:off x="8027050" y="4487729"/>
              <a:ext cx="0" cy="1103630"/>
            </a:xfrm>
            <a:custGeom>
              <a:avLst/>
              <a:gdLst/>
              <a:ahLst/>
              <a:cxnLst/>
              <a:rect l="l" t="t" r="r" b="b"/>
              <a:pathLst>
                <a:path h="1103629">
                  <a:moveTo>
                    <a:pt x="0" y="0"/>
                  </a:moveTo>
                  <a:lnTo>
                    <a:pt x="0" y="1103194"/>
                  </a:lnTo>
                </a:path>
              </a:pathLst>
            </a:custGeom>
            <a:ln w="18552">
              <a:solidFill>
                <a:srgbClr val="FFFF00"/>
              </a:solidFill>
            </a:ln>
          </p:spPr>
          <p:txBody>
            <a:bodyPr wrap="square" lIns="0" tIns="0" rIns="0" bIns="0" rtlCol="0"/>
            <a:lstStyle/>
            <a:p>
              <a:endParaRPr/>
            </a:p>
          </p:txBody>
        </p:sp>
        <p:pic>
          <p:nvPicPr>
            <p:cNvPr id="13" name="object 14">
              <a:extLst>
                <a:ext uri="{FF2B5EF4-FFF2-40B4-BE49-F238E27FC236}">
                  <a16:creationId xmlns:a16="http://schemas.microsoft.com/office/drawing/2014/main" id="{C0321096-6E3A-A925-D6DD-6746E25999C5}"/>
                </a:ext>
              </a:extLst>
            </p:cNvPr>
            <p:cNvPicPr/>
            <p:nvPr/>
          </p:nvPicPr>
          <p:blipFill>
            <a:blip r:embed="rId6" cstate="print"/>
            <a:stretch>
              <a:fillRect/>
            </a:stretch>
          </p:blipFill>
          <p:spPr>
            <a:xfrm>
              <a:off x="7909335" y="4728144"/>
              <a:ext cx="445256" cy="612274"/>
            </a:xfrm>
            <a:prstGeom prst="rect">
              <a:avLst/>
            </a:prstGeom>
          </p:spPr>
        </p:pic>
      </p:grpSp>
      <p:sp>
        <p:nvSpPr>
          <p:cNvPr id="14" name="object 15">
            <a:extLst>
              <a:ext uri="{FF2B5EF4-FFF2-40B4-BE49-F238E27FC236}">
                <a16:creationId xmlns:a16="http://schemas.microsoft.com/office/drawing/2014/main" id="{58106F92-6FC3-BBBB-8871-87235698A629}"/>
              </a:ext>
            </a:extLst>
          </p:cNvPr>
          <p:cNvSpPr txBox="1"/>
          <p:nvPr/>
        </p:nvSpPr>
        <p:spPr>
          <a:xfrm>
            <a:off x="6585207" y="3032038"/>
            <a:ext cx="107314" cy="356870"/>
          </a:xfrm>
          <a:prstGeom prst="rect">
            <a:avLst/>
          </a:prstGeom>
        </p:spPr>
        <p:txBody>
          <a:bodyPr vert="horz" wrap="square" lIns="0" tIns="15240" rIns="0" bIns="0" rtlCol="0">
            <a:spAutoFit/>
          </a:bodyPr>
          <a:lstStyle/>
          <a:p>
            <a:pPr marL="12700">
              <a:lnSpc>
                <a:spcPct val="100000"/>
              </a:lnSpc>
              <a:spcBef>
                <a:spcPts val="120"/>
              </a:spcBef>
            </a:pPr>
            <a:r>
              <a:rPr sz="2150" i="1" spc="10" dirty="0">
                <a:solidFill>
                  <a:srgbClr val="FDFFFF"/>
                </a:solidFill>
                <a:latin typeface="Cambria"/>
                <a:cs typeface="Cambria"/>
              </a:rPr>
              <a:t>f</a:t>
            </a:r>
            <a:endParaRPr sz="2150">
              <a:latin typeface="Cambria"/>
              <a:cs typeface="Cambria"/>
            </a:endParaRPr>
          </a:p>
        </p:txBody>
      </p:sp>
      <p:grpSp>
        <p:nvGrpSpPr>
          <p:cNvPr id="15" name="object 16">
            <a:extLst>
              <a:ext uri="{FF2B5EF4-FFF2-40B4-BE49-F238E27FC236}">
                <a16:creationId xmlns:a16="http://schemas.microsoft.com/office/drawing/2014/main" id="{29BBCC0C-07F2-7EE1-D8C0-C6A4C58CB04B}"/>
              </a:ext>
            </a:extLst>
          </p:cNvPr>
          <p:cNvGrpSpPr/>
          <p:nvPr/>
        </p:nvGrpSpPr>
        <p:grpSpPr>
          <a:xfrm>
            <a:off x="4446946" y="1625683"/>
            <a:ext cx="1350010" cy="1383030"/>
            <a:chOff x="5940466" y="3393523"/>
            <a:chExt cx="1350010" cy="1383030"/>
          </a:xfrm>
        </p:grpSpPr>
        <p:sp>
          <p:nvSpPr>
            <p:cNvPr id="16" name="object 17">
              <a:extLst>
                <a:ext uri="{FF2B5EF4-FFF2-40B4-BE49-F238E27FC236}">
                  <a16:creationId xmlns:a16="http://schemas.microsoft.com/office/drawing/2014/main" id="{B68167A7-F147-8517-3C62-CD2DB1ABB7E1}"/>
                </a:ext>
              </a:extLst>
            </p:cNvPr>
            <p:cNvSpPr/>
            <p:nvPr/>
          </p:nvSpPr>
          <p:spPr>
            <a:xfrm>
              <a:off x="6280716" y="3725114"/>
              <a:ext cx="576580" cy="697230"/>
            </a:xfrm>
            <a:custGeom>
              <a:avLst/>
              <a:gdLst/>
              <a:ahLst/>
              <a:cxnLst/>
              <a:rect l="l" t="t" r="r" b="b"/>
              <a:pathLst>
                <a:path w="576579" h="697229">
                  <a:moveTo>
                    <a:pt x="0" y="0"/>
                  </a:moveTo>
                  <a:lnTo>
                    <a:pt x="576329" y="696938"/>
                  </a:lnTo>
                </a:path>
              </a:pathLst>
            </a:custGeom>
            <a:ln w="18468">
              <a:solidFill>
                <a:srgbClr val="428ACE"/>
              </a:solidFill>
            </a:ln>
          </p:spPr>
          <p:txBody>
            <a:bodyPr wrap="square" lIns="0" tIns="0" rIns="0" bIns="0" rtlCol="0"/>
            <a:lstStyle/>
            <a:p>
              <a:endParaRPr/>
            </a:p>
          </p:txBody>
        </p:sp>
        <p:pic>
          <p:nvPicPr>
            <p:cNvPr id="17" name="object 18">
              <a:extLst>
                <a:ext uri="{FF2B5EF4-FFF2-40B4-BE49-F238E27FC236}">
                  <a16:creationId xmlns:a16="http://schemas.microsoft.com/office/drawing/2014/main" id="{77E5C624-84C2-84D9-D363-DCDFB88331FE}"/>
                </a:ext>
              </a:extLst>
            </p:cNvPr>
            <p:cNvPicPr/>
            <p:nvPr/>
          </p:nvPicPr>
          <p:blipFill>
            <a:blip r:embed="rId7" cstate="print"/>
            <a:stretch>
              <a:fillRect/>
            </a:stretch>
          </p:blipFill>
          <p:spPr>
            <a:xfrm>
              <a:off x="6798513" y="4368392"/>
              <a:ext cx="112798" cy="119336"/>
            </a:xfrm>
            <a:prstGeom prst="rect">
              <a:avLst/>
            </a:prstGeom>
          </p:spPr>
        </p:pic>
        <p:pic>
          <p:nvPicPr>
            <p:cNvPr id="18" name="object 19">
              <a:extLst>
                <a:ext uri="{FF2B5EF4-FFF2-40B4-BE49-F238E27FC236}">
                  <a16:creationId xmlns:a16="http://schemas.microsoft.com/office/drawing/2014/main" id="{280083E1-EB79-606E-4773-86F547191454}"/>
                </a:ext>
              </a:extLst>
            </p:cNvPr>
            <p:cNvPicPr/>
            <p:nvPr/>
          </p:nvPicPr>
          <p:blipFill>
            <a:blip r:embed="rId8" cstate="print"/>
            <a:stretch>
              <a:fillRect/>
            </a:stretch>
          </p:blipFill>
          <p:spPr>
            <a:xfrm>
              <a:off x="5940466" y="3620546"/>
              <a:ext cx="1057484" cy="1155754"/>
            </a:xfrm>
            <a:prstGeom prst="rect">
              <a:avLst/>
            </a:prstGeom>
          </p:spPr>
        </p:pic>
        <p:pic>
          <p:nvPicPr>
            <p:cNvPr id="19" name="object 20">
              <a:extLst>
                <a:ext uri="{FF2B5EF4-FFF2-40B4-BE49-F238E27FC236}">
                  <a16:creationId xmlns:a16="http://schemas.microsoft.com/office/drawing/2014/main" id="{72ED70CC-6832-17F5-E261-CC2B2BDC5239}"/>
                </a:ext>
              </a:extLst>
            </p:cNvPr>
            <p:cNvPicPr/>
            <p:nvPr/>
          </p:nvPicPr>
          <p:blipFill>
            <a:blip r:embed="rId9" cstate="print"/>
            <a:stretch>
              <a:fillRect/>
            </a:stretch>
          </p:blipFill>
          <p:spPr>
            <a:xfrm>
              <a:off x="6192236" y="3853703"/>
              <a:ext cx="545517" cy="656589"/>
            </a:xfrm>
            <a:prstGeom prst="rect">
              <a:avLst/>
            </a:prstGeom>
          </p:spPr>
        </p:pic>
        <p:pic>
          <p:nvPicPr>
            <p:cNvPr id="20" name="object 21">
              <a:extLst>
                <a:ext uri="{FF2B5EF4-FFF2-40B4-BE49-F238E27FC236}">
                  <a16:creationId xmlns:a16="http://schemas.microsoft.com/office/drawing/2014/main" id="{1226141B-9351-A99E-167B-C04D97E45DAC}"/>
                </a:ext>
              </a:extLst>
            </p:cNvPr>
            <p:cNvPicPr/>
            <p:nvPr/>
          </p:nvPicPr>
          <p:blipFill>
            <a:blip r:embed="rId10" cstate="print"/>
            <a:stretch>
              <a:fillRect/>
            </a:stretch>
          </p:blipFill>
          <p:spPr>
            <a:xfrm>
              <a:off x="6218751" y="3393523"/>
              <a:ext cx="1071398" cy="502202"/>
            </a:xfrm>
            <a:prstGeom prst="rect">
              <a:avLst/>
            </a:prstGeom>
          </p:spPr>
        </p:pic>
      </p:grpSp>
      <p:sp>
        <p:nvSpPr>
          <p:cNvPr id="21" name="object 22">
            <a:extLst>
              <a:ext uri="{FF2B5EF4-FFF2-40B4-BE49-F238E27FC236}">
                <a16:creationId xmlns:a16="http://schemas.microsoft.com/office/drawing/2014/main" id="{BB3867BF-2675-BC22-D135-F66D030D8AB8}"/>
              </a:ext>
            </a:extLst>
          </p:cNvPr>
          <p:cNvSpPr txBox="1"/>
          <p:nvPr/>
        </p:nvSpPr>
        <p:spPr>
          <a:xfrm>
            <a:off x="4866052" y="1679760"/>
            <a:ext cx="794385" cy="278923"/>
          </a:xfrm>
          <a:prstGeom prst="rect">
            <a:avLst/>
          </a:prstGeom>
        </p:spPr>
        <p:txBody>
          <a:bodyPr vert="horz" wrap="square" lIns="0" tIns="17145" rIns="0" bIns="0" rtlCol="0">
            <a:spAutoFit/>
          </a:bodyPr>
          <a:lstStyle/>
          <a:p>
            <a:pPr marL="12700">
              <a:lnSpc>
                <a:spcPct val="100000"/>
              </a:lnSpc>
              <a:spcBef>
                <a:spcPts val="135"/>
              </a:spcBef>
            </a:pPr>
            <a:r>
              <a:rPr sz="1700" spc="20" dirty="0">
                <a:solidFill>
                  <a:srgbClr val="FF0000"/>
                </a:solidFill>
                <a:latin typeface="Cambria"/>
                <a:cs typeface="Cambria"/>
              </a:rPr>
              <a:t>synapse</a:t>
            </a:r>
            <a:endParaRPr sz="1700">
              <a:latin typeface="Cambria"/>
              <a:cs typeface="Cambria"/>
            </a:endParaRPr>
          </a:p>
        </p:txBody>
      </p:sp>
      <p:grpSp>
        <p:nvGrpSpPr>
          <p:cNvPr id="22" name="object 23">
            <a:extLst>
              <a:ext uri="{FF2B5EF4-FFF2-40B4-BE49-F238E27FC236}">
                <a16:creationId xmlns:a16="http://schemas.microsoft.com/office/drawing/2014/main" id="{1852EE41-D301-D1D9-9EE7-3294DDFED19C}"/>
              </a:ext>
            </a:extLst>
          </p:cNvPr>
          <p:cNvGrpSpPr/>
          <p:nvPr/>
        </p:nvGrpSpPr>
        <p:grpSpPr>
          <a:xfrm>
            <a:off x="4388761" y="2026528"/>
            <a:ext cx="4013835" cy="2554605"/>
            <a:chOff x="5882281" y="3794368"/>
            <a:chExt cx="4013835" cy="2554605"/>
          </a:xfrm>
        </p:grpSpPr>
        <p:pic>
          <p:nvPicPr>
            <p:cNvPr id="23" name="object 24">
              <a:extLst>
                <a:ext uri="{FF2B5EF4-FFF2-40B4-BE49-F238E27FC236}">
                  <a16:creationId xmlns:a16="http://schemas.microsoft.com/office/drawing/2014/main" id="{22B10B74-81BD-F1D2-4380-083293EC0202}"/>
                </a:ext>
              </a:extLst>
            </p:cNvPr>
            <p:cNvPicPr/>
            <p:nvPr/>
          </p:nvPicPr>
          <p:blipFill>
            <a:blip r:embed="rId11" cstate="print"/>
            <a:stretch>
              <a:fillRect/>
            </a:stretch>
          </p:blipFill>
          <p:spPr>
            <a:xfrm>
              <a:off x="6506694" y="3794368"/>
              <a:ext cx="436601" cy="464934"/>
            </a:xfrm>
            <a:prstGeom prst="rect">
              <a:avLst/>
            </a:prstGeom>
          </p:spPr>
        </p:pic>
        <p:sp>
          <p:nvSpPr>
            <p:cNvPr id="24" name="object 25">
              <a:extLst>
                <a:ext uri="{FF2B5EF4-FFF2-40B4-BE49-F238E27FC236}">
                  <a16:creationId xmlns:a16="http://schemas.microsoft.com/office/drawing/2014/main" id="{D07A3F2C-328A-1CD5-DE87-DCDF8AEEB324}"/>
                </a:ext>
              </a:extLst>
            </p:cNvPr>
            <p:cNvSpPr/>
            <p:nvPr/>
          </p:nvSpPr>
          <p:spPr>
            <a:xfrm>
              <a:off x="5891488" y="5039280"/>
              <a:ext cx="703580" cy="0"/>
            </a:xfrm>
            <a:custGeom>
              <a:avLst/>
              <a:gdLst/>
              <a:ahLst/>
              <a:cxnLst/>
              <a:rect l="l" t="t" r="r" b="b"/>
              <a:pathLst>
                <a:path w="703579">
                  <a:moveTo>
                    <a:pt x="0" y="0"/>
                  </a:moveTo>
                  <a:lnTo>
                    <a:pt x="703134" y="0"/>
                  </a:lnTo>
                </a:path>
              </a:pathLst>
            </a:custGeom>
            <a:ln w="18345">
              <a:solidFill>
                <a:srgbClr val="006FC0"/>
              </a:solidFill>
            </a:ln>
          </p:spPr>
          <p:txBody>
            <a:bodyPr wrap="square" lIns="0" tIns="0" rIns="0" bIns="0" rtlCol="0"/>
            <a:lstStyle/>
            <a:p>
              <a:endParaRPr/>
            </a:p>
          </p:txBody>
        </p:sp>
        <p:pic>
          <p:nvPicPr>
            <p:cNvPr id="25" name="object 26">
              <a:extLst>
                <a:ext uri="{FF2B5EF4-FFF2-40B4-BE49-F238E27FC236}">
                  <a16:creationId xmlns:a16="http://schemas.microsoft.com/office/drawing/2014/main" id="{8AC88963-3EA4-CEF2-43BB-27A7FE03ACAB}"/>
                </a:ext>
              </a:extLst>
            </p:cNvPr>
            <p:cNvPicPr/>
            <p:nvPr/>
          </p:nvPicPr>
          <p:blipFill>
            <a:blip r:embed="rId12" cstate="print"/>
            <a:stretch>
              <a:fillRect/>
            </a:stretch>
          </p:blipFill>
          <p:spPr>
            <a:xfrm>
              <a:off x="6569763" y="4984611"/>
              <a:ext cx="110572" cy="109338"/>
            </a:xfrm>
            <a:prstGeom prst="rect">
              <a:avLst/>
            </a:prstGeom>
          </p:spPr>
        </p:pic>
        <p:sp>
          <p:nvSpPr>
            <p:cNvPr id="26" name="object 27">
              <a:extLst>
                <a:ext uri="{FF2B5EF4-FFF2-40B4-BE49-F238E27FC236}">
                  <a16:creationId xmlns:a16="http://schemas.microsoft.com/office/drawing/2014/main" id="{8832B549-873E-7361-B36D-3438AEC29659}"/>
                </a:ext>
              </a:extLst>
            </p:cNvPr>
            <p:cNvSpPr/>
            <p:nvPr/>
          </p:nvSpPr>
          <p:spPr>
            <a:xfrm>
              <a:off x="6154468" y="5650913"/>
              <a:ext cx="696595" cy="688975"/>
            </a:xfrm>
            <a:custGeom>
              <a:avLst/>
              <a:gdLst/>
              <a:ahLst/>
              <a:cxnLst/>
              <a:rect l="l" t="t" r="r" b="b"/>
              <a:pathLst>
                <a:path w="696595" h="688975">
                  <a:moveTo>
                    <a:pt x="0" y="688471"/>
                  </a:moveTo>
                  <a:lnTo>
                    <a:pt x="696270" y="0"/>
                  </a:lnTo>
                </a:path>
              </a:pathLst>
            </a:custGeom>
            <a:ln w="18447">
              <a:solidFill>
                <a:srgbClr val="006FC0"/>
              </a:solidFill>
            </a:ln>
          </p:spPr>
          <p:txBody>
            <a:bodyPr wrap="square" lIns="0" tIns="0" rIns="0" bIns="0" rtlCol="0"/>
            <a:lstStyle/>
            <a:p>
              <a:endParaRPr/>
            </a:p>
          </p:txBody>
        </p:sp>
        <p:pic>
          <p:nvPicPr>
            <p:cNvPr id="27" name="object 28">
              <a:extLst>
                <a:ext uri="{FF2B5EF4-FFF2-40B4-BE49-F238E27FC236}">
                  <a16:creationId xmlns:a16="http://schemas.microsoft.com/office/drawing/2014/main" id="{6F4CAE0F-8599-AC45-9EC5-D96287B97B0A}"/>
                </a:ext>
              </a:extLst>
            </p:cNvPr>
            <p:cNvPicPr/>
            <p:nvPr/>
          </p:nvPicPr>
          <p:blipFill>
            <a:blip r:embed="rId13" cstate="print"/>
            <a:stretch>
              <a:fillRect/>
            </a:stretch>
          </p:blipFill>
          <p:spPr>
            <a:xfrm>
              <a:off x="6794061" y="5590924"/>
              <a:ext cx="117250" cy="116034"/>
            </a:xfrm>
            <a:prstGeom prst="rect">
              <a:avLst/>
            </a:prstGeom>
          </p:spPr>
        </p:pic>
        <p:pic>
          <p:nvPicPr>
            <p:cNvPr id="28" name="object 29">
              <a:extLst>
                <a:ext uri="{FF2B5EF4-FFF2-40B4-BE49-F238E27FC236}">
                  <a16:creationId xmlns:a16="http://schemas.microsoft.com/office/drawing/2014/main" id="{D4BC29EC-5CE7-40A1-3C09-8C1EF6526C52}"/>
                </a:ext>
              </a:extLst>
            </p:cNvPr>
            <p:cNvPicPr/>
            <p:nvPr/>
          </p:nvPicPr>
          <p:blipFill>
            <a:blip r:embed="rId14" cstate="print"/>
            <a:stretch>
              <a:fillRect/>
            </a:stretch>
          </p:blipFill>
          <p:spPr>
            <a:xfrm>
              <a:off x="6330808" y="5594519"/>
              <a:ext cx="402122" cy="397671"/>
            </a:xfrm>
            <a:prstGeom prst="rect">
              <a:avLst/>
            </a:prstGeom>
          </p:spPr>
        </p:pic>
        <p:sp>
          <p:nvSpPr>
            <p:cNvPr id="29" name="object 30">
              <a:extLst>
                <a:ext uri="{FF2B5EF4-FFF2-40B4-BE49-F238E27FC236}">
                  <a16:creationId xmlns:a16="http://schemas.microsoft.com/office/drawing/2014/main" id="{97C162AD-85AB-5BF5-8E47-D38452EE2268}"/>
                </a:ext>
              </a:extLst>
            </p:cNvPr>
            <p:cNvSpPr/>
            <p:nvPr/>
          </p:nvSpPr>
          <p:spPr>
            <a:xfrm>
              <a:off x="8442067" y="5039280"/>
              <a:ext cx="1368425" cy="0"/>
            </a:xfrm>
            <a:custGeom>
              <a:avLst/>
              <a:gdLst/>
              <a:ahLst/>
              <a:cxnLst/>
              <a:rect l="l" t="t" r="r" b="b"/>
              <a:pathLst>
                <a:path w="1368425">
                  <a:moveTo>
                    <a:pt x="0" y="0"/>
                  </a:moveTo>
                  <a:lnTo>
                    <a:pt x="1367865" y="0"/>
                  </a:lnTo>
                </a:path>
              </a:pathLst>
            </a:custGeom>
            <a:ln w="18345">
              <a:solidFill>
                <a:srgbClr val="00AF50"/>
              </a:solidFill>
            </a:ln>
          </p:spPr>
          <p:txBody>
            <a:bodyPr wrap="square" lIns="0" tIns="0" rIns="0" bIns="0" rtlCol="0"/>
            <a:lstStyle/>
            <a:p>
              <a:endParaRPr/>
            </a:p>
          </p:txBody>
        </p:sp>
        <p:pic>
          <p:nvPicPr>
            <p:cNvPr id="30" name="object 31">
              <a:extLst>
                <a:ext uri="{FF2B5EF4-FFF2-40B4-BE49-F238E27FC236}">
                  <a16:creationId xmlns:a16="http://schemas.microsoft.com/office/drawing/2014/main" id="{5C48E0AC-1071-61AE-669A-6DAD4B851049}"/>
                </a:ext>
              </a:extLst>
            </p:cNvPr>
            <p:cNvPicPr/>
            <p:nvPr/>
          </p:nvPicPr>
          <p:blipFill>
            <a:blip r:embed="rId15" cstate="print"/>
            <a:stretch>
              <a:fillRect/>
            </a:stretch>
          </p:blipFill>
          <p:spPr>
            <a:xfrm>
              <a:off x="9785072" y="4984611"/>
              <a:ext cx="110572" cy="109338"/>
            </a:xfrm>
            <a:prstGeom prst="rect">
              <a:avLst/>
            </a:prstGeom>
          </p:spPr>
        </p:pic>
        <p:pic>
          <p:nvPicPr>
            <p:cNvPr id="31" name="object 32">
              <a:extLst>
                <a:ext uri="{FF2B5EF4-FFF2-40B4-BE49-F238E27FC236}">
                  <a16:creationId xmlns:a16="http://schemas.microsoft.com/office/drawing/2014/main" id="{176757C4-51E9-9EAC-EC0C-6BF012C4EF9A}"/>
                </a:ext>
              </a:extLst>
            </p:cNvPr>
            <p:cNvPicPr/>
            <p:nvPr/>
          </p:nvPicPr>
          <p:blipFill>
            <a:blip r:embed="rId16" cstate="print"/>
            <a:stretch>
              <a:fillRect/>
            </a:stretch>
          </p:blipFill>
          <p:spPr>
            <a:xfrm>
              <a:off x="8375464" y="4975806"/>
              <a:ext cx="1447084" cy="502202"/>
            </a:xfrm>
            <a:prstGeom prst="rect">
              <a:avLst/>
            </a:prstGeom>
          </p:spPr>
        </p:pic>
      </p:grpSp>
      <p:sp>
        <p:nvSpPr>
          <p:cNvPr id="32" name="object 33">
            <a:extLst>
              <a:ext uri="{FF2B5EF4-FFF2-40B4-BE49-F238E27FC236}">
                <a16:creationId xmlns:a16="http://schemas.microsoft.com/office/drawing/2014/main" id="{8EAD3DCE-388E-930D-D932-905ABF8B9B97}"/>
              </a:ext>
            </a:extLst>
          </p:cNvPr>
          <p:cNvSpPr txBox="1"/>
          <p:nvPr/>
        </p:nvSpPr>
        <p:spPr>
          <a:xfrm>
            <a:off x="7021651" y="3264519"/>
            <a:ext cx="1174115" cy="278923"/>
          </a:xfrm>
          <a:prstGeom prst="rect">
            <a:avLst/>
          </a:prstGeom>
        </p:spPr>
        <p:txBody>
          <a:bodyPr vert="horz" wrap="square" lIns="0" tIns="17145" rIns="0" bIns="0" rtlCol="0">
            <a:spAutoFit/>
          </a:bodyPr>
          <a:lstStyle/>
          <a:p>
            <a:pPr marL="12700">
              <a:lnSpc>
                <a:spcPct val="100000"/>
              </a:lnSpc>
              <a:spcBef>
                <a:spcPts val="135"/>
              </a:spcBef>
            </a:pPr>
            <a:r>
              <a:rPr sz="1700" spc="25" dirty="0">
                <a:solidFill>
                  <a:srgbClr val="00AF50"/>
                </a:solidFill>
                <a:latin typeface="Cambria"/>
                <a:cs typeface="Cambria"/>
              </a:rPr>
              <a:t>output</a:t>
            </a:r>
            <a:r>
              <a:rPr sz="1700" spc="-55" dirty="0">
                <a:solidFill>
                  <a:srgbClr val="00AF50"/>
                </a:solidFill>
                <a:latin typeface="Cambria"/>
                <a:cs typeface="Cambria"/>
              </a:rPr>
              <a:t> </a:t>
            </a:r>
            <a:r>
              <a:rPr sz="1700" spc="25" dirty="0">
                <a:solidFill>
                  <a:srgbClr val="00AF50"/>
                </a:solidFill>
                <a:latin typeface="Cambria"/>
                <a:cs typeface="Cambria"/>
              </a:rPr>
              <a:t>axon</a:t>
            </a:r>
            <a:endParaRPr sz="1700">
              <a:latin typeface="Cambria"/>
              <a:cs typeface="Cambria"/>
            </a:endParaRPr>
          </a:p>
        </p:txBody>
      </p:sp>
      <p:grpSp>
        <p:nvGrpSpPr>
          <p:cNvPr id="33" name="object 34">
            <a:extLst>
              <a:ext uri="{FF2B5EF4-FFF2-40B4-BE49-F238E27FC236}">
                <a16:creationId xmlns:a16="http://schemas.microsoft.com/office/drawing/2014/main" id="{017F5606-726A-B86E-81FA-1B079DA4923B}"/>
              </a:ext>
            </a:extLst>
          </p:cNvPr>
          <p:cNvGrpSpPr/>
          <p:nvPr/>
        </p:nvGrpSpPr>
        <p:grpSpPr>
          <a:xfrm>
            <a:off x="6193187" y="2621466"/>
            <a:ext cx="1886585" cy="1976755"/>
            <a:chOff x="7686707" y="4389306"/>
            <a:chExt cx="1886585" cy="1976755"/>
          </a:xfrm>
        </p:grpSpPr>
        <p:pic>
          <p:nvPicPr>
            <p:cNvPr id="34" name="object 35">
              <a:extLst>
                <a:ext uri="{FF2B5EF4-FFF2-40B4-BE49-F238E27FC236}">
                  <a16:creationId xmlns:a16="http://schemas.microsoft.com/office/drawing/2014/main" id="{657B5ADB-FFC1-E414-6E1E-677EAE90EDF9}"/>
                </a:ext>
              </a:extLst>
            </p:cNvPr>
            <p:cNvPicPr/>
            <p:nvPr/>
          </p:nvPicPr>
          <p:blipFill>
            <a:blip r:embed="rId17" cstate="print"/>
            <a:stretch>
              <a:fillRect/>
            </a:stretch>
          </p:blipFill>
          <p:spPr>
            <a:xfrm>
              <a:off x="8297451" y="4389306"/>
              <a:ext cx="1275289" cy="597323"/>
            </a:xfrm>
            <a:prstGeom prst="rect">
              <a:avLst/>
            </a:prstGeom>
          </p:spPr>
        </p:pic>
        <p:pic>
          <p:nvPicPr>
            <p:cNvPr id="35" name="object 36">
              <a:extLst>
                <a:ext uri="{FF2B5EF4-FFF2-40B4-BE49-F238E27FC236}">
                  <a16:creationId xmlns:a16="http://schemas.microsoft.com/office/drawing/2014/main" id="{93EBECA6-9FF9-3BCE-E098-74B01964EA0C}"/>
                </a:ext>
              </a:extLst>
            </p:cNvPr>
            <p:cNvPicPr/>
            <p:nvPr/>
          </p:nvPicPr>
          <p:blipFill>
            <a:blip r:embed="rId18" cstate="print"/>
            <a:stretch>
              <a:fillRect/>
            </a:stretch>
          </p:blipFill>
          <p:spPr>
            <a:xfrm>
              <a:off x="7686707" y="5684429"/>
              <a:ext cx="1328812" cy="681069"/>
            </a:xfrm>
            <a:prstGeom prst="rect">
              <a:avLst/>
            </a:prstGeom>
          </p:spPr>
        </p:pic>
      </p:grpSp>
      <p:sp>
        <p:nvSpPr>
          <p:cNvPr id="36" name="object 37">
            <a:extLst>
              <a:ext uri="{FF2B5EF4-FFF2-40B4-BE49-F238E27FC236}">
                <a16:creationId xmlns:a16="http://schemas.microsoft.com/office/drawing/2014/main" id="{16CB6206-4C31-46D9-40A7-8FF45CA1B702}"/>
              </a:ext>
            </a:extLst>
          </p:cNvPr>
          <p:cNvSpPr txBox="1"/>
          <p:nvPr/>
        </p:nvSpPr>
        <p:spPr>
          <a:xfrm>
            <a:off x="6335678" y="3974748"/>
            <a:ext cx="998219" cy="278923"/>
          </a:xfrm>
          <a:prstGeom prst="rect">
            <a:avLst/>
          </a:prstGeom>
        </p:spPr>
        <p:txBody>
          <a:bodyPr vert="horz" wrap="square" lIns="0" tIns="17145" rIns="0" bIns="0" rtlCol="0">
            <a:spAutoFit/>
          </a:bodyPr>
          <a:lstStyle/>
          <a:p>
            <a:pPr marL="12700">
              <a:lnSpc>
                <a:spcPct val="100000"/>
              </a:lnSpc>
              <a:spcBef>
                <a:spcPts val="135"/>
              </a:spcBef>
            </a:pPr>
            <a:r>
              <a:rPr sz="1700" spc="15" dirty="0">
                <a:solidFill>
                  <a:srgbClr val="6F2F9F"/>
                </a:solidFill>
                <a:latin typeface="Cambria"/>
                <a:cs typeface="Cambria"/>
              </a:rPr>
              <a:t>Activation</a:t>
            </a:r>
            <a:endParaRPr sz="1700">
              <a:latin typeface="Cambria"/>
              <a:cs typeface="Cambria"/>
            </a:endParaRPr>
          </a:p>
        </p:txBody>
      </p:sp>
      <p:sp>
        <p:nvSpPr>
          <p:cNvPr id="37" name="object 38">
            <a:extLst>
              <a:ext uri="{FF2B5EF4-FFF2-40B4-BE49-F238E27FC236}">
                <a16:creationId xmlns:a16="http://schemas.microsoft.com/office/drawing/2014/main" id="{E471A58E-48D1-F726-C7C6-EC47E68800CD}"/>
              </a:ext>
            </a:extLst>
          </p:cNvPr>
          <p:cNvSpPr txBox="1"/>
          <p:nvPr/>
        </p:nvSpPr>
        <p:spPr>
          <a:xfrm>
            <a:off x="6426770" y="4151092"/>
            <a:ext cx="817244" cy="278923"/>
          </a:xfrm>
          <a:prstGeom prst="rect">
            <a:avLst/>
          </a:prstGeom>
        </p:spPr>
        <p:txBody>
          <a:bodyPr vert="horz" wrap="square" lIns="0" tIns="17145" rIns="0" bIns="0" rtlCol="0">
            <a:spAutoFit/>
          </a:bodyPr>
          <a:lstStyle/>
          <a:p>
            <a:pPr marL="12700">
              <a:lnSpc>
                <a:spcPct val="100000"/>
              </a:lnSpc>
              <a:spcBef>
                <a:spcPts val="135"/>
              </a:spcBef>
            </a:pPr>
            <a:r>
              <a:rPr sz="1700" spc="25" dirty="0">
                <a:solidFill>
                  <a:srgbClr val="6F2F9F"/>
                </a:solidFill>
                <a:latin typeface="Cambria"/>
                <a:cs typeface="Cambria"/>
              </a:rPr>
              <a:t>f</a:t>
            </a:r>
            <a:r>
              <a:rPr sz="1700" spc="-10" dirty="0">
                <a:solidFill>
                  <a:srgbClr val="6F2F9F"/>
                </a:solidFill>
                <a:latin typeface="Cambria"/>
                <a:cs typeface="Cambria"/>
              </a:rPr>
              <a:t>u</a:t>
            </a:r>
            <a:r>
              <a:rPr sz="1700" spc="30" dirty="0">
                <a:solidFill>
                  <a:srgbClr val="6F2F9F"/>
                </a:solidFill>
                <a:latin typeface="Cambria"/>
                <a:cs typeface="Cambria"/>
              </a:rPr>
              <a:t>n</a:t>
            </a:r>
            <a:r>
              <a:rPr sz="1700" spc="15" dirty="0">
                <a:solidFill>
                  <a:srgbClr val="6F2F9F"/>
                </a:solidFill>
                <a:latin typeface="Cambria"/>
                <a:cs typeface="Cambria"/>
              </a:rPr>
              <a:t>c</a:t>
            </a:r>
            <a:r>
              <a:rPr sz="1700" spc="20" dirty="0">
                <a:solidFill>
                  <a:srgbClr val="6F2F9F"/>
                </a:solidFill>
                <a:latin typeface="Cambria"/>
                <a:cs typeface="Cambria"/>
              </a:rPr>
              <a:t>t</a:t>
            </a:r>
            <a:r>
              <a:rPr sz="1700" spc="25" dirty="0">
                <a:solidFill>
                  <a:srgbClr val="6F2F9F"/>
                </a:solidFill>
                <a:latin typeface="Cambria"/>
                <a:cs typeface="Cambria"/>
              </a:rPr>
              <a:t>ion</a:t>
            </a:r>
            <a:endParaRPr sz="1700">
              <a:latin typeface="Cambria"/>
              <a:cs typeface="Cambria"/>
            </a:endParaRPr>
          </a:p>
        </p:txBody>
      </p:sp>
      <p:sp>
        <p:nvSpPr>
          <p:cNvPr id="38" name="object 50">
            <a:extLst>
              <a:ext uri="{FF2B5EF4-FFF2-40B4-BE49-F238E27FC236}">
                <a16:creationId xmlns:a16="http://schemas.microsoft.com/office/drawing/2014/main" id="{5AE209D1-62EF-B50E-1822-3217F631FB03}"/>
              </a:ext>
            </a:extLst>
          </p:cNvPr>
          <p:cNvSpPr txBox="1"/>
          <p:nvPr/>
        </p:nvSpPr>
        <p:spPr>
          <a:xfrm>
            <a:off x="2936143" y="3252595"/>
            <a:ext cx="1158240" cy="278923"/>
          </a:xfrm>
          <a:prstGeom prst="rect">
            <a:avLst/>
          </a:prstGeom>
        </p:spPr>
        <p:txBody>
          <a:bodyPr vert="horz" wrap="square" lIns="0" tIns="17145" rIns="0" bIns="0" rtlCol="0">
            <a:spAutoFit/>
          </a:bodyPr>
          <a:lstStyle/>
          <a:p>
            <a:pPr marL="12700">
              <a:lnSpc>
                <a:spcPct val="100000"/>
              </a:lnSpc>
              <a:spcBef>
                <a:spcPts val="135"/>
              </a:spcBef>
            </a:pPr>
            <a:r>
              <a:rPr sz="1700" spc="25" dirty="0">
                <a:solidFill>
                  <a:srgbClr val="00AF50"/>
                </a:solidFill>
                <a:latin typeface="Cambria"/>
                <a:cs typeface="Cambria"/>
              </a:rPr>
              <a:t>axon</a:t>
            </a:r>
            <a:r>
              <a:rPr sz="1700" spc="-25" dirty="0">
                <a:solidFill>
                  <a:srgbClr val="00AF50"/>
                </a:solidFill>
                <a:latin typeface="Cambria"/>
                <a:cs typeface="Cambria"/>
              </a:rPr>
              <a:t> </a:t>
            </a:r>
            <a:r>
              <a:rPr sz="1700" spc="25" dirty="0">
                <a:solidFill>
                  <a:srgbClr val="00AF50"/>
                </a:solidFill>
                <a:latin typeface="Cambria"/>
                <a:cs typeface="Cambria"/>
              </a:rPr>
              <a:t>from</a:t>
            </a:r>
            <a:r>
              <a:rPr sz="1700" spc="-10" dirty="0">
                <a:solidFill>
                  <a:srgbClr val="00AF50"/>
                </a:solidFill>
                <a:latin typeface="Cambria"/>
                <a:cs typeface="Cambria"/>
              </a:rPr>
              <a:t> </a:t>
            </a:r>
            <a:r>
              <a:rPr sz="1700" spc="25" dirty="0">
                <a:solidFill>
                  <a:srgbClr val="00AF50"/>
                </a:solidFill>
                <a:latin typeface="Cambria"/>
                <a:cs typeface="Cambria"/>
              </a:rPr>
              <a:t>a</a:t>
            </a:r>
            <a:endParaRPr sz="1700">
              <a:latin typeface="Cambria"/>
              <a:cs typeface="Cambria"/>
            </a:endParaRPr>
          </a:p>
        </p:txBody>
      </p:sp>
      <p:sp>
        <p:nvSpPr>
          <p:cNvPr id="39" name="object 51">
            <a:extLst>
              <a:ext uri="{FF2B5EF4-FFF2-40B4-BE49-F238E27FC236}">
                <a16:creationId xmlns:a16="http://schemas.microsoft.com/office/drawing/2014/main" id="{BACA7AEA-C719-9DC3-4B75-AF1AC535380D}"/>
              </a:ext>
            </a:extLst>
          </p:cNvPr>
          <p:cNvSpPr txBox="1"/>
          <p:nvPr/>
        </p:nvSpPr>
        <p:spPr>
          <a:xfrm>
            <a:off x="3155339" y="3428985"/>
            <a:ext cx="714375" cy="278923"/>
          </a:xfrm>
          <a:prstGeom prst="rect">
            <a:avLst/>
          </a:prstGeom>
        </p:spPr>
        <p:txBody>
          <a:bodyPr vert="horz" wrap="square" lIns="0" tIns="17145" rIns="0" bIns="0" rtlCol="0">
            <a:spAutoFit/>
          </a:bodyPr>
          <a:lstStyle/>
          <a:p>
            <a:pPr marL="12700">
              <a:lnSpc>
                <a:spcPct val="100000"/>
              </a:lnSpc>
              <a:spcBef>
                <a:spcPts val="135"/>
              </a:spcBef>
            </a:pPr>
            <a:r>
              <a:rPr sz="1700" spc="35" dirty="0">
                <a:solidFill>
                  <a:srgbClr val="00AF50"/>
                </a:solidFill>
                <a:latin typeface="Cambria"/>
                <a:cs typeface="Cambria"/>
              </a:rPr>
              <a:t>n</a:t>
            </a:r>
            <a:r>
              <a:rPr sz="1700" spc="-10" dirty="0">
                <a:solidFill>
                  <a:srgbClr val="00AF50"/>
                </a:solidFill>
                <a:latin typeface="Cambria"/>
                <a:cs typeface="Cambria"/>
              </a:rPr>
              <a:t>e</a:t>
            </a:r>
            <a:r>
              <a:rPr sz="1700" spc="45" dirty="0">
                <a:solidFill>
                  <a:srgbClr val="00AF50"/>
                </a:solidFill>
                <a:latin typeface="Cambria"/>
                <a:cs typeface="Cambria"/>
              </a:rPr>
              <a:t>u</a:t>
            </a:r>
            <a:r>
              <a:rPr sz="1700" spc="5" dirty="0">
                <a:solidFill>
                  <a:srgbClr val="00AF50"/>
                </a:solidFill>
                <a:latin typeface="Cambria"/>
                <a:cs typeface="Cambria"/>
              </a:rPr>
              <a:t>r</a:t>
            </a:r>
            <a:r>
              <a:rPr sz="1700" spc="30" dirty="0">
                <a:solidFill>
                  <a:srgbClr val="00AF50"/>
                </a:solidFill>
                <a:latin typeface="Cambria"/>
                <a:cs typeface="Cambria"/>
              </a:rPr>
              <a:t>on</a:t>
            </a:r>
            <a:endParaRPr sz="1700">
              <a:latin typeface="Cambria"/>
              <a:cs typeface="Cambria"/>
            </a:endParaRPr>
          </a:p>
        </p:txBody>
      </p:sp>
      <p:grpSp>
        <p:nvGrpSpPr>
          <p:cNvPr id="40" name="object 52">
            <a:extLst>
              <a:ext uri="{FF2B5EF4-FFF2-40B4-BE49-F238E27FC236}">
                <a16:creationId xmlns:a16="http://schemas.microsoft.com/office/drawing/2014/main" id="{9B697E7B-8FC4-FBE3-D264-CCE238EC4E9D}"/>
              </a:ext>
            </a:extLst>
          </p:cNvPr>
          <p:cNvGrpSpPr/>
          <p:nvPr/>
        </p:nvGrpSpPr>
        <p:grpSpPr>
          <a:xfrm>
            <a:off x="1093607" y="1557163"/>
            <a:ext cx="3961765" cy="2586990"/>
            <a:chOff x="2587127" y="3325003"/>
            <a:chExt cx="3961765" cy="2586990"/>
          </a:xfrm>
        </p:grpSpPr>
        <p:pic>
          <p:nvPicPr>
            <p:cNvPr id="41" name="object 53">
              <a:extLst>
                <a:ext uri="{FF2B5EF4-FFF2-40B4-BE49-F238E27FC236}">
                  <a16:creationId xmlns:a16="http://schemas.microsoft.com/office/drawing/2014/main" id="{02CB3044-17BE-E0B5-F127-A9B4657F588D}"/>
                </a:ext>
              </a:extLst>
            </p:cNvPr>
            <p:cNvPicPr/>
            <p:nvPr/>
          </p:nvPicPr>
          <p:blipFill>
            <a:blip r:embed="rId19" cstate="print"/>
            <a:stretch>
              <a:fillRect/>
            </a:stretch>
          </p:blipFill>
          <p:spPr>
            <a:xfrm>
              <a:off x="6083134" y="4807322"/>
              <a:ext cx="422724" cy="198643"/>
            </a:xfrm>
            <a:prstGeom prst="rect">
              <a:avLst/>
            </a:prstGeom>
          </p:spPr>
        </p:pic>
        <p:pic>
          <p:nvPicPr>
            <p:cNvPr id="42" name="object 54">
              <a:extLst>
                <a:ext uri="{FF2B5EF4-FFF2-40B4-BE49-F238E27FC236}">
                  <a16:creationId xmlns:a16="http://schemas.microsoft.com/office/drawing/2014/main" id="{C8D60CF8-AC4D-BD0F-0455-565696744C00}"/>
                </a:ext>
              </a:extLst>
            </p:cNvPr>
            <p:cNvPicPr/>
            <p:nvPr/>
          </p:nvPicPr>
          <p:blipFill>
            <a:blip r:embed="rId20" cstate="print"/>
            <a:stretch>
              <a:fillRect/>
            </a:stretch>
          </p:blipFill>
          <p:spPr>
            <a:xfrm>
              <a:off x="5659676" y="3325003"/>
              <a:ext cx="270548" cy="181985"/>
            </a:xfrm>
            <a:prstGeom prst="rect">
              <a:avLst/>
            </a:prstGeom>
          </p:spPr>
        </p:pic>
        <p:pic>
          <p:nvPicPr>
            <p:cNvPr id="43" name="object 55">
              <a:extLst>
                <a:ext uri="{FF2B5EF4-FFF2-40B4-BE49-F238E27FC236}">
                  <a16:creationId xmlns:a16="http://schemas.microsoft.com/office/drawing/2014/main" id="{768BB5FF-1C8D-4FE6-9F84-175E1A39BD77}"/>
                </a:ext>
              </a:extLst>
            </p:cNvPr>
            <p:cNvPicPr/>
            <p:nvPr/>
          </p:nvPicPr>
          <p:blipFill>
            <a:blip r:embed="rId21" cstate="print"/>
            <a:stretch>
              <a:fillRect/>
            </a:stretch>
          </p:blipFill>
          <p:spPr>
            <a:xfrm>
              <a:off x="6285911" y="3325003"/>
              <a:ext cx="262942" cy="154247"/>
            </a:xfrm>
            <a:prstGeom prst="rect">
              <a:avLst/>
            </a:prstGeom>
          </p:spPr>
        </p:pic>
        <p:pic>
          <p:nvPicPr>
            <p:cNvPr id="44" name="object 56">
              <a:extLst>
                <a:ext uri="{FF2B5EF4-FFF2-40B4-BE49-F238E27FC236}">
                  <a16:creationId xmlns:a16="http://schemas.microsoft.com/office/drawing/2014/main" id="{624E609A-AE54-3C18-04D3-ABDB1ACBE951}"/>
                </a:ext>
              </a:extLst>
            </p:cNvPr>
            <p:cNvPicPr/>
            <p:nvPr/>
          </p:nvPicPr>
          <p:blipFill>
            <a:blip r:embed="rId22" cstate="print"/>
            <a:stretch>
              <a:fillRect/>
            </a:stretch>
          </p:blipFill>
          <p:spPr>
            <a:xfrm>
              <a:off x="2587127" y="4253496"/>
              <a:ext cx="1683626" cy="1657956"/>
            </a:xfrm>
            <a:prstGeom prst="rect">
              <a:avLst/>
            </a:prstGeom>
          </p:spPr>
        </p:pic>
        <p:sp>
          <p:nvSpPr>
            <p:cNvPr id="45" name="object 57">
              <a:extLst>
                <a:ext uri="{FF2B5EF4-FFF2-40B4-BE49-F238E27FC236}">
                  <a16:creationId xmlns:a16="http://schemas.microsoft.com/office/drawing/2014/main" id="{8EE772D2-31A6-83F2-B8E3-C61822CD17B3}"/>
                </a:ext>
              </a:extLst>
            </p:cNvPr>
            <p:cNvSpPr/>
            <p:nvPr/>
          </p:nvSpPr>
          <p:spPr>
            <a:xfrm>
              <a:off x="2627581" y="4279232"/>
              <a:ext cx="1597025" cy="1574800"/>
            </a:xfrm>
            <a:custGeom>
              <a:avLst/>
              <a:gdLst/>
              <a:ahLst/>
              <a:cxnLst/>
              <a:rect l="l" t="t" r="r" b="b"/>
              <a:pathLst>
                <a:path w="1597025" h="1574800">
                  <a:moveTo>
                    <a:pt x="959240" y="1562099"/>
                  </a:moveTo>
                  <a:lnTo>
                    <a:pt x="637820" y="1562099"/>
                  </a:lnTo>
                  <a:lnTo>
                    <a:pt x="657393" y="1574799"/>
                  </a:lnTo>
                  <a:lnTo>
                    <a:pt x="939667" y="1574799"/>
                  </a:lnTo>
                  <a:lnTo>
                    <a:pt x="959240" y="1562099"/>
                  </a:lnTo>
                  <a:close/>
                </a:path>
                <a:path w="1597025" h="1574800">
                  <a:moveTo>
                    <a:pt x="679749" y="1549399"/>
                  </a:moveTo>
                  <a:lnTo>
                    <a:pt x="580123" y="1549399"/>
                  </a:lnTo>
                  <a:lnTo>
                    <a:pt x="599139" y="1562099"/>
                  </a:lnTo>
                  <a:lnTo>
                    <a:pt x="699229" y="1562099"/>
                  </a:lnTo>
                  <a:lnTo>
                    <a:pt x="679749" y="1549399"/>
                  </a:lnTo>
                  <a:close/>
                </a:path>
                <a:path w="1597025" h="1574800">
                  <a:moveTo>
                    <a:pt x="1017031" y="1549399"/>
                  </a:moveTo>
                  <a:lnTo>
                    <a:pt x="917126" y="1549399"/>
                  </a:lnTo>
                  <a:lnTo>
                    <a:pt x="897646" y="1562099"/>
                  </a:lnTo>
                  <a:lnTo>
                    <a:pt x="997922" y="1562099"/>
                  </a:lnTo>
                  <a:lnTo>
                    <a:pt x="1017031" y="1549399"/>
                  </a:lnTo>
                  <a:close/>
                </a:path>
                <a:path w="1597025" h="1574800">
                  <a:moveTo>
                    <a:pt x="603684" y="1536699"/>
                  </a:moveTo>
                  <a:lnTo>
                    <a:pt x="542647" y="1536699"/>
                  </a:lnTo>
                  <a:lnTo>
                    <a:pt x="561292" y="1549399"/>
                  </a:lnTo>
                  <a:lnTo>
                    <a:pt x="622422" y="1549399"/>
                  </a:lnTo>
                  <a:lnTo>
                    <a:pt x="603684" y="1536699"/>
                  </a:lnTo>
                  <a:close/>
                </a:path>
                <a:path w="1597025" h="1574800">
                  <a:moveTo>
                    <a:pt x="1054506" y="1536699"/>
                  </a:moveTo>
                  <a:lnTo>
                    <a:pt x="993191" y="1536699"/>
                  </a:lnTo>
                  <a:lnTo>
                    <a:pt x="974360" y="1549399"/>
                  </a:lnTo>
                  <a:lnTo>
                    <a:pt x="1035861" y="1549399"/>
                  </a:lnTo>
                  <a:lnTo>
                    <a:pt x="1054506" y="1536699"/>
                  </a:lnTo>
                  <a:close/>
                </a:path>
                <a:path w="1597025" h="1574800">
                  <a:moveTo>
                    <a:pt x="566672" y="1523999"/>
                  </a:moveTo>
                  <a:lnTo>
                    <a:pt x="506006" y="1523999"/>
                  </a:lnTo>
                  <a:lnTo>
                    <a:pt x="524187" y="1536699"/>
                  </a:lnTo>
                  <a:lnTo>
                    <a:pt x="585132" y="1536699"/>
                  </a:lnTo>
                  <a:lnTo>
                    <a:pt x="566672" y="1523999"/>
                  </a:lnTo>
                  <a:close/>
                </a:path>
                <a:path w="1597025" h="1574800">
                  <a:moveTo>
                    <a:pt x="1091147" y="1523999"/>
                  </a:moveTo>
                  <a:lnTo>
                    <a:pt x="1030296" y="1523999"/>
                  </a:lnTo>
                  <a:lnTo>
                    <a:pt x="1011836" y="1536699"/>
                  </a:lnTo>
                  <a:lnTo>
                    <a:pt x="1072966" y="1536699"/>
                  </a:lnTo>
                  <a:lnTo>
                    <a:pt x="1091147" y="1523999"/>
                  </a:lnTo>
                  <a:close/>
                </a:path>
                <a:path w="1597025" h="1574800">
                  <a:moveTo>
                    <a:pt x="779" y="774699"/>
                  </a:moveTo>
                  <a:lnTo>
                    <a:pt x="0" y="774699"/>
                  </a:lnTo>
                  <a:lnTo>
                    <a:pt x="500" y="812799"/>
                  </a:lnTo>
                  <a:lnTo>
                    <a:pt x="1280" y="838199"/>
                  </a:lnTo>
                  <a:lnTo>
                    <a:pt x="2615" y="850899"/>
                  </a:lnTo>
                  <a:lnTo>
                    <a:pt x="4378" y="876299"/>
                  </a:lnTo>
                  <a:lnTo>
                    <a:pt x="6697" y="888999"/>
                  </a:lnTo>
                  <a:lnTo>
                    <a:pt x="9508" y="914399"/>
                  </a:lnTo>
                  <a:lnTo>
                    <a:pt x="12754" y="927099"/>
                  </a:lnTo>
                  <a:lnTo>
                    <a:pt x="16548" y="952499"/>
                  </a:lnTo>
                  <a:lnTo>
                    <a:pt x="20778" y="965199"/>
                  </a:lnTo>
                  <a:lnTo>
                    <a:pt x="25490" y="990599"/>
                  </a:lnTo>
                  <a:lnTo>
                    <a:pt x="30629" y="1003299"/>
                  </a:lnTo>
                  <a:lnTo>
                    <a:pt x="36260" y="1028699"/>
                  </a:lnTo>
                  <a:lnTo>
                    <a:pt x="42317" y="1041399"/>
                  </a:lnTo>
                  <a:lnTo>
                    <a:pt x="48792" y="1066799"/>
                  </a:lnTo>
                  <a:lnTo>
                    <a:pt x="55759" y="1079499"/>
                  </a:lnTo>
                  <a:lnTo>
                    <a:pt x="63078" y="1104899"/>
                  </a:lnTo>
                  <a:lnTo>
                    <a:pt x="70897" y="1117599"/>
                  </a:lnTo>
                  <a:lnTo>
                    <a:pt x="79162" y="1130299"/>
                  </a:lnTo>
                  <a:lnTo>
                    <a:pt x="96732" y="1168399"/>
                  </a:lnTo>
                  <a:lnTo>
                    <a:pt x="116017" y="1206499"/>
                  </a:lnTo>
                  <a:lnTo>
                    <a:pt x="136814" y="1231899"/>
                  </a:lnTo>
                  <a:lnTo>
                    <a:pt x="158984" y="1269999"/>
                  </a:lnTo>
                  <a:lnTo>
                    <a:pt x="207777" y="1320799"/>
                  </a:lnTo>
                  <a:lnTo>
                    <a:pt x="261950" y="1371599"/>
                  </a:lnTo>
                  <a:lnTo>
                    <a:pt x="290891" y="1396999"/>
                  </a:lnTo>
                  <a:lnTo>
                    <a:pt x="321132" y="1422399"/>
                  </a:lnTo>
                  <a:lnTo>
                    <a:pt x="352392" y="1447799"/>
                  </a:lnTo>
                  <a:lnTo>
                    <a:pt x="384766" y="1473199"/>
                  </a:lnTo>
                  <a:lnTo>
                    <a:pt x="452575" y="1498599"/>
                  </a:lnTo>
                  <a:lnTo>
                    <a:pt x="487917" y="1523999"/>
                  </a:lnTo>
                  <a:lnTo>
                    <a:pt x="548491" y="1523999"/>
                  </a:lnTo>
                  <a:lnTo>
                    <a:pt x="530495" y="1511299"/>
                  </a:lnTo>
                  <a:lnTo>
                    <a:pt x="512685" y="1511299"/>
                  </a:lnTo>
                  <a:lnTo>
                    <a:pt x="495060" y="1498599"/>
                  </a:lnTo>
                  <a:lnTo>
                    <a:pt x="477806" y="1498599"/>
                  </a:lnTo>
                  <a:lnTo>
                    <a:pt x="460553" y="1485899"/>
                  </a:lnTo>
                  <a:lnTo>
                    <a:pt x="460831" y="1485899"/>
                  </a:lnTo>
                  <a:lnTo>
                    <a:pt x="426880" y="1473199"/>
                  </a:lnTo>
                  <a:lnTo>
                    <a:pt x="427251" y="1473199"/>
                  </a:lnTo>
                  <a:lnTo>
                    <a:pt x="394228" y="1447799"/>
                  </a:lnTo>
                  <a:lnTo>
                    <a:pt x="394599" y="1447799"/>
                  </a:lnTo>
                  <a:lnTo>
                    <a:pt x="362596" y="1435099"/>
                  </a:lnTo>
                  <a:lnTo>
                    <a:pt x="362967" y="1435099"/>
                  </a:lnTo>
                  <a:lnTo>
                    <a:pt x="332078" y="1409699"/>
                  </a:lnTo>
                  <a:lnTo>
                    <a:pt x="332449" y="1409699"/>
                  </a:lnTo>
                  <a:lnTo>
                    <a:pt x="302579" y="1384299"/>
                  </a:lnTo>
                  <a:lnTo>
                    <a:pt x="302858" y="1384299"/>
                  </a:lnTo>
                  <a:lnTo>
                    <a:pt x="274287" y="1358899"/>
                  </a:lnTo>
                  <a:lnTo>
                    <a:pt x="274658" y="1358899"/>
                  </a:lnTo>
                  <a:lnTo>
                    <a:pt x="247200" y="1333499"/>
                  </a:lnTo>
                  <a:lnTo>
                    <a:pt x="247572" y="1333499"/>
                  </a:lnTo>
                  <a:lnTo>
                    <a:pt x="221413" y="1308099"/>
                  </a:lnTo>
                  <a:lnTo>
                    <a:pt x="221691" y="1308099"/>
                  </a:lnTo>
                  <a:lnTo>
                    <a:pt x="196924" y="1282699"/>
                  </a:lnTo>
                  <a:lnTo>
                    <a:pt x="197202" y="1282699"/>
                  </a:lnTo>
                  <a:lnTo>
                    <a:pt x="173733" y="1257299"/>
                  </a:lnTo>
                  <a:lnTo>
                    <a:pt x="174011" y="1257299"/>
                  </a:lnTo>
                  <a:lnTo>
                    <a:pt x="152027" y="1219199"/>
                  </a:lnTo>
                  <a:lnTo>
                    <a:pt x="152305" y="1219199"/>
                  </a:lnTo>
                  <a:lnTo>
                    <a:pt x="131712" y="1193799"/>
                  </a:lnTo>
                  <a:lnTo>
                    <a:pt x="131990" y="1193799"/>
                  </a:lnTo>
                  <a:lnTo>
                    <a:pt x="112918" y="1155699"/>
                  </a:lnTo>
                  <a:lnTo>
                    <a:pt x="113141" y="1155699"/>
                  </a:lnTo>
                  <a:lnTo>
                    <a:pt x="95748" y="1130299"/>
                  </a:lnTo>
                  <a:lnTo>
                    <a:pt x="95887" y="1130299"/>
                  </a:lnTo>
                  <a:lnTo>
                    <a:pt x="87743" y="1104899"/>
                  </a:lnTo>
                  <a:lnTo>
                    <a:pt x="80118" y="1092199"/>
                  </a:lnTo>
                  <a:lnTo>
                    <a:pt x="72985" y="1079499"/>
                  </a:lnTo>
                  <a:lnTo>
                    <a:pt x="66167" y="1054099"/>
                  </a:lnTo>
                  <a:lnTo>
                    <a:pt x="59859" y="1041399"/>
                  </a:lnTo>
                  <a:lnTo>
                    <a:pt x="53941" y="1015999"/>
                  </a:lnTo>
                  <a:lnTo>
                    <a:pt x="48440" y="1003299"/>
                  </a:lnTo>
                  <a:lnTo>
                    <a:pt x="43431" y="990599"/>
                  </a:lnTo>
                  <a:lnTo>
                    <a:pt x="38820" y="965199"/>
                  </a:lnTo>
                  <a:lnTo>
                    <a:pt x="34702" y="952499"/>
                  </a:lnTo>
                  <a:lnTo>
                    <a:pt x="30991" y="927099"/>
                  </a:lnTo>
                  <a:lnTo>
                    <a:pt x="27837" y="914399"/>
                  </a:lnTo>
                  <a:lnTo>
                    <a:pt x="25082" y="888999"/>
                  </a:lnTo>
                  <a:lnTo>
                    <a:pt x="22819" y="876299"/>
                  </a:lnTo>
                  <a:lnTo>
                    <a:pt x="21103" y="850899"/>
                  </a:lnTo>
                  <a:lnTo>
                    <a:pt x="19795" y="825499"/>
                  </a:lnTo>
                  <a:lnTo>
                    <a:pt x="19044" y="812799"/>
                  </a:lnTo>
                  <a:lnTo>
                    <a:pt x="14582" y="812799"/>
                  </a:lnTo>
                  <a:lnTo>
                    <a:pt x="2940" y="800099"/>
                  </a:lnTo>
                  <a:lnTo>
                    <a:pt x="18774" y="787399"/>
                  </a:lnTo>
                  <a:lnTo>
                    <a:pt x="500" y="787399"/>
                  </a:lnTo>
                  <a:lnTo>
                    <a:pt x="779" y="774699"/>
                  </a:lnTo>
                  <a:close/>
                </a:path>
                <a:path w="1597025" h="1574800">
                  <a:moveTo>
                    <a:pt x="1144764" y="76199"/>
                  </a:moveTo>
                  <a:lnTo>
                    <a:pt x="1102186" y="76199"/>
                  </a:lnTo>
                  <a:lnTo>
                    <a:pt x="1136786" y="101599"/>
                  </a:lnTo>
                  <a:lnTo>
                    <a:pt x="1136415" y="101599"/>
                  </a:lnTo>
                  <a:lnTo>
                    <a:pt x="1170459" y="114299"/>
                  </a:lnTo>
                  <a:lnTo>
                    <a:pt x="1170088" y="114299"/>
                  </a:lnTo>
                  <a:lnTo>
                    <a:pt x="1203018" y="126999"/>
                  </a:lnTo>
                  <a:lnTo>
                    <a:pt x="1202647" y="126999"/>
                  </a:lnTo>
                  <a:lnTo>
                    <a:pt x="1234743" y="152399"/>
                  </a:lnTo>
                  <a:lnTo>
                    <a:pt x="1234372" y="152399"/>
                  </a:lnTo>
                  <a:lnTo>
                    <a:pt x="1265261" y="177799"/>
                  </a:lnTo>
                  <a:lnTo>
                    <a:pt x="1264890" y="177799"/>
                  </a:lnTo>
                  <a:lnTo>
                    <a:pt x="1294667" y="203199"/>
                  </a:lnTo>
                  <a:lnTo>
                    <a:pt x="1294296" y="203199"/>
                  </a:lnTo>
                  <a:lnTo>
                    <a:pt x="1322959" y="215899"/>
                  </a:lnTo>
                  <a:lnTo>
                    <a:pt x="1322681" y="215899"/>
                  </a:lnTo>
                  <a:lnTo>
                    <a:pt x="1350046" y="241299"/>
                  </a:lnTo>
                  <a:lnTo>
                    <a:pt x="1349767" y="241299"/>
                  </a:lnTo>
                  <a:lnTo>
                    <a:pt x="1375833" y="279399"/>
                  </a:lnTo>
                  <a:lnTo>
                    <a:pt x="1375555" y="279399"/>
                  </a:lnTo>
                  <a:lnTo>
                    <a:pt x="1400322" y="304799"/>
                  </a:lnTo>
                  <a:lnTo>
                    <a:pt x="1400044" y="304799"/>
                  </a:lnTo>
                  <a:lnTo>
                    <a:pt x="1423513" y="330199"/>
                  </a:lnTo>
                  <a:lnTo>
                    <a:pt x="1423235" y="330199"/>
                  </a:lnTo>
                  <a:lnTo>
                    <a:pt x="1445219" y="355599"/>
                  </a:lnTo>
                  <a:lnTo>
                    <a:pt x="1444941" y="355599"/>
                  </a:lnTo>
                  <a:lnTo>
                    <a:pt x="1465441" y="393699"/>
                  </a:lnTo>
                  <a:lnTo>
                    <a:pt x="1465256" y="393699"/>
                  </a:lnTo>
                  <a:lnTo>
                    <a:pt x="1484272" y="419099"/>
                  </a:lnTo>
                  <a:lnTo>
                    <a:pt x="1483994" y="419099"/>
                  </a:lnTo>
                  <a:lnTo>
                    <a:pt x="1501433" y="457199"/>
                  </a:lnTo>
                  <a:lnTo>
                    <a:pt x="1501247" y="457199"/>
                  </a:lnTo>
                  <a:lnTo>
                    <a:pt x="1509410" y="469899"/>
                  </a:lnTo>
                  <a:lnTo>
                    <a:pt x="1516924" y="495299"/>
                  </a:lnTo>
                  <a:lnTo>
                    <a:pt x="1524159" y="507999"/>
                  </a:lnTo>
                  <a:lnTo>
                    <a:pt x="1530931" y="520699"/>
                  </a:lnTo>
                  <a:lnTo>
                    <a:pt x="1537332" y="546099"/>
                  </a:lnTo>
                  <a:lnTo>
                    <a:pt x="1543176" y="558799"/>
                  </a:lnTo>
                  <a:lnTo>
                    <a:pt x="1548649" y="584199"/>
                  </a:lnTo>
                  <a:lnTo>
                    <a:pt x="1553658" y="596899"/>
                  </a:lnTo>
                  <a:lnTo>
                    <a:pt x="1558296" y="622299"/>
                  </a:lnTo>
                  <a:lnTo>
                    <a:pt x="1562377" y="634999"/>
                  </a:lnTo>
                  <a:lnTo>
                    <a:pt x="1565995" y="660399"/>
                  </a:lnTo>
                  <a:lnTo>
                    <a:pt x="1569149" y="673099"/>
                  </a:lnTo>
                  <a:lnTo>
                    <a:pt x="1571932" y="698499"/>
                  </a:lnTo>
                  <a:lnTo>
                    <a:pt x="1574158" y="711199"/>
                  </a:lnTo>
                  <a:lnTo>
                    <a:pt x="1575921" y="736599"/>
                  </a:lnTo>
                  <a:lnTo>
                    <a:pt x="1577126" y="749299"/>
                  </a:lnTo>
                  <a:lnTo>
                    <a:pt x="1577869" y="774699"/>
                  </a:lnTo>
                  <a:lnTo>
                    <a:pt x="1578147" y="787399"/>
                  </a:lnTo>
                  <a:lnTo>
                    <a:pt x="1577961" y="812799"/>
                  </a:lnTo>
                  <a:lnTo>
                    <a:pt x="1577219" y="825499"/>
                  </a:lnTo>
                  <a:lnTo>
                    <a:pt x="1575921" y="850899"/>
                  </a:lnTo>
                  <a:lnTo>
                    <a:pt x="1574158" y="876299"/>
                  </a:lnTo>
                  <a:lnTo>
                    <a:pt x="1571932" y="888999"/>
                  </a:lnTo>
                  <a:lnTo>
                    <a:pt x="1569242" y="914399"/>
                  </a:lnTo>
                  <a:lnTo>
                    <a:pt x="1566088" y="927099"/>
                  </a:lnTo>
                  <a:lnTo>
                    <a:pt x="1562377" y="952499"/>
                  </a:lnTo>
                  <a:lnTo>
                    <a:pt x="1558296" y="965199"/>
                  </a:lnTo>
                  <a:lnTo>
                    <a:pt x="1553658" y="990599"/>
                  </a:lnTo>
                  <a:lnTo>
                    <a:pt x="1548649" y="1003299"/>
                  </a:lnTo>
                  <a:lnTo>
                    <a:pt x="1543176" y="1015999"/>
                  </a:lnTo>
                  <a:lnTo>
                    <a:pt x="1537239" y="1041399"/>
                  </a:lnTo>
                  <a:lnTo>
                    <a:pt x="1530931" y="1054099"/>
                  </a:lnTo>
                  <a:lnTo>
                    <a:pt x="1524067" y="1079499"/>
                  </a:lnTo>
                  <a:lnTo>
                    <a:pt x="1516924" y="1092199"/>
                  </a:lnTo>
                  <a:lnTo>
                    <a:pt x="1509318" y="1104899"/>
                  </a:lnTo>
                  <a:lnTo>
                    <a:pt x="1501340" y="1130299"/>
                  </a:lnTo>
                  <a:lnTo>
                    <a:pt x="1501526" y="1130299"/>
                  </a:lnTo>
                  <a:lnTo>
                    <a:pt x="1483994" y="1155699"/>
                  </a:lnTo>
                  <a:lnTo>
                    <a:pt x="1484272" y="1155699"/>
                  </a:lnTo>
                  <a:lnTo>
                    <a:pt x="1465256" y="1193799"/>
                  </a:lnTo>
                  <a:lnTo>
                    <a:pt x="1465441" y="1193799"/>
                  </a:lnTo>
                  <a:lnTo>
                    <a:pt x="1444941" y="1219199"/>
                  </a:lnTo>
                  <a:lnTo>
                    <a:pt x="1445219" y="1219199"/>
                  </a:lnTo>
                  <a:lnTo>
                    <a:pt x="1423235" y="1257299"/>
                  </a:lnTo>
                  <a:lnTo>
                    <a:pt x="1423513" y="1257299"/>
                  </a:lnTo>
                  <a:lnTo>
                    <a:pt x="1400044" y="1282699"/>
                  </a:lnTo>
                  <a:lnTo>
                    <a:pt x="1400322" y="1282699"/>
                  </a:lnTo>
                  <a:lnTo>
                    <a:pt x="1375555" y="1308099"/>
                  </a:lnTo>
                  <a:lnTo>
                    <a:pt x="1375833" y="1308099"/>
                  </a:lnTo>
                  <a:lnTo>
                    <a:pt x="1349675" y="1333499"/>
                  </a:lnTo>
                  <a:lnTo>
                    <a:pt x="1350046" y="1333499"/>
                  </a:lnTo>
                  <a:lnTo>
                    <a:pt x="1322588" y="1358899"/>
                  </a:lnTo>
                  <a:lnTo>
                    <a:pt x="1322959" y="1358899"/>
                  </a:lnTo>
                  <a:lnTo>
                    <a:pt x="1294296" y="1384299"/>
                  </a:lnTo>
                  <a:lnTo>
                    <a:pt x="1294667" y="1384299"/>
                  </a:lnTo>
                  <a:lnTo>
                    <a:pt x="1264797" y="1409699"/>
                  </a:lnTo>
                  <a:lnTo>
                    <a:pt x="1265169" y="1409699"/>
                  </a:lnTo>
                  <a:lnTo>
                    <a:pt x="1234279" y="1435099"/>
                  </a:lnTo>
                  <a:lnTo>
                    <a:pt x="1234650" y="1435099"/>
                  </a:lnTo>
                  <a:lnTo>
                    <a:pt x="1202554" y="1447799"/>
                  </a:lnTo>
                  <a:lnTo>
                    <a:pt x="1202925" y="1447799"/>
                  </a:lnTo>
                  <a:lnTo>
                    <a:pt x="1169902" y="1473199"/>
                  </a:lnTo>
                  <a:lnTo>
                    <a:pt x="1170273" y="1473199"/>
                  </a:lnTo>
                  <a:lnTo>
                    <a:pt x="1136322" y="1485899"/>
                  </a:lnTo>
                  <a:lnTo>
                    <a:pt x="1136601" y="1485899"/>
                  </a:lnTo>
                  <a:lnTo>
                    <a:pt x="1119254" y="1498599"/>
                  </a:lnTo>
                  <a:lnTo>
                    <a:pt x="1101908" y="1498599"/>
                  </a:lnTo>
                  <a:lnTo>
                    <a:pt x="1084283" y="1511299"/>
                  </a:lnTo>
                  <a:lnTo>
                    <a:pt x="1066473" y="1511299"/>
                  </a:lnTo>
                  <a:lnTo>
                    <a:pt x="1048477" y="1523999"/>
                  </a:lnTo>
                  <a:lnTo>
                    <a:pt x="1109236" y="1523999"/>
                  </a:lnTo>
                  <a:lnTo>
                    <a:pt x="1127046" y="1511299"/>
                  </a:lnTo>
                  <a:lnTo>
                    <a:pt x="1144578" y="1498599"/>
                  </a:lnTo>
                  <a:lnTo>
                    <a:pt x="1178993" y="1485899"/>
                  </a:lnTo>
                  <a:lnTo>
                    <a:pt x="1244854" y="1447799"/>
                  </a:lnTo>
                  <a:lnTo>
                    <a:pt x="1276114" y="1422399"/>
                  </a:lnTo>
                  <a:lnTo>
                    <a:pt x="1306262" y="1396999"/>
                  </a:lnTo>
                  <a:lnTo>
                    <a:pt x="1335204" y="1371599"/>
                  </a:lnTo>
                  <a:lnTo>
                    <a:pt x="1389469" y="1320799"/>
                  </a:lnTo>
                  <a:lnTo>
                    <a:pt x="1438169" y="1269999"/>
                  </a:lnTo>
                  <a:lnTo>
                    <a:pt x="1460432" y="1231899"/>
                  </a:lnTo>
                  <a:lnTo>
                    <a:pt x="1481211" y="1206499"/>
                  </a:lnTo>
                  <a:lnTo>
                    <a:pt x="1500412" y="1168399"/>
                  </a:lnTo>
                  <a:lnTo>
                    <a:pt x="1518037" y="1130299"/>
                  </a:lnTo>
                  <a:lnTo>
                    <a:pt x="1526293" y="1117599"/>
                  </a:lnTo>
                  <a:lnTo>
                    <a:pt x="1534085" y="1104899"/>
                  </a:lnTo>
                  <a:lnTo>
                    <a:pt x="1541413" y="1079499"/>
                  </a:lnTo>
                  <a:lnTo>
                    <a:pt x="1548370" y="1066799"/>
                  </a:lnTo>
                  <a:lnTo>
                    <a:pt x="1554864" y="1041399"/>
                  </a:lnTo>
                  <a:lnTo>
                    <a:pt x="1560893" y="1028699"/>
                  </a:lnTo>
                  <a:lnTo>
                    <a:pt x="1566552" y="1003299"/>
                  </a:lnTo>
                  <a:lnTo>
                    <a:pt x="1571654" y="990599"/>
                  </a:lnTo>
                  <a:lnTo>
                    <a:pt x="1576384" y="965199"/>
                  </a:lnTo>
                  <a:lnTo>
                    <a:pt x="1580559" y="952499"/>
                  </a:lnTo>
                  <a:lnTo>
                    <a:pt x="1584362" y="927099"/>
                  </a:lnTo>
                  <a:lnTo>
                    <a:pt x="1587609" y="914399"/>
                  </a:lnTo>
                  <a:lnTo>
                    <a:pt x="1590391" y="888999"/>
                  </a:lnTo>
                  <a:lnTo>
                    <a:pt x="1592618" y="876299"/>
                  </a:lnTo>
                  <a:lnTo>
                    <a:pt x="1594473" y="850899"/>
                  </a:lnTo>
                  <a:lnTo>
                    <a:pt x="1595772" y="838199"/>
                  </a:lnTo>
                  <a:lnTo>
                    <a:pt x="1596514" y="812799"/>
                  </a:lnTo>
                  <a:lnTo>
                    <a:pt x="1596699" y="787399"/>
                  </a:lnTo>
                  <a:lnTo>
                    <a:pt x="1596421" y="774699"/>
                  </a:lnTo>
                  <a:lnTo>
                    <a:pt x="1595679" y="749299"/>
                  </a:lnTo>
                  <a:lnTo>
                    <a:pt x="1594380" y="736599"/>
                  </a:lnTo>
                  <a:lnTo>
                    <a:pt x="1592525" y="711199"/>
                  </a:lnTo>
                  <a:lnTo>
                    <a:pt x="1590299" y="685799"/>
                  </a:lnTo>
                  <a:lnTo>
                    <a:pt x="1587516" y="673099"/>
                  </a:lnTo>
                  <a:lnTo>
                    <a:pt x="1584269" y="647699"/>
                  </a:lnTo>
                  <a:lnTo>
                    <a:pt x="1580559" y="634999"/>
                  </a:lnTo>
                  <a:lnTo>
                    <a:pt x="1576292" y="609599"/>
                  </a:lnTo>
                  <a:lnTo>
                    <a:pt x="1571561" y="596899"/>
                  </a:lnTo>
                  <a:lnTo>
                    <a:pt x="1566459" y="571499"/>
                  </a:lnTo>
                  <a:lnTo>
                    <a:pt x="1560800" y="558799"/>
                  </a:lnTo>
                  <a:lnTo>
                    <a:pt x="1554864" y="533399"/>
                  </a:lnTo>
                  <a:lnTo>
                    <a:pt x="1548278" y="520699"/>
                  </a:lnTo>
                  <a:lnTo>
                    <a:pt x="1541413" y="507999"/>
                  </a:lnTo>
                  <a:lnTo>
                    <a:pt x="1533992" y="482599"/>
                  </a:lnTo>
                  <a:lnTo>
                    <a:pt x="1526293" y="469899"/>
                  </a:lnTo>
                  <a:lnTo>
                    <a:pt x="1518037" y="444499"/>
                  </a:lnTo>
                  <a:lnTo>
                    <a:pt x="1500412" y="419099"/>
                  </a:lnTo>
                  <a:lnTo>
                    <a:pt x="1481211" y="380999"/>
                  </a:lnTo>
                  <a:lnTo>
                    <a:pt x="1460432" y="355599"/>
                  </a:lnTo>
                  <a:lnTo>
                    <a:pt x="1438169" y="317499"/>
                  </a:lnTo>
                  <a:lnTo>
                    <a:pt x="1414515" y="292099"/>
                  </a:lnTo>
                  <a:lnTo>
                    <a:pt x="1389469" y="266699"/>
                  </a:lnTo>
                  <a:lnTo>
                    <a:pt x="1363032" y="228599"/>
                  </a:lnTo>
                  <a:lnTo>
                    <a:pt x="1335296" y="203199"/>
                  </a:lnTo>
                  <a:lnTo>
                    <a:pt x="1306262" y="177799"/>
                  </a:lnTo>
                  <a:lnTo>
                    <a:pt x="1276207" y="165099"/>
                  </a:lnTo>
                  <a:lnTo>
                    <a:pt x="1244946" y="139699"/>
                  </a:lnTo>
                  <a:lnTo>
                    <a:pt x="1212480" y="114299"/>
                  </a:lnTo>
                  <a:lnTo>
                    <a:pt x="1179086" y="101599"/>
                  </a:lnTo>
                  <a:lnTo>
                    <a:pt x="1144764" y="76199"/>
                  </a:lnTo>
                  <a:close/>
                </a:path>
                <a:path w="1597025" h="1574800">
                  <a:moveTo>
                    <a:pt x="18774" y="787399"/>
                  </a:moveTo>
                  <a:lnTo>
                    <a:pt x="2940" y="800099"/>
                  </a:lnTo>
                  <a:lnTo>
                    <a:pt x="14582" y="812799"/>
                  </a:lnTo>
                  <a:lnTo>
                    <a:pt x="18830" y="812799"/>
                  </a:lnTo>
                  <a:lnTo>
                    <a:pt x="18909" y="800099"/>
                  </a:lnTo>
                  <a:lnTo>
                    <a:pt x="18774" y="787399"/>
                  </a:lnTo>
                  <a:close/>
                </a:path>
                <a:path w="1597025" h="1574800">
                  <a:moveTo>
                    <a:pt x="18948" y="803812"/>
                  </a:moveTo>
                  <a:lnTo>
                    <a:pt x="18830" y="812799"/>
                  </a:lnTo>
                  <a:lnTo>
                    <a:pt x="19044" y="812799"/>
                  </a:lnTo>
                  <a:lnTo>
                    <a:pt x="18948" y="803812"/>
                  </a:lnTo>
                  <a:close/>
                </a:path>
                <a:path w="1597025" h="1574800">
                  <a:moveTo>
                    <a:pt x="19331" y="774699"/>
                  </a:moveTo>
                  <a:lnTo>
                    <a:pt x="4693" y="774699"/>
                  </a:lnTo>
                  <a:lnTo>
                    <a:pt x="16335" y="787399"/>
                  </a:lnTo>
                  <a:lnTo>
                    <a:pt x="18774" y="787399"/>
                  </a:lnTo>
                  <a:lnTo>
                    <a:pt x="18948" y="803812"/>
                  </a:lnTo>
                  <a:lnTo>
                    <a:pt x="19331" y="774699"/>
                  </a:lnTo>
                  <a:close/>
                </a:path>
                <a:path w="1597025" h="1574800">
                  <a:moveTo>
                    <a:pt x="495245" y="76199"/>
                  </a:moveTo>
                  <a:lnTo>
                    <a:pt x="452575" y="76199"/>
                  </a:lnTo>
                  <a:lnTo>
                    <a:pt x="418160" y="101599"/>
                  </a:lnTo>
                  <a:lnTo>
                    <a:pt x="384766" y="114299"/>
                  </a:lnTo>
                  <a:lnTo>
                    <a:pt x="352392" y="139699"/>
                  </a:lnTo>
                  <a:lnTo>
                    <a:pt x="321132" y="165099"/>
                  </a:lnTo>
                  <a:lnTo>
                    <a:pt x="290891" y="177799"/>
                  </a:lnTo>
                  <a:lnTo>
                    <a:pt x="261950" y="203199"/>
                  </a:lnTo>
                  <a:lnTo>
                    <a:pt x="234214" y="228599"/>
                  </a:lnTo>
                  <a:lnTo>
                    <a:pt x="207869" y="266699"/>
                  </a:lnTo>
                  <a:lnTo>
                    <a:pt x="182731" y="292099"/>
                  </a:lnTo>
                  <a:lnTo>
                    <a:pt x="159077" y="317499"/>
                  </a:lnTo>
                  <a:lnTo>
                    <a:pt x="136814" y="355599"/>
                  </a:lnTo>
                  <a:lnTo>
                    <a:pt x="116082" y="380999"/>
                  </a:lnTo>
                  <a:lnTo>
                    <a:pt x="96871" y="419099"/>
                  </a:lnTo>
                  <a:lnTo>
                    <a:pt x="79218" y="444499"/>
                  </a:lnTo>
                  <a:lnTo>
                    <a:pt x="71036" y="469899"/>
                  </a:lnTo>
                  <a:lnTo>
                    <a:pt x="63217" y="482599"/>
                  </a:lnTo>
                  <a:lnTo>
                    <a:pt x="55898" y="507999"/>
                  </a:lnTo>
                  <a:lnTo>
                    <a:pt x="48931" y="520699"/>
                  </a:lnTo>
                  <a:lnTo>
                    <a:pt x="42457" y="533399"/>
                  </a:lnTo>
                  <a:lnTo>
                    <a:pt x="36399" y="558799"/>
                  </a:lnTo>
                  <a:lnTo>
                    <a:pt x="30769" y="571499"/>
                  </a:lnTo>
                  <a:lnTo>
                    <a:pt x="25630" y="596899"/>
                  </a:lnTo>
                  <a:lnTo>
                    <a:pt x="20917" y="609599"/>
                  </a:lnTo>
                  <a:lnTo>
                    <a:pt x="16687" y="634999"/>
                  </a:lnTo>
                  <a:lnTo>
                    <a:pt x="12958" y="647699"/>
                  </a:lnTo>
                  <a:lnTo>
                    <a:pt x="9721" y="673099"/>
                  </a:lnTo>
                  <a:lnTo>
                    <a:pt x="6901" y="685799"/>
                  </a:lnTo>
                  <a:lnTo>
                    <a:pt x="4656" y="711199"/>
                  </a:lnTo>
                  <a:lnTo>
                    <a:pt x="2819" y="736599"/>
                  </a:lnTo>
                  <a:lnTo>
                    <a:pt x="1558" y="749299"/>
                  </a:lnTo>
                  <a:lnTo>
                    <a:pt x="779" y="774699"/>
                  </a:lnTo>
                  <a:lnTo>
                    <a:pt x="500" y="787399"/>
                  </a:lnTo>
                  <a:lnTo>
                    <a:pt x="16335" y="787399"/>
                  </a:lnTo>
                  <a:lnTo>
                    <a:pt x="4693" y="774699"/>
                  </a:lnTo>
                  <a:lnTo>
                    <a:pt x="19331" y="774699"/>
                  </a:lnTo>
                  <a:lnTo>
                    <a:pt x="20092" y="749299"/>
                  </a:lnTo>
                  <a:lnTo>
                    <a:pt x="21335" y="736599"/>
                  </a:lnTo>
                  <a:lnTo>
                    <a:pt x="23116" y="711199"/>
                  </a:lnTo>
                  <a:lnTo>
                    <a:pt x="25323" y="698499"/>
                  </a:lnTo>
                  <a:lnTo>
                    <a:pt x="28078" y="673099"/>
                  </a:lnTo>
                  <a:lnTo>
                    <a:pt x="31242" y="660399"/>
                  </a:lnTo>
                  <a:lnTo>
                    <a:pt x="34887" y="634999"/>
                  </a:lnTo>
                  <a:lnTo>
                    <a:pt x="39015" y="622299"/>
                  </a:lnTo>
                  <a:lnTo>
                    <a:pt x="43625" y="596899"/>
                  </a:lnTo>
                  <a:lnTo>
                    <a:pt x="48644" y="584199"/>
                  </a:lnTo>
                  <a:lnTo>
                    <a:pt x="54145" y="558799"/>
                  </a:lnTo>
                  <a:lnTo>
                    <a:pt x="60063" y="546099"/>
                  </a:lnTo>
                  <a:lnTo>
                    <a:pt x="66398" y="520699"/>
                  </a:lnTo>
                  <a:lnTo>
                    <a:pt x="73198" y="507999"/>
                  </a:lnTo>
                  <a:lnTo>
                    <a:pt x="80359" y="495299"/>
                  </a:lnTo>
                  <a:lnTo>
                    <a:pt x="87975" y="469899"/>
                  </a:lnTo>
                  <a:lnTo>
                    <a:pt x="95971" y="457199"/>
                  </a:lnTo>
                  <a:lnTo>
                    <a:pt x="95813" y="457199"/>
                  </a:lnTo>
                  <a:lnTo>
                    <a:pt x="113271" y="419099"/>
                  </a:lnTo>
                  <a:lnTo>
                    <a:pt x="113067" y="419099"/>
                  </a:lnTo>
                  <a:lnTo>
                    <a:pt x="132083" y="393699"/>
                  </a:lnTo>
                  <a:lnTo>
                    <a:pt x="131805" y="393699"/>
                  </a:lnTo>
                  <a:lnTo>
                    <a:pt x="152305" y="355599"/>
                  </a:lnTo>
                  <a:lnTo>
                    <a:pt x="152120" y="355599"/>
                  </a:lnTo>
                  <a:lnTo>
                    <a:pt x="174104" y="330199"/>
                  </a:lnTo>
                  <a:lnTo>
                    <a:pt x="173826" y="330199"/>
                  </a:lnTo>
                  <a:lnTo>
                    <a:pt x="197202" y="304799"/>
                  </a:lnTo>
                  <a:lnTo>
                    <a:pt x="196924" y="304799"/>
                  </a:lnTo>
                  <a:lnTo>
                    <a:pt x="221691" y="279399"/>
                  </a:lnTo>
                  <a:lnTo>
                    <a:pt x="221413" y="279399"/>
                  </a:lnTo>
                  <a:lnTo>
                    <a:pt x="247571" y="241299"/>
                  </a:lnTo>
                  <a:lnTo>
                    <a:pt x="247200" y="241299"/>
                  </a:lnTo>
                  <a:lnTo>
                    <a:pt x="274658" y="215899"/>
                  </a:lnTo>
                  <a:lnTo>
                    <a:pt x="274287" y="215899"/>
                  </a:lnTo>
                  <a:lnTo>
                    <a:pt x="302857" y="203199"/>
                  </a:lnTo>
                  <a:lnTo>
                    <a:pt x="302579" y="203199"/>
                  </a:lnTo>
                  <a:lnTo>
                    <a:pt x="332449" y="177799"/>
                  </a:lnTo>
                  <a:lnTo>
                    <a:pt x="332077" y="177799"/>
                  </a:lnTo>
                  <a:lnTo>
                    <a:pt x="362967" y="152399"/>
                  </a:lnTo>
                  <a:lnTo>
                    <a:pt x="362596" y="152399"/>
                  </a:lnTo>
                  <a:lnTo>
                    <a:pt x="394599" y="126999"/>
                  </a:lnTo>
                  <a:lnTo>
                    <a:pt x="394228" y="126999"/>
                  </a:lnTo>
                  <a:lnTo>
                    <a:pt x="427251" y="114299"/>
                  </a:lnTo>
                  <a:lnTo>
                    <a:pt x="426880" y="114299"/>
                  </a:lnTo>
                  <a:lnTo>
                    <a:pt x="460831" y="101599"/>
                  </a:lnTo>
                  <a:lnTo>
                    <a:pt x="460553" y="101599"/>
                  </a:lnTo>
                  <a:lnTo>
                    <a:pt x="495245" y="76199"/>
                  </a:lnTo>
                  <a:close/>
                </a:path>
                <a:path w="1597025" h="1574800">
                  <a:moveTo>
                    <a:pt x="530680" y="63499"/>
                  </a:moveTo>
                  <a:lnTo>
                    <a:pt x="487917" y="63499"/>
                  </a:lnTo>
                  <a:lnTo>
                    <a:pt x="470107" y="76199"/>
                  </a:lnTo>
                  <a:lnTo>
                    <a:pt x="512870" y="76199"/>
                  </a:lnTo>
                  <a:lnTo>
                    <a:pt x="530680" y="63499"/>
                  </a:lnTo>
                  <a:close/>
                </a:path>
                <a:path w="1597025" h="1574800">
                  <a:moveTo>
                    <a:pt x="1109236" y="63499"/>
                  </a:moveTo>
                  <a:lnTo>
                    <a:pt x="1066844" y="63499"/>
                  </a:lnTo>
                  <a:lnTo>
                    <a:pt x="1084654" y="76199"/>
                  </a:lnTo>
                  <a:lnTo>
                    <a:pt x="1127046" y="76199"/>
                  </a:lnTo>
                  <a:lnTo>
                    <a:pt x="1109236" y="63499"/>
                  </a:lnTo>
                  <a:close/>
                </a:path>
                <a:path w="1597025" h="1574800">
                  <a:moveTo>
                    <a:pt x="622607" y="38099"/>
                  </a:moveTo>
                  <a:lnTo>
                    <a:pt x="542647" y="38099"/>
                  </a:lnTo>
                  <a:lnTo>
                    <a:pt x="524187" y="50799"/>
                  </a:lnTo>
                  <a:lnTo>
                    <a:pt x="506006" y="63499"/>
                  </a:lnTo>
                  <a:lnTo>
                    <a:pt x="548676" y="63499"/>
                  </a:lnTo>
                  <a:lnTo>
                    <a:pt x="566950" y="50799"/>
                  </a:lnTo>
                  <a:lnTo>
                    <a:pt x="603870" y="50799"/>
                  </a:lnTo>
                  <a:lnTo>
                    <a:pt x="622607" y="38099"/>
                  </a:lnTo>
                  <a:close/>
                </a:path>
                <a:path w="1597025" h="1574800">
                  <a:moveTo>
                    <a:pt x="1054692" y="38099"/>
                  </a:moveTo>
                  <a:lnTo>
                    <a:pt x="974824" y="38099"/>
                  </a:lnTo>
                  <a:lnTo>
                    <a:pt x="993562" y="50799"/>
                  </a:lnTo>
                  <a:lnTo>
                    <a:pt x="1030574" y="50799"/>
                  </a:lnTo>
                  <a:lnTo>
                    <a:pt x="1048848" y="63499"/>
                  </a:lnTo>
                  <a:lnTo>
                    <a:pt x="1091333" y="63499"/>
                  </a:lnTo>
                  <a:lnTo>
                    <a:pt x="1054692" y="38099"/>
                  </a:lnTo>
                  <a:close/>
                </a:path>
                <a:path w="1597025" h="1574800">
                  <a:moveTo>
                    <a:pt x="679934" y="25399"/>
                  </a:moveTo>
                  <a:lnTo>
                    <a:pt x="599139" y="25399"/>
                  </a:lnTo>
                  <a:lnTo>
                    <a:pt x="580123" y="38099"/>
                  </a:lnTo>
                  <a:lnTo>
                    <a:pt x="660733" y="38099"/>
                  </a:lnTo>
                  <a:lnTo>
                    <a:pt x="679934" y="25399"/>
                  </a:lnTo>
                  <a:close/>
                </a:path>
                <a:path w="1597025" h="1574800">
                  <a:moveTo>
                    <a:pt x="998107" y="25399"/>
                  </a:moveTo>
                  <a:lnTo>
                    <a:pt x="917497" y="25399"/>
                  </a:lnTo>
                  <a:lnTo>
                    <a:pt x="936792" y="38099"/>
                  </a:lnTo>
                  <a:lnTo>
                    <a:pt x="1017123" y="38099"/>
                  </a:lnTo>
                  <a:lnTo>
                    <a:pt x="998107" y="25399"/>
                  </a:lnTo>
                  <a:close/>
                </a:path>
                <a:path w="1597025" h="1574800">
                  <a:moveTo>
                    <a:pt x="959426" y="12699"/>
                  </a:moveTo>
                  <a:lnTo>
                    <a:pt x="637728" y="12699"/>
                  </a:lnTo>
                  <a:lnTo>
                    <a:pt x="618340" y="25399"/>
                  </a:lnTo>
                  <a:lnTo>
                    <a:pt x="978906" y="25399"/>
                  </a:lnTo>
                  <a:lnTo>
                    <a:pt x="959426" y="12699"/>
                  </a:lnTo>
                  <a:close/>
                </a:path>
                <a:path w="1597025" h="1574800">
                  <a:moveTo>
                    <a:pt x="859985" y="0"/>
                  </a:moveTo>
                  <a:lnTo>
                    <a:pt x="737168" y="0"/>
                  </a:lnTo>
                  <a:lnTo>
                    <a:pt x="717039" y="12699"/>
                  </a:lnTo>
                  <a:lnTo>
                    <a:pt x="880207" y="12699"/>
                  </a:lnTo>
                  <a:lnTo>
                    <a:pt x="859985" y="0"/>
                  </a:lnTo>
                  <a:close/>
                </a:path>
              </a:pathLst>
            </a:custGeom>
            <a:solidFill>
              <a:srgbClr val="FFFF00"/>
            </a:solidFill>
          </p:spPr>
          <p:txBody>
            <a:bodyPr wrap="square" lIns="0" tIns="0" rIns="0" bIns="0" rtlCol="0"/>
            <a:lstStyle/>
            <a:p>
              <a:endParaRPr/>
            </a:p>
          </p:txBody>
        </p:sp>
        <p:pic>
          <p:nvPicPr>
            <p:cNvPr id="46" name="object 58">
              <a:extLst>
                <a:ext uri="{FF2B5EF4-FFF2-40B4-BE49-F238E27FC236}">
                  <a16:creationId xmlns:a16="http://schemas.microsoft.com/office/drawing/2014/main" id="{5DDF2023-A8DD-0106-A961-356AF1097550}"/>
                </a:ext>
              </a:extLst>
            </p:cNvPr>
            <p:cNvPicPr/>
            <p:nvPr/>
          </p:nvPicPr>
          <p:blipFill>
            <a:blip r:embed="rId23" cstate="print"/>
            <a:stretch>
              <a:fillRect/>
            </a:stretch>
          </p:blipFill>
          <p:spPr>
            <a:xfrm>
              <a:off x="2830627" y="4391049"/>
              <a:ext cx="1196627" cy="509082"/>
            </a:xfrm>
            <a:prstGeom prst="rect">
              <a:avLst/>
            </a:prstGeom>
          </p:spPr>
        </p:pic>
      </p:grpSp>
      <p:sp>
        <p:nvSpPr>
          <p:cNvPr id="47" name="object 59">
            <a:extLst>
              <a:ext uri="{FF2B5EF4-FFF2-40B4-BE49-F238E27FC236}">
                <a16:creationId xmlns:a16="http://schemas.microsoft.com/office/drawing/2014/main" id="{836D405A-2D37-2CA1-B077-483EBFF34898}"/>
              </a:ext>
            </a:extLst>
          </p:cNvPr>
          <p:cNvSpPr txBox="1"/>
          <p:nvPr/>
        </p:nvSpPr>
        <p:spPr>
          <a:xfrm>
            <a:off x="1474217" y="2681643"/>
            <a:ext cx="916305" cy="278923"/>
          </a:xfrm>
          <a:prstGeom prst="rect">
            <a:avLst/>
          </a:prstGeom>
        </p:spPr>
        <p:txBody>
          <a:bodyPr vert="horz" wrap="square" lIns="0" tIns="17145" rIns="0" bIns="0" rtlCol="0">
            <a:spAutoFit/>
          </a:bodyPr>
          <a:lstStyle/>
          <a:p>
            <a:pPr marL="12700">
              <a:lnSpc>
                <a:spcPct val="100000"/>
              </a:lnSpc>
              <a:spcBef>
                <a:spcPts val="135"/>
              </a:spcBef>
            </a:pPr>
            <a:r>
              <a:rPr sz="1700" spc="15" dirty="0">
                <a:solidFill>
                  <a:srgbClr val="FFFF00"/>
                </a:solidFill>
                <a:latin typeface="Cambria"/>
                <a:cs typeface="Cambria"/>
              </a:rPr>
              <a:t>Cell</a:t>
            </a:r>
            <a:r>
              <a:rPr sz="1700" spc="-45" dirty="0">
                <a:solidFill>
                  <a:srgbClr val="FFFF00"/>
                </a:solidFill>
                <a:latin typeface="Cambria"/>
                <a:cs typeface="Cambria"/>
              </a:rPr>
              <a:t> </a:t>
            </a:r>
            <a:r>
              <a:rPr sz="1700" spc="20" dirty="0">
                <a:solidFill>
                  <a:srgbClr val="FFFF00"/>
                </a:solidFill>
                <a:latin typeface="Cambria"/>
                <a:cs typeface="Cambria"/>
              </a:rPr>
              <a:t>Body</a:t>
            </a:r>
            <a:endParaRPr sz="1700">
              <a:latin typeface="Cambria"/>
              <a:cs typeface="Cambria"/>
            </a:endParaRPr>
          </a:p>
        </p:txBody>
      </p:sp>
      <p:grpSp>
        <p:nvGrpSpPr>
          <p:cNvPr id="48" name="object 60">
            <a:extLst>
              <a:ext uri="{FF2B5EF4-FFF2-40B4-BE49-F238E27FC236}">
                <a16:creationId xmlns:a16="http://schemas.microsoft.com/office/drawing/2014/main" id="{B0DCFA8D-2FB2-55FF-DEDE-F091F0236CCA}"/>
              </a:ext>
            </a:extLst>
          </p:cNvPr>
          <p:cNvGrpSpPr/>
          <p:nvPr/>
        </p:nvGrpSpPr>
        <p:grpSpPr>
          <a:xfrm>
            <a:off x="1268649" y="2735864"/>
            <a:ext cx="1543685" cy="1122680"/>
            <a:chOff x="2762169" y="4503704"/>
            <a:chExt cx="1543685" cy="1122680"/>
          </a:xfrm>
        </p:grpSpPr>
        <p:pic>
          <p:nvPicPr>
            <p:cNvPr id="49" name="object 61">
              <a:extLst>
                <a:ext uri="{FF2B5EF4-FFF2-40B4-BE49-F238E27FC236}">
                  <a16:creationId xmlns:a16="http://schemas.microsoft.com/office/drawing/2014/main" id="{A3D96E0E-79AD-55A0-3915-B6AD8B6549FD}"/>
                </a:ext>
              </a:extLst>
            </p:cNvPr>
            <p:cNvPicPr/>
            <p:nvPr/>
          </p:nvPicPr>
          <p:blipFill>
            <a:blip r:embed="rId5" cstate="print"/>
            <a:stretch>
              <a:fillRect/>
            </a:stretch>
          </p:blipFill>
          <p:spPr>
            <a:xfrm>
              <a:off x="2762169" y="4832804"/>
              <a:ext cx="1150431" cy="575932"/>
            </a:xfrm>
            <a:prstGeom prst="rect">
              <a:avLst/>
            </a:prstGeom>
          </p:spPr>
        </p:pic>
        <p:sp>
          <p:nvSpPr>
            <p:cNvPr id="50" name="object 62">
              <a:extLst>
                <a:ext uri="{FF2B5EF4-FFF2-40B4-BE49-F238E27FC236}">
                  <a16:creationId xmlns:a16="http://schemas.microsoft.com/office/drawing/2014/main" id="{C53D4EB6-DFED-54F3-0B24-4C83D978720B}"/>
                </a:ext>
              </a:extLst>
            </p:cNvPr>
            <p:cNvSpPr/>
            <p:nvPr/>
          </p:nvSpPr>
          <p:spPr>
            <a:xfrm>
              <a:off x="3984027" y="4513229"/>
              <a:ext cx="0" cy="1103630"/>
            </a:xfrm>
            <a:custGeom>
              <a:avLst/>
              <a:gdLst/>
              <a:ahLst/>
              <a:cxnLst/>
              <a:rect l="l" t="t" r="r" b="b"/>
              <a:pathLst>
                <a:path h="1103629">
                  <a:moveTo>
                    <a:pt x="0" y="0"/>
                  </a:moveTo>
                  <a:lnTo>
                    <a:pt x="0" y="1103286"/>
                  </a:lnTo>
                </a:path>
              </a:pathLst>
            </a:custGeom>
            <a:ln w="18552">
              <a:solidFill>
                <a:srgbClr val="FFFF00"/>
              </a:solidFill>
            </a:ln>
          </p:spPr>
          <p:txBody>
            <a:bodyPr wrap="square" lIns="0" tIns="0" rIns="0" bIns="0" rtlCol="0"/>
            <a:lstStyle/>
            <a:p>
              <a:endParaRPr/>
            </a:p>
          </p:txBody>
        </p:sp>
        <p:pic>
          <p:nvPicPr>
            <p:cNvPr id="51" name="object 63">
              <a:extLst>
                <a:ext uri="{FF2B5EF4-FFF2-40B4-BE49-F238E27FC236}">
                  <a16:creationId xmlns:a16="http://schemas.microsoft.com/office/drawing/2014/main" id="{30492614-66BA-3A99-A71D-B434378E32A5}"/>
                </a:ext>
              </a:extLst>
            </p:cNvPr>
            <p:cNvPicPr/>
            <p:nvPr/>
          </p:nvPicPr>
          <p:blipFill>
            <a:blip r:embed="rId24" cstate="print"/>
            <a:stretch>
              <a:fillRect/>
            </a:stretch>
          </p:blipFill>
          <p:spPr>
            <a:xfrm>
              <a:off x="3867240" y="4755662"/>
              <a:ext cx="438299" cy="612274"/>
            </a:xfrm>
            <a:prstGeom prst="rect">
              <a:avLst/>
            </a:prstGeom>
          </p:spPr>
        </p:pic>
      </p:grpSp>
      <p:sp>
        <p:nvSpPr>
          <p:cNvPr id="52" name="object 64">
            <a:extLst>
              <a:ext uri="{FF2B5EF4-FFF2-40B4-BE49-F238E27FC236}">
                <a16:creationId xmlns:a16="http://schemas.microsoft.com/office/drawing/2014/main" id="{93253BE0-1414-C0E1-2DA0-2505DF8139D2}"/>
              </a:ext>
            </a:extLst>
          </p:cNvPr>
          <p:cNvSpPr txBox="1"/>
          <p:nvPr/>
        </p:nvSpPr>
        <p:spPr>
          <a:xfrm>
            <a:off x="2538659" y="3057951"/>
            <a:ext cx="107314" cy="356235"/>
          </a:xfrm>
          <a:prstGeom prst="rect">
            <a:avLst/>
          </a:prstGeom>
        </p:spPr>
        <p:txBody>
          <a:bodyPr vert="horz" wrap="square" lIns="0" tIns="15240" rIns="0" bIns="0" rtlCol="0">
            <a:spAutoFit/>
          </a:bodyPr>
          <a:lstStyle/>
          <a:p>
            <a:pPr marL="12700">
              <a:lnSpc>
                <a:spcPct val="100000"/>
              </a:lnSpc>
              <a:spcBef>
                <a:spcPts val="120"/>
              </a:spcBef>
            </a:pPr>
            <a:r>
              <a:rPr sz="2150" i="1" spc="10" dirty="0">
                <a:solidFill>
                  <a:srgbClr val="FDFFFF"/>
                </a:solidFill>
                <a:latin typeface="Cambria"/>
                <a:cs typeface="Cambria"/>
              </a:rPr>
              <a:t>f</a:t>
            </a:r>
            <a:endParaRPr sz="2150">
              <a:latin typeface="Cambria"/>
              <a:cs typeface="Cambria"/>
            </a:endParaRPr>
          </a:p>
        </p:txBody>
      </p:sp>
      <p:grpSp>
        <p:nvGrpSpPr>
          <p:cNvPr id="53" name="object 65">
            <a:extLst>
              <a:ext uri="{FF2B5EF4-FFF2-40B4-BE49-F238E27FC236}">
                <a16:creationId xmlns:a16="http://schemas.microsoft.com/office/drawing/2014/main" id="{A90B2C64-8975-5C78-0527-F1480975DC26}"/>
              </a:ext>
            </a:extLst>
          </p:cNvPr>
          <p:cNvGrpSpPr/>
          <p:nvPr/>
        </p:nvGrpSpPr>
        <p:grpSpPr>
          <a:xfrm>
            <a:off x="397894" y="1653201"/>
            <a:ext cx="1356995" cy="1376045"/>
            <a:chOff x="1891414" y="3421041"/>
            <a:chExt cx="1356995" cy="1376045"/>
          </a:xfrm>
        </p:grpSpPr>
        <p:sp>
          <p:nvSpPr>
            <p:cNvPr id="54" name="object 66">
              <a:extLst>
                <a:ext uri="{FF2B5EF4-FFF2-40B4-BE49-F238E27FC236}">
                  <a16:creationId xmlns:a16="http://schemas.microsoft.com/office/drawing/2014/main" id="{DFA8C027-BF71-9900-6F1C-D64D2E2606E2}"/>
                </a:ext>
              </a:extLst>
            </p:cNvPr>
            <p:cNvSpPr/>
            <p:nvPr/>
          </p:nvSpPr>
          <p:spPr>
            <a:xfrm>
              <a:off x="2237740" y="3750614"/>
              <a:ext cx="576580" cy="697230"/>
            </a:xfrm>
            <a:custGeom>
              <a:avLst/>
              <a:gdLst/>
              <a:ahLst/>
              <a:cxnLst/>
              <a:rect l="l" t="t" r="r" b="b"/>
              <a:pathLst>
                <a:path w="576580" h="697229">
                  <a:moveTo>
                    <a:pt x="0" y="0"/>
                  </a:moveTo>
                  <a:lnTo>
                    <a:pt x="576375" y="696938"/>
                  </a:lnTo>
                </a:path>
              </a:pathLst>
            </a:custGeom>
            <a:ln w="18468">
              <a:solidFill>
                <a:srgbClr val="428ACE"/>
              </a:solidFill>
            </a:ln>
          </p:spPr>
          <p:txBody>
            <a:bodyPr wrap="square" lIns="0" tIns="0" rIns="0" bIns="0" rtlCol="0"/>
            <a:lstStyle/>
            <a:p>
              <a:endParaRPr/>
            </a:p>
          </p:txBody>
        </p:sp>
        <p:pic>
          <p:nvPicPr>
            <p:cNvPr id="55" name="object 67">
              <a:extLst>
                <a:ext uri="{FF2B5EF4-FFF2-40B4-BE49-F238E27FC236}">
                  <a16:creationId xmlns:a16="http://schemas.microsoft.com/office/drawing/2014/main" id="{0463C95F-D53D-C7B6-D0C4-9E7A23FF4DAD}"/>
                </a:ext>
              </a:extLst>
            </p:cNvPr>
            <p:cNvPicPr/>
            <p:nvPr/>
          </p:nvPicPr>
          <p:blipFill>
            <a:blip r:embed="rId25" cstate="print"/>
            <a:stretch>
              <a:fillRect/>
            </a:stretch>
          </p:blipFill>
          <p:spPr>
            <a:xfrm>
              <a:off x="2755527" y="4393892"/>
              <a:ext cx="112761" cy="119336"/>
            </a:xfrm>
            <a:prstGeom prst="rect">
              <a:avLst/>
            </a:prstGeom>
          </p:spPr>
        </p:pic>
        <p:pic>
          <p:nvPicPr>
            <p:cNvPr id="56" name="object 68">
              <a:extLst>
                <a:ext uri="{FF2B5EF4-FFF2-40B4-BE49-F238E27FC236}">
                  <a16:creationId xmlns:a16="http://schemas.microsoft.com/office/drawing/2014/main" id="{1C209BD8-B8B1-4F91-09AA-2C132D291E01}"/>
                </a:ext>
              </a:extLst>
            </p:cNvPr>
            <p:cNvPicPr/>
            <p:nvPr/>
          </p:nvPicPr>
          <p:blipFill>
            <a:blip r:embed="rId26" cstate="print"/>
            <a:stretch>
              <a:fillRect/>
            </a:stretch>
          </p:blipFill>
          <p:spPr>
            <a:xfrm>
              <a:off x="1891414" y="3648064"/>
              <a:ext cx="1064441" cy="1148874"/>
            </a:xfrm>
            <a:prstGeom prst="rect">
              <a:avLst/>
            </a:prstGeom>
          </p:spPr>
        </p:pic>
        <p:pic>
          <p:nvPicPr>
            <p:cNvPr id="57" name="object 69">
              <a:extLst>
                <a:ext uri="{FF2B5EF4-FFF2-40B4-BE49-F238E27FC236}">
                  <a16:creationId xmlns:a16="http://schemas.microsoft.com/office/drawing/2014/main" id="{DDB6DCDE-8E00-7006-B22D-E13C6F01AFC5}"/>
                </a:ext>
              </a:extLst>
            </p:cNvPr>
            <p:cNvPicPr/>
            <p:nvPr/>
          </p:nvPicPr>
          <p:blipFill>
            <a:blip r:embed="rId27" cstate="print"/>
            <a:stretch>
              <a:fillRect/>
            </a:stretch>
          </p:blipFill>
          <p:spPr>
            <a:xfrm>
              <a:off x="2149218" y="3879203"/>
              <a:ext cx="545485" cy="656589"/>
            </a:xfrm>
            <a:prstGeom prst="rect">
              <a:avLst/>
            </a:prstGeom>
          </p:spPr>
        </p:pic>
        <p:pic>
          <p:nvPicPr>
            <p:cNvPr id="58" name="object 70">
              <a:extLst>
                <a:ext uri="{FF2B5EF4-FFF2-40B4-BE49-F238E27FC236}">
                  <a16:creationId xmlns:a16="http://schemas.microsoft.com/office/drawing/2014/main" id="{55660D7A-CE16-E8C6-AAA5-FEA9EDFE21F8}"/>
                </a:ext>
              </a:extLst>
            </p:cNvPr>
            <p:cNvPicPr/>
            <p:nvPr/>
          </p:nvPicPr>
          <p:blipFill>
            <a:blip r:embed="rId28" cstate="print"/>
            <a:stretch>
              <a:fillRect/>
            </a:stretch>
          </p:blipFill>
          <p:spPr>
            <a:xfrm>
              <a:off x="2051428" y="3579269"/>
              <a:ext cx="257414" cy="254541"/>
            </a:xfrm>
            <a:prstGeom prst="rect">
              <a:avLst/>
            </a:prstGeom>
          </p:spPr>
        </p:pic>
        <p:pic>
          <p:nvPicPr>
            <p:cNvPr id="59" name="object 71">
              <a:extLst>
                <a:ext uri="{FF2B5EF4-FFF2-40B4-BE49-F238E27FC236}">
                  <a16:creationId xmlns:a16="http://schemas.microsoft.com/office/drawing/2014/main" id="{3145D83C-A7A9-A7C6-5895-ADB1A0E6CB4E}"/>
                </a:ext>
              </a:extLst>
            </p:cNvPr>
            <p:cNvPicPr/>
            <p:nvPr/>
          </p:nvPicPr>
          <p:blipFill>
            <a:blip r:embed="rId29" cstate="print"/>
            <a:stretch>
              <a:fillRect/>
            </a:stretch>
          </p:blipFill>
          <p:spPr>
            <a:xfrm>
              <a:off x="2088477" y="3603026"/>
              <a:ext cx="174865" cy="172904"/>
            </a:xfrm>
            <a:prstGeom prst="rect">
              <a:avLst/>
            </a:prstGeom>
          </p:spPr>
        </p:pic>
        <p:pic>
          <p:nvPicPr>
            <p:cNvPr id="60" name="object 72">
              <a:extLst>
                <a:ext uri="{FF2B5EF4-FFF2-40B4-BE49-F238E27FC236}">
                  <a16:creationId xmlns:a16="http://schemas.microsoft.com/office/drawing/2014/main" id="{8D830594-83C3-C1C2-D203-68698B6575D7}"/>
                </a:ext>
              </a:extLst>
            </p:cNvPr>
            <p:cNvPicPr/>
            <p:nvPr/>
          </p:nvPicPr>
          <p:blipFill>
            <a:blip r:embed="rId30" cstate="print"/>
            <a:stretch>
              <a:fillRect/>
            </a:stretch>
          </p:blipFill>
          <p:spPr>
            <a:xfrm>
              <a:off x="2176656" y="3421041"/>
              <a:ext cx="1071398" cy="502202"/>
            </a:xfrm>
            <a:prstGeom prst="rect">
              <a:avLst/>
            </a:prstGeom>
          </p:spPr>
        </p:pic>
      </p:grpSp>
      <p:sp>
        <p:nvSpPr>
          <p:cNvPr id="61" name="object 73">
            <a:extLst>
              <a:ext uri="{FF2B5EF4-FFF2-40B4-BE49-F238E27FC236}">
                <a16:creationId xmlns:a16="http://schemas.microsoft.com/office/drawing/2014/main" id="{62AC6226-E94D-C56C-AC89-18D5ACDB5B38}"/>
              </a:ext>
            </a:extLst>
          </p:cNvPr>
          <p:cNvSpPr txBox="1"/>
          <p:nvPr/>
        </p:nvSpPr>
        <p:spPr>
          <a:xfrm>
            <a:off x="819551" y="1705168"/>
            <a:ext cx="794385" cy="278923"/>
          </a:xfrm>
          <a:prstGeom prst="rect">
            <a:avLst/>
          </a:prstGeom>
        </p:spPr>
        <p:txBody>
          <a:bodyPr vert="horz" wrap="square" lIns="0" tIns="17145" rIns="0" bIns="0" rtlCol="0">
            <a:spAutoFit/>
          </a:bodyPr>
          <a:lstStyle/>
          <a:p>
            <a:pPr marL="12700">
              <a:lnSpc>
                <a:spcPct val="100000"/>
              </a:lnSpc>
              <a:spcBef>
                <a:spcPts val="135"/>
              </a:spcBef>
            </a:pPr>
            <a:r>
              <a:rPr sz="1700" spc="20" dirty="0">
                <a:solidFill>
                  <a:srgbClr val="FF0000"/>
                </a:solidFill>
                <a:latin typeface="Cambria"/>
                <a:cs typeface="Cambria"/>
              </a:rPr>
              <a:t>synapse</a:t>
            </a:r>
            <a:endParaRPr sz="1700">
              <a:latin typeface="Cambria"/>
              <a:cs typeface="Cambria"/>
            </a:endParaRPr>
          </a:p>
        </p:txBody>
      </p:sp>
      <p:grpSp>
        <p:nvGrpSpPr>
          <p:cNvPr id="62" name="object 74">
            <a:extLst>
              <a:ext uri="{FF2B5EF4-FFF2-40B4-BE49-F238E27FC236}">
                <a16:creationId xmlns:a16="http://schemas.microsoft.com/office/drawing/2014/main" id="{237C1E9B-9F94-E357-981D-9D272977DD37}"/>
              </a:ext>
            </a:extLst>
          </p:cNvPr>
          <p:cNvGrpSpPr/>
          <p:nvPr/>
        </p:nvGrpSpPr>
        <p:grpSpPr>
          <a:xfrm>
            <a:off x="345784" y="2052028"/>
            <a:ext cx="3134360" cy="2573655"/>
            <a:chOff x="1839304" y="3819868"/>
            <a:chExt cx="3134360" cy="2573655"/>
          </a:xfrm>
        </p:grpSpPr>
        <p:pic>
          <p:nvPicPr>
            <p:cNvPr id="63" name="object 75">
              <a:extLst>
                <a:ext uri="{FF2B5EF4-FFF2-40B4-BE49-F238E27FC236}">
                  <a16:creationId xmlns:a16="http://schemas.microsoft.com/office/drawing/2014/main" id="{719450C2-648A-1089-C800-5D84B4BBD9C7}"/>
                </a:ext>
              </a:extLst>
            </p:cNvPr>
            <p:cNvPicPr/>
            <p:nvPr/>
          </p:nvPicPr>
          <p:blipFill>
            <a:blip r:embed="rId11" cstate="print"/>
            <a:stretch>
              <a:fillRect/>
            </a:stretch>
          </p:blipFill>
          <p:spPr>
            <a:xfrm>
              <a:off x="2463698" y="3819868"/>
              <a:ext cx="436592" cy="464934"/>
            </a:xfrm>
            <a:prstGeom prst="rect">
              <a:avLst/>
            </a:prstGeom>
          </p:spPr>
        </p:pic>
        <p:sp>
          <p:nvSpPr>
            <p:cNvPr id="64" name="object 76">
              <a:extLst>
                <a:ext uri="{FF2B5EF4-FFF2-40B4-BE49-F238E27FC236}">
                  <a16:creationId xmlns:a16="http://schemas.microsoft.com/office/drawing/2014/main" id="{904864CD-038D-1A5F-4D28-7EA3D0D37ABF}"/>
                </a:ext>
              </a:extLst>
            </p:cNvPr>
            <p:cNvSpPr/>
            <p:nvPr/>
          </p:nvSpPr>
          <p:spPr>
            <a:xfrm>
              <a:off x="1848511" y="5064872"/>
              <a:ext cx="703580" cy="0"/>
            </a:xfrm>
            <a:custGeom>
              <a:avLst/>
              <a:gdLst/>
              <a:ahLst/>
              <a:cxnLst/>
              <a:rect l="l" t="t" r="r" b="b"/>
              <a:pathLst>
                <a:path w="703580">
                  <a:moveTo>
                    <a:pt x="0" y="0"/>
                  </a:moveTo>
                  <a:lnTo>
                    <a:pt x="703143" y="0"/>
                  </a:lnTo>
                </a:path>
              </a:pathLst>
            </a:custGeom>
            <a:ln w="18345">
              <a:solidFill>
                <a:srgbClr val="FFFFFF"/>
              </a:solidFill>
            </a:ln>
          </p:spPr>
          <p:txBody>
            <a:bodyPr wrap="square" lIns="0" tIns="0" rIns="0" bIns="0" rtlCol="0"/>
            <a:lstStyle/>
            <a:p>
              <a:endParaRPr/>
            </a:p>
          </p:txBody>
        </p:sp>
        <p:pic>
          <p:nvPicPr>
            <p:cNvPr id="65" name="object 77">
              <a:extLst>
                <a:ext uri="{FF2B5EF4-FFF2-40B4-BE49-F238E27FC236}">
                  <a16:creationId xmlns:a16="http://schemas.microsoft.com/office/drawing/2014/main" id="{81958655-519C-6680-8B34-9A82F528B37A}"/>
                </a:ext>
              </a:extLst>
            </p:cNvPr>
            <p:cNvPicPr/>
            <p:nvPr/>
          </p:nvPicPr>
          <p:blipFill>
            <a:blip r:embed="rId31" cstate="print"/>
            <a:stretch>
              <a:fillRect/>
            </a:stretch>
          </p:blipFill>
          <p:spPr>
            <a:xfrm>
              <a:off x="2526776" y="5010203"/>
              <a:ext cx="110572" cy="109338"/>
            </a:xfrm>
            <a:prstGeom prst="rect">
              <a:avLst/>
            </a:prstGeom>
          </p:spPr>
        </p:pic>
        <p:sp>
          <p:nvSpPr>
            <p:cNvPr id="66" name="object 78">
              <a:extLst>
                <a:ext uri="{FF2B5EF4-FFF2-40B4-BE49-F238E27FC236}">
                  <a16:creationId xmlns:a16="http://schemas.microsoft.com/office/drawing/2014/main" id="{8085F631-8D30-6835-A542-53BD560621C0}"/>
                </a:ext>
              </a:extLst>
            </p:cNvPr>
            <p:cNvSpPr/>
            <p:nvPr/>
          </p:nvSpPr>
          <p:spPr>
            <a:xfrm>
              <a:off x="2111454" y="5676413"/>
              <a:ext cx="696595" cy="688975"/>
            </a:xfrm>
            <a:custGeom>
              <a:avLst/>
              <a:gdLst/>
              <a:ahLst/>
              <a:cxnLst/>
              <a:rect l="l" t="t" r="r" b="b"/>
              <a:pathLst>
                <a:path w="696594" h="688975">
                  <a:moveTo>
                    <a:pt x="0" y="688480"/>
                  </a:moveTo>
                  <a:lnTo>
                    <a:pt x="696260" y="0"/>
                  </a:lnTo>
                </a:path>
              </a:pathLst>
            </a:custGeom>
            <a:ln w="18447">
              <a:solidFill>
                <a:srgbClr val="FFFFFF"/>
              </a:solidFill>
            </a:ln>
          </p:spPr>
          <p:txBody>
            <a:bodyPr wrap="square" lIns="0" tIns="0" rIns="0" bIns="0" rtlCol="0"/>
            <a:lstStyle/>
            <a:p>
              <a:endParaRPr/>
            </a:p>
          </p:txBody>
        </p:sp>
        <p:pic>
          <p:nvPicPr>
            <p:cNvPr id="67" name="object 79">
              <a:extLst>
                <a:ext uri="{FF2B5EF4-FFF2-40B4-BE49-F238E27FC236}">
                  <a16:creationId xmlns:a16="http://schemas.microsoft.com/office/drawing/2014/main" id="{C19A2721-A992-37DD-905C-522F8E0E7144}"/>
                </a:ext>
              </a:extLst>
            </p:cNvPr>
            <p:cNvPicPr/>
            <p:nvPr/>
          </p:nvPicPr>
          <p:blipFill>
            <a:blip r:embed="rId32" cstate="print"/>
            <a:stretch>
              <a:fillRect/>
            </a:stretch>
          </p:blipFill>
          <p:spPr>
            <a:xfrm>
              <a:off x="2751047" y="5616515"/>
              <a:ext cx="117241" cy="115942"/>
            </a:xfrm>
            <a:prstGeom prst="rect">
              <a:avLst/>
            </a:prstGeom>
          </p:spPr>
        </p:pic>
        <p:pic>
          <p:nvPicPr>
            <p:cNvPr id="68" name="object 80">
              <a:extLst>
                <a:ext uri="{FF2B5EF4-FFF2-40B4-BE49-F238E27FC236}">
                  <a16:creationId xmlns:a16="http://schemas.microsoft.com/office/drawing/2014/main" id="{1D3F0EA2-5F73-2B4F-55AC-F4E202E7EC8F}"/>
                </a:ext>
              </a:extLst>
            </p:cNvPr>
            <p:cNvPicPr/>
            <p:nvPr/>
          </p:nvPicPr>
          <p:blipFill>
            <a:blip r:embed="rId19" cstate="print"/>
            <a:stretch>
              <a:fillRect/>
            </a:stretch>
          </p:blipFill>
          <p:spPr>
            <a:xfrm>
              <a:off x="1951672" y="4832804"/>
              <a:ext cx="422724" cy="198661"/>
            </a:xfrm>
            <a:prstGeom prst="rect">
              <a:avLst/>
            </a:prstGeom>
          </p:spPr>
        </p:pic>
        <p:pic>
          <p:nvPicPr>
            <p:cNvPr id="69" name="object 81">
              <a:extLst>
                <a:ext uri="{FF2B5EF4-FFF2-40B4-BE49-F238E27FC236}">
                  <a16:creationId xmlns:a16="http://schemas.microsoft.com/office/drawing/2014/main" id="{7D384953-D9C5-D9DA-F7CB-D9ABDA89B5D4}"/>
                </a:ext>
              </a:extLst>
            </p:cNvPr>
            <p:cNvPicPr/>
            <p:nvPr/>
          </p:nvPicPr>
          <p:blipFill>
            <a:blip r:embed="rId14" cstate="print"/>
            <a:stretch>
              <a:fillRect/>
            </a:stretch>
          </p:blipFill>
          <p:spPr>
            <a:xfrm>
              <a:off x="2287785" y="5620029"/>
              <a:ext cx="402159" cy="397671"/>
            </a:xfrm>
            <a:prstGeom prst="rect">
              <a:avLst/>
            </a:prstGeom>
          </p:spPr>
        </p:pic>
        <p:pic>
          <p:nvPicPr>
            <p:cNvPr id="70" name="object 82">
              <a:extLst>
                <a:ext uri="{FF2B5EF4-FFF2-40B4-BE49-F238E27FC236}">
                  <a16:creationId xmlns:a16="http://schemas.microsoft.com/office/drawing/2014/main" id="{9D6F8015-9D8A-E21A-AE19-DB47F44AEDD5}"/>
                </a:ext>
              </a:extLst>
            </p:cNvPr>
            <p:cNvPicPr/>
            <p:nvPr/>
          </p:nvPicPr>
          <p:blipFill>
            <a:blip r:embed="rId33" cstate="print"/>
            <a:stretch>
              <a:fillRect/>
            </a:stretch>
          </p:blipFill>
          <p:spPr>
            <a:xfrm>
              <a:off x="3644612" y="5705068"/>
              <a:ext cx="1328812" cy="687948"/>
            </a:xfrm>
            <a:prstGeom prst="rect">
              <a:avLst/>
            </a:prstGeom>
          </p:spPr>
        </p:pic>
      </p:grpSp>
      <p:sp>
        <p:nvSpPr>
          <p:cNvPr id="71" name="object 83">
            <a:extLst>
              <a:ext uri="{FF2B5EF4-FFF2-40B4-BE49-F238E27FC236}">
                <a16:creationId xmlns:a16="http://schemas.microsoft.com/office/drawing/2014/main" id="{442D6453-B7AE-2C31-3BA4-D84098B37009}"/>
              </a:ext>
            </a:extLst>
          </p:cNvPr>
          <p:cNvSpPr txBox="1"/>
          <p:nvPr/>
        </p:nvSpPr>
        <p:spPr>
          <a:xfrm>
            <a:off x="2288944" y="4000202"/>
            <a:ext cx="1000125" cy="278923"/>
          </a:xfrm>
          <a:prstGeom prst="rect">
            <a:avLst/>
          </a:prstGeom>
        </p:spPr>
        <p:txBody>
          <a:bodyPr vert="horz" wrap="square" lIns="0" tIns="17145" rIns="0" bIns="0" rtlCol="0">
            <a:spAutoFit/>
          </a:bodyPr>
          <a:lstStyle/>
          <a:p>
            <a:pPr marL="12700">
              <a:lnSpc>
                <a:spcPct val="100000"/>
              </a:lnSpc>
              <a:spcBef>
                <a:spcPts val="135"/>
              </a:spcBef>
            </a:pPr>
            <a:r>
              <a:rPr sz="1700" spc="25" dirty="0">
                <a:solidFill>
                  <a:srgbClr val="6F2F9F"/>
                </a:solidFill>
                <a:latin typeface="Cambria"/>
                <a:cs typeface="Cambria"/>
              </a:rPr>
              <a:t>Ac</a:t>
            </a:r>
            <a:r>
              <a:rPr sz="1700" spc="20" dirty="0">
                <a:solidFill>
                  <a:srgbClr val="6F2F9F"/>
                </a:solidFill>
                <a:latin typeface="Cambria"/>
                <a:cs typeface="Cambria"/>
              </a:rPr>
              <a:t>ti</a:t>
            </a:r>
            <a:r>
              <a:rPr sz="1700" spc="15" dirty="0">
                <a:solidFill>
                  <a:srgbClr val="6F2F9F"/>
                </a:solidFill>
                <a:latin typeface="Cambria"/>
                <a:cs typeface="Cambria"/>
              </a:rPr>
              <a:t>v</a:t>
            </a:r>
            <a:r>
              <a:rPr sz="1700" spc="40" dirty="0">
                <a:solidFill>
                  <a:srgbClr val="6F2F9F"/>
                </a:solidFill>
                <a:latin typeface="Cambria"/>
                <a:cs typeface="Cambria"/>
              </a:rPr>
              <a:t>a</a:t>
            </a:r>
            <a:r>
              <a:rPr sz="1700" spc="-30" dirty="0">
                <a:solidFill>
                  <a:srgbClr val="6F2F9F"/>
                </a:solidFill>
                <a:latin typeface="Cambria"/>
                <a:cs typeface="Cambria"/>
              </a:rPr>
              <a:t>t</a:t>
            </a:r>
            <a:r>
              <a:rPr sz="1700" spc="20" dirty="0">
                <a:solidFill>
                  <a:srgbClr val="6F2F9F"/>
                </a:solidFill>
                <a:latin typeface="Cambria"/>
                <a:cs typeface="Cambria"/>
              </a:rPr>
              <a:t>i</a:t>
            </a:r>
            <a:r>
              <a:rPr sz="1700" spc="30" dirty="0">
                <a:solidFill>
                  <a:srgbClr val="6F2F9F"/>
                </a:solidFill>
                <a:latin typeface="Cambria"/>
                <a:cs typeface="Cambria"/>
              </a:rPr>
              <a:t>on</a:t>
            </a:r>
            <a:endParaRPr sz="1700">
              <a:latin typeface="Cambria"/>
              <a:cs typeface="Cambria"/>
            </a:endParaRPr>
          </a:p>
        </p:txBody>
      </p:sp>
      <p:sp>
        <p:nvSpPr>
          <p:cNvPr id="72" name="object 84">
            <a:extLst>
              <a:ext uri="{FF2B5EF4-FFF2-40B4-BE49-F238E27FC236}">
                <a16:creationId xmlns:a16="http://schemas.microsoft.com/office/drawing/2014/main" id="{A2E06439-7954-5726-28D4-17FF66DE1BFA}"/>
              </a:ext>
            </a:extLst>
          </p:cNvPr>
          <p:cNvSpPr txBox="1"/>
          <p:nvPr/>
        </p:nvSpPr>
        <p:spPr>
          <a:xfrm>
            <a:off x="2380314" y="4176776"/>
            <a:ext cx="817244" cy="278923"/>
          </a:xfrm>
          <a:prstGeom prst="rect">
            <a:avLst/>
          </a:prstGeom>
        </p:spPr>
        <p:txBody>
          <a:bodyPr vert="horz" wrap="square" lIns="0" tIns="17145" rIns="0" bIns="0" rtlCol="0">
            <a:spAutoFit/>
          </a:bodyPr>
          <a:lstStyle/>
          <a:p>
            <a:pPr marL="12700">
              <a:lnSpc>
                <a:spcPct val="100000"/>
              </a:lnSpc>
              <a:spcBef>
                <a:spcPts val="135"/>
              </a:spcBef>
            </a:pPr>
            <a:r>
              <a:rPr sz="1700" spc="25" dirty="0">
                <a:solidFill>
                  <a:srgbClr val="6F2F9F"/>
                </a:solidFill>
                <a:latin typeface="Cambria"/>
                <a:cs typeface="Cambria"/>
              </a:rPr>
              <a:t>f</a:t>
            </a:r>
            <a:r>
              <a:rPr sz="1700" spc="-10" dirty="0">
                <a:solidFill>
                  <a:srgbClr val="6F2F9F"/>
                </a:solidFill>
                <a:latin typeface="Cambria"/>
                <a:cs typeface="Cambria"/>
              </a:rPr>
              <a:t>u</a:t>
            </a:r>
            <a:r>
              <a:rPr sz="1700" spc="30" dirty="0">
                <a:solidFill>
                  <a:srgbClr val="6F2F9F"/>
                </a:solidFill>
                <a:latin typeface="Cambria"/>
                <a:cs typeface="Cambria"/>
              </a:rPr>
              <a:t>n</a:t>
            </a:r>
            <a:r>
              <a:rPr sz="1700" spc="15" dirty="0">
                <a:solidFill>
                  <a:srgbClr val="6F2F9F"/>
                </a:solidFill>
                <a:latin typeface="Cambria"/>
                <a:cs typeface="Cambria"/>
              </a:rPr>
              <a:t>c</a:t>
            </a:r>
            <a:r>
              <a:rPr sz="1700" spc="20" dirty="0">
                <a:solidFill>
                  <a:srgbClr val="6F2F9F"/>
                </a:solidFill>
                <a:latin typeface="Cambria"/>
                <a:cs typeface="Cambria"/>
              </a:rPr>
              <a:t>t</a:t>
            </a:r>
            <a:r>
              <a:rPr sz="1700" spc="25" dirty="0">
                <a:solidFill>
                  <a:srgbClr val="6F2F9F"/>
                </a:solidFill>
                <a:latin typeface="Cambria"/>
                <a:cs typeface="Cambria"/>
              </a:rPr>
              <a:t>ion</a:t>
            </a:r>
            <a:endParaRPr sz="1700">
              <a:latin typeface="Cambria"/>
              <a:cs typeface="Cambria"/>
            </a:endParaRPr>
          </a:p>
        </p:txBody>
      </p:sp>
    </p:spTree>
    <p:extLst>
      <p:ext uri="{BB962C8B-B14F-4D97-AF65-F5344CB8AC3E}">
        <p14:creationId xmlns:p14="http://schemas.microsoft.com/office/powerpoint/2010/main" val="25958266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02BBB3-3605-0F14-A375-AA543BFAC029}"/>
            </a:ext>
          </a:extLst>
        </p:cNvPr>
        <p:cNvGrpSpPr/>
        <p:nvPr/>
      </p:nvGrpSpPr>
      <p:grpSpPr>
        <a:xfrm>
          <a:off x="0" y="0"/>
          <a:ext cx="0" cy="0"/>
          <a:chOff x="0" y="0"/>
          <a:chExt cx="0" cy="0"/>
        </a:xfrm>
      </p:grpSpPr>
      <p:sp>
        <p:nvSpPr>
          <p:cNvPr id="5" name="Text 1">
            <a:extLst>
              <a:ext uri="{FF2B5EF4-FFF2-40B4-BE49-F238E27FC236}">
                <a16:creationId xmlns:a16="http://schemas.microsoft.com/office/drawing/2014/main" id="{7863317F-55F5-3D9C-5E35-23F611BBF9A8}"/>
              </a:ext>
            </a:extLst>
          </p:cNvPr>
          <p:cNvSpPr/>
          <p:nvPr/>
        </p:nvSpPr>
        <p:spPr>
          <a:xfrm>
            <a:off x="214312" y="10632"/>
            <a:ext cx="4798861" cy="487313"/>
          </a:xfrm>
          <a:prstGeom prst="rect">
            <a:avLst/>
          </a:prstGeom>
          <a:noFill/>
          <a:ln/>
        </p:spPr>
        <p:txBody>
          <a:bodyPr wrap="square" lIns="0" tIns="0" rIns="0" bIns="0" rtlCol="0" anchor="t">
            <a:spAutoFit/>
          </a:bodyPr>
          <a:lstStyle/>
          <a:p>
            <a:pPr marL="0" indent="0" algn="l">
              <a:lnSpc>
                <a:spcPts val="3800"/>
              </a:lnSpc>
              <a:buNone/>
            </a:pPr>
            <a:r>
              <a:rPr lang="en-US" sz="3294" b="1" dirty="0" err="1"/>
              <a:t>Yapay</a:t>
            </a:r>
            <a:r>
              <a:rPr lang="tr-TR" sz="3294" b="1" dirty="0"/>
              <a:t> </a:t>
            </a:r>
            <a:r>
              <a:rPr lang="en-US" sz="3294" b="1" dirty="0" err="1"/>
              <a:t>Sinir</a:t>
            </a:r>
            <a:r>
              <a:rPr lang="tr-TR" sz="3294" b="1" dirty="0"/>
              <a:t> A</a:t>
            </a:r>
            <a:r>
              <a:rPr lang="en-US" sz="3294" b="1" dirty="0" err="1"/>
              <a:t>ğları</a:t>
            </a:r>
            <a:endParaRPr lang="en-US" sz="3294" dirty="0"/>
          </a:p>
        </p:txBody>
      </p:sp>
      <p:grpSp>
        <p:nvGrpSpPr>
          <p:cNvPr id="2" name="object 4">
            <a:extLst>
              <a:ext uri="{FF2B5EF4-FFF2-40B4-BE49-F238E27FC236}">
                <a16:creationId xmlns:a16="http://schemas.microsoft.com/office/drawing/2014/main" id="{A6EFD209-D024-6A6D-7A3E-489ED43C128C}"/>
              </a:ext>
            </a:extLst>
          </p:cNvPr>
          <p:cNvGrpSpPr/>
          <p:nvPr/>
        </p:nvGrpSpPr>
        <p:grpSpPr>
          <a:xfrm>
            <a:off x="1128838" y="552011"/>
            <a:ext cx="6352661" cy="1293163"/>
            <a:chOff x="1187196" y="868680"/>
            <a:chExt cx="9360535" cy="2240280"/>
          </a:xfrm>
        </p:grpSpPr>
        <p:pic>
          <p:nvPicPr>
            <p:cNvPr id="4" name="object 5">
              <a:extLst>
                <a:ext uri="{FF2B5EF4-FFF2-40B4-BE49-F238E27FC236}">
                  <a16:creationId xmlns:a16="http://schemas.microsoft.com/office/drawing/2014/main" id="{23486F0F-1025-256B-5651-D21F97352CF8}"/>
                </a:ext>
              </a:extLst>
            </p:cNvPr>
            <p:cNvPicPr/>
            <p:nvPr/>
          </p:nvPicPr>
          <p:blipFill>
            <a:blip r:embed="rId3" cstate="print"/>
            <a:stretch>
              <a:fillRect/>
            </a:stretch>
          </p:blipFill>
          <p:spPr>
            <a:xfrm>
              <a:off x="5039867" y="1325880"/>
              <a:ext cx="5507736" cy="1783080"/>
            </a:xfrm>
            <a:prstGeom prst="rect">
              <a:avLst/>
            </a:prstGeom>
          </p:spPr>
        </p:pic>
        <p:pic>
          <p:nvPicPr>
            <p:cNvPr id="73" name="object 6">
              <a:extLst>
                <a:ext uri="{FF2B5EF4-FFF2-40B4-BE49-F238E27FC236}">
                  <a16:creationId xmlns:a16="http://schemas.microsoft.com/office/drawing/2014/main" id="{C5F4F289-2556-ADC5-51C8-C3FE42DD5EEB}"/>
                </a:ext>
              </a:extLst>
            </p:cNvPr>
            <p:cNvPicPr/>
            <p:nvPr/>
          </p:nvPicPr>
          <p:blipFill>
            <a:blip r:embed="rId4" cstate="print"/>
            <a:stretch>
              <a:fillRect/>
            </a:stretch>
          </p:blipFill>
          <p:spPr>
            <a:xfrm>
              <a:off x="1187196" y="868680"/>
              <a:ext cx="4884420" cy="1776984"/>
            </a:xfrm>
            <a:prstGeom prst="rect">
              <a:avLst/>
            </a:prstGeom>
          </p:spPr>
        </p:pic>
      </p:grpSp>
      <p:grpSp>
        <p:nvGrpSpPr>
          <p:cNvPr id="78" name="object 11">
            <a:extLst>
              <a:ext uri="{FF2B5EF4-FFF2-40B4-BE49-F238E27FC236}">
                <a16:creationId xmlns:a16="http://schemas.microsoft.com/office/drawing/2014/main" id="{D48C2F9A-5D6A-95F4-8E13-BDF3E0558EFB}"/>
              </a:ext>
            </a:extLst>
          </p:cNvPr>
          <p:cNvGrpSpPr/>
          <p:nvPr/>
        </p:nvGrpSpPr>
        <p:grpSpPr>
          <a:xfrm>
            <a:off x="5265373" y="2674953"/>
            <a:ext cx="1597363" cy="1505795"/>
            <a:chOff x="6629223" y="4336502"/>
            <a:chExt cx="1684020" cy="1591945"/>
          </a:xfrm>
        </p:grpSpPr>
        <p:pic>
          <p:nvPicPr>
            <p:cNvPr id="79" name="object 12">
              <a:extLst>
                <a:ext uri="{FF2B5EF4-FFF2-40B4-BE49-F238E27FC236}">
                  <a16:creationId xmlns:a16="http://schemas.microsoft.com/office/drawing/2014/main" id="{79E28F62-65BD-B3A9-AECD-0CF2A5FCD5D1}"/>
                </a:ext>
              </a:extLst>
            </p:cNvPr>
            <p:cNvPicPr/>
            <p:nvPr/>
          </p:nvPicPr>
          <p:blipFill>
            <a:blip r:embed="rId5" cstate="print"/>
            <a:stretch>
              <a:fillRect/>
            </a:stretch>
          </p:blipFill>
          <p:spPr>
            <a:xfrm>
              <a:off x="6629223" y="4336502"/>
              <a:ext cx="1683626" cy="1591352"/>
            </a:xfrm>
            <a:prstGeom prst="rect">
              <a:avLst/>
            </a:prstGeom>
          </p:spPr>
        </p:pic>
        <p:sp>
          <p:nvSpPr>
            <p:cNvPr id="80" name="object 13">
              <a:extLst>
                <a:ext uri="{FF2B5EF4-FFF2-40B4-BE49-F238E27FC236}">
                  <a16:creationId xmlns:a16="http://schemas.microsoft.com/office/drawing/2014/main" id="{8588CFAD-CD0A-5DC4-D6AE-F1474BF95560}"/>
                </a:ext>
              </a:extLst>
            </p:cNvPr>
            <p:cNvSpPr/>
            <p:nvPr/>
          </p:nvSpPr>
          <p:spPr>
            <a:xfrm>
              <a:off x="6670780" y="4369695"/>
              <a:ext cx="1597025" cy="1498600"/>
            </a:xfrm>
            <a:custGeom>
              <a:avLst/>
              <a:gdLst/>
              <a:ahLst/>
              <a:cxnLst/>
              <a:rect l="l" t="t" r="r" b="b"/>
              <a:pathLst>
                <a:path w="1597025" h="1498600">
                  <a:moveTo>
                    <a:pt x="959064" y="1485900"/>
                  </a:moveTo>
                  <a:lnTo>
                    <a:pt x="637644" y="1485900"/>
                  </a:lnTo>
                  <a:lnTo>
                    <a:pt x="657217" y="1498600"/>
                  </a:lnTo>
                  <a:lnTo>
                    <a:pt x="939491" y="1498600"/>
                  </a:lnTo>
                  <a:lnTo>
                    <a:pt x="959064" y="1485900"/>
                  </a:lnTo>
                  <a:close/>
                </a:path>
                <a:path w="1597025" h="1498600">
                  <a:moveTo>
                    <a:pt x="679573" y="1473200"/>
                  </a:moveTo>
                  <a:lnTo>
                    <a:pt x="579946" y="1473200"/>
                  </a:lnTo>
                  <a:lnTo>
                    <a:pt x="598963" y="1485900"/>
                  </a:lnTo>
                  <a:lnTo>
                    <a:pt x="699053" y="1485900"/>
                  </a:lnTo>
                  <a:lnTo>
                    <a:pt x="679573" y="1473200"/>
                  </a:lnTo>
                  <a:close/>
                </a:path>
                <a:path w="1597025" h="1498600">
                  <a:moveTo>
                    <a:pt x="1016762" y="1473200"/>
                  </a:moveTo>
                  <a:lnTo>
                    <a:pt x="916857" y="1473200"/>
                  </a:lnTo>
                  <a:lnTo>
                    <a:pt x="897377" y="1485900"/>
                  </a:lnTo>
                  <a:lnTo>
                    <a:pt x="997746" y="1485900"/>
                  </a:lnTo>
                  <a:lnTo>
                    <a:pt x="1016762" y="1473200"/>
                  </a:lnTo>
                  <a:close/>
                </a:path>
                <a:path w="1597025" h="1498600">
                  <a:moveTo>
                    <a:pt x="603508" y="1460500"/>
                  </a:moveTo>
                  <a:lnTo>
                    <a:pt x="542471" y="1460500"/>
                  </a:lnTo>
                  <a:lnTo>
                    <a:pt x="561116" y="1473200"/>
                  </a:lnTo>
                  <a:lnTo>
                    <a:pt x="622246" y="1473200"/>
                  </a:lnTo>
                  <a:lnTo>
                    <a:pt x="603508" y="1460500"/>
                  </a:lnTo>
                  <a:close/>
                </a:path>
                <a:path w="1597025" h="1498600">
                  <a:moveTo>
                    <a:pt x="1054330" y="1460500"/>
                  </a:moveTo>
                  <a:lnTo>
                    <a:pt x="993015" y="1460500"/>
                  </a:lnTo>
                  <a:lnTo>
                    <a:pt x="974184" y="1473200"/>
                  </a:lnTo>
                  <a:lnTo>
                    <a:pt x="1035685" y="1473200"/>
                  </a:lnTo>
                  <a:lnTo>
                    <a:pt x="1054330" y="1460500"/>
                  </a:lnTo>
                  <a:close/>
                </a:path>
                <a:path w="1597025" h="1498600">
                  <a:moveTo>
                    <a:pt x="548315" y="1447800"/>
                  </a:moveTo>
                  <a:lnTo>
                    <a:pt x="505830" y="1447800"/>
                  </a:lnTo>
                  <a:lnTo>
                    <a:pt x="524104" y="1460500"/>
                  </a:lnTo>
                  <a:lnTo>
                    <a:pt x="566496" y="1460500"/>
                  </a:lnTo>
                  <a:lnTo>
                    <a:pt x="548315" y="1447800"/>
                  </a:lnTo>
                  <a:close/>
                </a:path>
                <a:path w="1597025" h="1498600">
                  <a:moveTo>
                    <a:pt x="1090971" y="1447800"/>
                  </a:moveTo>
                  <a:lnTo>
                    <a:pt x="1048208" y="1447800"/>
                  </a:lnTo>
                  <a:lnTo>
                    <a:pt x="1030027" y="1460500"/>
                  </a:lnTo>
                  <a:lnTo>
                    <a:pt x="1072790" y="1460500"/>
                  </a:lnTo>
                  <a:lnTo>
                    <a:pt x="1090971" y="1447800"/>
                  </a:lnTo>
                  <a:close/>
                </a:path>
                <a:path w="1597025" h="1498600">
                  <a:moveTo>
                    <a:pt x="512509" y="1435100"/>
                  </a:moveTo>
                  <a:lnTo>
                    <a:pt x="470024" y="1435100"/>
                  </a:lnTo>
                  <a:lnTo>
                    <a:pt x="487834" y="1447800"/>
                  </a:lnTo>
                  <a:lnTo>
                    <a:pt x="530319" y="1447800"/>
                  </a:lnTo>
                  <a:lnTo>
                    <a:pt x="512509" y="1435100"/>
                  </a:lnTo>
                  <a:close/>
                </a:path>
                <a:path w="1597025" h="1498600">
                  <a:moveTo>
                    <a:pt x="1126777" y="1435100"/>
                  </a:moveTo>
                  <a:lnTo>
                    <a:pt x="1084107" y="1435100"/>
                  </a:lnTo>
                  <a:lnTo>
                    <a:pt x="1066296" y="1447800"/>
                  </a:lnTo>
                  <a:lnTo>
                    <a:pt x="1108967" y="1447800"/>
                  </a:lnTo>
                  <a:lnTo>
                    <a:pt x="1126777" y="1435100"/>
                  </a:lnTo>
                  <a:close/>
                </a:path>
                <a:path w="1597025" h="1498600">
                  <a:moveTo>
                    <a:pt x="649" y="736600"/>
                  </a:moveTo>
                  <a:lnTo>
                    <a:pt x="0" y="736600"/>
                  </a:lnTo>
                  <a:lnTo>
                    <a:pt x="556" y="774700"/>
                  </a:lnTo>
                  <a:lnTo>
                    <a:pt x="1298" y="787400"/>
                  </a:lnTo>
                  <a:lnTo>
                    <a:pt x="2597" y="812800"/>
                  </a:lnTo>
                  <a:lnTo>
                    <a:pt x="4359" y="825500"/>
                  </a:lnTo>
                  <a:lnTo>
                    <a:pt x="6678" y="850900"/>
                  </a:lnTo>
                  <a:lnTo>
                    <a:pt x="9461" y="863600"/>
                  </a:lnTo>
                  <a:lnTo>
                    <a:pt x="12801" y="889000"/>
                  </a:lnTo>
                  <a:lnTo>
                    <a:pt x="16511" y="901700"/>
                  </a:lnTo>
                  <a:lnTo>
                    <a:pt x="20685" y="927100"/>
                  </a:lnTo>
                  <a:lnTo>
                    <a:pt x="25416" y="939800"/>
                  </a:lnTo>
                  <a:lnTo>
                    <a:pt x="30611" y="952500"/>
                  </a:lnTo>
                  <a:lnTo>
                    <a:pt x="36177" y="977900"/>
                  </a:lnTo>
                  <a:lnTo>
                    <a:pt x="42206" y="990600"/>
                  </a:lnTo>
                  <a:lnTo>
                    <a:pt x="48699" y="1016000"/>
                  </a:lnTo>
                  <a:lnTo>
                    <a:pt x="55657" y="1028700"/>
                  </a:lnTo>
                  <a:lnTo>
                    <a:pt x="62985" y="1041400"/>
                  </a:lnTo>
                  <a:lnTo>
                    <a:pt x="70870" y="1066800"/>
                  </a:lnTo>
                  <a:lnTo>
                    <a:pt x="79033" y="1079500"/>
                  </a:lnTo>
                  <a:lnTo>
                    <a:pt x="96657" y="1104900"/>
                  </a:lnTo>
                  <a:lnTo>
                    <a:pt x="115859" y="1143000"/>
                  </a:lnTo>
                  <a:lnTo>
                    <a:pt x="136638" y="1168400"/>
                  </a:lnTo>
                  <a:lnTo>
                    <a:pt x="158900" y="1206500"/>
                  </a:lnTo>
                  <a:lnTo>
                    <a:pt x="207693" y="1257300"/>
                  </a:lnTo>
                  <a:lnTo>
                    <a:pt x="261773" y="1308100"/>
                  </a:lnTo>
                  <a:lnTo>
                    <a:pt x="290808" y="1333500"/>
                  </a:lnTo>
                  <a:lnTo>
                    <a:pt x="320955" y="1358900"/>
                  </a:lnTo>
                  <a:lnTo>
                    <a:pt x="352216" y="1371600"/>
                  </a:lnTo>
                  <a:lnTo>
                    <a:pt x="384590" y="1397000"/>
                  </a:lnTo>
                  <a:lnTo>
                    <a:pt x="417984" y="1409700"/>
                  </a:lnTo>
                  <a:lnTo>
                    <a:pt x="452399" y="1435100"/>
                  </a:lnTo>
                  <a:lnTo>
                    <a:pt x="494884" y="1435100"/>
                  </a:lnTo>
                  <a:lnTo>
                    <a:pt x="460376" y="1409700"/>
                  </a:lnTo>
                  <a:lnTo>
                    <a:pt x="460655" y="1409700"/>
                  </a:lnTo>
                  <a:lnTo>
                    <a:pt x="426611" y="1397000"/>
                  </a:lnTo>
                  <a:lnTo>
                    <a:pt x="427075" y="1397000"/>
                  </a:lnTo>
                  <a:lnTo>
                    <a:pt x="394052" y="1384300"/>
                  </a:lnTo>
                  <a:lnTo>
                    <a:pt x="394423" y="1384300"/>
                  </a:lnTo>
                  <a:lnTo>
                    <a:pt x="362420" y="1358900"/>
                  </a:lnTo>
                  <a:lnTo>
                    <a:pt x="362791" y="1358900"/>
                  </a:lnTo>
                  <a:lnTo>
                    <a:pt x="331809" y="1346200"/>
                  </a:lnTo>
                  <a:lnTo>
                    <a:pt x="332180" y="1346200"/>
                  </a:lnTo>
                  <a:lnTo>
                    <a:pt x="302403" y="1320800"/>
                  </a:lnTo>
                  <a:lnTo>
                    <a:pt x="302774" y="1320800"/>
                  </a:lnTo>
                  <a:lnTo>
                    <a:pt x="274111" y="1295400"/>
                  </a:lnTo>
                  <a:lnTo>
                    <a:pt x="274482" y="1295400"/>
                  </a:lnTo>
                  <a:lnTo>
                    <a:pt x="247024" y="1270000"/>
                  </a:lnTo>
                  <a:lnTo>
                    <a:pt x="247303" y="1270000"/>
                  </a:lnTo>
                  <a:lnTo>
                    <a:pt x="221236" y="1244600"/>
                  </a:lnTo>
                  <a:lnTo>
                    <a:pt x="221515" y="1244600"/>
                  </a:lnTo>
                  <a:lnTo>
                    <a:pt x="196747" y="1219200"/>
                  </a:lnTo>
                  <a:lnTo>
                    <a:pt x="197026" y="1219200"/>
                  </a:lnTo>
                  <a:lnTo>
                    <a:pt x="173650" y="1193800"/>
                  </a:lnTo>
                  <a:lnTo>
                    <a:pt x="173835" y="1193800"/>
                  </a:lnTo>
                  <a:lnTo>
                    <a:pt x="151851" y="1168400"/>
                  </a:lnTo>
                  <a:lnTo>
                    <a:pt x="152129" y="1168400"/>
                  </a:lnTo>
                  <a:lnTo>
                    <a:pt x="131629" y="1130300"/>
                  </a:lnTo>
                  <a:lnTo>
                    <a:pt x="131814" y="1130300"/>
                  </a:lnTo>
                  <a:lnTo>
                    <a:pt x="112891" y="1104900"/>
                  </a:lnTo>
                  <a:lnTo>
                    <a:pt x="113076" y="1104900"/>
                  </a:lnTo>
                  <a:lnTo>
                    <a:pt x="95637" y="1066800"/>
                  </a:lnTo>
                  <a:lnTo>
                    <a:pt x="87659" y="1054100"/>
                  </a:lnTo>
                  <a:lnTo>
                    <a:pt x="80053" y="1041400"/>
                  </a:lnTo>
                  <a:lnTo>
                    <a:pt x="72818" y="1016000"/>
                  </a:lnTo>
                  <a:lnTo>
                    <a:pt x="66139" y="1003300"/>
                  </a:lnTo>
                  <a:lnTo>
                    <a:pt x="59831" y="990600"/>
                  </a:lnTo>
                  <a:lnTo>
                    <a:pt x="53894" y="965200"/>
                  </a:lnTo>
                  <a:lnTo>
                    <a:pt x="48421" y="952500"/>
                  </a:lnTo>
                  <a:lnTo>
                    <a:pt x="43412" y="939800"/>
                  </a:lnTo>
                  <a:lnTo>
                    <a:pt x="38774" y="914400"/>
                  </a:lnTo>
                  <a:lnTo>
                    <a:pt x="34600" y="901700"/>
                  </a:lnTo>
                  <a:lnTo>
                    <a:pt x="30982" y="876300"/>
                  </a:lnTo>
                  <a:lnTo>
                    <a:pt x="27735" y="863600"/>
                  </a:lnTo>
                  <a:lnTo>
                    <a:pt x="25045" y="838200"/>
                  </a:lnTo>
                  <a:lnTo>
                    <a:pt x="22819" y="825500"/>
                  </a:lnTo>
                  <a:lnTo>
                    <a:pt x="21056" y="812800"/>
                  </a:lnTo>
                  <a:lnTo>
                    <a:pt x="19851" y="787400"/>
                  </a:lnTo>
                  <a:lnTo>
                    <a:pt x="19016" y="774700"/>
                  </a:lnTo>
                  <a:lnTo>
                    <a:pt x="18877" y="762000"/>
                  </a:lnTo>
                  <a:lnTo>
                    <a:pt x="8534" y="762000"/>
                  </a:lnTo>
                  <a:lnTo>
                    <a:pt x="1205" y="749300"/>
                  </a:lnTo>
                  <a:lnTo>
                    <a:pt x="371" y="749300"/>
                  </a:lnTo>
                  <a:lnTo>
                    <a:pt x="649" y="736600"/>
                  </a:lnTo>
                  <a:close/>
                </a:path>
                <a:path w="1597025" h="1498600">
                  <a:moveTo>
                    <a:pt x="1109060" y="50800"/>
                  </a:moveTo>
                  <a:lnTo>
                    <a:pt x="1048579" y="50800"/>
                  </a:lnTo>
                  <a:lnTo>
                    <a:pt x="1066667" y="63500"/>
                  </a:lnTo>
                  <a:lnTo>
                    <a:pt x="1084478" y="63500"/>
                  </a:lnTo>
                  <a:lnTo>
                    <a:pt x="1101917" y="76200"/>
                  </a:lnTo>
                  <a:lnTo>
                    <a:pt x="1119356" y="76200"/>
                  </a:lnTo>
                  <a:lnTo>
                    <a:pt x="1136517" y="88900"/>
                  </a:lnTo>
                  <a:lnTo>
                    <a:pt x="1136239" y="88900"/>
                  </a:lnTo>
                  <a:lnTo>
                    <a:pt x="1170282" y="101600"/>
                  </a:lnTo>
                  <a:lnTo>
                    <a:pt x="1169819" y="101600"/>
                  </a:lnTo>
                  <a:lnTo>
                    <a:pt x="1202842" y="114300"/>
                  </a:lnTo>
                  <a:lnTo>
                    <a:pt x="1202471" y="114300"/>
                  </a:lnTo>
                  <a:lnTo>
                    <a:pt x="1234566" y="139700"/>
                  </a:lnTo>
                  <a:lnTo>
                    <a:pt x="1234195" y="139700"/>
                  </a:lnTo>
                  <a:lnTo>
                    <a:pt x="1265085" y="165100"/>
                  </a:lnTo>
                  <a:lnTo>
                    <a:pt x="1264714" y="165100"/>
                  </a:lnTo>
                  <a:lnTo>
                    <a:pt x="1294490" y="177800"/>
                  </a:lnTo>
                  <a:lnTo>
                    <a:pt x="1294119" y="177800"/>
                  </a:lnTo>
                  <a:lnTo>
                    <a:pt x="1322783" y="203200"/>
                  </a:lnTo>
                  <a:lnTo>
                    <a:pt x="1322505" y="203200"/>
                  </a:lnTo>
                  <a:lnTo>
                    <a:pt x="1349869" y="228600"/>
                  </a:lnTo>
                  <a:lnTo>
                    <a:pt x="1349591" y="228600"/>
                  </a:lnTo>
                  <a:lnTo>
                    <a:pt x="1375657" y="254000"/>
                  </a:lnTo>
                  <a:lnTo>
                    <a:pt x="1375379" y="254000"/>
                  </a:lnTo>
                  <a:lnTo>
                    <a:pt x="1400146" y="279400"/>
                  </a:lnTo>
                  <a:lnTo>
                    <a:pt x="1399868" y="279400"/>
                  </a:lnTo>
                  <a:lnTo>
                    <a:pt x="1423244" y="304800"/>
                  </a:lnTo>
                  <a:lnTo>
                    <a:pt x="1423058" y="304800"/>
                  </a:lnTo>
                  <a:lnTo>
                    <a:pt x="1445043" y="342900"/>
                  </a:lnTo>
                  <a:lnTo>
                    <a:pt x="1444765" y="342900"/>
                  </a:lnTo>
                  <a:lnTo>
                    <a:pt x="1465265" y="368300"/>
                  </a:lnTo>
                  <a:lnTo>
                    <a:pt x="1465079" y="368300"/>
                  </a:lnTo>
                  <a:lnTo>
                    <a:pt x="1484003" y="393700"/>
                  </a:lnTo>
                  <a:lnTo>
                    <a:pt x="1483817" y="393700"/>
                  </a:lnTo>
                  <a:lnTo>
                    <a:pt x="1501164" y="431800"/>
                  </a:lnTo>
                  <a:lnTo>
                    <a:pt x="1509234" y="444500"/>
                  </a:lnTo>
                  <a:lnTo>
                    <a:pt x="1516748" y="469900"/>
                  </a:lnTo>
                  <a:lnTo>
                    <a:pt x="1523983" y="482600"/>
                  </a:lnTo>
                  <a:lnTo>
                    <a:pt x="1530662" y="495300"/>
                  </a:lnTo>
                  <a:lnTo>
                    <a:pt x="1537155" y="520700"/>
                  </a:lnTo>
                  <a:lnTo>
                    <a:pt x="1542907" y="533400"/>
                  </a:lnTo>
                  <a:lnTo>
                    <a:pt x="1548472" y="546100"/>
                  </a:lnTo>
                  <a:lnTo>
                    <a:pt x="1553481" y="571500"/>
                  </a:lnTo>
                  <a:lnTo>
                    <a:pt x="1558027" y="584200"/>
                  </a:lnTo>
                  <a:lnTo>
                    <a:pt x="1562201" y="596900"/>
                  </a:lnTo>
                  <a:lnTo>
                    <a:pt x="1565819" y="622300"/>
                  </a:lnTo>
                  <a:lnTo>
                    <a:pt x="1568973" y="635000"/>
                  </a:lnTo>
                  <a:lnTo>
                    <a:pt x="1571756" y="660400"/>
                  </a:lnTo>
                  <a:lnTo>
                    <a:pt x="1573889" y="673100"/>
                  </a:lnTo>
                  <a:lnTo>
                    <a:pt x="1575744" y="698500"/>
                  </a:lnTo>
                  <a:lnTo>
                    <a:pt x="1576950" y="711200"/>
                  </a:lnTo>
                  <a:lnTo>
                    <a:pt x="1577692" y="736600"/>
                  </a:lnTo>
                  <a:lnTo>
                    <a:pt x="1577971" y="749300"/>
                  </a:lnTo>
                  <a:lnTo>
                    <a:pt x="1577785" y="774700"/>
                  </a:lnTo>
                  <a:lnTo>
                    <a:pt x="1577043" y="787400"/>
                  </a:lnTo>
                  <a:lnTo>
                    <a:pt x="1575744" y="812800"/>
                  </a:lnTo>
                  <a:lnTo>
                    <a:pt x="1573982" y="825500"/>
                  </a:lnTo>
                  <a:lnTo>
                    <a:pt x="1571756" y="850900"/>
                  </a:lnTo>
                  <a:lnTo>
                    <a:pt x="1568973" y="863600"/>
                  </a:lnTo>
                  <a:lnTo>
                    <a:pt x="1565819" y="876300"/>
                  </a:lnTo>
                  <a:lnTo>
                    <a:pt x="1562201" y="901700"/>
                  </a:lnTo>
                  <a:lnTo>
                    <a:pt x="1558120" y="914400"/>
                  </a:lnTo>
                  <a:lnTo>
                    <a:pt x="1553481" y="939800"/>
                  </a:lnTo>
                  <a:lnTo>
                    <a:pt x="1548472" y="952500"/>
                  </a:lnTo>
                  <a:lnTo>
                    <a:pt x="1542907" y="965200"/>
                  </a:lnTo>
                  <a:lnTo>
                    <a:pt x="1537063" y="990600"/>
                  </a:lnTo>
                  <a:lnTo>
                    <a:pt x="1530662" y="1003300"/>
                  </a:lnTo>
                  <a:lnTo>
                    <a:pt x="1523890" y="1016000"/>
                  </a:lnTo>
                  <a:lnTo>
                    <a:pt x="1516748" y="1041400"/>
                  </a:lnTo>
                  <a:lnTo>
                    <a:pt x="1509141" y="1054100"/>
                  </a:lnTo>
                  <a:lnTo>
                    <a:pt x="1501164" y="1066800"/>
                  </a:lnTo>
                  <a:lnTo>
                    <a:pt x="1483817" y="1104900"/>
                  </a:lnTo>
                  <a:lnTo>
                    <a:pt x="1484003" y="1104900"/>
                  </a:lnTo>
                  <a:lnTo>
                    <a:pt x="1465079" y="1130300"/>
                  </a:lnTo>
                  <a:lnTo>
                    <a:pt x="1465265" y="1130300"/>
                  </a:lnTo>
                  <a:lnTo>
                    <a:pt x="1444765" y="1168400"/>
                  </a:lnTo>
                  <a:lnTo>
                    <a:pt x="1445043" y="1168400"/>
                  </a:lnTo>
                  <a:lnTo>
                    <a:pt x="1423058" y="1193800"/>
                  </a:lnTo>
                  <a:lnTo>
                    <a:pt x="1423244" y="1193800"/>
                  </a:lnTo>
                  <a:lnTo>
                    <a:pt x="1399868" y="1219200"/>
                  </a:lnTo>
                  <a:lnTo>
                    <a:pt x="1400146" y="1219200"/>
                  </a:lnTo>
                  <a:lnTo>
                    <a:pt x="1375379" y="1244600"/>
                  </a:lnTo>
                  <a:lnTo>
                    <a:pt x="1375657" y="1244600"/>
                  </a:lnTo>
                  <a:lnTo>
                    <a:pt x="1349498" y="1270000"/>
                  </a:lnTo>
                  <a:lnTo>
                    <a:pt x="1349777" y="1270000"/>
                  </a:lnTo>
                  <a:lnTo>
                    <a:pt x="1322412" y="1295400"/>
                  </a:lnTo>
                  <a:lnTo>
                    <a:pt x="1322690" y="1295400"/>
                  </a:lnTo>
                  <a:lnTo>
                    <a:pt x="1294119" y="1320800"/>
                  </a:lnTo>
                  <a:lnTo>
                    <a:pt x="1294491" y="1320800"/>
                  </a:lnTo>
                  <a:lnTo>
                    <a:pt x="1264621" y="1346200"/>
                  </a:lnTo>
                  <a:lnTo>
                    <a:pt x="1264992" y="1346200"/>
                  </a:lnTo>
                  <a:lnTo>
                    <a:pt x="1234103" y="1358900"/>
                  </a:lnTo>
                  <a:lnTo>
                    <a:pt x="1234474" y="1358900"/>
                  </a:lnTo>
                  <a:lnTo>
                    <a:pt x="1202378" y="1384300"/>
                  </a:lnTo>
                  <a:lnTo>
                    <a:pt x="1202749" y="1384300"/>
                  </a:lnTo>
                  <a:lnTo>
                    <a:pt x="1169726" y="1397000"/>
                  </a:lnTo>
                  <a:lnTo>
                    <a:pt x="1170097" y="1397000"/>
                  </a:lnTo>
                  <a:lnTo>
                    <a:pt x="1136053" y="1409700"/>
                  </a:lnTo>
                  <a:lnTo>
                    <a:pt x="1136332" y="1409700"/>
                  </a:lnTo>
                  <a:lnTo>
                    <a:pt x="1101732" y="1435100"/>
                  </a:lnTo>
                  <a:lnTo>
                    <a:pt x="1144402" y="1435100"/>
                  </a:lnTo>
                  <a:lnTo>
                    <a:pt x="1178724" y="1409700"/>
                  </a:lnTo>
                  <a:lnTo>
                    <a:pt x="1212211" y="1397000"/>
                  </a:lnTo>
                  <a:lnTo>
                    <a:pt x="1244677" y="1371600"/>
                  </a:lnTo>
                  <a:lnTo>
                    <a:pt x="1306086" y="1333500"/>
                  </a:lnTo>
                  <a:lnTo>
                    <a:pt x="1335027" y="1308100"/>
                  </a:lnTo>
                  <a:lnTo>
                    <a:pt x="1389200" y="1257300"/>
                  </a:lnTo>
                  <a:lnTo>
                    <a:pt x="1437993" y="1206500"/>
                  </a:lnTo>
                  <a:lnTo>
                    <a:pt x="1460256" y="1168400"/>
                  </a:lnTo>
                  <a:lnTo>
                    <a:pt x="1481035" y="1143000"/>
                  </a:lnTo>
                  <a:lnTo>
                    <a:pt x="1500236" y="1104900"/>
                  </a:lnTo>
                  <a:lnTo>
                    <a:pt x="1517861" y="1079500"/>
                  </a:lnTo>
                  <a:lnTo>
                    <a:pt x="1526024" y="1066800"/>
                  </a:lnTo>
                  <a:lnTo>
                    <a:pt x="1533909" y="1041400"/>
                  </a:lnTo>
                  <a:lnTo>
                    <a:pt x="1541237" y="1028700"/>
                  </a:lnTo>
                  <a:lnTo>
                    <a:pt x="1548194" y="1016000"/>
                  </a:lnTo>
                  <a:lnTo>
                    <a:pt x="1554595" y="990600"/>
                  </a:lnTo>
                  <a:lnTo>
                    <a:pt x="1560717" y="977900"/>
                  </a:lnTo>
                  <a:lnTo>
                    <a:pt x="1566283" y="952500"/>
                  </a:lnTo>
                  <a:lnTo>
                    <a:pt x="1571477" y="939800"/>
                  </a:lnTo>
                  <a:lnTo>
                    <a:pt x="1576208" y="927100"/>
                  </a:lnTo>
                  <a:lnTo>
                    <a:pt x="1580382" y="901700"/>
                  </a:lnTo>
                  <a:lnTo>
                    <a:pt x="1584093" y="889000"/>
                  </a:lnTo>
                  <a:lnTo>
                    <a:pt x="1587340" y="863600"/>
                  </a:lnTo>
                  <a:lnTo>
                    <a:pt x="1590215" y="850900"/>
                  </a:lnTo>
                  <a:lnTo>
                    <a:pt x="1592441" y="825500"/>
                  </a:lnTo>
                  <a:lnTo>
                    <a:pt x="1594297" y="812800"/>
                  </a:lnTo>
                  <a:lnTo>
                    <a:pt x="1595503" y="787400"/>
                  </a:lnTo>
                  <a:lnTo>
                    <a:pt x="1596337" y="774700"/>
                  </a:lnTo>
                  <a:lnTo>
                    <a:pt x="1596523" y="749300"/>
                  </a:lnTo>
                  <a:lnTo>
                    <a:pt x="1596245" y="736600"/>
                  </a:lnTo>
                  <a:lnTo>
                    <a:pt x="1595503" y="711200"/>
                  </a:lnTo>
                  <a:lnTo>
                    <a:pt x="1594204" y="698500"/>
                  </a:lnTo>
                  <a:lnTo>
                    <a:pt x="1592349" y="673100"/>
                  </a:lnTo>
                  <a:lnTo>
                    <a:pt x="1590122" y="660400"/>
                  </a:lnTo>
                  <a:lnTo>
                    <a:pt x="1587340" y="635000"/>
                  </a:lnTo>
                  <a:lnTo>
                    <a:pt x="1584093" y="622300"/>
                  </a:lnTo>
                  <a:lnTo>
                    <a:pt x="1580290" y="596900"/>
                  </a:lnTo>
                  <a:lnTo>
                    <a:pt x="1576115" y="584200"/>
                  </a:lnTo>
                  <a:lnTo>
                    <a:pt x="1571384" y="558800"/>
                  </a:lnTo>
                  <a:lnTo>
                    <a:pt x="1566283" y="546100"/>
                  </a:lnTo>
                  <a:lnTo>
                    <a:pt x="1560624" y="520700"/>
                  </a:lnTo>
                  <a:lnTo>
                    <a:pt x="1554595" y="508000"/>
                  </a:lnTo>
                  <a:lnTo>
                    <a:pt x="1548101" y="495300"/>
                  </a:lnTo>
                  <a:lnTo>
                    <a:pt x="1541237" y="469900"/>
                  </a:lnTo>
                  <a:lnTo>
                    <a:pt x="1533816" y="457200"/>
                  </a:lnTo>
                  <a:lnTo>
                    <a:pt x="1526024" y="444500"/>
                  </a:lnTo>
                  <a:lnTo>
                    <a:pt x="1517768" y="419100"/>
                  </a:lnTo>
                  <a:lnTo>
                    <a:pt x="1500236" y="393700"/>
                  </a:lnTo>
                  <a:lnTo>
                    <a:pt x="1481034" y="355600"/>
                  </a:lnTo>
                  <a:lnTo>
                    <a:pt x="1460256" y="330200"/>
                  </a:lnTo>
                  <a:lnTo>
                    <a:pt x="1437993" y="304800"/>
                  </a:lnTo>
                  <a:lnTo>
                    <a:pt x="1414246" y="266700"/>
                  </a:lnTo>
                  <a:lnTo>
                    <a:pt x="1362856" y="215900"/>
                  </a:lnTo>
                  <a:lnTo>
                    <a:pt x="1306086" y="165100"/>
                  </a:lnTo>
                  <a:lnTo>
                    <a:pt x="1275938" y="152400"/>
                  </a:lnTo>
                  <a:lnTo>
                    <a:pt x="1244677" y="127000"/>
                  </a:lnTo>
                  <a:lnTo>
                    <a:pt x="1212304" y="101600"/>
                  </a:lnTo>
                  <a:lnTo>
                    <a:pt x="1178909" y="88900"/>
                  </a:lnTo>
                  <a:lnTo>
                    <a:pt x="1144495" y="76200"/>
                  </a:lnTo>
                  <a:lnTo>
                    <a:pt x="1109060" y="50800"/>
                  </a:lnTo>
                  <a:close/>
                </a:path>
                <a:path w="1597025" h="1498600">
                  <a:moveTo>
                    <a:pt x="18737" y="749300"/>
                  </a:moveTo>
                  <a:lnTo>
                    <a:pt x="1205" y="749300"/>
                  </a:lnTo>
                  <a:lnTo>
                    <a:pt x="8534" y="762000"/>
                  </a:lnTo>
                  <a:lnTo>
                    <a:pt x="18737" y="762000"/>
                  </a:lnTo>
                  <a:lnTo>
                    <a:pt x="18737" y="749300"/>
                  </a:lnTo>
                  <a:close/>
                </a:path>
                <a:path w="1597025" h="1498600">
                  <a:moveTo>
                    <a:pt x="18824" y="757237"/>
                  </a:moveTo>
                  <a:lnTo>
                    <a:pt x="18737" y="762000"/>
                  </a:lnTo>
                  <a:lnTo>
                    <a:pt x="18877" y="762000"/>
                  </a:lnTo>
                  <a:lnTo>
                    <a:pt x="18824" y="757237"/>
                  </a:lnTo>
                  <a:close/>
                </a:path>
                <a:path w="1597025" h="1498600">
                  <a:moveTo>
                    <a:pt x="19201" y="736600"/>
                  </a:moveTo>
                  <a:lnTo>
                    <a:pt x="10574" y="736600"/>
                  </a:lnTo>
                  <a:lnTo>
                    <a:pt x="17903" y="749300"/>
                  </a:lnTo>
                  <a:lnTo>
                    <a:pt x="18737" y="749300"/>
                  </a:lnTo>
                  <a:lnTo>
                    <a:pt x="18824" y="757237"/>
                  </a:lnTo>
                  <a:lnTo>
                    <a:pt x="19201" y="736600"/>
                  </a:lnTo>
                  <a:close/>
                </a:path>
                <a:path w="1597025" h="1498600">
                  <a:moveTo>
                    <a:pt x="548407" y="50800"/>
                  </a:moveTo>
                  <a:lnTo>
                    <a:pt x="487648" y="50800"/>
                  </a:lnTo>
                  <a:lnTo>
                    <a:pt x="452306" y="76200"/>
                  </a:lnTo>
                  <a:lnTo>
                    <a:pt x="417891" y="88900"/>
                  </a:lnTo>
                  <a:lnTo>
                    <a:pt x="384590" y="101600"/>
                  </a:lnTo>
                  <a:lnTo>
                    <a:pt x="352123" y="127000"/>
                  </a:lnTo>
                  <a:lnTo>
                    <a:pt x="320955" y="152400"/>
                  </a:lnTo>
                  <a:lnTo>
                    <a:pt x="290715" y="165100"/>
                  </a:lnTo>
                  <a:lnTo>
                    <a:pt x="261773" y="190500"/>
                  </a:lnTo>
                  <a:lnTo>
                    <a:pt x="207693" y="241300"/>
                  </a:lnTo>
                  <a:lnTo>
                    <a:pt x="158900" y="304800"/>
                  </a:lnTo>
                  <a:lnTo>
                    <a:pt x="136638" y="330200"/>
                  </a:lnTo>
                  <a:lnTo>
                    <a:pt x="115859" y="355600"/>
                  </a:lnTo>
                  <a:lnTo>
                    <a:pt x="96657" y="393700"/>
                  </a:lnTo>
                  <a:lnTo>
                    <a:pt x="79125" y="419100"/>
                  </a:lnTo>
                  <a:lnTo>
                    <a:pt x="70870" y="444500"/>
                  </a:lnTo>
                  <a:lnTo>
                    <a:pt x="63078" y="457200"/>
                  </a:lnTo>
                  <a:lnTo>
                    <a:pt x="55657" y="469900"/>
                  </a:lnTo>
                  <a:lnTo>
                    <a:pt x="48792" y="495300"/>
                  </a:lnTo>
                  <a:lnTo>
                    <a:pt x="42299" y="508000"/>
                  </a:lnTo>
                  <a:lnTo>
                    <a:pt x="36269" y="520700"/>
                  </a:lnTo>
                  <a:lnTo>
                    <a:pt x="30611" y="546100"/>
                  </a:lnTo>
                  <a:lnTo>
                    <a:pt x="25509" y="558800"/>
                  </a:lnTo>
                  <a:lnTo>
                    <a:pt x="20778" y="584200"/>
                  </a:lnTo>
                  <a:lnTo>
                    <a:pt x="16604" y="596900"/>
                  </a:lnTo>
                  <a:lnTo>
                    <a:pt x="12801" y="622300"/>
                  </a:lnTo>
                  <a:lnTo>
                    <a:pt x="9554" y="635000"/>
                  </a:lnTo>
                  <a:lnTo>
                    <a:pt x="6771" y="660400"/>
                  </a:lnTo>
                  <a:lnTo>
                    <a:pt x="4545" y="673100"/>
                  </a:lnTo>
                  <a:lnTo>
                    <a:pt x="2690" y="698500"/>
                  </a:lnTo>
                  <a:lnTo>
                    <a:pt x="1391" y="711200"/>
                  </a:lnTo>
                  <a:lnTo>
                    <a:pt x="649" y="736600"/>
                  </a:lnTo>
                  <a:lnTo>
                    <a:pt x="371" y="749300"/>
                  </a:lnTo>
                  <a:lnTo>
                    <a:pt x="17903" y="749300"/>
                  </a:lnTo>
                  <a:lnTo>
                    <a:pt x="10574" y="736600"/>
                  </a:lnTo>
                  <a:lnTo>
                    <a:pt x="19201" y="736600"/>
                  </a:lnTo>
                  <a:lnTo>
                    <a:pt x="19943" y="711200"/>
                  </a:lnTo>
                  <a:lnTo>
                    <a:pt x="21242" y="698500"/>
                  </a:lnTo>
                  <a:lnTo>
                    <a:pt x="23004" y="673100"/>
                  </a:lnTo>
                  <a:lnTo>
                    <a:pt x="25231" y="660400"/>
                  </a:lnTo>
                  <a:lnTo>
                    <a:pt x="27921" y="635000"/>
                  </a:lnTo>
                  <a:lnTo>
                    <a:pt x="31075" y="622300"/>
                  </a:lnTo>
                  <a:lnTo>
                    <a:pt x="34785" y="596900"/>
                  </a:lnTo>
                  <a:lnTo>
                    <a:pt x="38867" y="584200"/>
                  </a:lnTo>
                  <a:lnTo>
                    <a:pt x="43505" y="571500"/>
                  </a:lnTo>
                  <a:lnTo>
                    <a:pt x="48514" y="546100"/>
                  </a:lnTo>
                  <a:lnTo>
                    <a:pt x="53987" y="533400"/>
                  </a:lnTo>
                  <a:lnTo>
                    <a:pt x="59924" y="508000"/>
                  </a:lnTo>
                  <a:lnTo>
                    <a:pt x="66231" y="495300"/>
                  </a:lnTo>
                  <a:lnTo>
                    <a:pt x="73003" y="482600"/>
                  </a:lnTo>
                  <a:lnTo>
                    <a:pt x="80238" y="469900"/>
                  </a:lnTo>
                  <a:lnTo>
                    <a:pt x="87752" y="444500"/>
                  </a:lnTo>
                  <a:lnTo>
                    <a:pt x="95822" y="431800"/>
                  </a:lnTo>
                  <a:lnTo>
                    <a:pt x="113076" y="393700"/>
                  </a:lnTo>
                  <a:lnTo>
                    <a:pt x="112891" y="393700"/>
                  </a:lnTo>
                  <a:lnTo>
                    <a:pt x="131814" y="368300"/>
                  </a:lnTo>
                  <a:lnTo>
                    <a:pt x="131628" y="368300"/>
                  </a:lnTo>
                  <a:lnTo>
                    <a:pt x="152129" y="342900"/>
                  </a:lnTo>
                  <a:lnTo>
                    <a:pt x="151943" y="342900"/>
                  </a:lnTo>
                  <a:lnTo>
                    <a:pt x="173928" y="304800"/>
                  </a:lnTo>
                  <a:lnTo>
                    <a:pt x="173650" y="304800"/>
                  </a:lnTo>
                  <a:lnTo>
                    <a:pt x="197026" y="279400"/>
                  </a:lnTo>
                  <a:lnTo>
                    <a:pt x="196747" y="279400"/>
                  </a:lnTo>
                  <a:lnTo>
                    <a:pt x="221515" y="254000"/>
                  </a:lnTo>
                  <a:lnTo>
                    <a:pt x="221236" y="254000"/>
                  </a:lnTo>
                  <a:lnTo>
                    <a:pt x="247302" y="228600"/>
                  </a:lnTo>
                  <a:lnTo>
                    <a:pt x="247024" y="228600"/>
                  </a:lnTo>
                  <a:lnTo>
                    <a:pt x="274389" y="203200"/>
                  </a:lnTo>
                  <a:lnTo>
                    <a:pt x="274111" y="203200"/>
                  </a:lnTo>
                  <a:lnTo>
                    <a:pt x="302681" y="177800"/>
                  </a:lnTo>
                  <a:lnTo>
                    <a:pt x="302403" y="177800"/>
                  </a:lnTo>
                  <a:lnTo>
                    <a:pt x="332179" y="165100"/>
                  </a:lnTo>
                  <a:lnTo>
                    <a:pt x="331808" y="165100"/>
                  </a:lnTo>
                  <a:lnTo>
                    <a:pt x="362698" y="139700"/>
                  </a:lnTo>
                  <a:lnTo>
                    <a:pt x="362327" y="139700"/>
                  </a:lnTo>
                  <a:lnTo>
                    <a:pt x="394330" y="114300"/>
                  </a:lnTo>
                  <a:lnTo>
                    <a:pt x="393959" y="114300"/>
                  </a:lnTo>
                  <a:lnTo>
                    <a:pt x="426982" y="101600"/>
                  </a:lnTo>
                  <a:lnTo>
                    <a:pt x="426611" y="101600"/>
                  </a:lnTo>
                  <a:lnTo>
                    <a:pt x="460562" y="88900"/>
                  </a:lnTo>
                  <a:lnTo>
                    <a:pt x="460284" y="88900"/>
                  </a:lnTo>
                  <a:lnTo>
                    <a:pt x="477630" y="76200"/>
                  </a:lnTo>
                  <a:lnTo>
                    <a:pt x="495069" y="76200"/>
                  </a:lnTo>
                  <a:lnTo>
                    <a:pt x="512601" y="63500"/>
                  </a:lnTo>
                  <a:lnTo>
                    <a:pt x="530411" y="63500"/>
                  </a:lnTo>
                  <a:lnTo>
                    <a:pt x="548407" y="50800"/>
                  </a:lnTo>
                  <a:close/>
                </a:path>
                <a:path w="1597025" h="1498600">
                  <a:moveTo>
                    <a:pt x="585048" y="38100"/>
                  </a:moveTo>
                  <a:lnTo>
                    <a:pt x="523918" y="38100"/>
                  </a:lnTo>
                  <a:lnTo>
                    <a:pt x="505737" y="50800"/>
                  </a:lnTo>
                  <a:lnTo>
                    <a:pt x="566681" y="50800"/>
                  </a:lnTo>
                  <a:lnTo>
                    <a:pt x="585048" y="38100"/>
                  </a:lnTo>
                  <a:close/>
                </a:path>
                <a:path w="1597025" h="1498600">
                  <a:moveTo>
                    <a:pt x="1072883" y="38100"/>
                  </a:moveTo>
                  <a:lnTo>
                    <a:pt x="1011938" y="38100"/>
                  </a:lnTo>
                  <a:lnTo>
                    <a:pt x="1030398" y="50800"/>
                  </a:lnTo>
                  <a:lnTo>
                    <a:pt x="1091157" y="50800"/>
                  </a:lnTo>
                  <a:lnTo>
                    <a:pt x="1072883" y="38100"/>
                  </a:lnTo>
                  <a:close/>
                </a:path>
                <a:path w="1597025" h="1498600">
                  <a:moveTo>
                    <a:pt x="641262" y="25400"/>
                  </a:moveTo>
                  <a:lnTo>
                    <a:pt x="561023" y="25400"/>
                  </a:lnTo>
                  <a:lnTo>
                    <a:pt x="542378" y="38100"/>
                  </a:lnTo>
                  <a:lnTo>
                    <a:pt x="622338" y="38100"/>
                  </a:lnTo>
                  <a:lnTo>
                    <a:pt x="641262" y="25400"/>
                  </a:lnTo>
                  <a:close/>
                </a:path>
                <a:path w="1597025" h="1498600">
                  <a:moveTo>
                    <a:pt x="1035778" y="25400"/>
                  </a:moveTo>
                  <a:lnTo>
                    <a:pt x="955724" y="25400"/>
                  </a:lnTo>
                  <a:lnTo>
                    <a:pt x="974648" y="38100"/>
                  </a:lnTo>
                  <a:lnTo>
                    <a:pt x="1054423" y="38100"/>
                  </a:lnTo>
                  <a:lnTo>
                    <a:pt x="1035778" y="25400"/>
                  </a:lnTo>
                  <a:close/>
                </a:path>
                <a:path w="1597025" h="1498600">
                  <a:moveTo>
                    <a:pt x="718625" y="12700"/>
                  </a:moveTo>
                  <a:lnTo>
                    <a:pt x="618071" y="12700"/>
                  </a:lnTo>
                  <a:lnTo>
                    <a:pt x="598870" y="25400"/>
                  </a:lnTo>
                  <a:lnTo>
                    <a:pt x="699052" y="25400"/>
                  </a:lnTo>
                  <a:lnTo>
                    <a:pt x="718625" y="12700"/>
                  </a:lnTo>
                  <a:close/>
                </a:path>
                <a:path w="1597025" h="1498600">
                  <a:moveTo>
                    <a:pt x="978729" y="12700"/>
                  </a:moveTo>
                  <a:lnTo>
                    <a:pt x="878268" y="12700"/>
                  </a:lnTo>
                  <a:lnTo>
                    <a:pt x="897841" y="25400"/>
                  </a:lnTo>
                  <a:lnTo>
                    <a:pt x="997931" y="25400"/>
                  </a:lnTo>
                  <a:lnTo>
                    <a:pt x="978729" y="12700"/>
                  </a:lnTo>
                  <a:close/>
                </a:path>
                <a:path w="1597025" h="1498600">
                  <a:moveTo>
                    <a:pt x="920011" y="0"/>
                  </a:moveTo>
                  <a:lnTo>
                    <a:pt x="676697" y="0"/>
                  </a:lnTo>
                  <a:lnTo>
                    <a:pt x="657031" y="12700"/>
                  </a:lnTo>
                  <a:lnTo>
                    <a:pt x="939677" y="12700"/>
                  </a:lnTo>
                  <a:lnTo>
                    <a:pt x="920011" y="0"/>
                  </a:lnTo>
                  <a:close/>
                </a:path>
              </a:pathLst>
            </a:custGeom>
            <a:solidFill>
              <a:srgbClr val="FFFF00"/>
            </a:solidFill>
          </p:spPr>
          <p:txBody>
            <a:bodyPr wrap="square" lIns="0" tIns="0" rIns="0" bIns="0" rtlCol="0"/>
            <a:lstStyle/>
            <a:p>
              <a:endParaRPr/>
            </a:p>
          </p:txBody>
        </p:sp>
        <p:pic>
          <p:nvPicPr>
            <p:cNvPr id="81" name="object 14">
              <a:extLst>
                <a:ext uri="{FF2B5EF4-FFF2-40B4-BE49-F238E27FC236}">
                  <a16:creationId xmlns:a16="http://schemas.microsoft.com/office/drawing/2014/main" id="{65B015C0-71BE-D121-A4D8-D63EFF73D24C}"/>
                </a:ext>
              </a:extLst>
            </p:cNvPr>
            <p:cNvPicPr/>
            <p:nvPr/>
          </p:nvPicPr>
          <p:blipFill>
            <a:blip r:embed="rId6" cstate="print"/>
            <a:stretch>
              <a:fillRect/>
            </a:stretch>
          </p:blipFill>
          <p:spPr>
            <a:xfrm>
              <a:off x="6872723" y="4467984"/>
              <a:ext cx="1196627" cy="486611"/>
            </a:xfrm>
            <a:prstGeom prst="rect">
              <a:avLst/>
            </a:prstGeom>
          </p:spPr>
        </p:pic>
      </p:grpSp>
      <p:sp>
        <p:nvSpPr>
          <p:cNvPr id="82" name="object 15">
            <a:extLst>
              <a:ext uri="{FF2B5EF4-FFF2-40B4-BE49-F238E27FC236}">
                <a16:creationId xmlns:a16="http://schemas.microsoft.com/office/drawing/2014/main" id="{C1526E54-6D6C-E718-7F88-F0FBB9825398}"/>
              </a:ext>
            </a:extLst>
          </p:cNvPr>
          <p:cNvSpPr txBox="1"/>
          <p:nvPr/>
        </p:nvSpPr>
        <p:spPr>
          <a:xfrm>
            <a:off x="5650436" y="2863263"/>
            <a:ext cx="869154" cy="521938"/>
          </a:xfrm>
          <a:prstGeom prst="rect">
            <a:avLst/>
          </a:prstGeom>
        </p:spPr>
        <p:txBody>
          <a:bodyPr vert="horz" wrap="square" lIns="0" tIns="13970" rIns="0" bIns="0" rtlCol="0">
            <a:spAutoFit/>
          </a:bodyPr>
          <a:lstStyle/>
          <a:p>
            <a:pPr marL="12700">
              <a:lnSpc>
                <a:spcPct val="100000"/>
              </a:lnSpc>
              <a:spcBef>
                <a:spcPts val="110"/>
              </a:spcBef>
            </a:pPr>
            <a:r>
              <a:rPr sz="1650" spc="35" dirty="0">
                <a:solidFill>
                  <a:srgbClr val="FFFF00"/>
                </a:solidFill>
                <a:latin typeface="Cambria"/>
                <a:cs typeface="Cambria"/>
              </a:rPr>
              <a:t>Cell</a:t>
            </a:r>
            <a:r>
              <a:rPr sz="1650" spc="-30" dirty="0">
                <a:solidFill>
                  <a:srgbClr val="FFFF00"/>
                </a:solidFill>
                <a:latin typeface="Cambria"/>
                <a:cs typeface="Cambria"/>
              </a:rPr>
              <a:t> </a:t>
            </a:r>
            <a:r>
              <a:rPr sz="1650" spc="45" dirty="0">
                <a:solidFill>
                  <a:srgbClr val="FFFF00"/>
                </a:solidFill>
                <a:latin typeface="Cambria"/>
                <a:cs typeface="Cambria"/>
              </a:rPr>
              <a:t>Body</a:t>
            </a:r>
            <a:endParaRPr sz="1650">
              <a:latin typeface="Cambria"/>
              <a:cs typeface="Cambria"/>
            </a:endParaRPr>
          </a:p>
        </p:txBody>
      </p:sp>
      <p:grpSp>
        <p:nvGrpSpPr>
          <p:cNvPr id="83" name="object 16">
            <a:extLst>
              <a:ext uri="{FF2B5EF4-FFF2-40B4-BE49-F238E27FC236}">
                <a16:creationId xmlns:a16="http://schemas.microsoft.com/office/drawing/2014/main" id="{D6374953-3A84-45BF-F189-CC142B7B2E99}"/>
              </a:ext>
            </a:extLst>
          </p:cNvPr>
          <p:cNvGrpSpPr/>
          <p:nvPr/>
        </p:nvGrpSpPr>
        <p:grpSpPr>
          <a:xfrm>
            <a:off x="5441342" y="2915627"/>
            <a:ext cx="1469671" cy="1015676"/>
            <a:chOff x="6805192" y="4577175"/>
            <a:chExt cx="1549400" cy="1073785"/>
          </a:xfrm>
        </p:grpSpPr>
        <p:pic>
          <p:nvPicPr>
            <p:cNvPr id="84" name="object 17">
              <a:extLst>
                <a:ext uri="{FF2B5EF4-FFF2-40B4-BE49-F238E27FC236}">
                  <a16:creationId xmlns:a16="http://schemas.microsoft.com/office/drawing/2014/main" id="{A5783DB1-03BB-D200-BF52-3A9EF9C7857A}"/>
                </a:ext>
              </a:extLst>
            </p:cNvPr>
            <p:cNvPicPr/>
            <p:nvPr/>
          </p:nvPicPr>
          <p:blipFill>
            <a:blip r:embed="rId7" cstate="print"/>
            <a:stretch>
              <a:fillRect/>
            </a:stretch>
          </p:blipFill>
          <p:spPr>
            <a:xfrm>
              <a:off x="6805192" y="4892187"/>
              <a:ext cx="1150431" cy="550493"/>
            </a:xfrm>
            <a:prstGeom prst="rect">
              <a:avLst/>
            </a:prstGeom>
          </p:spPr>
        </p:pic>
        <p:sp>
          <p:nvSpPr>
            <p:cNvPr id="85" name="object 18">
              <a:extLst>
                <a:ext uri="{FF2B5EF4-FFF2-40B4-BE49-F238E27FC236}">
                  <a16:creationId xmlns:a16="http://schemas.microsoft.com/office/drawing/2014/main" id="{B22445BA-06D0-7569-948E-DB411B561EBC}"/>
                </a:ext>
              </a:extLst>
            </p:cNvPr>
            <p:cNvSpPr/>
            <p:nvPr/>
          </p:nvSpPr>
          <p:spPr>
            <a:xfrm>
              <a:off x="8027050" y="4586700"/>
              <a:ext cx="0" cy="1054735"/>
            </a:xfrm>
            <a:custGeom>
              <a:avLst/>
              <a:gdLst/>
              <a:ahLst/>
              <a:cxnLst/>
              <a:rect l="l" t="t" r="r" b="b"/>
              <a:pathLst>
                <a:path h="1054735">
                  <a:moveTo>
                    <a:pt x="0" y="0"/>
                  </a:moveTo>
                  <a:lnTo>
                    <a:pt x="0" y="1054500"/>
                  </a:lnTo>
                </a:path>
              </a:pathLst>
            </a:custGeom>
            <a:ln w="18552">
              <a:solidFill>
                <a:srgbClr val="FFFF00"/>
              </a:solidFill>
            </a:ln>
          </p:spPr>
          <p:txBody>
            <a:bodyPr wrap="square" lIns="0" tIns="0" rIns="0" bIns="0" rtlCol="0"/>
            <a:lstStyle/>
            <a:p>
              <a:endParaRPr/>
            </a:p>
          </p:txBody>
        </p:sp>
        <p:pic>
          <p:nvPicPr>
            <p:cNvPr id="86" name="object 19">
              <a:extLst>
                <a:ext uri="{FF2B5EF4-FFF2-40B4-BE49-F238E27FC236}">
                  <a16:creationId xmlns:a16="http://schemas.microsoft.com/office/drawing/2014/main" id="{8AB478F9-B71C-3502-194C-A32E950FE7A0}"/>
                </a:ext>
              </a:extLst>
            </p:cNvPr>
            <p:cNvPicPr/>
            <p:nvPr/>
          </p:nvPicPr>
          <p:blipFill>
            <a:blip r:embed="rId8" cstate="print"/>
            <a:stretch>
              <a:fillRect/>
            </a:stretch>
          </p:blipFill>
          <p:spPr>
            <a:xfrm>
              <a:off x="7909335" y="4816503"/>
              <a:ext cx="445256" cy="585249"/>
            </a:xfrm>
            <a:prstGeom prst="rect">
              <a:avLst/>
            </a:prstGeom>
          </p:spPr>
        </p:pic>
      </p:grpSp>
      <p:sp>
        <p:nvSpPr>
          <p:cNvPr id="87" name="object 20">
            <a:extLst>
              <a:ext uri="{FF2B5EF4-FFF2-40B4-BE49-F238E27FC236}">
                <a16:creationId xmlns:a16="http://schemas.microsoft.com/office/drawing/2014/main" id="{68709449-4FFB-1096-E776-922550CF99D4}"/>
              </a:ext>
            </a:extLst>
          </p:cNvPr>
          <p:cNvSpPr txBox="1"/>
          <p:nvPr/>
        </p:nvSpPr>
        <p:spPr>
          <a:xfrm>
            <a:off x="6714877" y="3222962"/>
            <a:ext cx="101792" cy="331501"/>
          </a:xfrm>
          <a:prstGeom prst="rect">
            <a:avLst/>
          </a:prstGeom>
        </p:spPr>
        <p:txBody>
          <a:bodyPr vert="horz" wrap="square" lIns="0" tIns="15875" rIns="0" bIns="0" rtlCol="0">
            <a:spAutoFit/>
          </a:bodyPr>
          <a:lstStyle/>
          <a:p>
            <a:pPr marL="12700">
              <a:lnSpc>
                <a:spcPct val="100000"/>
              </a:lnSpc>
              <a:spcBef>
                <a:spcPts val="125"/>
              </a:spcBef>
            </a:pPr>
            <a:r>
              <a:rPr sz="2050" i="1" spc="40" dirty="0">
                <a:solidFill>
                  <a:srgbClr val="FDFFFF"/>
                </a:solidFill>
                <a:latin typeface="Cambria"/>
                <a:cs typeface="Cambria"/>
              </a:rPr>
              <a:t>f</a:t>
            </a:r>
            <a:endParaRPr sz="2050">
              <a:latin typeface="Cambria"/>
              <a:cs typeface="Cambria"/>
            </a:endParaRPr>
          </a:p>
        </p:txBody>
      </p:sp>
      <p:grpSp>
        <p:nvGrpSpPr>
          <p:cNvPr id="88" name="object 21">
            <a:extLst>
              <a:ext uri="{FF2B5EF4-FFF2-40B4-BE49-F238E27FC236}">
                <a16:creationId xmlns:a16="http://schemas.microsoft.com/office/drawing/2014/main" id="{0F8CE6ED-2075-4E2D-397B-F502F9D38C64}"/>
              </a:ext>
            </a:extLst>
          </p:cNvPr>
          <p:cNvGrpSpPr/>
          <p:nvPr/>
        </p:nvGrpSpPr>
        <p:grpSpPr>
          <a:xfrm>
            <a:off x="4576616" y="1879242"/>
            <a:ext cx="1280541" cy="1250525"/>
            <a:chOff x="5940466" y="3540791"/>
            <a:chExt cx="1350010" cy="1322070"/>
          </a:xfrm>
        </p:grpSpPr>
        <p:sp>
          <p:nvSpPr>
            <p:cNvPr id="89" name="object 22">
              <a:extLst>
                <a:ext uri="{FF2B5EF4-FFF2-40B4-BE49-F238E27FC236}">
                  <a16:creationId xmlns:a16="http://schemas.microsoft.com/office/drawing/2014/main" id="{880A5B3C-601B-B186-6605-764B81C3C1A4}"/>
                </a:ext>
              </a:extLst>
            </p:cNvPr>
            <p:cNvSpPr/>
            <p:nvPr/>
          </p:nvSpPr>
          <p:spPr>
            <a:xfrm>
              <a:off x="6280716" y="3857746"/>
              <a:ext cx="576580" cy="666750"/>
            </a:xfrm>
            <a:custGeom>
              <a:avLst/>
              <a:gdLst/>
              <a:ahLst/>
              <a:cxnLst/>
              <a:rect l="l" t="t" r="r" b="b"/>
              <a:pathLst>
                <a:path w="576579" h="666750">
                  <a:moveTo>
                    <a:pt x="0" y="0"/>
                  </a:moveTo>
                  <a:lnTo>
                    <a:pt x="576329" y="666175"/>
                  </a:lnTo>
                </a:path>
              </a:pathLst>
            </a:custGeom>
            <a:ln w="18117">
              <a:solidFill>
                <a:srgbClr val="428ACE"/>
              </a:solidFill>
            </a:ln>
          </p:spPr>
          <p:txBody>
            <a:bodyPr wrap="square" lIns="0" tIns="0" rIns="0" bIns="0" rtlCol="0"/>
            <a:lstStyle/>
            <a:p>
              <a:endParaRPr/>
            </a:p>
          </p:txBody>
        </p:sp>
        <p:pic>
          <p:nvPicPr>
            <p:cNvPr id="90" name="object 23">
              <a:extLst>
                <a:ext uri="{FF2B5EF4-FFF2-40B4-BE49-F238E27FC236}">
                  <a16:creationId xmlns:a16="http://schemas.microsoft.com/office/drawing/2014/main" id="{F0DA8623-D2A2-7470-404E-67EC28BC474E}"/>
                </a:ext>
              </a:extLst>
            </p:cNvPr>
            <p:cNvPicPr/>
            <p:nvPr/>
          </p:nvPicPr>
          <p:blipFill>
            <a:blip r:embed="rId9" cstate="print"/>
            <a:stretch>
              <a:fillRect/>
            </a:stretch>
          </p:blipFill>
          <p:spPr>
            <a:xfrm>
              <a:off x="6798513" y="4472631"/>
              <a:ext cx="112798" cy="114068"/>
            </a:xfrm>
            <a:prstGeom prst="rect">
              <a:avLst/>
            </a:prstGeom>
          </p:spPr>
        </p:pic>
        <p:pic>
          <p:nvPicPr>
            <p:cNvPr id="91" name="object 24">
              <a:extLst>
                <a:ext uri="{FF2B5EF4-FFF2-40B4-BE49-F238E27FC236}">
                  <a16:creationId xmlns:a16="http://schemas.microsoft.com/office/drawing/2014/main" id="{0DE67A99-C8A1-41D6-8B09-8D694A3950D8}"/>
                </a:ext>
              </a:extLst>
            </p:cNvPr>
            <p:cNvPicPr/>
            <p:nvPr/>
          </p:nvPicPr>
          <p:blipFill>
            <a:blip r:embed="rId10" cstate="print"/>
            <a:stretch>
              <a:fillRect/>
            </a:stretch>
          </p:blipFill>
          <p:spPr>
            <a:xfrm>
              <a:off x="5940466" y="3757794"/>
              <a:ext cx="1057484" cy="1104740"/>
            </a:xfrm>
            <a:prstGeom prst="rect">
              <a:avLst/>
            </a:prstGeom>
          </p:spPr>
        </p:pic>
        <p:pic>
          <p:nvPicPr>
            <p:cNvPr id="92" name="object 25">
              <a:extLst>
                <a:ext uri="{FF2B5EF4-FFF2-40B4-BE49-F238E27FC236}">
                  <a16:creationId xmlns:a16="http://schemas.microsoft.com/office/drawing/2014/main" id="{9E590C53-0752-6B91-E040-9E274E07BC44}"/>
                </a:ext>
              </a:extLst>
            </p:cNvPr>
            <p:cNvPicPr/>
            <p:nvPr/>
          </p:nvPicPr>
          <p:blipFill>
            <a:blip r:embed="rId11" cstate="print"/>
            <a:stretch>
              <a:fillRect/>
            </a:stretch>
          </p:blipFill>
          <p:spPr>
            <a:xfrm>
              <a:off x="6192236" y="3980888"/>
              <a:ext cx="545517" cy="627380"/>
            </a:xfrm>
            <a:prstGeom prst="rect">
              <a:avLst/>
            </a:prstGeom>
          </p:spPr>
        </p:pic>
        <p:pic>
          <p:nvPicPr>
            <p:cNvPr id="93" name="object 26">
              <a:extLst>
                <a:ext uri="{FF2B5EF4-FFF2-40B4-BE49-F238E27FC236}">
                  <a16:creationId xmlns:a16="http://schemas.microsoft.com/office/drawing/2014/main" id="{18DF601E-3298-3955-D2A8-F9D73147BC45}"/>
                </a:ext>
              </a:extLst>
            </p:cNvPr>
            <p:cNvPicPr/>
            <p:nvPr/>
          </p:nvPicPr>
          <p:blipFill>
            <a:blip r:embed="rId12" cstate="print"/>
            <a:stretch>
              <a:fillRect/>
            </a:stretch>
          </p:blipFill>
          <p:spPr>
            <a:xfrm>
              <a:off x="6218751" y="3540791"/>
              <a:ext cx="1071398" cy="480035"/>
            </a:xfrm>
            <a:prstGeom prst="rect">
              <a:avLst/>
            </a:prstGeom>
          </p:spPr>
        </p:pic>
      </p:grpSp>
      <p:sp>
        <p:nvSpPr>
          <p:cNvPr id="94" name="object 27">
            <a:extLst>
              <a:ext uri="{FF2B5EF4-FFF2-40B4-BE49-F238E27FC236}">
                <a16:creationId xmlns:a16="http://schemas.microsoft.com/office/drawing/2014/main" id="{8429A931-6179-9872-BA8D-1FBB5836FC2C}"/>
              </a:ext>
            </a:extLst>
          </p:cNvPr>
          <p:cNvSpPr txBox="1"/>
          <p:nvPr/>
        </p:nvSpPr>
        <p:spPr>
          <a:xfrm>
            <a:off x="4995722" y="1930372"/>
            <a:ext cx="753507" cy="521938"/>
          </a:xfrm>
          <a:prstGeom prst="rect">
            <a:avLst/>
          </a:prstGeom>
        </p:spPr>
        <p:txBody>
          <a:bodyPr vert="horz" wrap="square" lIns="0" tIns="13970" rIns="0" bIns="0" rtlCol="0">
            <a:spAutoFit/>
          </a:bodyPr>
          <a:lstStyle/>
          <a:p>
            <a:pPr marL="12700">
              <a:lnSpc>
                <a:spcPct val="100000"/>
              </a:lnSpc>
              <a:spcBef>
                <a:spcPts val="110"/>
              </a:spcBef>
            </a:pPr>
            <a:r>
              <a:rPr sz="1650" spc="45" dirty="0">
                <a:solidFill>
                  <a:srgbClr val="FF0000"/>
                </a:solidFill>
                <a:latin typeface="Cambria"/>
                <a:cs typeface="Cambria"/>
              </a:rPr>
              <a:t>synapse</a:t>
            </a:r>
            <a:endParaRPr sz="1650">
              <a:latin typeface="Cambria"/>
              <a:cs typeface="Cambria"/>
            </a:endParaRPr>
          </a:p>
        </p:txBody>
      </p:sp>
      <p:grpSp>
        <p:nvGrpSpPr>
          <p:cNvPr id="95" name="object 28">
            <a:extLst>
              <a:ext uri="{FF2B5EF4-FFF2-40B4-BE49-F238E27FC236}">
                <a16:creationId xmlns:a16="http://schemas.microsoft.com/office/drawing/2014/main" id="{E217205A-99A4-E2D5-3035-38AAFA526388}"/>
              </a:ext>
            </a:extLst>
          </p:cNvPr>
          <p:cNvGrpSpPr/>
          <p:nvPr/>
        </p:nvGrpSpPr>
        <p:grpSpPr>
          <a:xfrm>
            <a:off x="4518748" y="2262394"/>
            <a:ext cx="3806688" cy="2310047"/>
            <a:chOff x="5882598" y="3923943"/>
            <a:chExt cx="4013200" cy="2442210"/>
          </a:xfrm>
        </p:grpSpPr>
        <p:pic>
          <p:nvPicPr>
            <p:cNvPr id="96" name="object 29">
              <a:extLst>
                <a:ext uri="{FF2B5EF4-FFF2-40B4-BE49-F238E27FC236}">
                  <a16:creationId xmlns:a16="http://schemas.microsoft.com/office/drawing/2014/main" id="{73F5676C-5D85-108E-10D3-1CDCB7991049}"/>
                </a:ext>
              </a:extLst>
            </p:cNvPr>
            <p:cNvPicPr/>
            <p:nvPr/>
          </p:nvPicPr>
          <p:blipFill>
            <a:blip r:embed="rId13" cstate="print"/>
            <a:stretch>
              <a:fillRect/>
            </a:stretch>
          </p:blipFill>
          <p:spPr>
            <a:xfrm>
              <a:off x="6506694" y="3923943"/>
              <a:ext cx="436601" cy="444412"/>
            </a:xfrm>
            <a:prstGeom prst="rect">
              <a:avLst/>
            </a:prstGeom>
          </p:spPr>
        </p:pic>
        <p:sp>
          <p:nvSpPr>
            <p:cNvPr id="97" name="object 30">
              <a:extLst>
                <a:ext uri="{FF2B5EF4-FFF2-40B4-BE49-F238E27FC236}">
                  <a16:creationId xmlns:a16="http://schemas.microsoft.com/office/drawing/2014/main" id="{BE06EF2E-2EDF-0BBF-6BF6-DE1C9CF90121}"/>
                </a:ext>
              </a:extLst>
            </p:cNvPr>
            <p:cNvSpPr/>
            <p:nvPr/>
          </p:nvSpPr>
          <p:spPr>
            <a:xfrm>
              <a:off x="5891488" y="5113906"/>
              <a:ext cx="703580" cy="0"/>
            </a:xfrm>
            <a:custGeom>
              <a:avLst/>
              <a:gdLst/>
              <a:ahLst/>
              <a:cxnLst/>
              <a:rect l="l" t="t" r="r" b="b"/>
              <a:pathLst>
                <a:path w="703579">
                  <a:moveTo>
                    <a:pt x="0" y="0"/>
                  </a:moveTo>
                  <a:lnTo>
                    <a:pt x="703134" y="0"/>
                  </a:lnTo>
                </a:path>
              </a:pathLst>
            </a:custGeom>
            <a:ln w="17535">
              <a:solidFill>
                <a:srgbClr val="006FC0"/>
              </a:solidFill>
            </a:ln>
          </p:spPr>
          <p:txBody>
            <a:bodyPr wrap="square" lIns="0" tIns="0" rIns="0" bIns="0" rtlCol="0"/>
            <a:lstStyle/>
            <a:p>
              <a:endParaRPr/>
            </a:p>
          </p:txBody>
        </p:sp>
        <p:pic>
          <p:nvPicPr>
            <p:cNvPr id="98" name="object 31">
              <a:extLst>
                <a:ext uri="{FF2B5EF4-FFF2-40B4-BE49-F238E27FC236}">
                  <a16:creationId xmlns:a16="http://schemas.microsoft.com/office/drawing/2014/main" id="{59D9A323-234F-FF4D-0363-3357BD4671C8}"/>
                </a:ext>
              </a:extLst>
            </p:cNvPr>
            <p:cNvPicPr/>
            <p:nvPr/>
          </p:nvPicPr>
          <p:blipFill>
            <a:blip r:embed="rId14" cstate="print"/>
            <a:stretch>
              <a:fillRect/>
            </a:stretch>
          </p:blipFill>
          <p:spPr>
            <a:xfrm>
              <a:off x="6569762" y="5061650"/>
              <a:ext cx="110572" cy="104511"/>
            </a:xfrm>
            <a:prstGeom prst="rect">
              <a:avLst/>
            </a:prstGeom>
          </p:spPr>
        </p:pic>
        <p:sp>
          <p:nvSpPr>
            <p:cNvPr id="99" name="object 32">
              <a:extLst>
                <a:ext uri="{FF2B5EF4-FFF2-40B4-BE49-F238E27FC236}">
                  <a16:creationId xmlns:a16="http://schemas.microsoft.com/office/drawing/2014/main" id="{D548BDB0-947C-CDDE-4C1C-E04CF8592ABE}"/>
                </a:ext>
              </a:extLst>
            </p:cNvPr>
            <p:cNvSpPr/>
            <p:nvPr/>
          </p:nvSpPr>
          <p:spPr>
            <a:xfrm>
              <a:off x="6154468" y="5698542"/>
              <a:ext cx="696595" cy="658495"/>
            </a:xfrm>
            <a:custGeom>
              <a:avLst/>
              <a:gdLst/>
              <a:ahLst/>
              <a:cxnLst/>
              <a:rect l="l" t="t" r="r" b="b"/>
              <a:pathLst>
                <a:path w="696595" h="658495">
                  <a:moveTo>
                    <a:pt x="0" y="658083"/>
                  </a:moveTo>
                  <a:lnTo>
                    <a:pt x="696270" y="0"/>
                  </a:lnTo>
                </a:path>
              </a:pathLst>
            </a:custGeom>
            <a:ln w="18015">
              <a:solidFill>
                <a:srgbClr val="006FC0"/>
              </a:solidFill>
            </a:ln>
          </p:spPr>
          <p:txBody>
            <a:bodyPr wrap="square" lIns="0" tIns="0" rIns="0" bIns="0" rtlCol="0"/>
            <a:lstStyle/>
            <a:p>
              <a:endParaRPr/>
            </a:p>
          </p:txBody>
        </p:sp>
        <p:pic>
          <p:nvPicPr>
            <p:cNvPr id="100" name="object 33">
              <a:extLst>
                <a:ext uri="{FF2B5EF4-FFF2-40B4-BE49-F238E27FC236}">
                  <a16:creationId xmlns:a16="http://schemas.microsoft.com/office/drawing/2014/main" id="{FFA94695-5DBD-78AA-0884-DA1633EF658D}"/>
                </a:ext>
              </a:extLst>
            </p:cNvPr>
            <p:cNvPicPr/>
            <p:nvPr/>
          </p:nvPicPr>
          <p:blipFill>
            <a:blip r:embed="rId15" cstate="print"/>
            <a:stretch>
              <a:fillRect/>
            </a:stretch>
          </p:blipFill>
          <p:spPr>
            <a:xfrm>
              <a:off x="6794061" y="5641201"/>
              <a:ext cx="117250" cy="110912"/>
            </a:xfrm>
            <a:prstGeom prst="rect">
              <a:avLst/>
            </a:prstGeom>
          </p:spPr>
        </p:pic>
        <p:pic>
          <p:nvPicPr>
            <p:cNvPr id="101" name="object 34">
              <a:extLst>
                <a:ext uri="{FF2B5EF4-FFF2-40B4-BE49-F238E27FC236}">
                  <a16:creationId xmlns:a16="http://schemas.microsoft.com/office/drawing/2014/main" id="{D5880B7A-7438-453E-D2B7-FF25B5AE8773}"/>
                </a:ext>
              </a:extLst>
            </p:cNvPr>
            <p:cNvPicPr/>
            <p:nvPr/>
          </p:nvPicPr>
          <p:blipFill>
            <a:blip r:embed="rId16" cstate="print"/>
            <a:stretch>
              <a:fillRect/>
            </a:stretch>
          </p:blipFill>
          <p:spPr>
            <a:xfrm>
              <a:off x="6330808" y="5644638"/>
              <a:ext cx="402122" cy="380118"/>
            </a:xfrm>
            <a:prstGeom prst="rect">
              <a:avLst/>
            </a:prstGeom>
          </p:spPr>
        </p:pic>
        <p:sp>
          <p:nvSpPr>
            <p:cNvPr id="102" name="object 35">
              <a:extLst>
                <a:ext uri="{FF2B5EF4-FFF2-40B4-BE49-F238E27FC236}">
                  <a16:creationId xmlns:a16="http://schemas.microsoft.com/office/drawing/2014/main" id="{393CA317-C641-4346-6B2A-C60F8B54FD9D}"/>
                </a:ext>
              </a:extLst>
            </p:cNvPr>
            <p:cNvSpPr/>
            <p:nvPr/>
          </p:nvSpPr>
          <p:spPr>
            <a:xfrm>
              <a:off x="8442067" y="5113906"/>
              <a:ext cx="1368425" cy="0"/>
            </a:xfrm>
            <a:custGeom>
              <a:avLst/>
              <a:gdLst/>
              <a:ahLst/>
              <a:cxnLst/>
              <a:rect l="l" t="t" r="r" b="b"/>
              <a:pathLst>
                <a:path w="1368425">
                  <a:moveTo>
                    <a:pt x="0" y="0"/>
                  </a:moveTo>
                  <a:lnTo>
                    <a:pt x="1367865" y="0"/>
                  </a:lnTo>
                </a:path>
              </a:pathLst>
            </a:custGeom>
            <a:ln w="17535">
              <a:solidFill>
                <a:srgbClr val="00AF50"/>
              </a:solidFill>
            </a:ln>
          </p:spPr>
          <p:txBody>
            <a:bodyPr wrap="square" lIns="0" tIns="0" rIns="0" bIns="0" rtlCol="0"/>
            <a:lstStyle/>
            <a:p>
              <a:endParaRPr/>
            </a:p>
          </p:txBody>
        </p:sp>
        <p:pic>
          <p:nvPicPr>
            <p:cNvPr id="103" name="object 36">
              <a:extLst>
                <a:ext uri="{FF2B5EF4-FFF2-40B4-BE49-F238E27FC236}">
                  <a16:creationId xmlns:a16="http://schemas.microsoft.com/office/drawing/2014/main" id="{BC05CBF2-0EFF-A7A4-8EC2-1DD35866F6A7}"/>
                </a:ext>
              </a:extLst>
            </p:cNvPr>
            <p:cNvPicPr/>
            <p:nvPr/>
          </p:nvPicPr>
          <p:blipFill>
            <a:blip r:embed="rId17" cstate="print"/>
            <a:stretch>
              <a:fillRect/>
            </a:stretch>
          </p:blipFill>
          <p:spPr>
            <a:xfrm>
              <a:off x="9785072" y="5061650"/>
              <a:ext cx="110572" cy="104511"/>
            </a:xfrm>
            <a:prstGeom prst="rect">
              <a:avLst/>
            </a:prstGeom>
          </p:spPr>
        </p:pic>
        <p:pic>
          <p:nvPicPr>
            <p:cNvPr id="104" name="object 37">
              <a:extLst>
                <a:ext uri="{FF2B5EF4-FFF2-40B4-BE49-F238E27FC236}">
                  <a16:creationId xmlns:a16="http://schemas.microsoft.com/office/drawing/2014/main" id="{A1100598-A061-E1DF-EE25-E707E8011F9B}"/>
                </a:ext>
              </a:extLst>
            </p:cNvPr>
            <p:cNvPicPr/>
            <p:nvPr/>
          </p:nvPicPr>
          <p:blipFill>
            <a:blip r:embed="rId18" cstate="print"/>
            <a:stretch>
              <a:fillRect/>
            </a:stretch>
          </p:blipFill>
          <p:spPr>
            <a:xfrm>
              <a:off x="8375464" y="5053233"/>
              <a:ext cx="1447084" cy="480035"/>
            </a:xfrm>
            <a:prstGeom prst="rect">
              <a:avLst/>
            </a:prstGeom>
          </p:spPr>
        </p:pic>
      </p:grpSp>
      <p:sp>
        <p:nvSpPr>
          <p:cNvPr id="105" name="object 38">
            <a:extLst>
              <a:ext uri="{FF2B5EF4-FFF2-40B4-BE49-F238E27FC236}">
                <a16:creationId xmlns:a16="http://schemas.microsoft.com/office/drawing/2014/main" id="{FC8CC95F-3B36-9FB7-5C68-96789C2076F1}"/>
              </a:ext>
            </a:extLst>
          </p:cNvPr>
          <p:cNvSpPr txBox="1"/>
          <p:nvPr/>
        </p:nvSpPr>
        <p:spPr>
          <a:xfrm>
            <a:off x="7151321" y="3445181"/>
            <a:ext cx="1113697" cy="521938"/>
          </a:xfrm>
          <a:prstGeom prst="rect">
            <a:avLst/>
          </a:prstGeom>
        </p:spPr>
        <p:txBody>
          <a:bodyPr vert="horz" wrap="square" lIns="0" tIns="13970" rIns="0" bIns="0" rtlCol="0">
            <a:spAutoFit/>
          </a:bodyPr>
          <a:lstStyle/>
          <a:p>
            <a:pPr marL="12700">
              <a:lnSpc>
                <a:spcPct val="100000"/>
              </a:lnSpc>
              <a:spcBef>
                <a:spcPts val="110"/>
              </a:spcBef>
            </a:pPr>
            <a:r>
              <a:rPr sz="1650" spc="45" dirty="0">
                <a:solidFill>
                  <a:srgbClr val="00AF50"/>
                </a:solidFill>
                <a:latin typeface="Cambria"/>
                <a:cs typeface="Cambria"/>
              </a:rPr>
              <a:t>output</a:t>
            </a:r>
            <a:r>
              <a:rPr sz="1650" spc="-25" dirty="0">
                <a:solidFill>
                  <a:srgbClr val="00AF50"/>
                </a:solidFill>
                <a:latin typeface="Cambria"/>
                <a:cs typeface="Cambria"/>
              </a:rPr>
              <a:t> </a:t>
            </a:r>
            <a:r>
              <a:rPr sz="1650" spc="50" dirty="0">
                <a:solidFill>
                  <a:srgbClr val="00AF50"/>
                </a:solidFill>
                <a:latin typeface="Cambria"/>
                <a:cs typeface="Cambria"/>
              </a:rPr>
              <a:t>axon</a:t>
            </a:r>
            <a:endParaRPr sz="1650" dirty="0">
              <a:latin typeface="Cambria"/>
              <a:cs typeface="Cambria"/>
            </a:endParaRPr>
          </a:p>
        </p:txBody>
      </p:sp>
      <p:grpSp>
        <p:nvGrpSpPr>
          <p:cNvPr id="106" name="object 39">
            <a:extLst>
              <a:ext uri="{FF2B5EF4-FFF2-40B4-BE49-F238E27FC236}">
                <a16:creationId xmlns:a16="http://schemas.microsoft.com/office/drawing/2014/main" id="{A529E220-9D8F-94E1-7430-561CE2A397A6}"/>
              </a:ext>
            </a:extLst>
          </p:cNvPr>
          <p:cNvGrpSpPr/>
          <p:nvPr/>
        </p:nvGrpSpPr>
        <p:grpSpPr>
          <a:xfrm>
            <a:off x="6322857" y="2831072"/>
            <a:ext cx="1789505" cy="1786893"/>
            <a:chOff x="7686707" y="4492621"/>
            <a:chExt cx="1886585" cy="1889125"/>
          </a:xfrm>
        </p:grpSpPr>
        <p:pic>
          <p:nvPicPr>
            <p:cNvPr id="107" name="object 40">
              <a:extLst>
                <a:ext uri="{FF2B5EF4-FFF2-40B4-BE49-F238E27FC236}">
                  <a16:creationId xmlns:a16="http://schemas.microsoft.com/office/drawing/2014/main" id="{C46A10FC-AEB5-53A1-CFEF-D19BB2C2366D}"/>
                </a:ext>
              </a:extLst>
            </p:cNvPr>
            <p:cNvPicPr/>
            <p:nvPr/>
          </p:nvPicPr>
          <p:blipFill>
            <a:blip r:embed="rId19" cstate="print"/>
            <a:stretch>
              <a:fillRect/>
            </a:stretch>
          </p:blipFill>
          <p:spPr>
            <a:xfrm>
              <a:off x="8297451" y="4492621"/>
              <a:ext cx="1275289" cy="570957"/>
            </a:xfrm>
            <a:prstGeom prst="rect">
              <a:avLst/>
            </a:prstGeom>
          </p:spPr>
        </p:pic>
        <p:pic>
          <p:nvPicPr>
            <p:cNvPr id="108" name="object 41">
              <a:extLst>
                <a:ext uri="{FF2B5EF4-FFF2-40B4-BE49-F238E27FC236}">
                  <a16:creationId xmlns:a16="http://schemas.microsoft.com/office/drawing/2014/main" id="{CF4C1683-2A62-B749-75AF-30E08C24EDA4}"/>
                </a:ext>
              </a:extLst>
            </p:cNvPr>
            <p:cNvPicPr/>
            <p:nvPr/>
          </p:nvPicPr>
          <p:blipFill>
            <a:blip r:embed="rId20" cstate="print"/>
            <a:stretch>
              <a:fillRect/>
            </a:stretch>
          </p:blipFill>
          <p:spPr>
            <a:xfrm>
              <a:off x="7686707" y="5730579"/>
              <a:ext cx="1328812" cy="651007"/>
            </a:xfrm>
            <a:prstGeom prst="rect">
              <a:avLst/>
            </a:prstGeom>
          </p:spPr>
        </p:pic>
      </p:grpSp>
      <p:grpSp>
        <p:nvGrpSpPr>
          <p:cNvPr id="111" name="object 44">
            <a:extLst>
              <a:ext uri="{FF2B5EF4-FFF2-40B4-BE49-F238E27FC236}">
                <a16:creationId xmlns:a16="http://schemas.microsoft.com/office/drawing/2014/main" id="{ABFC83D7-3D59-DCEB-690B-4515F47BDE77}"/>
              </a:ext>
            </a:extLst>
          </p:cNvPr>
          <p:cNvGrpSpPr/>
          <p:nvPr/>
        </p:nvGrpSpPr>
        <p:grpSpPr>
          <a:xfrm>
            <a:off x="2927775" y="3345653"/>
            <a:ext cx="3979555" cy="1621718"/>
            <a:chOff x="4291625" y="5007202"/>
            <a:chExt cx="4195445" cy="1714500"/>
          </a:xfrm>
        </p:grpSpPr>
        <p:sp>
          <p:nvSpPr>
            <p:cNvPr id="112" name="object 45">
              <a:extLst>
                <a:ext uri="{FF2B5EF4-FFF2-40B4-BE49-F238E27FC236}">
                  <a16:creationId xmlns:a16="http://schemas.microsoft.com/office/drawing/2014/main" id="{F6EE9C07-275D-E1FA-8C7B-F7C82F2BF979}"/>
                </a:ext>
              </a:extLst>
            </p:cNvPr>
            <p:cNvSpPr/>
            <p:nvPr/>
          </p:nvSpPr>
          <p:spPr>
            <a:xfrm>
              <a:off x="8350047" y="5230342"/>
              <a:ext cx="0" cy="641985"/>
            </a:xfrm>
            <a:custGeom>
              <a:avLst/>
              <a:gdLst/>
              <a:ahLst/>
              <a:cxnLst/>
              <a:rect l="l" t="t" r="r" b="b"/>
              <a:pathLst>
                <a:path h="641985">
                  <a:moveTo>
                    <a:pt x="0" y="641643"/>
                  </a:moveTo>
                  <a:lnTo>
                    <a:pt x="0" y="0"/>
                  </a:lnTo>
                </a:path>
              </a:pathLst>
            </a:custGeom>
            <a:ln w="9276">
              <a:solidFill>
                <a:srgbClr val="FFFFFF"/>
              </a:solidFill>
            </a:ln>
          </p:spPr>
          <p:txBody>
            <a:bodyPr wrap="square" lIns="0" tIns="0" rIns="0" bIns="0" rtlCol="0"/>
            <a:lstStyle/>
            <a:p>
              <a:endParaRPr/>
            </a:p>
          </p:txBody>
        </p:sp>
        <p:pic>
          <p:nvPicPr>
            <p:cNvPr id="113" name="object 46">
              <a:extLst>
                <a:ext uri="{FF2B5EF4-FFF2-40B4-BE49-F238E27FC236}">
                  <a16:creationId xmlns:a16="http://schemas.microsoft.com/office/drawing/2014/main" id="{60223C96-E308-84C1-ACFB-C83C1BC61CB7}"/>
                </a:ext>
              </a:extLst>
            </p:cNvPr>
            <p:cNvPicPr/>
            <p:nvPr/>
          </p:nvPicPr>
          <p:blipFill>
            <a:blip r:embed="rId21" cstate="print"/>
            <a:stretch>
              <a:fillRect/>
            </a:stretch>
          </p:blipFill>
          <p:spPr>
            <a:xfrm>
              <a:off x="8229363" y="5007202"/>
              <a:ext cx="257414" cy="243305"/>
            </a:xfrm>
            <a:prstGeom prst="rect">
              <a:avLst/>
            </a:prstGeom>
          </p:spPr>
        </p:pic>
        <p:pic>
          <p:nvPicPr>
            <p:cNvPr id="114" name="object 47">
              <a:extLst>
                <a:ext uri="{FF2B5EF4-FFF2-40B4-BE49-F238E27FC236}">
                  <a16:creationId xmlns:a16="http://schemas.microsoft.com/office/drawing/2014/main" id="{85A02E5B-96DA-23A1-A392-C514E6495905}"/>
                </a:ext>
              </a:extLst>
            </p:cNvPr>
            <p:cNvPicPr/>
            <p:nvPr/>
          </p:nvPicPr>
          <p:blipFill>
            <a:blip r:embed="rId22" cstate="print"/>
            <a:stretch>
              <a:fillRect/>
            </a:stretch>
          </p:blipFill>
          <p:spPr>
            <a:xfrm>
              <a:off x="8267210" y="5031314"/>
              <a:ext cx="174855" cy="165272"/>
            </a:xfrm>
            <a:prstGeom prst="rect">
              <a:avLst/>
            </a:prstGeom>
          </p:spPr>
        </p:pic>
        <p:pic>
          <p:nvPicPr>
            <p:cNvPr id="115" name="object 48">
              <a:extLst>
                <a:ext uri="{FF2B5EF4-FFF2-40B4-BE49-F238E27FC236}">
                  <a16:creationId xmlns:a16="http://schemas.microsoft.com/office/drawing/2014/main" id="{A5EF3447-F94D-2C4C-EB0C-DDC06532C8A5}"/>
                </a:ext>
              </a:extLst>
            </p:cNvPr>
            <p:cNvPicPr/>
            <p:nvPr/>
          </p:nvPicPr>
          <p:blipFill>
            <a:blip r:embed="rId23" cstate="print"/>
            <a:stretch>
              <a:fillRect/>
            </a:stretch>
          </p:blipFill>
          <p:spPr>
            <a:xfrm>
              <a:off x="5968295" y="6335556"/>
              <a:ext cx="257414" cy="243305"/>
            </a:xfrm>
            <a:prstGeom prst="rect">
              <a:avLst/>
            </a:prstGeom>
          </p:spPr>
        </p:pic>
        <p:pic>
          <p:nvPicPr>
            <p:cNvPr id="116" name="object 49">
              <a:extLst>
                <a:ext uri="{FF2B5EF4-FFF2-40B4-BE49-F238E27FC236}">
                  <a16:creationId xmlns:a16="http://schemas.microsoft.com/office/drawing/2014/main" id="{95A6D8E5-790E-858F-3957-2146A9E05DD3}"/>
                </a:ext>
              </a:extLst>
            </p:cNvPr>
            <p:cNvPicPr/>
            <p:nvPr/>
          </p:nvPicPr>
          <p:blipFill>
            <a:blip r:embed="rId24" cstate="print"/>
            <a:stretch>
              <a:fillRect/>
            </a:stretch>
          </p:blipFill>
          <p:spPr>
            <a:xfrm>
              <a:off x="5793977" y="6358621"/>
              <a:ext cx="389154" cy="362569"/>
            </a:xfrm>
            <a:prstGeom prst="rect">
              <a:avLst/>
            </a:prstGeom>
          </p:spPr>
        </p:pic>
        <p:pic>
          <p:nvPicPr>
            <p:cNvPr id="117" name="object 50">
              <a:extLst>
                <a:ext uri="{FF2B5EF4-FFF2-40B4-BE49-F238E27FC236}">
                  <a16:creationId xmlns:a16="http://schemas.microsoft.com/office/drawing/2014/main" id="{A955DC76-C01D-44A8-C250-4969DCB8B5FD}"/>
                </a:ext>
              </a:extLst>
            </p:cNvPr>
            <p:cNvPicPr/>
            <p:nvPr/>
          </p:nvPicPr>
          <p:blipFill>
            <a:blip r:embed="rId25" cstate="print"/>
            <a:stretch>
              <a:fillRect/>
            </a:stretch>
          </p:blipFill>
          <p:spPr>
            <a:xfrm>
              <a:off x="5669138" y="5020354"/>
              <a:ext cx="257414" cy="249881"/>
            </a:xfrm>
            <a:prstGeom prst="rect">
              <a:avLst/>
            </a:prstGeom>
          </p:spPr>
        </p:pic>
        <p:pic>
          <p:nvPicPr>
            <p:cNvPr id="118" name="object 51">
              <a:extLst>
                <a:ext uri="{FF2B5EF4-FFF2-40B4-BE49-F238E27FC236}">
                  <a16:creationId xmlns:a16="http://schemas.microsoft.com/office/drawing/2014/main" id="{D09399CA-F190-E385-1998-643FAAD8223E}"/>
                </a:ext>
              </a:extLst>
            </p:cNvPr>
            <p:cNvPicPr/>
            <p:nvPr/>
          </p:nvPicPr>
          <p:blipFill>
            <a:blip r:embed="rId26" cstate="print"/>
            <a:stretch>
              <a:fillRect/>
            </a:stretch>
          </p:blipFill>
          <p:spPr>
            <a:xfrm>
              <a:off x="5704387" y="5045079"/>
              <a:ext cx="174855" cy="165272"/>
            </a:xfrm>
            <a:prstGeom prst="rect">
              <a:avLst/>
            </a:prstGeom>
          </p:spPr>
        </p:pic>
        <p:sp>
          <p:nvSpPr>
            <p:cNvPr id="119" name="object 52">
              <a:extLst>
                <a:ext uri="{FF2B5EF4-FFF2-40B4-BE49-F238E27FC236}">
                  <a16:creationId xmlns:a16="http://schemas.microsoft.com/office/drawing/2014/main" id="{4A72DCE4-0F7C-ED25-2E3A-FB865A6F34A1}"/>
                </a:ext>
              </a:extLst>
            </p:cNvPr>
            <p:cNvSpPr/>
            <p:nvPr/>
          </p:nvSpPr>
          <p:spPr>
            <a:xfrm>
              <a:off x="4412679" y="5127759"/>
              <a:ext cx="1206500" cy="0"/>
            </a:xfrm>
            <a:custGeom>
              <a:avLst/>
              <a:gdLst/>
              <a:ahLst/>
              <a:cxnLst/>
              <a:rect l="l" t="t" r="r" b="b"/>
              <a:pathLst>
                <a:path w="1206500">
                  <a:moveTo>
                    <a:pt x="0" y="0"/>
                  </a:moveTo>
                  <a:lnTo>
                    <a:pt x="1205996" y="0"/>
                  </a:lnTo>
                </a:path>
              </a:pathLst>
            </a:custGeom>
            <a:ln w="17535">
              <a:solidFill>
                <a:srgbClr val="00AF50"/>
              </a:solidFill>
            </a:ln>
          </p:spPr>
          <p:txBody>
            <a:bodyPr wrap="square" lIns="0" tIns="0" rIns="0" bIns="0" rtlCol="0"/>
            <a:lstStyle/>
            <a:p>
              <a:endParaRPr/>
            </a:p>
          </p:txBody>
        </p:sp>
        <p:pic>
          <p:nvPicPr>
            <p:cNvPr id="120" name="object 53">
              <a:extLst>
                <a:ext uri="{FF2B5EF4-FFF2-40B4-BE49-F238E27FC236}">
                  <a16:creationId xmlns:a16="http://schemas.microsoft.com/office/drawing/2014/main" id="{283C9F36-DAE1-6CDB-6A51-75AAC6ABB1D0}"/>
                </a:ext>
              </a:extLst>
            </p:cNvPr>
            <p:cNvPicPr/>
            <p:nvPr/>
          </p:nvPicPr>
          <p:blipFill>
            <a:blip r:embed="rId27" cstate="print"/>
            <a:stretch>
              <a:fillRect/>
            </a:stretch>
          </p:blipFill>
          <p:spPr>
            <a:xfrm>
              <a:off x="5593815" y="5075503"/>
              <a:ext cx="110572" cy="104511"/>
            </a:xfrm>
            <a:prstGeom prst="rect">
              <a:avLst/>
            </a:prstGeom>
          </p:spPr>
        </p:pic>
        <p:pic>
          <p:nvPicPr>
            <p:cNvPr id="121" name="object 54">
              <a:extLst>
                <a:ext uri="{FF2B5EF4-FFF2-40B4-BE49-F238E27FC236}">
                  <a16:creationId xmlns:a16="http://schemas.microsoft.com/office/drawing/2014/main" id="{22CCADF8-7FEA-9458-53AF-78CA0AB1E7EC}"/>
                </a:ext>
              </a:extLst>
            </p:cNvPr>
            <p:cNvPicPr/>
            <p:nvPr/>
          </p:nvPicPr>
          <p:blipFill>
            <a:blip r:embed="rId28" cstate="print"/>
            <a:stretch>
              <a:fillRect/>
            </a:stretch>
          </p:blipFill>
          <p:spPr>
            <a:xfrm>
              <a:off x="4291625" y="5040082"/>
              <a:ext cx="1481869" cy="651007"/>
            </a:xfrm>
            <a:prstGeom prst="rect">
              <a:avLst/>
            </a:prstGeom>
          </p:spPr>
        </p:pic>
      </p:grpSp>
      <p:sp>
        <p:nvSpPr>
          <p:cNvPr id="122" name="object 55">
            <a:extLst>
              <a:ext uri="{FF2B5EF4-FFF2-40B4-BE49-F238E27FC236}">
                <a16:creationId xmlns:a16="http://schemas.microsoft.com/office/drawing/2014/main" id="{BE7B8BAB-70B3-49C6-C76F-BDD803A1C03B}"/>
              </a:ext>
            </a:extLst>
          </p:cNvPr>
          <p:cNvSpPr txBox="1"/>
          <p:nvPr/>
        </p:nvSpPr>
        <p:spPr>
          <a:xfrm>
            <a:off x="3065813" y="3433783"/>
            <a:ext cx="1098639" cy="521938"/>
          </a:xfrm>
          <a:prstGeom prst="rect">
            <a:avLst/>
          </a:prstGeom>
        </p:spPr>
        <p:txBody>
          <a:bodyPr vert="horz" wrap="square" lIns="0" tIns="13970" rIns="0" bIns="0" rtlCol="0">
            <a:spAutoFit/>
          </a:bodyPr>
          <a:lstStyle/>
          <a:p>
            <a:pPr marL="12700">
              <a:lnSpc>
                <a:spcPct val="100000"/>
              </a:lnSpc>
              <a:spcBef>
                <a:spcPts val="110"/>
              </a:spcBef>
            </a:pPr>
            <a:r>
              <a:rPr sz="1650" spc="50" dirty="0">
                <a:solidFill>
                  <a:srgbClr val="00AF50"/>
                </a:solidFill>
                <a:latin typeface="Cambria"/>
                <a:cs typeface="Cambria"/>
              </a:rPr>
              <a:t>axon</a:t>
            </a:r>
            <a:r>
              <a:rPr sz="1650" spc="-5" dirty="0">
                <a:solidFill>
                  <a:srgbClr val="00AF50"/>
                </a:solidFill>
                <a:latin typeface="Cambria"/>
                <a:cs typeface="Cambria"/>
              </a:rPr>
              <a:t> </a:t>
            </a:r>
            <a:r>
              <a:rPr sz="1650" spc="50" dirty="0">
                <a:solidFill>
                  <a:srgbClr val="00AF50"/>
                </a:solidFill>
                <a:latin typeface="Cambria"/>
                <a:cs typeface="Cambria"/>
              </a:rPr>
              <a:t>from</a:t>
            </a:r>
            <a:r>
              <a:rPr sz="1650" dirty="0">
                <a:solidFill>
                  <a:srgbClr val="00AF50"/>
                </a:solidFill>
                <a:latin typeface="Cambria"/>
                <a:cs typeface="Cambria"/>
              </a:rPr>
              <a:t> </a:t>
            </a:r>
            <a:r>
              <a:rPr sz="1650" spc="50" dirty="0">
                <a:solidFill>
                  <a:srgbClr val="00AF50"/>
                </a:solidFill>
                <a:latin typeface="Cambria"/>
                <a:cs typeface="Cambria"/>
              </a:rPr>
              <a:t>a</a:t>
            </a:r>
            <a:endParaRPr sz="1650">
              <a:latin typeface="Cambria"/>
              <a:cs typeface="Cambria"/>
            </a:endParaRPr>
          </a:p>
        </p:txBody>
      </p:sp>
      <p:sp>
        <p:nvSpPr>
          <p:cNvPr id="123" name="object 56">
            <a:extLst>
              <a:ext uri="{FF2B5EF4-FFF2-40B4-BE49-F238E27FC236}">
                <a16:creationId xmlns:a16="http://schemas.microsoft.com/office/drawing/2014/main" id="{844B9B55-E0AE-5AB2-AD5D-B8A225F29150}"/>
              </a:ext>
            </a:extLst>
          </p:cNvPr>
          <p:cNvSpPr txBox="1"/>
          <p:nvPr/>
        </p:nvSpPr>
        <p:spPr>
          <a:xfrm>
            <a:off x="3285009" y="3602387"/>
            <a:ext cx="677615" cy="521938"/>
          </a:xfrm>
          <a:prstGeom prst="rect">
            <a:avLst/>
          </a:prstGeom>
        </p:spPr>
        <p:txBody>
          <a:bodyPr vert="horz" wrap="square" lIns="0" tIns="13970" rIns="0" bIns="0" rtlCol="0">
            <a:spAutoFit/>
          </a:bodyPr>
          <a:lstStyle/>
          <a:p>
            <a:pPr marL="12700">
              <a:lnSpc>
                <a:spcPct val="100000"/>
              </a:lnSpc>
              <a:spcBef>
                <a:spcPts val="110"/>
              </a:spcBef>
            </a:pPr>
            <a:r>
              <a:rPr sz="1650" spc="60" dirty="0">
                <a:solidFill>
                  <a:srgbClr val="00AF50"/>
                </a:solidFill>
                <a:latin typeface="Cambria"/>
                <a:cs typeface="Cambria"/>
              </a:rPr>
              <a:t>n</a:t>
            </a:r>
            <a:r>
              <a:rPr sz="1650" spc="15" dirty="0">
                <a:solidFill>
                  <a:srgbClr val="00AF50"/>
                </a:solidFill>
                <a:latin typeface="Cambria"/>
                <a:cs typeface="Cambria"/>
              </a:rPr>
              <a:t>e</a:t>
            </a:r>
            <a:r>
              <a:rPr sz="1650" spc="70" dirty="0">
                <a:solidFill>
                  <a:srgbClr val="00AF50"/>
                </a:solidFill>
                <a:latin typeface="Cambria"/>
                <a:cs typeface="Cambria"/>
              </a:rPr>
              <a:t>u</a:t>
            </a:r>
            <a:r>
              <a:rPr sz="1650" spc="25" dirty="0">
                <a:solidFill>
                  <a:srgbClr val="00AF50"/>
                </a:solidFill>
                <a:latin typeface="Cambria"/>
                <a:cs typeface="Cambria"/>
              </a:rPr>
              <a:t>r</a:t>
            </a:r>
            <a:r>
              <a:rPr sz="1650" spc="55" dirty="0">
                <a:solidFill>
                  <a:srgbClr val="00AF50"/>
                </a:solidFill>
                <a:latin typeface="Cambria"/>
                <a:cs typeface="Cambria"/>
              </a:rPr>
              <a:t>on</a:t>
            </a:r>
            <a:endParaRPr sz="1650">
              <a:latin typeface="Cambria"/>
              <a:cs typeface="Cambria"/>
            </a:endParaRPr>
          </a:p>
        </p:txBody>
      </p:sp>
      <p:grpSp>
        <p:nvGrpSpPr>
          <p:cNvPr id="124" name="object 57">
            <a:extLst>
              <a:ext uri="{FF2B5EF4-FFF2-40B4-BE49-F238E27FC236}">
                <a16:creationId xmlns:a16="http://schemas.microsoft.com/office/drawing/2014/main" id="{B24483BE-3158-4014-38E9-ED2879504012}"/>
              </a:ext>
            </a:extLst>
          </p:cNvPr>
          <p:cNvGrpSpPr/>
          <p:nvPr/>
        </p:nvGrpSpPr>
        <p:grpSpPr>
          <a:xfrm>
            <a:off x="1223278" y="1813747"/>
            <a:ext cx="3757900" cy="2338878"/>
            <a:chOff x="2587127" y="3475296"/>
            <a:chExt cx="3961765" cy="2472690"/>
          </a:xfrm>
        </p:grpSpPr>
        <p:pic>
          <p:nvPicPr>
            <p:cNvPr id="125" name="object 58">
              <a:extLst>
                <a:ext uri="{FF2B5EF4-FFF2-40B4-BE49-F238E27FC236}">
                  <a16:creationId xmlns:a16="http://schemas.microsoft.com/office/drawing/2014/main" id="{7D0BA24B-26ED-B94D-0560-9F10A2C079B6}"/>
                </a:ext>
              </a:extLst>
            </p:cNvPr>
            <p:cNvPicPr/>
            <p:nvPr/>
          </p:nvPicPr>
          <p:blipFill>
            <a:blip r:embed="rId29" cstate="print"/>
            <a:stretch>
              <a:fillRect/>
            </a:stretch>
          </p:blipFill>
          <p:spPr>
            <a:xfrm>
              <a:off x="6083134" y="4892187"/>
              <a:ext cx="422724" cy="189875"/>
            </a:xfrm>
            <a:prstGeom prst="rect">
              <a:avLst/>
            </a:prstGeom>
          </p:spPr>
        </p:pic>
        <p:pic>
          <p:nvPicPr>
            <p:cNvPr id="126" name="object 59">
              <a:extLst>
                <a:ext uri="{FF2B5EF4-FFF2-40B4-BE49-F238E27FC236}">
                  <a16:creationId xmlns:a16="http://schemas.microsoft.com/office/drawing/2014/main" id="{A63BB29E-9BE0-C006-7405-E6A30843DAEA}"/>
                </a:ext>
              </a:extLst>
            </p:cNvPr>
            <p:cNvPicPr/>
            <p:nvPr/>
          </p:nvPicPr>
          <p:blipFill>
            <a:blip r:embed="rId30" cstate="print"/>
            <a:stretch>
              <a:fillRect/>
            </a:stretch>
          </p:blipFill>
          <p:spPr>
            <a:xfrm>
              <a:off x="5659676" y="3475296"/>
              <a:ext cx="270548" cy="173952"/>
            </a:xfrm>
            <a:prstGeom prst="rect">
              <a:avLst/>
            </a:prstGeom>
          </p:spPr>
        </p:pic>
        <p:pic>
          <p:nvPicPr>
            <p:cNvPr id="127" name="object 60">
              <a:extLst>
                <a:ext uri="{FF2B5EF4-FFF2-40B4-BE49-F238E27FC236}">
                  <a16:creationId xmlns:a16="http://schemas.microsoft.com/office/drawing/2014/main" id="{557DCB70-2079-C9D2-F4D5-04516B4B0A0D}"/>
                </a:ext>
              </a:extLst>
            </p:cNvPr>
            <p:cNvPicPr/>
            <p:nvPr/>
          </p:nvPicPr>
          <p:blipFill>
            <a:blip r:embed="rId31" cstate="print"/>
            <a:stretch>
              <a:fillRect/>
            </a:stretch>
          </p:blipFill>
          <p:spPr>
            <a:xfrm>
              <a:off x="6285911" y="3475296"/>
              <a:ext cx="262942" cy="147438"/>
            </a:xfrm>
            <a:prstGeom prst="rect">
              <a:avLst/>
            </a:prstGeom>
          </p:spPr>
        </p:pic>
        <p:pic>
          <p:nvPicPr>
            <p:cNvPr id="128" name="object 61">
              <a:extLst>
                <a:ext uri="{FF2B5EF4-FFF2-40B4-BE49-F238E27FC236}">
                  <a16:creationId xmlns:a16="http://schemas.microsoft.com/office/drawing/2014/main" id="{300324BA-36E9-CB6F-E6A5-32E893AE99F0}"/>
                </a:ext>
              </a:extLst>
            </p:cNvPr>
            <p:cNvPicPr/>
            <p:nvPr/>
          </p:nvPicPr>
          <p:blipFill>
            <a:blip r:embed="rId32" cstate="print"/>
            <a:stretch>
              <a:fillRect/>
            </a:stretch>
          </p:blipFill>
          <p:spPr>
            <a:xfrm>
              <a:off x="2587127" y="4362806"/>
              <a:ext cx="1683626" cy="1584776"/>
            </a:xfrm>
            <a:prstGeom prst="rect">
              <a:avLst/>
            </a:prstGeom>
          </p:spPr>
        </p:pic>
        <p:sp>
          <p:nvSpPr>
            <p:cNvPr id="129" name="object 62">
              <a:extLst>
                <a:ext uri="{FF2B5EF4-FFF2-40B4-BE49-F238E27FC236}">
                  <a16:creationId xmlns:a16="http://schemas.microsoft.com/office/drawing/2014/main" id="{CAAC54CA-3194-E984-D954-6CDEA6BA4172}"/>
                </a:ext>
              </a:extLst>
            </p:cNvPr>
            <p:cNvSpPr/>
            <p:nvPr/>
          </p:nvSpPr>
          <p:spPr>
            <a:xfrm>
              <a:off x="2627581" y="4394096"/>
              <a:ext cx="1597025" cy="1498600"/>
            </a:xfrm>
            <a:custGeom>
              <a:avLst/>
              <a:gdLst/>
              <a:ahLst/>
              <a:cxnLst/>
              <a:rect l="l" t="t" r="r" b="b"/>
              <a:pathLst>
                <a:path w="1597025" h="1498600">
                  <a:moveTo>
                    <a:pt x="959240" y="1485900"/>
                  </a:moveTo>
                  <a:lnTo>
                    <a:pt x="637820" y="1485900"/>
                  </a:lnTo>
                  <a:lnTo>
                    <a:pt x="657393" y="1498600"/>
                  </a:lnTo>
                  <a:lnTo>
                    <a:pt x="939667" y="1498600"/>
                  </a:lnTo>
                  <a:lnTo>
                    <a:pt x="959240" y="1485900"/>
                  </a:lnTo>
                  <a:close/>
                </a:path>
                <a:path w="1597025" h="1498600">
                  <a:moveTo>
                    <a:pt x="679749" y="1473200"/>
                  </a:moveTo>
                  <a:lnTo>
                    <a:pt x="580123" y="1473200"/>
                  </a:lnTo>
                  <a:lnTo>
                    <a:pt x="599139" y="1485900"/>
                  </a:lnTo>
                  <a:lnTo>
                    <a:pt x="699229" y="1485900"/>
                  </a:lnTo>
                  <a:lnTo>
                    <a:pt x="679749" y="1473200"/>
                  </a:lnTo>
                  <a:close/>
                </a:path>
                <a:path w="1597025" h="1498600">
                  <a:moveTo>
                    <a:pt x="1017031" y="1473200"/>
                  </a:moveTo>
                  <a:lnTo>
                    <a:pt x="917126" y="1473200"/>
                  </a:lnTo>
                  <a:lnTo>
                    <a:pt x="897646" y="1485900"/>
                  </a:lnTo>
                  <a:lnTo>
                    <a:pt x="997922" y="1485900"/>
                  </a:lnTo>
                  <a:lnTo>
                    <a:pt x="1017031" y="1473200"/>
                  </a:lnTo>
                  <a:close/>
                </a:path>
                <a:path w="1597025" h="1498600">
                  <a:moveTo>
                    <a:pt x="603684" y="1460500"/>
                  </a:moveTo>
                  <a:lnTo>
                    <a:pt x="542647" y="1460500"/>
                  </a:lnTo>
                  <a:lnTo>
                    <a:pt x="561292" y="1473200"/>
                  </a:lnTo>
                  <a:lnTo>
                    <a:pt x="622422" y="1473200"/>
                  </a:lnTo>
                  <a:lnTo>
                    <a:pt x="603684" y="1460500"/>
                  </a:lnTo>
                  <a:close/>
                </a:path>
                <a:path w="1597025" h="1498600">
                  <a:moveTo>
                    <a:pt x="1054506" y="1460500"/>
                  </a:moveTo>
                  <a:lnTo>
                    <a:pt x="993191" y="1460500"/>
                  </a:lnTo>
                  <a:lnTo>
                    <a:pt x="974360" y="1473200"/>
                  </a:lnTo>
                  <a:lnTo>
                    <a:pt x="1035861" y="1473200"/>
                  </a:lnTo>
                  <a:lnTo>
                    <a:pt x="1054506" y="1460500"/>
                  </a:lnTo>
                  <a:close/>
                </a:path>
                <a:path w="1597025" h="1498600">
                  <a:moveTo>
                    <a:pt x="548491" y="1447800"/>
                  </a:moveTo>
                  <a:lnTo>
                    <a:pt x="506006" y="1447800"/>
                  </a:lnTo>
                  <a:lnTo>
                    <a:pt x="524187" y="1460500"/>
                  </a:lnTo>
                  <a:lnTo>
                    <a:pt x="566672" y="1460500"/>
                  </a:lnTo>
                  <a:lnTo>
                    <a:pt x="548491" y="1447800"/>
                  </a:lnTo>
                  <a:close/>
                </a:path>
                <a:path w="1597025" h="1498600">
                  <a:moveTo>
                    <a:pt x="1091147" y="1447800"/>
                  </a:moveTo>
                  <a:lnTo>
                    <a:pt x="1048477" y="1447800"/>
                  </a:lnTo>
                  <a:lnTo>
                    <a:pt x="1030296" y="1460500"/>
                  </a:lnTo>
                  <a:lnTo>
                    <a:pt x="1072966" y="1460500"/>
                  </a:lnTo>
                  <a:lnTo>
                    <a:pt x="1091147" y="1447800"/>
                  </a:lnTo>
                  <a:close/>
                </a:path>
                <a:path w="1597025" h="1498600">
                  <a:moveTo>
                    <a:pt x="512685" y="1435100"/>
                  </a:moveTo>
                  <a:lnTo>
                    <a:pt x="470200" y="1435100"/>
                  </a:lnTo>
                  <a:lnTo>
                    <a:pt x="487917" y="1447800"/>
                  </a:lnTo>
                  <a:lnTo>
                    <a:pt x="530495" y="1447800"/>
                  </a:lnTo>
                  <a:lnTo>
                    <a:pt x="512685" y="1435100"/>
                  </a:lnTo>
                  <a:close/>
                </a:path>
                <a:path w="1597025" h="1498600">
                  <a:moveTo>
                    <a:pt x="1127046" y="1435100"/>
                  </a:moveTo>
                  <a:lnTo>
                    <a:pt x="1084283" y="1435100"/>
                  </a:lnTo>
                  <a:lnTo>
                    <a:pt x="1066473" y="1447800"/>
                  </a:lnTo>
                  <a:lnTo>
                    <a:pt x="1109236" y="1447800"/>
                  </a:lnTo>
                  <a:lnTo>
                    <a:pt x="1127046" y="1435100"/>
                  </a:lnTo>
                  <a:close/>
                </a:path>
                <a:path w="1597025" h="1498600">
                  <a:moveTo>
                    <a:pt x="779" y="736600"/>
                  </a:moveTo>
                  <a:lnTo>
                    <a:pt x="0" y="736600"/>
                  </a:lnTo>
                  <a:lnTo>
                    <a:pt x="500" y="774700"/>
                  </a:lnTo>
                  <a:lnTo>
                    <a:pt x="1280" y="787400"/>
                  </a:lnTo>
                  <a:lnTo>
                    <a:pt x="2615" y="812800"/>
                  </a:lnTo>
                  <a:lnTo>
                    <a:pt x="4378" y="825500"/>
                  </a:lnTo>
                  <a:lnTo>
                    <a:pt x="6697" y="850900"/>
                  </a:lnTo>
                  <a:lnTo>
                    <a:pt x="9508" y="863600"/>
                  </a:lnTo>
                  <a:lnTo>
                    <a:pt x="12754" y="889000"/>
                  </a:lnTo>
                  <a:lnTo>
                    <a:pt x="16548" y="901700"/>
                  </a:lnTo>
                  <a:lnTo>
                    <a:pt x="20778" y="927100"/>
                  </a:lnTo>
                  <a:lnTo>
                    <a:pt x="25490" y="939800"/>
                  </a:lnTo>
                  <a:lnTo>
                    <a:pt x="30629" y="952500"/>
                  </a:lnTo>
                  <a:lnTo>
                    <a:pt x="36260" y="977900"/>
                  </a:lnTo>
                  <a:lnTo>
                    <a:pt x="42317" y="990600"/>
                  </a:lnTo>
                  <a:lnTo>
                    <a:pt x="48792" y="1016000"/>
                  </a:lnTo>
                  <a:lnTo>
                    <a:pt x="55759" y="1028700"/>
                  </a:lnTo>
                  <a:lnTo>
                    <a:pt x="63078" y="1041400"/>
                  </a:lnTo>
                  <a:lnTo>
                    <a:pt x="70897" y="1066800"/>
                  </a:lnTo>
                  <a:lnTo>
                    <a:pt x="79162" y="1079500"/>
                  </a:lnTo>
                  <a:lnTo>
                    <a:pt x="96732" y="1104900"/>
                  </a:lnTo>
                  <a:lnTo>
                    <a:pt x="116017" y="1143000"/>
                  </a:lnTo>
                  <a:lnTo>
                    <a:pt x="136814" y="1168400"/>
                  </a:lnTo>
                  <a:lnTo>
                    <a:pt x="158984" y="1206500"/>
                  </a:lnTo>
                  <a:lnTo>
                    <a:pt x="207777" y="1257300"/>
                  </a:lnTo>
                  <a:lnTo>
                    <a:pt x="261950" y="1308100"/>
                  </a:lnTo>
                  <a:lnTo>
                    <a:pt x="290891" y="1333500"/>
                  </a:lnTo>
                  <a:lnTo>
                    <a:pt x="321132" y="1358900"/>
                  </a:lnTo>
                  <a:lnTo>
                    <a:pt x="352392" y="1371600"/>
                  </a:lnTo>
                  <a:lnTo>
                    <a:pt x="384766" y="1397000"/>
                  </a:lnTo>
                  <a:lnTo>
                    <a:pt x="418160" y="1409700"/>
                  </a:lnTo>
                  <a:lnTo>
                    <a:pt x="452575" y="1435100"/>
                  </a:lnTo>
                  <a:lnTo>
                    <a:pt x="495060" y="1435100"/>
                  </a:lnTo>
                  <a:lnTo>
                    <a:pt x="460553" y="1409700"/>
                  </a:lnTo>
                  <a:lnTo>
                    <a:pt x="460831" y="1409700"/>
                  </a:lnTo>
                  <a:lnTo>
                    <a:pt x="426880" y="1397000"/>
                  </a:lnTo>
                  <a:lnTo>
                    <a:pt x="427251" y="1397000"/>
                  </a:lnTo>
                  <a:lnTo>
                    <a:pt x="394228" y="1384300"/>
                  </a:lnTo>
                  <a:lnTo>
                    <a:pt x="394599" y="1384300"/>
                  </a:lnTo>
                  <a:lnTo>
                    <a:pt x="362596" y="1358900"/>
                  </a:lnTo>
                  <a:lnTo>
                    <a:pt x="362967" y="1358900"/>
                  </a:lnTo>
                  <a:lnTo>
                    <a:pt x="332078" y="1346200"/>
                  </a:lnTo>
                  <a:lnTo>
                    <a:pt x="332449" y="1346200"/>
                  </a:lnTo>
                  <a:lnTo>
                    <a:pt x="302579" y="1320800"/>
                  </a:lnTo>
                  <a:lnTo>
                    <a:pt x="302858" y="1320800"/>
                  </a:lnTo>
                  <a:lnTo>
                    <a:pt x="274287" y="1295400"/>
                  </a:lnTo>
                  <a:lnTo>
                    <a:pt x="274658" y="1295400"/>
                  </a:lnTo>
                  <a:lnTo>
                    <a:pt x="247200" y="1270000"/>
                  </a:lnTo>
                  <a:lnTo>
                    <a:pt x="247572" y="1270000"/>
                  </a:lnTo>
                  <a:lnTo>
                    <a:pt x="221413" y="1244600"/>
                  </a:lnTo>
                  <a:lnTo>
                    <a:pt x="221691" y="1244600"/>
                  </a:lnTo>
                  <a:lnTo>
                    <a:pt x="196924" y="1219200"/>
                  </a:lnTo>
                  <a:lnTo>
                    <a:pt x="197202" y="1219200"/>
                  </a:lnTo>
                  <a:lnTo>
                    <a:pt x="173733" y="1193800"/>
                  </a:lnTo>
                  <a:lnTo>
                    <a:pt x="174011" y="1193800"/>
                  </a:lnTo>
                  <a:lnTo>
                    <a:pt x="152027" y="1168400"/>
                  </a:lnTo>
                  <a:lnTo>
                    <a:pt x="152305" y="1168400"/>
                  </a:lnTo>
                  <a:lnTo>
                    <a:pt x="131712" y="1130300"/>
                  </a:lnTo>
                  <a:lnTo>
                    <a:pt x="131990" y="1130300"/>
                  </a:lnTo>
                  <a:lnTo>
                    <a:pt x="112918" y="1104900"/>
                  </a:lnTo>
                  <a:lnTo>
                    <a:pt x="113141" y="1104900"/>
                  </a:lnTo>
                  <a:lnTo>
                    <a:pt x="95748" y="1066800"/>
                  </a:lnTo>
                  <a:lnTo>
                    <a:pt x="95887" y="1066800"/>
                  </a:lnTo>
                  <a:lnTo>
                    <a:pt x="87743" y="1054100"/>
                  </a:lnTo>
                  <a:lnTo>
                    <a:pt x="80118" y="1041400"/>
                  </a:lnTo>
                  <a:lnTo>
                    <a:pt x="72985" y="1016000"/>
                  </a:lnTo>
                  <a:lnTo>
                    <a:pt x="66167" y="1003300"/>
                  </a:lnTo>
                  <a:lnTo>
                    <a:pt x="59859" y="990600"/>
                  </a:lnTo>
                  <a:lnTo>
                    <a:pt x="53941" y="965200"/>
                  </a:lnTo>
                  <a:lnTo>
                    <a:pt x="48440" y="952500"/>
                  </a:lnTo>
                  <a:lnTo>
                    <a:pt x="43431" y="939800"/>
                  </a:lnTo>
                  <a:lnTo>
                    <a:pt x="38820" y="914400"/>
                  </a:lnTo>
                  <a:lnTo>
                    <a:pt x="34702" y="901700"/>
                  </a:lnTo>
                  <a:lnTo>
                    <a:pt x="30991" y="876300"/>
                  </a:lnTo>
                  <a:lnTo>
                    <a:pt x="27837" y="863600"/>
                  </a:lnTo>
                  <a:lnTo>
                    <a:pt x="25082" y="838200"/>
                  </a:lnTo>
                  <a:lnTo>
                    <a:pt x="22819" y="825500"/>
                  </a:lnTo>
                  <a:lnTo>
                    <a:pt x="21103" y="812800"/>
                  </a:lnTo>
                  <a:lnTo>
                    <a:pt x="19795" y="787400"/>
                  </a:lnTo>
                  <a:lnTo>
                    <a:pt x="19044" y="774700"/>
                  </a:lnTo>
                  <a:lnTo>
                    <a:pt x="18909" y="762000"/>
                  </a:lnTo>
                  <a:lnTo>
                    <a:pt x="2940" y="762000"/>
                  </a:lnTo>
                  <a:lnTo>
                    <a:pt x="18774" y="749300"/>
                  </a:lnTo>
                  <a:lnTo>
                    <a:pt x="500" y="749300"/>
                  </a:lnTo>
                  <a:lnTo>
                    <a:pt x="779" y="736600"/>
                  </a:lnTo>
                  <a:close/>
                </a:path>
                <a:path w="1597025" h="1498600">
                  <a:moveTo>
                    <a:pt x="1109236" y="50800"/>
                  </a:moveTo>
                  <a:lnTo>
                    <a:pt x="1048848" y="50800"/>
                  </a:lnTo>
                  <a:lnTo>
                    <a:pt x="1066844" y="63500"/>
                  </a:lnTo>
                  <a:lnTo>
                    <a:pt x="1084654" y="63500"/>
                  </a:lnTo>
                  <a:lnTo>
                    <a:pt x="1102186" y="76200"/>
                  </a:lnTo>
                  <a:lnTo>
                    <a:pt x="1119532" y="76200"/>
                  </a:lnTo>
                  <a:lnTo>
                    <a:pt x="1136786" y="88900"/>
                  </a:lnTo>
                  <a:lnTo>
                    <a:pt x="1136415" y="88900"/>
                  </a:lnTo>
                  <a:lnTo>
                    <a:pt x="1170459" y="101600"/>
                  </a:lnTo>
                  <a:lnTo>
                    <a:pt x="1170088" y="101600"/>
                  </a:lnTo>
                  <a:lnTo>
                    <a:pt x="1203018" y="114300"/>
                  </a:lnTo>
                  <a:lnTo>
                    <a:pt x="1202647" y="114300"/>
                  </a:lnTo>
                  <a:lnTo>
                    <a:pt x="1234743" y="139700"/>
                  </a:lnTo>
                  <a:lnTo>
                    <a:pt x="1234372" y="139700"/>
                  </a:lnTo>
                  <a:lnTo>
                    <a:pt x="1265261" y="165100"/>
                  </a:lnTo>
                  <a:lnTo>
                    <a:pt x="1264890" y="165100"/>
                  </a:lnTo>
                  <a:lnTo>
                    <a:pt x="1294667" y="177800"/>
                  </a:lnTo>
                  <a:lnTo>
                    <a:pt x="1294296" y="177800"/>
                  </a:lnTo>
                  <a:lnTo>
                    <a:pt x="1322959" y="203200"/>
                  </a:lnTo>
                  <a:lnTo>
                    <a:pt x="1322681" y="203200"/>
                  </a:lnTo>
                  <a:lnTo>
                    <a:pt x="1350046" y="228600"/>
                  </a:lnTo>
                  <a:lnTo>
                    <a:pt x="1349767" y="228600"/>
                  </a:lnTo>
                  <a:lnTo>
                    <a:pt x="1375833" y="254000"/>
                  </a:lnTo>
                  <a:lnTo>
                    <a:pt x="1375555" y="254000"/>
                  </a:lnTo>
                  <a:lnTo>
                    <a:pt x="1400322" y="279400"/>
                  </a:lnTo>
                  <a:lnTo>
                    <a:pt x="1400044" y="279400"/>
                  </a:lnTo>
                  <a:lnTo>
                    <a:pt x="1423513" y="304800"/>
                  </a:lnTo>
                  <a:lnTo>
                    <a:pt x="1423235" y="304800"/>
                  </a:lnTo>
                  <a:lnTo>
                    <a:pt x="1445219" y="342900"/>
                  </a:lnTo>
                  <a:lnTo>
                    <a:pt x="1444941" y="342900"/>
                  </a:lnTo>
                  <a:lnTo>
                    <a:pt x="1465441" y="368300"/>
                  </a:lnTo>
                  <a:lnTo>
                    <a:pt x="1465256" y="368300"/>
                  </a:lnTo>
                  <a:lnTo>
                    <a:pt x="1484272" y="393700"/>
                  </a:lnTo>
                  <a:lnTo>
                    <a:pt x="1483994" y="393700"/>
                  </a:lnTo>
                  <a:lnTo>
                    <a:pt x="1501433" y="431800"/>
                  </a:lnTo>
                  <a:lnTo>
                    <a:pt x="1501247" y="431800"/>
                  </a:lnTo>
                  <a:lnTo>
                    <a:pt x="1509410" y="444500"/>
                  </a:lnTo>
                  <a:lnTo>
                    <a:pt x="1516924" y="469900"/>
                  </a:lnTo>
                  <a:lnTo>
                    <a:pt x="1524159" y="482600"/>
                  </a:lnTo>
                  <a:lnTo>
                    <a:pt x="1530931" y="495300"/>
                  </a:lnTo>
                  <a:lnTo>
                    <a:pt x="1537332" y="520700"/>
                  </a:lnTo>
                  <a:lnTo>
                    <a:pt x="1543176" y="533400"/>
                  </a:lnTo>
                  <a:lnTo>
                    <a:pt x="1548649" y="546100"/>
                  </a:lnTo>
                  <a:lnTo>
                    <a:pt x="1553658" y="571500"/>
                  </a:lnTo>
                  <a:lnTo>
                    <a:pt x="1558296" y="584200"/>
                  </a:lnTo>
                  <a:lnTo>
                    <a:pt x="1562377" y="596900"/>
                  </a:lnTo>
                  <a:lnTo>
                    <a:pt x="1565995" y="622300"/>
                  </a:lnTo>
                  <a:lnTo>
                    <a:pt x="1569149" y="635000"/>
                  </a:lnTo>
                  <a:lnTo>
                    <a:pt x="1571932" y="660400"/>
                  </a:lnTo>
                  <a:lnTo>
                    <a:pt x="1574158" y="673100"/>
                  </a:lnTo>
                  <a:lnTo>
                    <a:pt x="1575921" y="698500"/>
                  </a:lnTo>
                  <a:lnTo>
                    <a:pt x="1577126" y="711200"/>
                  </a:lnTo>
                  <a:lnTo>
                    <a:pt x="1577869" y="736600"/>
                  </a:lnTo>
                  <a:lnTo>
                    <a:pt x="1578147" y="749300"/>
                  </a:lnTo>
                  <a:lnTo>
                    <a:pt x="1577961" y="774700"/>
                  </a:lnTo>
                  <a:lnTo>
                    <a:pt x="1577219" y="787400"/>
                  </a:lnTo>
                  <a:lnTo>
                    <a:pt x="1575921" y="812800"/>
                  </a:lnTo>
                  <a:lnTo>
                    <a:pt x="1574158" y="825500"/>
                  </a:lnTo>
                  <a:lnTo>
                    <a:pt x="1571932" y="850900"/>
                  </a:lnTo>
                  <a:lnTo>
                    <a:pt x="1569242" y="863600"/>
                  </a:lnTo>
                  <a:lnTo>
                    <a:pt x="1566088" y="876300"/>
                  </a:lnTo>
                  <a:lnTo>
                    <a:pt x="1562377" y="901700"/>
                  </a:lnTo>
                  <a:lnTo>
                    <a:pt x="1558296" y="914400"/>
                  </a:lnTo>
                  <a:lnTo>
                    <a:pt x="1553658" y="939800"/>
                  </a:lnTo>
                  <a:lnTo>
                    <a:pt x="1548649" y="952500"/>
                  </a:lnTo>
                  <a:lnTo>
                    <a:pt x="1543176" y="965200"/>
                  </a:lnTo>
                  <a:lnTo>
                    <a:pt x="1537239" y="990600"/>
                  </a:lnTo>
                  <a:lnTo>
                    <a:pt x="1530931" y="1003300"/>
                  </a:lnTo>
                  <a:lnTo>
                    <a:pt x="1524067" y="1016000"/>
                  </a:lnTo>
                  <a:lnTo>
                    <a:pt x="1516924" y="1041400"/>
                  </a:lnTo>
                  <a:lnTo>
                    <a:pt x="1509318" y="1054100"/>
                  </a:lnTo>
                  <a:lnTo>
                    <a:pt x="1501340" y="1066800"/>
                  </a:lnTo>
                  <a:lnTo>
                    <a:pt x="1501526" y="1066800"/>
                  </a:lnTo>
                  <a:lnTo>
                    <a:pt x="1483994" y="1104900"/>
                  </a:lnTo>
                  <a:lnTo>
                    <a:pt x="1484272" y="1104900"/>
                  </a:lnTo>
                  <a:lnTo>
                    <a:pt x="1465256" y="1130300"/>
                  </a:lnTo>
                  <a:lnTo>
                    <a:pt x="1465441" y="1130300"/>
                  </a:lnTo>
                  <a:lnTo>
                    <a:pt x="1444941" y="1168400"/>
                  </a:lnTo>
                  <a:lnTo>
                    <a:pt x="1445219" y="1168400"/>
                  </a:lnTo>
                  <a:lnTo>
                    <a:pt x="1423235" y="1193800"/>
                  </a:lnTo>
                  <a:lnTo>
                    <a:pt x="1423513" y="1193800"/>
                  </a:lnTo>
                  <a:lnTo>
                    <a:pt x="1400044" y="1219200"/>
                  </a:lnTo>
                  <a:lnTo>
                    <a:pt x="1400322" y="1219200"/>
                  </a:lnTo>
                  <a:lnTo>
                    <a:pt x="1375555" y="1244600"/>
                  </a:lnTo>
                  <a:lnTo>
                    <a:pt x="1375833" y="1244600"/>
                  </a:lnTo>
                  <a:lnTo>
                    <a:pt x="1349675" y="1270000"/>
                  </a:lnTo>
                  <a:lnTo>
                    <a:pt x="1350046" y="1270000"/>
                  </a:lnTo>
                  <a:lnTo>
                    <a:pt x="1322588" y="1295400"/>
                  </a:lnTo>
                  <a:lnTo>
                    <a:pt x="1322959" y="1295400"/>
                  </a:lnTo>
                  <a:lnTo>
                    <a:pt x="1294296" y="1320800"/>
                  </a:lnTo>
                  <a:lnTo>
                    <a:pt x="1294667" y="1320800"/>
                  </a:lnTo>
                  <a:lnTo>
                    <a:pt x="1264797" y="1346200"/>
                  </a:lnTo>
                  <a:lnTo>
                    <a:pt x="1265169" y="1346200"/>
                  </a:lnTo>
                  <a:lnTo>
                    <a:pt x="1234279" y="1358900"/>
                  </a:lnTo>
                  <a:lnTo>
                    <a:pt x="1234650" y="1358900"/>
                  </a:lnTo>
                  <a:lnTo>
                    <a:pt x="1202554" y="1384300"/>
                  </a:lnTo>
                  <a:lnTo>
                    <a:pt x="1202925" y="1384300"/>
                  </a:lnTo>
                  <a:lnTo>
                    <a:pt x="1169902" y="1397000"/>
                  </a:lnTo>
                  <a:lnTo>
                    <a:pt x="1170273" y="1397000"/>
                  </a:lnTo>
                  <a:lnTo>
                    <a:pt x="1136322" y="1409700"/>
                  </a:lnTo>
                  <a:lnTo>
                    <a:pt x="1136601" y="1409700"/>
                  </a:lnTo>
                  <a:lnTo>
                    <a:pt x="1101908" y="1435100"/>
                  </a:lnTo>
                  <a:lnTo>
                    <a:pt x="1144578" y="1435100"/>
                  </a:lnTo>
                  <a:lnTo>
                    <a:pt x="1178993" y="1409700"/>
                  </a:lnTo>
                  <a:lnTo>
                    <a:pt x="1212387" y="1397000"/>
                  </a:lnTo>
                  <a:lnTo>
                    <a:pt x="1244854" y="1371600"/>
                  </a:lnTo>
                  <a:lnTo>
                    <a:pt x="1306262" y="1333500"/>
                  </a:lnTo>
                  <a:lnTo>
                    <a:pt x="1335204" y="1308100"/>
                  </a:lnTo>
                  <a:lnTo>
                    <a:pt x="1389469" y="1257300"/>
                  </a:lnTo>
                  <a:lnTo>
                    <a:pt x="1438169" y="1206500"/>
                  </a:lnTo>
                  <a:lnTo>
                    <a:pt x="1460432" y="1168400"/>
                  </a:lnTo>
                  <a:lnTo>
                    <a:pt x="1481211" y="1143000"/>
                  </a:lnTo>
                  <a:lnTo>
                    <a:pt x="1500412" y="1104900"/>
                  </a:lnTo>
                  <a:lnTo>
                    <a:pt x="1518037" y="1079500"/>
                  </a:lnTo>
                  <a:lnTo>
                    <a:pt x="1526293" y="1066800"/>
                  </a:lnTo>
                  <a:lnTo>
                    <a:pt x="1534085" y="1041400"/>
                  </a:lnTo>
                  <a:lnTo>
                    <a:pt x="1541413" y="1028700"/>
                  </a:lnTo>
                  <a:lnTo>
                    <a:pt x="1548370" y="1016000"/>
                  </a:lnTo>
                  <a:lnTo>
                    <a:pt x="1554864" y="990600"/>
                  </a:lnTo>
                  <a:lnTo>
                    <a:pt x="1560893" y="977900"/>
                  </a:lnTo>
                  <a:lnTo>
                    <a:pt x="1566552" y="952500"/>
                  </a:lnTo>
                  <a:lnTo>
                    <a:pt x="1571654" y="939800"/>
                  </a:lnTo>
                  <a:lnTo>
                    <a:pt x="1576384" y="927100"/>
                  </a:lnTo>
                  <a:lnTo>
                    <a:pt x="1580559" y="901700"/>
                  </a:lnTo>
                  <a:lnTo>
                    <a:pt x="1584362" y="889000"/>
                  </a:lnTo>
                  <a:lnTo>
                    <a:pt x="1587609" y="863600"/>
                  </a:lnTo>
                  <a:lnTo>
                    <a:pt x="1590391" y="850900"/>
                  </a:lnTo>
                  <a:lnTo>
                    <a:pt x="1592618" y="825500"/>
                  </a:lnTo>
                  <a:lnTo>
                    <a:pt x="1594473" y="812800"/>
                  </a:lnTo>
                  <a:lnTo>
                    <a:pt x="1595772" y="787400"/>
                  </a:lnTo>
                  <a:lnTo>
                    <a:pt x="1596514" y="774700"/>
                  </a:lnTo>
                  <a:lnTo>
                    <a:pt x="1596699" y="749300"/>
                  </a:lnTo>
                  <a:lnTo>
                    <a:pt x="1596421" y="736600"/>
                  </a:lnTo>
                  <a:lnTo>
                    <a:pt x="1595679" y="711200"/>
                  </a:lnTo>
                  <a:lnTo>
                    <a:pt x="1594380" y="698500"/>
                  </a:lnTo>
                  <a:lnTo>
                    <a:pt x="1592525" y="673100"/>
                  </a:lnTo>
                  <a:lnTo>
                    <a:pt x="1590299" y="660400"/>
                  </a:lnTo>
                  <a:lnTo>
                    <a:pt x="1587516" y="635000"/>
                  </a:lnTo>
                  <a:lnTo>
                    <a:pt x="1584269" y="622300"/>
                  </a:lnTo>
                  <a:lnTo>
                    <a:pt x="1580559" y="596900"/>
                  </a:lnTo>
                  <a:lnTo>
                    <a:pt x="1576292" y="584200"/>
                  </a:lnTo>
                  <a:lnTo>
                    <a:pt x="1571561" y="558800"/>
                  </a:lnTo>
                  <a:lnTo>
                    <a:pt x="1566459" y="546100"/>
                  </a:lnTo>
                  <a:lnTo>
                    <a:pt x="1560800" y="520700"/>
                  </a:lnTo>
                  <a:lnTo>
                    <a:pt x="1554864" y="508000"/>
                  </a:lnTo>
                  <a:lnTo>
                    <a:pt x="1548278" y="495300"/>
                  </a:lnTo>
                  <a:lnTo>
                    <a:pt x="1541413" y="469900"/>
                  </a:lnTo>
                  <a:lnTo>
                    <a:pt x="1533992" y="457200"/>
                  </a:lnTo>
                  <a:lnTo>
                    <a:pt x="1526293" y="444500"/>
                  </a:lnTo>
                  <a:lnTo>
                    <a:pt x="1518037" y="419100"/>
                  </a:lnTo>
                  <a:lnTo>
                    <a:pt x="1500412" y="393700"/>
                  </a:lnTo>
                  <a:lnTo>
                    <a:pt x="1481211" y="355600"/>
                  </a:lnTo>
                  <a:lnTo>
                    <a:pt x="1460432" y="330200"/>
                  </a:lnTo>
                  <a:lnTo>
                    <a:pt x="1438169" y="304800"/>
                  </a:lnTo>
                  <a:lnTo>
                    <a:pt x="1414515" y="266700"/>
                  </a:lnTo>
                  <a:lnTo>
                    <a:pt x="1363032" y="215900"/>
                  </a:lnTo>
                  <a:lnTo>
                    <a:pt x="1306262" y="165100"/>
                  </a:lnTo>
                  <a:lnTo>
                    <a:pt x="1276207" y="152400"/>
                  </a:lnTo>
                  <a:lnTo>
                    <a:pt x="1244946" y="127000"/>
                  </a:lnTo>
                  <a:lnTo>
                    <a:pt x="1212480" y="101600"/>
                  </a:lnTo>
                  <a:lnTo>
                    <a:pt x="1179086" y="88900"/>
                  </a:lnTo>
                  <a:lnTo>
                    <a:pt x="1144764" y="76200"/>
                  </a:lnTo>
                  <a:lnTo>
                    <a:pt x="1109236" y="50800"/>
                  </a:lnTo>
                  <a:close/>
                </a:path>
                <a:path w="1597025" h="1498600">
                  <a:moveTo>
                    <a:pt x="18774" y="749300"/>
                  </a:moveTo>
                  <a:lnTo>
                    <a:pt x="2940" y="762000"/>
                  </a:lnTo>
                  <a:lnTo>
                    <a:pt x="18830" y="762000"/>
                  </a:lnTo>
                  <a:lnTo>
                    <a:pt x="18774" y="749300"/>
                  </a:lnTo>
                  <a:close/>
                </a:path>
                <a:path w="1597025" h="1498600">
                  <a:moveTo>
                    <a:pt x="18881" y="759398"/>
                  </a:moveTo>
                  <a:lnTo>
                    <a:pt x="18830" y="762000"/>
                  </a:lnTo>
                  <a:lnTo>
                    <a:pt x="18881" y="759398"/>
                  </a:lnTo>
                  <a:close/>
                </a:path>
                <a:path w="1597025" h="1498600">
                  <a:moveTo>
                    <a:pt x="19331" y="736600"/>
                  </a:moveTo>
                  <a:lnTo>
                    <a:pt x="4693" y="736600"/>
                  </a:lnTo>
                  <a:lnTo>
                    <a:pt x="16335" y="749300"/>
                  </a:lnTo>
                  <a:lnTo>
                    <a:pt x="18774" y="749300"/>
                  </a:lnTo>
                  <a:lnTo>
                    <a:pt x="18881" y="759398"/>
                  </a:lnTo>
                  <a:lnTo>
                    <a:pt x="19331" y="736600"/>
                  </a:lnTo>
                  <a:close/>
                </a:path>
                <a:path w="1597025" h="1498600">
                  <a:moveTo>
                    <a:pt x="548676" y="50800"/>
                  </a:moveTo>
                  <a:lnTo>
                    <a:pt x="487917" y="50800"/>
                  </a:lnTo>
                  <a:lnTo>
                    <a:pt x="470107" y="63500"/>
                  </a:lnTo>
                  <a:lnTo>
                    <a:pt x="452575" y="76200"/>
                  </a:lnTo>
                  <a:lnTo>
                    <a:pt x="418160" y="88900"/>
                  </a:lnTo>
                  <a:lnTo>
                    <a:pt x="384766" y="101600"/>
                  </a:lnTo>
                  <a:lnTo>
                    <a:pt x="352392" y="127000"/>
                  </a:lnTo>
                  <a:lnTo>
                    <a:pt x="321132" y="152400"/>
                  </a:lnTo>
                  <a:lnTo>
                    <a:pt x="290891" y="165100"/>
                  </a:lnTo>
                  <a:lnTo>
                    <a:pt x="261950" y="190500"/>
                  </a:lnTo>
                  <a:lnTo>
                    <a:pt x="207869" y="241300"/>
                  </a:lnTo>
                  <a:lnTo>
                    <a:pt x="159077" y="304800"/>
                  </a:lnTo>
                  <a:lnTo>
                    <a:pt x="136814" y="330200"/>
                  </a:lnTo>
                  <a:lnTo>
                    <a:pt x="116082" y="355600"/>
                  </a:lnTo>
                  <a:lnTo>
                    <a:pt x="96871" y="393700"/>
                  </a:lnTo>
                  <a:lnTo>
                    <a:pt x="79218" y="419100"/>
                  </a:lnTo>
                  <a:lnTo>
                    <a:pt x="71036" y="444500"/>
                  </a:lnTo>
                  <a:lnTo>
                    <a:pt x="63217" y="457200"/>
                  </a:lnTo>
                  <a:lnTo>
                    <a:pt x="55898" y="469900"/>
                  </a:lnTo>
                  <a:lnTo>
                    <a:pt x="48931" y="495300"/>
                  </a:lnTo>
                  <a:lnTo>
                    <a:pt x="42457" y="508000"/>
                  </a:lnTo>
                  <a:lnTo>
                    <a:pt x="36399" y="520700"/>
                  </a:lnTo>
                  <a:lnTo>
                    <a:pt x="30769" y="546100"/>
                  </a:lnTo>
                  <a:lnTo>
                    <a:pt x="25630" y="558800"/>
                  </a:lnTo>
                  <a:lnTo>
                    <a:pt x="20917" y="584200"/>
                  </a:lnTo>
                  <a:lnTo>
                    <a:pt x="16687" y="596900"/>
                  </a:lnTo>
                  <a:lnTo>
                    <a:pt x="12958" y="622300"/>
                  </a:lnTo>
                  <a:lnTo>
                    <a:pt x="9721" y="635000"/>
                  </a:lnTo>
                  <a:lnTo>
                    <a:pt x="6901" y="660400"/>
                  </a:lnTo>
                  <a:lnTo>
                    <a:pt x="4656" y="673100"/>
                  </a:lnTo>
                  <a:lnTo>
                    <a:pt x="2819" y="698500"/>
                  </a:lnTo>
                  <a:lnTo>
                    <a:pt x="1558" y="711200"/>
                  </a:lnTo>
                  <a:lnTo>
                    <a:pt x="779" y="736600"/>
                  </a:lnTo>
                  <a:lnTo>
                    <a:pt x="500" y="749300"/>
                  </a:lnTo>
                  <a:lnTo>
                    <a:pt x="16335" y="749300"/>
                  </a:lnTo>
                  <a:lnTo>
                    <a:pt x="4693" y="736600"/>
                  </a:lnTo>
                  <a:lnTo>
                    <a:pt x="19331" y="736600"/>
                  </a:lnTo>
                  <a:lnTo>
                    <a:pt x="20092" y="711200"/>
                  </a:lnTo>
                  <a:lnTo>
                    <a:pt x="21335" y="698500"/>
                  </a:lnTo>
                  <a:lnTo>
                    <a:pt x="23116" y="673100"/>
                  </a:lnTo>
                  <a:lnTo>
                    <a:pt x="25323" y="660400"/>
                  </a:lnTo>
                  <a:lnTo>
                    <a:pt x="28078" y="635000"/>
                  </a:lnTo>
                  <a:lnTo>
                    <a:pt x="31242" y="622300"/>
                  </a:lnTo>
                  <a:lnTo>
                    <a:pt x="34887" y="596900"/>
                  </a:lnTo>
                  <a:lnTo>
                    <a:pt x="39015" y="584200"/>
                  </a:lnTo>
                  <a:lnTo>
                    <a:pt x="43625" y="571500"/>
                  </a:lnTo>
                  <a:lnTo>
                    <a:pt x="48644" y="546100"/>
                  </a:lnTo>
                  <a:lnTo>
                    <a:pt x="54145" y="533400"/>
                  </a:lnTo>
                  <a:lnTo>
                    <a:pt x="60063" y="508000"/>
                  </a:lnTo>
                  <a:lnTo>
                    <a:pt x="66398" y="495300"/>
                  </a:lnTo>
                  <a:lnTo>
                    <a:pt x="73198" y="482600"/>
                  </a:lnTo>
                  <a:lnTo>
                    <a:pt x="80359" y="469900"/>
                  </a:lnTo>
                  <a:lnTo>
                    <a:pt x="87975" y="444500"/>
                  </a:lnTo>
                  <a:lnTo>
                    <a:pt x="95971" y="431800"/>
                  </a:lnTo>
                  <a:lnTo>
                    <a:pt x="95813" y="431800"/>
                  </a:lnTo>
                  <a:lnTo>
                    <a:pt x="113271" y="393700"/>
                  </a:lnTo>
                  <a:lnTo>
                    <a:pt x="113067" y="393700"/>
                  </a:lnTo>
                  <a:lnTo>
                    <a:pt x="132083" y="368300"/>
                  </a:lnTo>
                  <a:lnTo>
                    <a:pt x="131805" y="368300"/>
                  </a:lnTo>
                  <a:lnTo>
                    <a:pt x="152305" y="342900"/>
                  </a:lnTo>
                  <a:lnTo>
                    <a:pt x="152120" y="342900"/>
                  </a:lnTo>
                  <a:lnTo>
                    <a:pt x="174104" y="304800"/>
                  </a:lnTo>
                  <a:lnTo>
                    <a:pt x="173826" y="304800"/>
                  </a:lnTo>
                  <a:lnTo>
                    <a:pt x="197202" y="279400"/>
                  </a:lnTo>
                  <a:lnTo>
                    <a:pt x="196924" y="279400"/>
                  </a:lnTo>
                  <a:lnTo>
                    <a:pt x="221691" y="254000"/>
                  </a:lnTo>
                  <a:lnTo>
                    <a:pt x="221413" y="254000"/>
                  </a:lnTo>
                  <a:lnTo>
                    <a:pt x="247571" y="228600"/>
                  </a:lnTo>
                  <a:lnTo>
                    <a:pt x="247200" y="228600"/>
                  </a:lnTo>
                  <a:lnTo>
                    <a:pt x="274658" y="203200"/>
                  </a:lnTo>
                  <a:lnTo>
                    <a:pt x="274287" y="203200"/>
                  </a:lnTo>
                  <a:lnTo>
                    <a:pt x="302857" y="177800"/>
                  </a:lnTo>
                  <a:lnTo>
                    <a:pt x="302579" y="177800"/>
                  </a:lnTo>
                  <a:lnTo>
                    <a:pt x="332449" y="165100"/>
                  </a:lnTo>
                  <a:lnTo>
                    <a:pt x="332077" y="165100"/>
                  </a:lnTo>
                  <a:lnTo>
                    <a:pt x="362967" y="139700"/>
                  </a:lnTo>
                  <a:lnTo>
                    <a:pt x="362596" y="139700"/>
                  </a:lnTo>
                  <a:lnTo>
                    <a:pt x="394599" y="114300"/>
                  </a:lnTo>
                  <a:lnTo>
                    <a:pt x="394228" y="114300"/>
                  </a:lnTo>
                  <a:lnTo>
                    <a:pt x="427251" y="101600"/>
                  </a:lnTo>
                  <a:lnTo>
                    <a:pt x="426880" y="101600"/>
                  </a:lnTo>
                  <a:lnTo>
                    <a:pt x="460831" y="88900"/>
                  </a:lnTo>
                  <a:lnTo>
                    <a:pt x="460553" y="88900"/>
                  </a:lnTo>
                  <a:lnTo>
                    <a:pt x="477899" y="76200"/>
                  </a:lnTo>
                  <a:lnTo>
                    <a:pt x="495245" y="76200"/>
                  </a:lnTo>
                  <a:lnTo>
                    <a:pt x="512870" y="63500"/>
                  </a:lnTo>
                  <a:lnTo>
                    <a:pt x="530680" y="63500"/>
                  </a:lnTo>
                  <a:lnTo>
                    <a:pt x="548676" y="50800"/>
                  </a:lnTo>
                  <a:close/>
                </a:path>
                <a:path w="1597025" h="1498600">
                  <a:moveTo>
                    <a:pt x="585317" y="38100"/>
                  </a:moveTo>
                  <a:lnTo>
                    <a:pt x="524187" y="38100"/>
                  </a:lnTo>
                  <a:lnTo>
                    <a:pt x="506006" y="50800"/>
                  </a:lnTo>
                  <a:lnTo>
                    <a:pt x="566950" y="50800"/>
                  </a:lnTo>
                  <a:lnTo>
                    <a:pt x="585317" y="38100"/>
                  </a:lnTo>
                  <a:close/>
                </a:path>
                <a:path w="1597025" h="1498600">
                  <a:moveTo>
                    <a:pt x="1073059" y="38100"/>
                  </a:moveTo>
                  <a:lnTo>
                    <a:pt x="1012207" y="38100"/>
                  </a:lnTo>
                  <a:lnTo>
                    <a:pt x="1030574" y="50800"/>
                  </a:lnTo>
                  <a:lnTo>
                    <a:pt x="1091333" y="50800"/>
                  </a:lnTo>
                  <a:lnTo>
                    <a:pt x="1073059" y="38100"/>
                  </a:lnTo>
                  <a:close/>
                </a:path>
                <a:path w="1597025" h="1498600">
                  <a:moveTo>
                    <a:pt x="641531" y="25400"/>
                  </a:moveTo>
                  <a:lnTo>
                    <a:pt x="561292" y="25400"/>
                  </a:lnTo>
                  <a:lnTo>
                    <a:pt x="542647" y="38100"/>
                  </a:lnTo>
                  <a:lnTo>
                    <a:pt x="622607" y="38100"/>
                  </a:lnTo>
                  <a:lnTo>
                    <a:pt x="641531" y="25400"/>
                  </a:lnTo>
                  <a:close/>
                </a:path>
                <a:path w="1597025" h="1498600">
                  <a:moveTo>
                    <a:pt x="1035954" y="25400"/>
                  </a:moveTo>
                  <a:lnTo>
                    <a:pt x="955901" y="25400"/>
                  </a:lnTo>
                  <a:lnTo>
                    <a:pt x="974824" y="38100"/>
                  </a:lnTo>
                  <a:lnTo>
                    <a:pt x="1054692" y="38100"/>
                  </a:lnTo>
                  <a:lnTo>
                    <a:pt x="1035954" y="25400"/>
                  </a:lnTo>
                  <a:close/>
                </a:path>
                <a:path w="1597025" h="1498600">
                  <a:moveTo>
                    <a:pt x="718987" y="12700"/>
                  </a:moveTo>
                  <a:lnTo>
                    <a:pt x="618340" y="12700"/>
                  </a:lnTo>
                  <a:lnTo>
                    <a:pt x="599139" y="25400"/>
                  </a:lnTo>
                  <a:lnTo>
                    <a:pt x="699414" y="25400"/>
                  </a:lnTo>
                  <a:lnTo>
                    <a:pt x="718987" y="12700"/>
                  </a:lnTo>
                  <a:close/>
                </a:path>
                <a:path w="1597025" h="1498600">
                  <a:moveTo>
                    <a:pt x="978906" y="12700"/>
                  </a:moveTo>
                  <a:lnTo>
                    <a:pt x="878444" y="12700"/>
                  </a:lnTo>
                  <a:lnTo>
                    <a:pt x="898110" y="25400"/>
                  </a:lnTo>
                  <a:lnTo>
                    <a:pt x="998107" y="25400"/>
                  </a:lnTo>
                  <a:lnTo>
                    <a:pt x="978906" y="12700"/>
                  </a:lnTo>
                  <a:close/>
                </a:path>
                <a:path w="1597025" h="1498600">
                  <a:moveTo>
                    <a:pt x="920187" y="0"/>
                  </a:moveTo>
                  <a:lnTo>
                    <a:pt x="677059" y="0"/>
                  </a:lnTo>
                  <a:lnTo>
                    <a:pt x="657300" y="12700"/>
                  </a:lnTo>
                  <a:lnTo>
                    <a:pt x="939853" y="12700"/>
                  </a:lnTo>
                  <a:lnTo>
                    <a:pt x="920187" y="0"/>
                  </a:lnTo>
                  <a:close/>
                </a:path>
              </a:pathLst>
            </a:custGeom>
            <a:solidFill>
              <a:srgbClr val="FFFF00"/>
            </a:solidFill>
          </p:spPr>
          <p:txBody>
            <a:bodyPr wrap="square" lIns="0" tIns="0" rIns="0" bIns="0" rtlCol="0"/>
            <a:lstStyle/>
            <a:p>
              <a:endParaRPr/>
            </a:p>
          </p:txBody>
        </p:sp>
        <p:pic>
          <p:nvPicPr>
            <p:cNvPr id="130" name="object 63">
              <a:extLst>
                <a:ext uri="{FF2B5EF4-FFF2-40B4-BE49-F238E27FC236}">
                  <a16:creationId xmlns:a16="http://schemas.microsoft.com/office/drawing/2014/main" id="{61E66185-0E63-0C00-1E97-E26BCDB2C586}"/>
                </a:ext>
              </a:extLst>
            </p:cNvPr>
            <p:cNvPicPr/>
            <p:nvPr/>
          </p:nvPicPr>
          <p:blipFill>
            <a:blip r:embed="rId33" cstate="print"/>
            <a:stretch>
              <a:fillRect/>
            </a:stretch>
          </p:blipFill>
          <p:spPr>
            <a:xfrm>
              <a:off x="2830627" y="4494287"/>
              <a:ext cx="1196627" cy="486611"/>
            </a:xfrm>
            <a:prstGeom prst="rect">
              <a:avLst/>
            </a:prstGeom>
          </p:spPr>
        </p:pic>
      </p:grpSp>
      <p:sp>
        <p:nvSpPr>
          <p:cNvPr id="131" name="object 64">
            <a:extLst>
              <a:ext uri="{FF2B5EF4-FFF2-40B4-BE49-F238E27FC236}">
                <a16:creationId xmlns:a16="http://schemas.microsoft.com/office/drawing/2014/main" id="{31EA29F3-E96B-8563-CD6E-2FCB54759366}"/>
              </a:ext>
            </a:extLst>
          </p:cNvPr>
          <p:cNvSpPr txBox="1"/>
          <p:nvPr/>
        </p:nvSpPr>
        <p:spPr>
          <a:xfrm>
            <a:off x="1603888" y="2888032"/>
            <a:ext cx="869154" cy="521297"/>
          </a:xfrm>
          <a:prstGeom prst="rect">
            <a:avLst/>
          </a:prstGeom>
        </p:spPr>
        <p:txBody>
          <a:bodyPr vert="horz" wrap="square" lIns="0" tIns="13335" rIns="0" bIns="0" rtlCol="0">
            <a:spAutoFit/>
          </a:bodyPr>
          <a:lstStyle/>
          <a:p>
            <a:pPr marL="12700">
              <a:lnSpc>
                <a:spcPct val="100000"/>
              </a:lnSpc>
              <a:spcBef>
                <a:spcPts val="105"/>
              </a:spcBef>
            </a:pPr>
            <a:r>
              <a:rPr sz="1650" spc="35" dirty="0">
                <a:solidFill>
                  <a:srgbClr val="FFFF00"/>
                </a:solidFill>
                <a:latin typeface="Cambria"/>
                <a:cs typeface="Cambria"/>
              </a:rPr>
              <a:t>Cell</a:t>
            </a:r>
            <a:r>
              <a:rPr sz="1650" spc="-45" dirty="0">
                <a:solidFill>
                  <a:srgbClr val="FFFF00"/>
                </a:solidFill>
                <a:latin typeface="Cambria"/>
                <a:cs typeface="Cambria"/>
              </a:rPr>
              <a:t> </a:t>
            </a:r>
            <a:r>
              <a:rPr sz="1650" spc="50" dirty="0">
                <a:solidFill>
                  <a:srgbClr val="FFFF00"/>
                </a:solidFill>
                <a:latin typeface="Cambria"/>
                <a:cs typeface="Cambria"/>
              </a:rPr>
              <a:t>Body</a:t>
            </a:r>
            <a:endParaRPr sz="1650" dirty="0">
              <a:latin typeface="Cambria"/>
              <a:cs typeface="Cambria"/>
            </a:endParaRPr>
          </a:p>
        </p:txBody>
      </p:sp>
      <p:grpSp>
        <p:nvGrpSpPr>
          <p:cNvPr id="132" name="object 65">
            <a:extLst>
              <a:ext uri="{FF2B5EF4-FFF2-40B4-BE49-F238E27FC236}">
                <a16:creationId xmlns:a16="http://schemas.microsoft.com/office/drawing/2014/main" id="{CE075A91-343B-4667-E9A6-1B2D3FF3761A}"/>
              </a:ext>
            </a:extLst>
          </p:cNvPr>
          <p:cNvGrpSpPr/>
          <p:nvPr/>
        </p:nvGrpSpPr>
        <p:grpSpPr>
          <a:xfrm>
            <a:off x="1398320" y="2940001"/>
            <a:ext cx="1464250" cy="1015676"/>
            <a:chOff x="2762169" y="4601549"/>
            <a:chExt cx="1543685" cy="1073785"/>
          </a:xfrm>
        </p:grpSpPr>
        <p:pic>
          <p:nvPicPr>
            <p:cNvPr id="133" name="object 66">
              <a:extLst>
                <a:ext uri="{FF2B5EF4-FFF2-40B4-BE49-F238E27FC236}">
                  <a16:creationId xmlns:a16="http://schemas.microsoft.com/office/drawing/2014/main" id="{D4EC6012-A59C-D047-C789-AADEECC816D6}"/>
                </a:ext>
              </a:extLst>
            </p:cNvPr>
            <p:cNvPicPr/>
            <p:nvPr/>
          </p:nvPicPr>
          <p:blipFill>
            <a:blip r:embed="rId7" cstate="print"/>
            <a:stretch>
              <a:fillRect/>
            </a:stretch>
          </p:blipFill>
          <p:spPr>
            <a:xfrm>
              <a:off x="2762169" y="4916543"/>
              <a:ext cx="1150431" cy="550511"/>
            </a:xfrm>
            <a:prstGeom prst="rect">
              <a:avLst/>
            </a:prstGeom>
          </p:spPr>
        </p:pic>
        <p:sp>
          <p:nvSpPr>
            <p:cNvPr id="134" name="object 67">
              <a:extLst>
                <a:ext uri="{FF2B5EF4-FFF2-40B4-BE49-F238E27FC236}">
                  <a16:creationId xmlns:a16="http://schemas.microsoft.com/office/drawing/2014/main" id="{932E020B-038E-7107-F746-D2E00F64BAA6}"/>
                </a:ext>
              </a:extLst>
            </p:cNvPr>
            <p:cNvSpPr/>
            <p:nvPr/>
          </p:nvSpPr>
          <p:spPr>
            <a:xfrm>
              <a:off x="3984027" y="4611074"/>
              <a:ext cx="0" cy="1054735"/>
            </a:xfrm>
            <a:custGeom>
              <a:avLst/>
              <a:gdLst/>
              <a:ahLst/>
              <a:cxnLst/>
              <a:rect l="l" t="t" r="r" b="b"/>
              <a:pathLst>
                <a:path h="1054735">
                  <a:moveTo>
                    <a:pt x="0" y="0"/>
                  </a:moveTo>
                  <a:lnTo>
                    <a:pt x="0" y="1054588"/>
                  </a:lnTo>
                </a:path>
              </a:pathLst>
            </a:custGeom>
            <a:ln w="18552">
              <a:solidFill>
                <a:srgbClr val="FFFF00"/>
              </a:solidFill>
            </a:ln>
          </p:spPr>
          <p:txBody>
            <a:bodyPr wrap="square" lIns="0" tIns="0" rIns="0" bIns="0" rtlCol="0"/>
            <a:lstStyle/>
            <a:p>
              <a:endParaRPr/>
            </a:p>
          </p:txBody>
        </p:sp>
        <p:pic>
          <p:nvPicPr>
            <p:cNvPr id="135" name="object 68">
              <a:extLst>
                <a:ext uri="{FF2B5EF4-FFF2-40B4-BE49-F238E27FC236}">
                  <a16:creationId xmlns:a16="http://schemas.microsoft.com/office/drawing/2014/main" id="{19D9F6C8-F482-C9BE-BED6-DE3661F6A03B}"/>
                </a:ext>
              </a:extLst>
            </p:cNvPr>
            <p:cNvPicPr/>
            <p:nvPr/>
          </p:nvPicPr>
          <p:blipFill>
            <a:blip r:embed="rId34" cstate="print"/>
            <a:stretch>
              <a:fillRect/>
            </a:stretch>
          </p:blipFill>
          <p:spPr>
            <a:xfrm>
              <a:off x="3867240" y="4842806"/>
              <a:ext cx="438299" cy="585249"/>
            </a:xfrm>
            <a:prstGeom prst="rect">
              <a:avLst/>
            </a:prstGeom>
          </p:spPr>
        </p:pic>
      </p:grpSp>
      <p:sp>
        <p:nvSpPr>
          <p:cNvPr id="136" name="object 69">
            <a:extLst>
              <a:ext uri="{FF2B5EF4-FFF2-40B4-BE49-F238E27FC236}">
                <a16:creationId xmlns:a16="http://schemas.microsoft.com/office/drawing/2014/main" id="{BEE132DC-D829-2AD7-3966-22210718994F}"/>
              </a:ext>
            </a:extLst>
          </p:cNvPr>
          <p:cNvSpPr txBox="1"/>
          <p:nvPr/>
        </p:nvSpPr>
        <p:spPr>
          <a:xfrm>
            <a:off x="2668329" y="3247731"/>
            <a:ext cx="101792" cy="331501"/>
          </a:xfrm>
          <a:prstGeom prst="rect">
            <a:avLst/>
          </a:prstGeom>
        </p:spPr>
        <p:txBody>
          <a:bodyPr vert="horz" wrap="square" lIns="0" tIns="15875" rIns="0" bIns="0" rtlCol="0">
            <a:spAutoFit/>
          </a:bodyPr>
          <a:lstStyle/>
          <a:p>
            <a:pPr marL="12700">
              <a:lnSpc>
                <a:spcPct val="100000"/>
              </a:lnSpc>
              <a:spcBef>
                <a:spcPts val="125"/>
              </a:spcBef>
            </a:pPr>
            <a:r>
              <a:rPr sz="2050" i="1" spc="40" dirty="0">
                <a:solidFill>
                  <a:srgbClr val="FDFFFF"/>
                </a:solidFill>
                <a:latin typeface="Cambria"/>
                <a:cs typeface="Cambria"/>
              </a:rPr>
              <a:t>f</a:t>
            </a:r>
            <a:endParaRPr sz="2050">
              <a:latin typeface="Cambria"/>
              <a:cs typeface="Cambria"/>
            </a:endParaRPr>
          </a:p>
        </p:txBody>
      </p:sp>
      <p:grpSp>
        <p:nvGrpSpPr>
          <p:cNvPr id="137" name="object 70">
            <a:extLst>
              <a:ext uri="{FF2B5EF4-FFF2-40B4-BE49-F238E27FC236}">
                <a16:creationId xmlns:a16="http://schemas.microsoft.com/office/drawing/2014/main" id="{091BCA8F-BE1D-0775-43D4-0F5EC263F76E}"/>
              </a:ext>
            </a:extLst>
          </p:cNvPr>
          <p:cNvGrpSpPr/>
          <p:nvPr/>
        </p:nvGrpSpPr>
        <p:grpSpPr>
          <a:xfrm>
            <a:off x="527565" y="1905546"/>
            <a:ext cx="1287166" cy="1244518"/>
            <a:chOff x="1891414" y="3567095"/>
            <a:chExt cx="1356995" cy="1315720"/>
          </a:xfrm>
        </p:grpSpPr>
        <p:sp>
          <p:nvSpPr>
            <p:cNvPr id="138" name="object 71">
              <a:extLst>
                <a:ext uri="{FF2B5EF4-FFF2-40B4-BE49-F238E27FC236}">
                  <a16:creationId xmlns:a16="http://schemas.microsoft.com/office/drawing/2014/main" id="{F36728E2-AF90-0697-1289-C48EEB57B030}"/>
                </a:ext>
              </a:extLst>
            </p:cNvPr>
            <p:cNvSpPr/>
            <p:nvPr/>
          </p:nvSpPr>
          <p:spPr>
            <a:xfrm>
              <a:off x="2237740" y="3882121"/>
              <a:ext cx="576580" cy="666750"/>
            </a:xfrm>
            <a:custGeom>
              <a:avLst/>
              <a:gdLst/>
              <a:ahLst/>
              <a:cxnLst/>
              <a:rect l="l" t="t" r="r" b="b"/>
              <a:pathLst>
                <a:path w="576580" h="666750">
                  <a:moveTo>
                    <a:pt x="0" y="0"/>
                  </a:moveTo>
                  <a:lnTo>
                    <a:pt x="576375" y="666175"/>
                  </a:lnTo>
                </a:path>
              </a:pathLst>
            </a:custGeom>
            <a:ln w="18117">
              <a:solidFill>
                <a:srgbClr val="428ACE"/>
              </a:solidFill>
            </a:ln>
          </p:spPr>
          <p:txBody>
            <a:bodyPr wrap="square" lIns="0" tIns="0" rIns="0" bIns="0" rtlCol="0"/>
            <a:lstStyle/>
            <a:p>
              <a:endParaRPr/>
            </a:p>
          </p:txBody>
        </p:sp>
        <p:pic>
          <p:nvPicPr>
            <p:cNvPr id="139" name="object 72">
              <a:extLst>
                <a:ext uri="{FF2B5EF4-FFF2-40B4-BE49-F238E27FC236}">
                  <a16:creationId xmlns:a16="http://schemas.microsoft.com/office/drawing/2014/main" id="{9C8E6EDB-B66F-2E40-70BB-30B97A78C063}"/>
                </a:ext>
              </a:extLst>
            </p:cNvPr>
            <p:cNvPicPr/>
            <p:nvPr/>
          </p:nvPicPr>
          <p:blipFill>
            <a:blip r:embed="rId35" cstate="print"/>
            <a:stretch>
              <a:fillRect/>
            </a:stretch>
          </p:blipFill>
          <p:spPr>
            <a:xfrm>
              <a:off x="2755527" y="4497005"/>
              <a:ext cx="112761" cy="114068"/>
            </a:xfrm>
            <a:prstGeom prst="rect">
              <a:avLst/>
            </a:prstGeom>
          </p:spPr>
        </p:pic>
        <p:pic>
          <p:nvPicPr>
            <p:cNvPr id="140" name="object 73">
              <a:extLst>
                <a:ext uri="{FF2B5EF4-FFF2-40B4-BE49-F238E27FC236}">
                  <a16:creationId xmlns:a16="http://schemas.microsoft.com/office/drawing/2014/main" id="{390727B0-2D8C-D236-E9B6-D2983B3E6A59}"/>
                </a:ext>
              </a:extLst>
            </p:cNvPr>
            <p:cNvPicPr/>
            <p:nvPr/>
          </p:nvPicPr>
          <p:blipFill>
            <a:blip r:embed="rId36" cstate="print"/>
            <a:stretch>
              <a:fillRect/>
            </a:stretch>
          </p:blipFill>
          <p:spPr>
            <a:xfrm>
              <a:off x="1891414" y="3784097"/>
              <a:ext cx="1064441" cy="1098164"/>
            </a:xfrm>
            <a:prstGeom prst="rect">
              <a:avLst/>
            </a:prstGeom>
          </p:spPr>
        </p:pic>
        <p:pic>
          <p:nvPicPr>
            <p:cNvPr id="141" name="object 74">
              <a:extLst>
                <a:ext uri="{FF2B5EF4-FFF2-40B4-BE49-F238E27FC236}">
                  <a16:creationId xmlns:a16="http://schemas.microsoft.com/office/drawing/2014/main" id="{05B97E25-DA11-9559-957A-B5DCE10447E5}"/>
                </a:ext>
              </a:extLst>
            </p:cNvPr>
            <p:cNvPicPr/>
            <p:nvPr/>
          </p:nvPicPr>
          <p:blipFill>
            <a:blip r:embed="rId37" cstate="print"/>
            <a:stretch>
              <a:fillRect/>
            </a:stretch>
          </p:blipFill>
          <p:spPr>
            <a:xfrm>
              <a:off x="2149218" y="4005263"/>
              <a:ext cx="545485" cy="627380"/>
            </a:xfrm>
            <a:prstGeom prst="rect">
              <a:avLst/>
            </a:prstGeom>
          </p:spPr>
        </p:pic>
        <p:pic>
          <p:nvPicPr>
            <p:cNvPr id="142" name="object 75">
              <a:extLst>
                <a:ext uri="{FF2B5EF4-FFF2-40B4-BE49-F238E27FC236}">
                  <a16:creationId xmlns:a16="http://schemas.microsoft.com/office/drawing/2014/main" id="{39061E80-F45A-DFE8-947C-05A40FB8DC71}"/>
                </a:ext>
              </a:extLst>
            </p:cNvPr>
            <p:cNvPicPr/>
            <p:nvPr/>
          </p:nvPicPr>
          <p:blipFill>
            <a:blip r:embed="rId38" cstate="print"/>
            <a:stretch>
              <a:fillRect/>
            </a:stretch>
          </p:blipFill>
          <p:spPr>
            <a:xfrm>
              <a:off x="2051428" y="3718339"/>
              <a:ext cx="257414" cy="243305"/>
            </a:xfrm>
            <a:prstGeom prst="rect">
              <a:avLst/>
            </a:prstGeom>
          </p:spPr>
        </p:pic>
        <p:pic>
          <p:nvPicPr>
            <p:cNvPr id="143" name="object 76">
              <a:extLst>
                <a:ext uri="{FF2B5EF4-FFF2-40B4-BE49-F238E27FC236}">
                  <a16:creationId xmlns:a16="http://schemas.microsoft.com/office/drawing/2014/main" id="{300CC540-027F-046E-3FBF-6B6BEA38281E}"/>
                </a:ext>
              </a:extLst>
            </p:cNvPr>
            <p:cNvPicPr/>
            <p:nvPr/>
          </p:nvPicPr>
          <p:blipFill>
            <a:blip r:embed="rId39" cstate="print"/>
            <a:stretch>
              <a:fillRect/>
            </a:stretch>
          </p:blipFill>
          <p:spPr>
            <a:xfrm>
              <a:off x="2088477" y="3741047"/>
              <a:ext cx="174865" cy="165272"/>
            </a:xfrm>
            <a:prstGeom prst="rect">
              <a:avLst/>
            </a:prstGeom>
          </p:spPr>
        </p:pic>
        <p:pic>
          <p:nvPicPr>
            <p:cNvPr id="144" name="object 77">
              <a:extLst>
                <a:ext uri="{FF2B5EF4-FFF2-40B4-BE49-F238E27FC236}">
                  <a16:creationId xmlns:a16="http://schemas.microsoft.com/office/drawing/2014/main" id="{B2AE4358-8D38-D7AD-6869-BE84CC6B13EF}"/>
                </a:ext>
              </a:extLst>
            </p:cNvPr>
            <p:cNvPicPr/>
            <p:nvPr/>
          </p:nvPicPr>
          <p:blipFill>
            <a:blip r:embed="rId40" cstate="print"/>
            <a:stretch>
              <a:fillRect/>
            </a:stretch>
          </p:blipFill>
          <p:spPr>
            <a:xfrm>
              <a:off x="2176656" y="3567095"/>
              <a:ext cx="1071398" cy="480035"/>
            </a:xfrm>
            <a:prstGeom prst="rect">
              <a:avLst/>
            </a:prstGeom>
          </p:spPr>
        </p:pic>
      </p:grpSp>
      <p:sp>
        <p:nvSpPr>
          <p:cNvPr id="145" name="object 78">
            <a:extLst>
              <a:ext uri="{FF2B5EF4-FFF2-40B4-BE49-F238E27FC236}">
                <a16:creationId xmlns:a16="http://schemas.microsoft.com/office/drawing/2014/main" id="{38557375-9BE3-E576-5A84-FAA7F9926FD8}"/>
              </a:ext>
            </a:extLst>
          </p:cNvPr>
          <p:cNvSpPr txBox="1"/>
          <p:nvPr/>
        </p:nvSpPr>
        <p:spPr>
          <a:xfrm>
            <a:off x="949221" y="1954658"/>
            <a:ext cx="753507" cy="521938"/>
          </a:xfrm>
          <a:prstGeom prst="rect">
            <a:avLst/>
          </a:prstGeom>
        </p:spPr>
        <p:txBody>
          <a:bodyPr vert="horz" wrap="square" lIns="0" tIns="13970" rIns="0" bIns="0" rtlCol="0">
            <a:spAutoFit/>
          </a:bodyPr>
          <a:lstStyle/>
          <a:p>
            <a:pPr marL="12700">
              <a:lnSpc>
                <a:spcPct val="100000"/>
              </a:lnSpc>
              <a:spcBef>
                <a:spcPts val="110"/>
              </a:spcBef>
            </a:pPr>
            <a:r>
              <a:rPr sz="1650" spc="45" dirty="0">
                <a:solidFill>
                  <a:srgbClr val="FF0000"/>
                </a:solidFill>
                <a:latin typeface="Cambria"/>
                <a:cs typeface="Cambria"/>
              </a:rPr>
              <a:t>synapse</a:t>
            </a:r>
            <a:endParaRPr sz="1650">
              <a:latin typeface="Cambria"/>
              <a:cs typeface="Cambria"/>
            </a:endParaRPr>
          </a:p>
        </p:txBody>
      </p:sp>
      <p:grpSp>
        <p:nvGrpSpPr>
          <p:cNvPr id="146" name="object 79">
            <a:extLst>
              <a:ext uri="{FF2B5EF4-FFF2-40B4-BE49-F238E27FC236}">
                <a16:creationId xmlns:a16="http://schemas.microsoft.com/office/drawing/2014/main" id="{C0ADD6CE-6B55-902D-F50C-EF78E6B8BF35}"/>
              </a:ext>
            </a:extLst>
          </p:cNvPr>
          <p:cNvGrpSpPr/>
          <p:nvPr/>
        </p:nvGrpSpPr>
        <p:grpSpPr>
          <a:xfrm>
            <a:off x="475771" y="2286768"/>
            <a:ext cx="2973072" cy="2326865"/>
            <a:chOff x="1839621" y="3948317"/>
            <a:chExt cx="3134360" cy="2459990"/>
          </a:xfrm>
        </p:grpSpPr>
        <p:pic>
          <p:nvPicPr>
            <p:cNvPr id="147" name="object 80">
              <a:extLst>
                <a:ext uri="{FF2B5EF4-FFF2-40B4-BE49-F238E27FC236}">
                  <a16:creationId xmlns:a16="http://schemas.microsoft.com/office/drawing/2014/main" id="{1AC38B6F-18F9-22DC-DC43-084B6C62E599}"/>
                </a:ext>
              </a:extLst>
            </p:cNvPr>
            <p:cNvPicPr/>
            <p:nvPr/>
          </p:nvPicPr>
          <p:blipFill>
            <a:blip r:embed="rId13" cstate="print"/>
            <a:stretch>
              <a:fillRect/>
            </a:stretch>
          </p:blipFill>
          <p:spPr>
            <a:xfrm>
              <a:off x="2463698" y="3948317"/>
              <a:ext cx="436592" cy="444412"/>
            </a:xfrm>
            <a:prstGeom prst="rect">
              <a:avLst/>
            </a:prstGeom>
            <a:ln>
              <a:solidFill>
                <a:schemeClr val="tx1"/>
              </a:solidFill>
            </a:ln>
          </p:spPr>
        </p:pic>
        <p:sp>
          <p:nvSpPr>
            <p:cNvPr id="148" name="object 81">
              <a:extLst>
                <a:ext uri="{FF2B5EF4-FFF2-40B4-BE49-F238E27FC236}">
                  <a16:creationId xmlns:a16="http://schemas.microsoft.com/office/drawing/2014/main" id="{28645892-7A43-D9C3-1BA2-720225CC6AF1}"/>
                </a:ext>
              </a:extLst>
            </p:cNvPr>
            <p:cNvSpPr/>
            <p:nvPr/>
          </p:nvSpPr>
          <p:spPr>
            <a:xfrm>
              <a:off x="1848511" y="5138368"/>
              <a:ext cx="703580" cy="0"/>
            </a:xfrm>
            <a:custGeom>
              <a:avLst/>
              <a:gdLst/>
              <a:ahLst/>
              <a:cxnLst/>
              <a:rect l="l" t="t" r="r" b="b"/>
              <a:pathLst>
                <a:path w="703580">
                  <a:moveTo>
                    <a:pt x="0" y="0"/>
                  </a:moveTo>
                  <a:lnTo>
                    <a:pt x="703143" y="0"/>
                  </a:lnTo>
                </a:path>
              </a:pathLst>
            </a:custGeom>
            <a:ln w="17535">
              <a:solidFill>
                <a:schemeClr val="tx1"/>
              </a:solidFill>
            </a:ln>
          </p:spPr>
          <p:txBody>
            <a:bodyPr wrap="square" lIns="0" tIns="0" rIns="0" bIns="0" rtlCol="0"/>
            <a:lstStyle/>
            <a:p>
              <a:endParaRPr/>
            </a:p>
          </p:txBody>
        </p:sp>
        <p:pic>
          <p:nvPicPr>
            <p:cNvPr id="149" name="object 82">
              <a:extLst>
                <a:ext uri="{FF2B5EF4-FFF2-40B4-BE49-F238E27FC236}">
                  <a16:creationId xmlns:a16="http://schemas.microsoft.com/office/drawing/2014/main" id="{3AC9CF51-126C-58FE-8AAF-DE64BECD6977}"/>
                </a:ext>
              </a:extLst>
            </p:cNvPr>
            <p:cNvPicPr/>
            <p:nvPr/>
          </p:nvPicPr>
          <p:blipFill>
            <a:blip r:embed="rId41" cstate="print"/>
            <a:stretch>
              <a:fillRect/>
            </a:stretch>
          </p:blipFill>
          <p:spPr>
            <a:xfrm>
              <a:off x="2526776" y="5086112"/>
              <a:ext cx="110572" cy="104511"/>
            </a:xfrm>
            <a:prstGeom prst="rect">
              <a:avLst/>
            </a:prstGeom>
            <a:ln>
              <a:solidFill>
                <a:schemeClr val="tx1"/>
              </a:solidFill>
            </a:ln>
          </p:spPr>
        </p:pic>
        <p:sp>
          <p:nvSpPr>
            <p:cNvPr id="150" name="object 83">
              <a:extLst>
                <a:ext uri="{FF2B5EF4-FFF2-40B4-BE49-F238E27FC236}">
                  <a16:creationId xmlns:a16="http://schemas.microsoft.com/office/drawing/2014/main" id="{5866087A-3BA1-02F2-E478-2128CBBBD3A7}"/>
                </a:ext>
              </a:extLst>
            </p:cNvPr>
            <p:cNvSpPr/>
            <p:nvPr/>
          </p:nvSpPr>
          <p:spPr>
            <a:xfrm>
              <a:off x="2111454" y="5722916"/>
              <a:ext cx="696595" cy="658495"/>
            </a:xfrm>
            <a:custGeom>
              <a:avLst/>
              <a:gdLst/>
              <a:ahLst/>
              <a:cxnLst/>
              <a:rect l="l" t="t" r="r" b="b"/>
              <a:pathLst>
                <a:path w="696594" h="658495">
                  <a:moveTo>
                    <a:pt x="0" y="658092"/>
                  </a:moveTo>
                  <a:lnTo>
                    <a:pt x="696260" y="0"/>
                  </a:lnTo>
                </a:path>
              </a:pathLst>
            </a:custGeom>
            <a:ln w="18015">
              <a:solidFill>
                <a:schemeClr val="tx1"/>
              </a:solidFill>
            </a:ln>
          </p:spPr>
          <p:txBody>
            <a:bodyPr wrap="square" lIns="0" tIns="0" rIns="0" bIns="0" rtlCol="0"/>
            <a:lstStyle/>
            <a:p>
              <a:endParaRPr/>
            </a:p>
          </p:txBody>
        </p:sp>
        <p:pic>
          <p:nvPicPr>
            <p:cNvPr id="151" name="object 84">
              <a:extLst>
                <a:ext uri="{FF2B5EF4-FFF2-40B4-BE49-F238E27FC236}">
                  <a16:creationId xmlns:a16="http://schemas.microsoft.com/office/drawing/2014/main" id="{1B8E6997-5183-3FCA-C46D-7F87ED88A660}"/>
                </a:ext>
              </a:extLst>
            </p:cNvPr>
            <p:cNvPicPr/>
            <p:nvPr/>
          </p:nvPicPr>
          <p:blipFill>
            <a:blip r:embed="rId42" cstate="print"/>
            <a:stretch>
              <a:fillRect/>
            </a:stretch>
          </p:blipFill>
          <p:spPr>
            <a:xfrm>
              <a:off x="2751047" y="5665663"/>
              <a:ext cx="117241" cy="110824"/>
            </a:xfrm>
            <a:prstGeom prst="rect">
              <a:avLst/>
            </a:prstGeom>
            <a:ln>
              <a:solidFill>
                <a:schemeClr val="tx1"/>
              </a:solidFill>
            </a:ln>
          </p:spPr>
        </p:pic>
        <p:pic>
          <p:nvPicPr>
            <p:cNvPr id="152" name="object 85">
              <a:extLst>
                <a:ext uri="{FF2B5EF4-FFF2-40B4-BE49-F238E27FC236}">
                  <a16:creationId xmlns:a16="http://schemas.microsoft.com/office/drawing/2014/main" id="{74821275-ACFB-0CD9-F023-3AD20BBDBA3D}"/>
                </a:ext>
              </a:extLst>
            </p:cNvPr>
            <p:cNvPicPr/>
            <p:nvPr/>
          </p:nvPicPr>
          <p:blipFill>
            <a:blip r:embed="rId29" cstate="print"/>
            <a:stretch>
              <a:fillRect/>
            </a:stretch>
          </p:blipFill>
          <p:spPr>
            <a:xfrm>
              <a:off x="1951672" y="4916543"/>
              <a:ext cx="422724" cy="189892"/>
            </a:xfrm>
            <a:prstGeom prst="rect">
              <a:avLst/>
            </a:prstGeom>
            <a:ln>
              <a:solidFill>
                <a:schemeClr val="tx1"/>
              </a:solidFill>
            </a:ln>
          </p:spPr>
        </p:pic>
        <p:pic>
          <p:nvPicPr>
            <p:cNvPr id="153" name="object 86">
              <a:extLst>
                <a:ext uri="{FF2B5EF4-FFF2-40B4-BE49-F238E27FC236}">
                  <a16:creationId xmlns:a16="http://schemas.microsoft.com/office/drawing/2014/main" id="{5A67432B-75A2-DD0E-B9CC-9B40BD338277}"/>
                </a:ext>
              </a:extLst>
            </p:cNvPr>
            <p:cNvPicPr/>
            <p:nvPr/>
          </p:nvPicPr>
          <p:blipFill>
            <a:blip r:embed="rId16" cstate="print"/>
            <a:stretch>
              <a:fillRect/>
            </a:stretch>
          </p:blipFill>
          <p:spPr>
            <a:xfrm>
              <a:off x="2287785" y="5669021"/>
              <a:ext cx="402159" cy="380118"/>
            </a:xfrm>
            <a:prstGeom prst="rect">
              <a:avLst/>
            </a:prstGeom>
            <a:ln>
              <a:solidFill>
                <a:schemeClr val="tx1"/>
              </a:solidFill>
            </a:ln>
          </p:spPr>
        </p:pic>
        <p:pic>
          <p:nvPicPr>
            <p:cNvPr id="154" name="object 87">
              <a:extLst>
                <a:ext uri="{FF2B5EF4-FFF2-40B4-BE49-F238E27FC236}">
                  <a16:creationId xmlns:a16="http://schemas.microsoft.com/office/drawing/2014/main" id="{466AD978-A1D2-4FE3-10DD-1D818935ED64}"/>
                </a:ext>
              </a:extLst>
            </p:cNvPr>
            <p:cNvPicPr/>
            <p:nvPr/>
          </p:nvPicPr>
          <p:blipFill>
            <a:blip r:embed="rId43" cstate="print"/>
            <a:stretch>
              <a:fillRect/>
            </a:stretch>
          </p:blipFill>
          <p:spPr>
            <a:xfrm>
              <a:off x="3644612" y="5750307"/>
              <a:ext cx="1328812" cy="657583"/>
            </a:xfrm>
            <a:prstGeom prst="rect">
              <a:avLst/>
            </a:prstGeom>
            <a:ln>
              <a:solidFill>
                <a:schemeClr val="tx1"/>
              </a:solidFill>
            </a:ln>
          </p:spPr>
        </p:pic>
      </p:grpSp>
      <p:grpSp>
        <p:nvGrpSpPr>
          <p:cNvPr id="157" name="object 90">
            <a:extLst>
              <a:ext uri="{FF2B5EF4-FFF2-40B4-BE49-F238E27FC236}">
                <a16:creationId xmlns:a16="http://schemas.microsoft.com/office/drawing/2014/main" id="{633ADEA0-A970-F5B0-D93C-A69965FDBA2B}"/>
              </a:ext>
            </a:extLst>
          </p:cNvPr>
          <p:cNvGrpSpPr/>
          <p:nvPr/>
        </p:nvGrpSpPr>
        <p:grpSpPr>
          <a:xfrm>
            <a:off x="695017" y="1777063"/>
            <a:ext cx="4071711" cy="3045226"/>
            <a:chOff x="2058867" y="3438612"/>
            <a:chExt cx="4292600" cy="3219450"/>
          </a:xfrm>
        </p:grpSpPr>
        <p:sp>
          <p:nvSpPr>
            <p:cNvPr id="158" name="object 91">
              <a:extLst>
                <a:ext uri="{FF2B5EF4-FFF2-40B4-BE49-F238E27FC236}">
                  <a16:creationId xmlns:a16="http://schemas.microsoft.com/office/drawing/2014/main" id="{4BB50A46-9C96-09E3-5146-F87E577E48EB}"/>
                </a:ext>
              </a:extLst>
            </p:cNvPr>
            <p:cNvSpPr/>
            <p:nvPr/>
          </p:nvSpPr>
          <p:spPr>
            <a:xfrm>
              <a:off x="4307024" y="5254717"/>
              <a:ext cx="0" cy="641985"/>
            </a:xfrm>
            <a:custGeom>
              <a:avLst/>
              <a:gdLst/>
              <a:ahLst/>
              <a:cxnLst/>
              <a:rect l="l" t="t" r="r" b="b"/>
              <a:pathLst>
                <a:path h="641985">
                  <a:moveTo>
                    <a:pt x="0" y="641643"/>
                  </a:moveTo>
                  <a:lnTo>
                    <a:pt x="0" y="0"/>
                  </a:lnTo>
                </a:path>
              </a:pathLst>
            </a:custGeom>
            <a:ln w="9276">
              <a:solidFill>
                <a:srgbClr val="FFFFFF"/>
              </a:solidFill>
            </a:ln>
          </p:spPr>
          <p:txBody>
            <a:bodyPr wrap="square" lIns="0" tIns="0" rIns="0" bIns="0" rtlCol="0"/>
            <a:lstStyle/>
            <a:p>
              <a:endParaRPr/>
            </a:p>
          </p:txBody>
        </p:sp>
        <p:pic>
          <p:nvPicPr>
            <p:cNvPr id="159" name="object 92">
              <a:extLst>
                <a:ext uri="{FF2B5EF4-FFF2-40B4-BE49-F238E27FC236}">
                  <a16:creationId xmlns:a16="http://schemas.microsoft.com/office/drawing/2014/main" id="{08DE05D1-491D-94B2-3A80-6047F8CC0718}"/>
                </a:ext>
              </a:extLst>
            </p:cNvPr>
            <p:cNvPicPr/>
            <p:nvPr/>
          </p:nvPicPr>
          <p:blipFill>
            <a:blip r:embed="rId44" cstate="print"/>
            <a:stretch>
              <a:fillRect/>
            </a:stretch>
          </p:blipFill>
          <p:spPr>
            <a:xfrm>
              <a:off x="4187268" y="5033506"/>
              <a:ext cx="257414" cy="243305"/>
            </a:xfrm>
            <a:prstGeom prst="rect">
              <a:avLst/>
            </a:prstGeom>
          </p:spPr>
        </p:pic>
        <p:pic>
          <p:nvPicPr>
            <p:cNvPr id="160" name="object 93">
              <a:extLst>
                <a:ext uri="{FF2B5EF4-FFF2-40B4-BE49-F238E27FC236}">
                  <a16:creationId xmlns:a16="http://schemas.microsoft.com/office/drawing/2014/main" id="{1D6C69F2-6E81-2C2E-1457-3E794F4F5EDE}"/>
                </a:ext>
              </a:extLst>
            </p:cNvPr>
            <p:cNvPicPr/>
            <p:nvPr/>
          </p:nvPicPr>
          <p:blipFill>
            <a:blip r:embed="rId45" cstate="print"/>
            <a:stretch>
              <a:fillRect/>
            </a:stretch>
          </p:blipFill>
          <p:spPr>
            <a:xfrm>
              <a:off x="4224280" y="5055688"/>
              <a:ext cx="174855" cy="165272"/>
            </a:xfrm>
            <a:prstGeom prst="rect">
              <a:avLst/>
            </a:prstGeom>
          </p:spPr>
        </p:pic>
        <p:pic>
          <p:nvPicPr>
            <p:cNvPr id="161" name="object 94">
              <a:extLst>
                <a:ext uri="{FF2B5EF4-FFF2-40B4-BE49-F238E27FC236}">
                  <a16:creationId xmlns:a16="http://schemas.microsoft.com/office/drawing/2014/main" id="{21CC8493-275D-0C7C-6BE2-7D28E0DF3B07}"/>
                </a:ext>
              </a:extLst>
            </p:cNvPr>
            <p:cNvPicPr/>
            <p:nvPr/>
          </p:nvPicPr>
          <p:blipFill>
            <a:blip r:embed="rId31" cstate="print"/>
            <a:stretch>
              <a:fillRect/>
            </a:stretch>
          </p:blipFill>
          <p:spPr>
            <a:xfrm>
              <a:off x="2058867" y="3584192"/>
              <a:ext cx="262942" cy="147386"/>
            </a:xfrm>
            <a:prstGeom prst="rect">
              <a:avLst/>
            </a:prstGeom>
          </p:spPr>
        </p:pic>
        <p:pic>
          <p:nvPicPr>
            <p:cNvPr id="162" name="object 95">
              <a:extLst>
                <a:ext uri="{FF2B5EF4-FFF2-40B4-BE49-F238E27FC236}">
                  <a16:creationId xmlns:a16="http://schemas.microsoft.com/office/drawing/2014/main" id="{820056C4-9E38-05C1-4656-2F538970BF81}"/>
                </a:ext>
              </a:extLst>
            </p:cNvPr>
            <p:cNvPicPr/>
            <p:nvPr/>
          </p:nvPicPr>
          <p:blipFill>
            <a:blip r:embed="rId46" cstate="print"/>
            <a:stretch>
              <a:fillRect/>
            </a:stretch>
          </p:blipFill>
          <p:spPr>
            <a:xfrm>
              <a:off x="6093523" y="3692035"/>
              <a:ext cx="257414" cy="249881"/>
            </a:xfrm>
            <a:prstGeom prst="rect">
              <a:avLst/>
            </a:prstGeom>
          </p:spPr>
        </p:pic>
        <p:pic>
          <p:nvPicPr>
            <p:cNvPr id="163" name="object 96">
              <a:extLst>
                <a:ext uri="{FF2B5EF4-FFF2-40B4-BE49-F238E27FC236}">
                  <a16:creationId xmlns:a16="http://schemas.microsoft.com/office/drawing/2014/main" id="{27915DDD-D498-A2CF-F35B-6A85B724FC33}"/>
                </a:ext>
              </a:extLst>
            </p:cNvPr>
            <p:cNvPicPr/>
            <p:nvPr/>
          </p:nvPicPr>
          <p:blipFill>
            <a:blip r:embed="rId47" cstate="print"/>
            <a:stretch>
              <a:fillRect/>
            </a:stretch>
          </p:blipFill>
          <p:spPr>
            <a:xfrm>
              <a:off x="5886597" y="3438612"/>
              <a:ext cx="419721" cy="443333"/>
            </a:xfrm>
            <a:prstGeom prst="rect">
              <a:avLst/>
            </a:prstGeom>
          </p:spPr>
        </p:pic>
        <p:pic>
          <p:nvPicPr>
            <p:cNvPr id="164" name="object 97">
              <a:extLst>
                <a:ext uri="{FF2B5EF4-FFF2-40B4-BE49-F238E27FC236}">
                  <a16:creationId xmlns:a16="http://schemas.microsoft.com/office/drawing/2014/main" id="{70BCFC2D-C093-668A-1CAE-C97D35AE5A9A}"/>
                </a:ext>
              </a:extLst>
            </p:cNvPr>
            <p:cNvPicPr/>
            <p:nvPr/>
          </p:nvPicPr>
          <p:blipFill>
            <a:blip r:embed="rId48" cstate="print"/>
            <a:stretch>
              <a:fillRect/>
            </a:stretch>
          </p:blipFill>
          <p:spPr>
            <a:xfrm>
              <a:off x="4874448" y="4842280"/>
              <a:ext cx="246032" cy="245050"/>
            </a:xfrm>
            <a:prstGeom prst="rect">
              <a:avLst/>
            </a:prstGeom>
          </p:spPr>
        </p:pic>
        <p:pic>
          <p:nvPicPr>
            <p:cNvPr id="165" name="object 98">
              <a:extLst>
                <a:ext uri="{FF2B5EF4-FFF2-40B4-BE49-F238E27FC236}">
                  <a16:creationId xmlns:a16="http://schemas.microsoft.com/office/drawing/2014/main" id="{B87772F8-61C2-B945-9B89-78C3ED3D544F}"/>
                </a:ext>
              </a:extLst>
            </p:cNvPr>
            <p:cNvPicPr/>
            <p:nvPr/>
          </p:nvPicPr>
          <p:blipFill>
            <a:blip r:embed="rId49" cstate="print"/>
            <a:stretch>
              <a:fillRect/>
            </a:stretch>
          </p:blipFill>
          <p:spPr>
            <a:xfrm>
              <a:off x="5634909" y="4842280"/>
              <a:ext cx="247275" cy="173680"/>
            </a:xfrm>
            <a:prstGeom prst="rect">
              <a:avLst/>
            </a:prstGeom>
          </p:spPr>
        </p:pic>
        <p:pic>
          <p:nvPicPr>
            <p:cNvPr id="166" name="object 99">
              <a:extLst>
                <a:ext uri="{FF2B5EF4-FFF2-40B4-BE49-F238E27FC236}">
                  <a16:creationId xmlns:a16="http://schemas.microsoft.com/office/drawing/2014/main" id="{29975D87-1269-EB9A-C096-25BC6B2189B4}"/>
                </a:ext>
              </a:extLst>
            </p:cNvPr>
            <p:cNvPicPr/>
            <p:nvPr/>
          </p:nvPicPr>
          <p:blipFill>
            <a:blip r:embed="rId50" cstate="print"/>
            <a:stretch>
              <a:fillRect/>
            </a:stretch>
          </p:blipFill>
          <p:spPr>
            <a:xfrm>
              <a:off x="5786296" y="6233990"/>
              <a:ext cx="210355" cy="150893"/>
            </a:xfrm>
            <a:prstGeom prst="rect">
              <a:avLst/>
            </a:prstGeom>
          </p:spPr>
        </p:pic>
        <p:pic>
          <p:nvPicPr>
            <p:cNvPr id="167" name="object 100">
              <a:extLst>
                <a:ext uri="{FF2B5EF4-FFF2-40B4-BE49-F238E27FC236}">
                  <a16:creationId xmlns:a16="http://schemas.microsoft.com/office/drawing/2014/main" id="{FF26F178-1E09-21CA-02B2-5B57A81F93D2}"/>
                </a:ext>
              </a:extLst>
            </p:cNvPr>
            <p:cNvPicPr/>
            <p:nvPr/>
          </p:nvPicPr>
          <p:blipFill>
            <a:blip r:embed="rId51" cstate="print"/>
            <a:stretch>
              <a:fillRect/>
            </a:stretch>
          </p:blipFill>
          <p:spPr>
            <a:xfrm>
              <a:off x="5585931" y="6480892"/>
              <a:ext cx="216756" cy="176546"/>
            </a:xfrm>
            <a:prstGeom prst="rect">
              <a:avLst/>
            </a:prstGeom>
          </p:spPr>
        </p:pic>
      </p:grpSp>
      <p:sp>
        <p:nvSpPr>
          <p:cNvPr id="168" name="object 102">
            <a:extLst>
              <a:ext uri="{FF2B5EF4-FFF2-40B4-BE49-F238E27FC236}">
                <a16:creationId xmlns:a16="http://schemas.microsoft.com/office/drawing/2014/main" id="{BD0EC2F5-3F29-CBFA-40C3-5627B00CBC86}"/>
              </a:ext>
            </a:extLst>
          </p:cNvPr>
          <p:cNvSpPr txBox="1"/>
          <p:nvPr/>
        </p:nvSpPr>
        <p:spPr>
          <a:xfrm>
            <a:off x="10543161" y="4681440"/>
            <a:ext cx="231775" cy="177800"/>
          </a:xfrm>
          <a:prstGeom prst="rect">
            <a:avLst/>
          </a:prstGeom>
        </p:spPr>
        <p:txBody>
          <a:bodyPr vert="horz" wrap="square" lIns="0" tIns="0" rIns="0" bIns="0" rtlCol="0">
            <a:spAutoFit/>
          </a:bodyPr>
          <a:lstStyle/>
          <a:p>
            <a:pPr marL="38100">
              <a:lnSpc>
                <a:spcPts val="1240"/>
              </a:lnSpc>
            </a:pPr>
            <a:fld id="{81D60167-4931-47E6-BA6A-407CBD079E47}" type="slidenum">
              <a:rPr sz="1200" dirty="0">
                <a:solidFill>
                  <a:srgbClr val="FFFFFF"/>
                </a:solidFill>
                <a:latin typeface="Calibri"/>
                <a:cs typeface="Calibri"/>
              </a:rPr>
              <a:t>5</a:t>
            </a:fld>
            <a:endParaRPr sz="1200">
              <a:latin typeface="Calibri"/>
              <a:cs typeface="Calibri"/>
            </a:endParaRPr>
          </a:p>
        </p:txBody>
      </p:sp>
    </p:spTree>
    <p:extLst>
      <p:ext uri="{BB962C8B-B14F-4D97-AF65-F5344CB8AC3E}">
        <p14:creationId xmlns:p14="http://schemas.microsoft.com/office/powerpoint/2010/main" val="19114101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object 3"/>
          <p:cNvGrpSpPr/>
          <p:nvPr/>
        </p:nvGrpSpPr>
        <p:grpSpPr>
          <a:xfrm>
            <a:off x="5422392" y="1199007"/>
            <a:ext cx="527685" cy="1251109"/>
            <a:chOff x="7229856" y="1598675"/>
            <a:chExt cx="703580" cy="1668145"/>
          </a:xfrm>
        </p:grpSpPr>
        <p:pic>
          <p:nvPicPr>
            <p:cNvPr id="4" name="object 4"/>
            <p:cNvPicPr/>
            <p:nvPr/>
          </p:nvPicPr>
          <p:blipFill>
            <a:blip r:embed="rId2" cstate="print"/>
            <a:stretch>
              <a:fillRect/>
            </a:stretch>
          </p:blipFill>
          <p:spPr>
            <a:xfrm>
              <a:off x="7406640" y="1606295"/>
              <a:ext cx="514350" cy="1477517"/>
            </a:xfrm>
            <a:prstGeom prst="rect">
              <a:avLst/>
            </a:prstGeom>
          </p:spPr>
        </p:pic>
        <p:pic>
          <p:nvPicPr>
            <p:cNvPr id="5" name="object 5"/>
            <p:cNvPicPr/>
            <p:nvPr/>
          </p:nvPicPr>
          <p:blipFill>
            <a:blip r:embed="rId3" cstate="print"/>
            <a:stretch>
              <a:fillRect/>
            </a:stretch>
          </p:blipFill>
          <p:spPr>
            <a:xfrm>
              <a:off x="7397496" y="1598675"/>
              <a:ext cx="496061" cy="1422653"/>
            </a:xfrm>
            <a:prstGeom prst="rect">
              <a:avLst/>
            </a:prstGeom>
          </p:spPr>
        </p:pic>
        <p:pic>
          <p:nvPicPr>
            <p:cNvPr id="6" name="object 6"/>
            <p:cNvPicPr/>
            <p:nvPr/>
          </p:nvPicPr>
          <p:blipFill>
            <a:blip r:embed="rId4" cstate="print"/>
            <a:stretch>
              <a:fillRect/>
            </a:stretch>
          </p:blipFill>
          <p:spPr>
            <a:xfrm>
              <a:off x="7769352" y="2907791"/>
              <a:ext cx="163829" cy="191262"/>
            </a:xfrm>
            <a:prstGeom prst="rect">
              <a:avLst/>
            </a:prstGeom>
          </p:spPr>
        </p:pic>
        <p:pic>
          <p:nvPicPr>
            <p:cNvPr id="7" name="object 7"/>
            <p:cNvPicPr/>
            <p:nvPr/>
          </p:nvPicPr>
          <p:blipFill>
            <a:blip r:embed="rId5" cstate="print"/>
            <a:stretch>
              <a:fillRect/>
            </a:stretch>
          </p:blipFill>
          <p:spPr>
            <a:xfrm>
              <a:off x="7237476" y="2538971"/>
              <a:ext cx="363474" cy="712482"/>
            </a:xfrm>
            <a:prstGeom prst="rect">
              <a:avLst/>
            </a:prstGeom>
          </p:spPr>
        </p:pic>
        <p:pic>
          <p:nvPicPr>
            <p:cNvPr id="8" name="object 8"/>
            <p:cNvPicPr/>
            <p:nvPr/>
          </p:nvPicPr>
          <p:blipFill>
            <a:blip r:embed="rId6" cstate="print"/>
            <a:stretch>
              <a:fillRect/>
            </a:stretch>
          </p:blipFill>
          <p:spPr>
            <a:xfrm>
              <a:off x="7229856" y="2529827"/>
              <a:ext cx="354355" cy="665238"/>
            </a:xfrm>
            <a:prstGeom prst="rect">
              <a:avLst/>
            </a:prstGeom>
          </p:spPr>
        </p:pic>
        <p:pic>
          <p:nvPicPr>
            <p:cNvPr id="9" name="object 9"/>
            <p:cNvPicPr/>
            <p:nvPr/>
          </p:nvPicPr>
          <p:blipFill>
            <a:blip r:embed="rId7" cstate="print"/>
            <a:stretch>
              <a:fillRect/>
            </a:stretch>
          </p:blipFill>
          <p:spPr>
            <a:xfrm>
              <a:off x="7455408" y="3073908"/>
              <a:ext cx="153161" cy="192786"/>
            </a:xfrm>
            <a:prstGeom prst="rect">
              <a:avLst/>
            </a:prstGeom>
          </p:spPr>
        </p:pic>
      </p:grpSp>
      <p:grpSp>
        <p:nvGrpSpPr>
          <p:cNvPr id="10" name="object 10"/>
          <p:cNvGrpSpPr/>
          <p:nvPr/>
        </p:nvGrpSpPr>
        <p:grpSpPr>
          <a:xfrm>
            <a:off x="4451984" y="1140714"/>
            <a:ext cx="446723" cy="208598"/>
            <a:chOff x="5935979" y="1520952"/>
            <a:chExt cx="595630" cy="278130"/>
          </a:xfrm>
        </p:grpSpPr>
        <p:pic>
          <p:nvPicPr>
            <p:cNvPr id="11" name="object 11"/>
            <p:cNvPicPr/>
            <p:nvPr/>
          </p:nvPicPr>
          <p:blipFill>
            <a:blip r:embed="rId8" cstate="print"/>
            <a:stretch>
              <a:fillRect/>
            </a:stretch>
          </p:blipFill>
          <p:spPr>
            <a:xfrm>
              <a:off x="5935979" y="1520952"/>
              <a:ext cx="287274" cy="200405"/>
            </a:xfrm>
            <a:prstGeom prst="rect">
              <a:avLst/>
            </a:prstGeom>
          </p:spPr>
        </p:pic>
        <p:pic>
          <p:nvPicPr>
            <p:cNvPr id="12" name="object 12"/>
            <p:cNvPicPr/>
            <p:nvPr/>
          </p:nvPicPr>
          <p:blipFill>
            <a:blip r:embed="rId9" cstate="print"/>
            <a:stretch>
              <a:fillRect/>
            </a:stretch>
          </p:blipFill>
          <p:spPr>
            <a:xfrm>
              <a:off x="6210299" y="1591056"/>
              <a:ext cx="320801" cy="208025"/>
            </a:xfrm>
            <a:prstGeom prst="rect">
              <a:avLst/>
            </a:prstGeom>
          </p:spPr>
        </p:pic>
      </p:grpSp>
      <p:grpSp>
        <p:nvGrpSpPr>
          <p:cNvPr id="13" name="object 13"/>
          <p:cNvGrpSpPr/>
          <p:nvPr/>
        </p:nvGrpSpPr>
        <p:grpSpPr>
          <a:xfrm>
            <a:off x="4451984" y="1839087"/>
            <a:ext cx="442913" cy="208598"/>
            <a:chOff x="5935979" y="2452116"/>
            <a:chExt cx="590550" cy="278130"/>
          </a:xfrm>
        </p:grpSpPr>
        <p:pic>
          <p:nvPicPr>
            <p:cNvPr id="14" name="object 14"/>
            <p:cNvPicPr/>
            <p:nvPr/>
          </p:nvPicPr>
          <p:blipFill>
            <a:blip r:embed="rId10" cstate="print"/>
            <a:stretch>
              <a:fillRect/>
            </a:stretch>
          </p:blipFill>
          <p:spPr>
            <a:xfrm>
              <a:off x="5935979" y="2452116"/>
              <a:ext cx="287274" cy="201929"/>
            </a:xfrm>
            <a:prstGeom prst="rect">
              <a:avLst/>
            </a:prstGeom>
          </p:spPr>
        </p:pic>
        <p:pic>
          <p:nvPicPr>
            <p:cNvPr id="15" name="object 15"/>
            <p:cNvPicPr/>
            <p:nvPr/>
          </p:nvPicPr>
          <p:blipFill>
            <a:blip r:embed="rId11" cstate="print"/>
            <a:stretch>
              <a:fillRect/>
            </a:stretch>
          </p:blipFill>
          <p:spPr>
            <a:xfrm>
              <a:off x="6210299" y="2522220"/>
              <a:ext cx="316229" cy="208025"/>
            </a:xfrm>
            <a:prstGeom prst="rect">
              <a:avLst/>
            </a:prstGeom>
          </p:spPr>
        </p:pic>
      </p:grpSp>
      <p:grpSp>
        <p:nvGrpSpPr>
          <p:cNvPr id="16" name="object 16"/>
          <p:cNvGrpSpPr/>
          <p:nvPr/>
        </p:nvGrpSpPr>
        <p:grpSpPr>
          <a:xfrm>
            <a:off x="4455414" y="2556892"/>
            <a:ext cx="439579" cy="210026"/>
            <a:chOff x="5940552" y="3409188"/>
            <a:chExt cx="586105" cy="280035"/>
          </a:xfrm>
        </p:grpSpPr>
        <p:pic>
          <p:nvPicPr>
            <p:cNvPr id="17" name="object 17"/>
            <p:cNvPicPr/>
            <p:nvPr/>
          </p:nvPicPr>
          <p:blipFill>
            <a:blip r:embed="rId12" cstate="print"/>
            <a:stretch>
              <a:fillRect/>
            </a:stretch>
          </p:blipFill>
          <p:spPr>
            <a:xfrm>
              <a:off x="5940552" y="3409188"/>
              <a:ext cx="287274" cy="201930"/>
            </a:xfrm>
            <a:prstGeom prst="rect">
              <a:avLst/>
            </a:prstGeom>
          </p:spPr>
        </p:pic>
        <p:pic>
          <p:nvPicPr>
            <p:cNvPr id="18" name="object 18"/>
            <p:cNvPicPr/>
            <p:nvPr/>
          </p:nvPicPr>
          <p:blipFill>
            <a:blip r:embed="rId13" cstate="print"/>
            <a:stretch>
              <a:fillRect/>
            </a:stretch>
          </p:blipFill>
          <p:spPr>
            <a:xfrm>
              <a:off x="6214872" y="3479292"/>
              <a:ext cx="311657" cy="209549"/>
            </a:xfrm>
            <a:prstGeom prst="rect">
              <a:avLst/>
            </a:prstGeom>
          </p:spPr>
        </p:pic>
      </p:grpSp>
      <p:grpSp>
        <p:nvGrpSpPr>
          <p:cNvPr id="19" name="object 19"/>
          <p:cNvGrpSpPr/>
          <p:nvPr/>
        </p:nvGrpSpPr>
        <p:grpSpPr>
          <a:xfrm>
            <a:off x="5025771" y="2561463"/>
            <a:ext cx="597218" cy="128588"/>
            <a:chOff x="6701028" y="3415284"/>
            <a:chExt cx="796290" cy="171450"/>
          </a:xfrm>
        </p:grpSpPr>
        <p:pic>
          <p:nvPicPr>
            <p:cNvPr id="20" name="object 20"/>
            <p:cNvPicPr/>
            <p:nvPr/>
          </p:nvPicPr>
          <p:blipFill>
            <a:blip r:embed="rId14" cstate="print"/>
            <a:stretch>
              <a:fillRect/>
            </a:stretch>
          </p:blipFill>
          <p:spPr>
            <a:xfrm>
              <a:off x="6701028" y="3433572"/>
              <a:ext cx="781050" cy="133350"/>
            </a:xfrm>
            <a:prstGeom prst="rect">
              <a:avLst/>
            </a:prstGeom>
          </p:spPr>
        </p:pic>
        <p:pic>
          <p:nvPicPr>
            <p:cNvPr id="21" name="object 21"/>
            <p:cNvPicPr/>
            <p:nvPr/>
          </p:nvPicPr>
          <p:blipFill>
            <a:blip r:embed="rId15" cstate="print"/>
            <a:stretch>
              <a:fillRect/>
            </a:stretch>
          </p:blipFill>
          <p:spPr>
            <a:xfrm>
              <a:off x="7325868" y="3415284"/>
              <a:ext cx="171450" cy="171450"/>
            </a:xfrm>
            <a:prstGeom prst="rect">
              <a:avLst/>
            </a:prstGeom>
          </p:spPr>
        </p:pic>
      </p:grpSp>
      <p:pic>
        <p:nvPicPr>
          <p:cNvPr id="22" name="object 22"/>
          <p:cNvPicPr/>
          <p:nvPr/>
        </p:nvPicPr>
        <p:blipFill>
          <a:blip r:embed="rId16" cstate="print"/>
          <a:stretch>
            <a:fillRect/>
          </a:stretch>
        </p:blipFill>
        <p:spPr>
          <a:xfrm>
            <a:off x="5023485" y="1200150"/>
            <a:ext cx="550354" cy="18860"/>
          </a:xfrm>
          <a:prstGeom prst="rect">
            <a:avLst/>
          </a:prstGeom>
        </p:spPr>
      </p:pic>
      <p:pic>
        <p:nvPicPr>
          <p:cNvPr id="23" name="object 23"/>
          <p:cNvPicPr/>
          <p:nvPr/>
        </p:nvPicPr>
        <p:blipFill>
          <a:blip r:embed="rId17" cstate="print"/>
          <a:stretch>
            <a:fillRect/>
          </a:stretch>
        </p:blipFill>
        <p:spPr>
          <a:xfrm>
            <a:off x="5020055" y="1899666"/>
            <a:ext cx="428054" cy="20003"/>
          </a:xfrm>
          <a:prstGeom prst="rect">
            <a:avLst/>
          </a:prstGeom>
        </p:spPr>
      </p:pic>
      <p:grpSp>
        <p:nvGrpSpPr>
          <p:cNvPr id="24" name="object 24"/>
          <p:cNvGrpSpPr/>
          <p:nvPr/>
        </p:nvGrpSpPr>
        <p:grpSpPr>
          <a:xfrm>
            <a:off x="4413123" y="3857625"/>
            <a:ext cx="531019" cy="208598"/>
            <a:chOff x="5884164" y="5143500"/>
            <a:chExt cx="708025" cy="278130"/>
          </a:xfrm>
        </p:grpSpPr>
        <p:pic>
          <p:nvPicPr>
            <p:cNvPr id="25" name="object 25"/>
            <p:cNvPicPr/>
            <p:nvPr/>
          </p:nvPicPr>
          <p:blipFill>
            <a:blip r:embed="rId18" cstate="print"/>
            <a:stretch>
              <a:fillRect/>
            </a:stretch>
          </p:blipFill>
          <p:spPr>
            <a:xfrm>
              <a:off x="5884164" y="5143500"/>
              <a:ext cx="285750" cy="200406"/>
            </a:xfrm>
            <a:prstGeom prst="rect">
              <a:avLst/>
            </a:prstGeom>
          </p:spPr>
        </p:pic>
        <p:pic>
          <p:nvPicPr>
            <p:cNvPr id="26" name="object 26"/>
            <p:cNvPicPr/>
            <p:nvPr/>
          </p:nvPicPr>
          <p:blipFill>
            <a:blip r:embed="rId19" cstate="print"/>
            <a:stretch>
              <a:fillRect/>
            </a:stretch>
          </p:blipFill>
          <p:spPr>
            <a:xfrm>
              <a:off x="6158484" y="5213603"/>
              <a:ext cx="433578" cy="208025"/>
            </a:xfrm>
            <a:prstGeom prst="rect">
              <a:avLst/>
            </a:prstGeom>
          </p:spPr>
        </p:pic>
      </p:grpSp>
      <p:grpSp>
        <p:nvGrpSpPr>
          <p:cNvPr id="27" name="object 27"/>
          <p:cNvGrpSpPr/>
          <p:nvPr/>
        </p:nvGrpSpPr>
        <p:grpSpPr>
          <a:xfrm>
            <a:off x="5020055" y="2924936"/>
            <a:ext cx="926783" cy="1013460"/>
            <a:chOff x="6693407" y="3899915"/>
            <a:chExt cx="1235710" cy="1351280"/>
          </a:xfrm>
        </p:grpSpPr>
        <p:pic>
          <p:nvPicPr>
            <p:cNvPr id="28" name="object 28"/>
            <p:cNvPicPr/>
            <p:nvPr/>
          </p:nvPicPr>
          <p:blipFill>
            <a:blip r:embed="rId20" cstate="print"/>
            <a:stretch>
              <a:fillRect/>
            </a:stretch>
          </p:blipFill>
          <p:spPr>
            <a:xfrm>
              <a:off x="7403591" y="3913631"/>
              <a:ext cx="514375" cy="1326641"/>
            </a:xfrm>
            <a:prstGeom prst="rect">
              <a:avLst/>
            </a:prstGeom>
          </p:spPr>
        </p:pic>
        <p:pic>
          <p:nvPicPr>
            <p:cNvPr id="29" name="object 29"/>
            <p:cNvPicPr/>
            <p:nvPr/>
          </p:nvPicPr>
          <p:blipFill>
            <a:blip r:embed="rId21" cstate="print"/>
            <a:stretch>
              <a:fillRect/>
            </a:stretch>
          </p:blipFill>
          <p:spPr>
            <a:xfrm>
              <a:off x="7394447" y="3973067"/>
              <a:ext cx="497598" cy="1276350"/>
            </a:xfrm>
            <a:prstGeom prst="rect">
              <a:avLst/>
            </a:prstGeom>
          </p:spPr>
        </p:pic>
        <p:pic>
          <p:nvPicPr>
            <p:cNvPr id="30" name="object 30"/>
            <p:cNvPicPr/>
            <p:nvPr/>
          </p:nvPicPr>
          <p:blipFill>
            <a:blip r:embed="rId22" cstate="print"/>
            <a:stretch>
              <a:fillRect/>
            </a:stretch>
          </p:blipFill>
          <p:spPr>
            <a:xfrm>
              <a:off x="7767827" y="3899915"/>
              <a:ext cx="160781" cy="189737"/>
            </a:xfrm>
            <a:prstGeom prst="rect">
              <a:avLst/>
            </a:prstGeom>
          </p:spPr>
        </p:pic>
        <p:pic>
          <p:nvPicPr>
            <p:cNvPr id="31" name="object 31"/>
            <p:cNvPicPr/>
            <p:nvPr/>
          </p:nvPicPr>
          <p:blipFill>
            <a:blip r:embed="rId23" cstate="print"/>
            <a:stretch>
              <a:fillRect/>
            </a:stretch>
          </p:blipFill>
          <p:spPr>
            <a:xfrm>
              <a:off x="6693407" y="5224271"/>
              <a:ext cx="733805" cy="26670"/>
            </a:xfrm>
            <a:prstGeom prst="rect">
              <a:avLst/>
            </a:prstGeom>
          </p:spPr>
        </p:pic>
      </p:grpSp>
      <p:grpSp>
        <p:nvGrpSpPr>
          <p:cNvPr id="32" name="object 32"/>
          <p:cNvGrpSpPr/>
          <p:nvPr/>
        </p:nvGrpSpPr>
        <p:grpSpPr>
          <a:xfrm>
            <a:off x="6231636" y="2423140"/>
            <a:ext cx="1918811" cy="429578"/>
            <a:chOff x="8308847" y="3230854"/>
            <a:chExt cx="2558415" cy="572770"/>
          </a:xfrm>
        </p:grpSpPr>
        <p:pic>
          <p:nvPicPr>
            <p:cNvPr id="33" name="object 33"/>
            <p:cNvPicPr/>
            <p:nvPr/>
          </p:nvPicPr>
          <p:blipFill>
            <a:blip r:embed="rId24" cstate="print"/>
            <a:stretch>
              <a:fillRect/>
            </a:stretch>
          </p:blipFill>
          <p:spPr>
            <a:xfrm>
              <a:off x="8308847" y="3456431"/>
              <a:ext cx="782574" cy="133350"/>
            </a:xfrm>
            <a:prstGeom prst="rect">
              <a:avLst/>
            </a:prstGeom>
          </p:spPr>
        </p:pic>
        <p:pic>
          <p:nvPicPr>
            <p:cNvPr id="34" name="object 34"/>
            <p:cNvPicPr/>
            <p:nvPr/>
          </p:nvPicPr>
          <p:blipFill>
            <a:blip r:embed="rId25" cstate="print"/>
            <a:stretch>
              <a:fillRect/>
            </a:stretch>
          </p:blipFill>
          <p:spPr>
            <a:xfrm>
              <a:off x="8933687" y="3436619"/>
              <a:ext cx="171450" cy="171449"/>
            </a:xfrm>
            <a:prstGeom prst="rect">
              <a:avLst/>
            </a:prstGeom>
          </p:spPr>
        </p:pic>
        <p:pic>
          <p:nvPicPr>
            <p:cNvPr id="35" name="object 35"/>
            <p:cNvPicPr/>
            <p:nvPr/>
          </p:nvPicPr>
          <p:blipFill>
            <a:blip r:embed="rId26" cstate="print"/>
            <a:stretch>
              <a:fillRect/>
            </a:stretch>
          </p:blipFill>
          <p:spPr>
            <a:xfrm>
              <a:off x="9076943" y="3230854"/>
              <a:ext cx="1011174" cy="572287"/>
            </a:xfrm>
            <a:prstGeom prst="rect">
              <a:avLst/>
            </a:prstGeom>
          </p:spPr>
        </p:pic>
        <p:pic>
          <p:nvPicPr>
            <p:cNvPr id="36" name="object 36"/>
            <p:cNvPicPr/>
            <p:nvPr/>
          </p:nvPicPr>
          <p:blipFill>
            <a:blip r:embed="rId27" cstate="print"/>
            <a:stretch>
              <a:fillRect/>
            </a:stretch>
          </p:blipFill>
          <p:spPr>
            <a:xfrm>
              <a:off x="10069067" y="3439667"/>
              <a:ext cx="784098" cy="134874"/>
            </a:xfrm>
            <a:prstGeom prst="rect">
              <a:avLst/>
            </a:prstGeom>
          </p:spPr>
        </p:pic>
        <p:pic>
          <p:nvPicPr>
            <p:cNvPr id="37" name="object 37"/>
            <p:cNvPicPr/>
            <p:nvPr/>
          </p:nvPicPr>
          <p:blipFill>
            <a:blip r:embed="rId28" cstate="print"/>
            <a:stretch>
              <a:fillRect/>
            </a:stretch>
          </p:blipFill>
          <p:spPr>
            <a:xfrm>
              <a:off x="10693907" y="3421379"/>
              <a:ext cx="172974" cy="171450"/>
            </a:xfrm>
            <a:prstGeom prst="rect">
              <a:avLst/>
            </a:prstGeom>
          </p:spPr>
        </p:pic>
      </p:grpSp>
      <p:grpSp>
        <p:nvGrpSpPr>
          <p:cNvPr id="38" name="object 38"/>
          <p:cNvGrpSpPr/>
          <p:nvPr/>
        </p:nvGrpSpPr>
        <p:grpSpPr>
          <a:xfrm>
            <a:off x="3815333" y="874395"/>
            <a:ext cx="1228248" cy="646748"/>
            <a:chOff x="5087111" y="1165860"/>
            <a:chExt cx="1637664" cy="862330"/>
          </a:xfrm>
        </p:grpSpPr>
        <p:pic>
          <p:nvPicPr>
            <p:cNvPr id="39" name="object 39"/>
            <p:cNvPicPr/>
            <p:nvPr/>
          </p:nvPicPr>
          <p:blipFill>
            <a:blip r:embed="rId29" cstate="print"/>
            <a:stretch>
              <a:fillRect/>
            </a:stretch>
          </p:blipFill>
          <p:spPr>
            <a:xfrm>
              <a:off x="5087111" y="1534668"/>
              <a:ext cx="782574" cy="134874"/>
            </a:xfrm>
            <a:prstGeom prst="rect">
              <a:avLst/>
            </a:prstGeom>
          </p:spPr>
        </p:pic>
        <p:pic>
          <p:nvPicPr>
            <p:cNvPr id="40" name="object 40"/>
            <p:cNvPicPr/>
            <p:nvPr/>
          </p:nvPicPr>
          <p:blipFill>
            <a:blip r:embed="rId30" cstate="print"/>
            <a:stretch>
              <a:fillRect/>
            </a:stretch>
          </p:blipFill>
          <p:spPr>
            <a:xfrm>
              <a:off x="5710427" y="1516380"/>
              <a:ext cx="172974" cy="171450"/>
            </a:xfrm>
            <a:prstGeom prst="rect">
              <a:avLst/>
            </a:prstGeom>
          </p:spPr>
        </p:pic>
        <p:pic>
          <p:nvPicPr>
            <p:cNvPr id="41" name="object 41"/>
            <p:cNvPicPr/>
            <p:nvPr/>
          </p:nvPicPr>
          <p:blipFill>
            <a:blip r:embed="rId31" cstate="print"/>
            <a:stretch>
              <a:fillRect/>
            </a:stretch>
          </p:blipFill>
          <p:spPr>
            <a:xfrm>
              <a:off x="5859779" y="1165860"/>
              <a:ext cx="864882" cy="861822"/>
            </a:xfrm>
            <a:prstGeom prst="rect">
              <a:avLst/>
            </a:prstGeom>
          </p:spPr>
        </p:pic>
      </p:grpSp>
      <p:grpSp>
        <p:nvGrpSpPr>
          <p:cNvPr id="42" name="object 42"/>
          <p:cNvGrpSpPr/>
          <p:nvPr/>
        </p:nvGrpSpPr>
        <p:grpSpPr>
          <a:xfrm>
            <a:off x="5432679" y="742950"/>
            <a:ext cx="1116806" cy="324326"/>
            <a:chOff x="7243571" y="990600"/>
            <a:chExt cx="1489075" cy="432434"/>
          </a:xfrm>
        </p:grpSpPr>
        <p:pic>
          <p:nvPicPr>
            <p:cNvPr id="43" name="object 43"/>
            <p:cNvPicPr/>
            <p:nvPr/>
          </p:nvPicPr>
          <p:blipFill>
            <a:blip r:embed="rId32" cstate="print"/>
            <a:stretch>
              <a:fillRect/>
            </a:stretch>
          </p:blipFill>
          <p:spPr>
            <a:xfrm>
              <a:off x="7296911" y="1258824"/>
              <a:ext cx="233933" cy="163829"/>
            </a:xfrm>
            <a:prstGeom prst="rect">
              <a:avLst/>
            </a:prstGeom>
          </p:spPr>
        </p:pic>
        <p:pic>
          <p:nvPicPr>
            <p:cNvPr id="44" name="object 44"/>
            <p:cNvPicPr/>
            <p:nvPr/>
          </p:nvPicPr>
          <p:blipFill>
            <a:blip r:embed="rId33" cstate="print"/>
            <a:stretch>
              <a:fillRect/>
            </a:stretch>
          </p:blipFill>
          <p:spPr>
            <a:xfrm>
              <a:off x="7903463" y="1280159"/>
              <a:ext cx="189738" cy="87629"/>
            </a:xfrm>
            <a:prstGeom prst="rect">
              <a:avLst/>
            </a:prstGeom>
          </p:spPr>
        </p:pic>
        <p:pic>
          <p:nvPicPr>
            <p:cNvPr id="45" name="object 45"/>
            <p:cNvPicPr/>
            <p:nvPr/>
          </p:nvPicPr>
          <p:blipFill>
            <a:blip r:embed="rId34" cstate="print"/>
            <a:stretch>
              <a:fillRect/>
            </a:stretch>
          </p:blipFill>
          <p:spPr>
            <a:xfrm>
              <a:off x="8199119" y="1187195"/>
              <a:ext cx="156209" cy="235458"/>
            </a:xfrm>
            <a:prstGeom prst="rect">
              <a:avLst/>
            </a:prstGeom>
          </p:spPr>
        </p:pic>
        <p:sp>
          <p:nvSpPr>
            <p:cNvPr id="46" name="object 46"/>
            <p:cNvSpPr/>
            <p:nvPr/>
          </p:nvSpPr>
          <p:spPr>
            <a:xfrm>
              <a:off x="7243571" y="990600"/>
              <a:ext cx="1489075" cy="431800"/>
            </a:xfrm>
            <a:custGeom>
              <a:avLst/>
              <a:gdLst/>
              <a:ahLst/>
              <a:cxnLst/>
              <a:rect l="l" t="t" r="r" b="b"/>
              <a:pathLst>
                <a:path w="1489075" h="431800">
                  <a:moveTo>
                    <a:pt x="1488948" y="0"/>
                  </a:moveTo>
                  <a:lnTo>
                    <a:pt x="0" y="0"/>
                  </a:lnTo>
                  <a:lnTo>
                    <a:pt x="0" y="431291"/>
                  </a:lnTo>
                  <a:lnTo>
                    <a:pt x="1488948" y="431291"/>
                  </a:lnTo>
                  <a:lnTo>
                    <a:pt x="1488948" y="0"/>
                  </a:lnTo>
                  <a:close/>
                </a:path>
              </a:pathLst>
            </a:custGeom>
            <a:solidFill>
              <a:srgbClr val="000000"/>
            </a:solidFill>
          </p:spPr>
          <p:txBody>
            <a:bodyPr wrap="square" lIns="0" tIns="0" rIns="0" bIns="0" rtlCol="0"/>
            <a:lstStyle/>
            <a:p>
              <a:endParaRPr sz="1350"/>
            </a:p>
          </p:txBody>
        </p:sp>
      </p:grpSp>
      <p:grpSp>
        <p:nvGrpSpPr>
          <p:cNvPr id="47" name="object 47"/>
          <p:cNvGrpSpPr/>
          <p:nvPr/>
        </p:nvGrpSpPr>
        <p:grpSpPr>
          <a:xfrm>
            <a:off x="5702426" y="1124712"/>
            <a:ext cx="998220" cy="392430"/>
            <a:chOff x="7603235" y="1499616"/>
            <a:chExt cx="1330960" cy="523240"/>
          </a:xfrm>
        </p:grpSpPr>
        <p:pic>
          <p:nvPicPr>
            <p:cNvPr id="48" name="object 48"/>
            <p:cNvPicPr/>
            <p:nvPr/>
          </p:nvPicPr>
          <p:blipFill>
            <a:blip r:embed="rId35" cstate="print"/>
            <a:stretch>
              <a:fillRect/>
            </a:stretch>
          </p:blipFill>
          <p:spPr>
            <a:xfrm>
              <a:off x="7603235" y="1513332"/>
              <a:ext cx="115061" cy="304038"/>
            </a:xfrm>
            <a:prstGeom prst="rect">
              <a:avLst/>
            </a:prstGeom>
          </p:spPr>
        </p:pic>
        <p:pic>
          <p:nvPicPr>
            <p:cNvPr id="49" name="object 49"/>
            <p:cNvPicPr/>
            <p:nvPr/>
          </p:nvPicPr>
          <p:blipFill>
            <a:blip r:embed="rId36" cstate="print"/>
            <a:stretch>
              <a:fillRect/>
            </a:stretch>
          </p:blipFill>
          <p:spPr>
            <a:xfrm>
              <a:off x="7716011" y="1516316"/>
              <a:ext cx="569226" cy="233997"/>
            </a:xfrm>
            <a:prstGeom prst="rect">
              <a:avLst/>
            </a:prstGeom>
          </p:spPr>
        </p:pic>
        <p:pic>
          <p:nvPicPr>
            <p:cNvPr id="50" name="object 50"/>
            <p:cNvPicPr/>
            <p:nvPr/>
          </p:nvPicPr>
          <p:blipFill>
            <a:blip r:embed="rId37" cstate="print"/>
            <a:stretch>
              <a:fillRect/>
            </a:stretch>
          </p:blipFill>
          <p:spPr>
            <a:xfrm>
              <a:off x="8289035" y="1513332"/>
              <a:ext cx="115061" cy="304038"/>
            </a:xfrm>
            <a:prstGeom prst="rect">
              <a:avLst/>
            </a:prstGeom>
          </p:spPr>
        </p:pic>
        <p:sp>
          <p:nvSpPr>
            <p:cNvPr id="51" name="object 51"/>
            <p:cNvSpPr/>
            <p:nvPr/>
          </p:nvSpPr>
          <p:spPr>
            <a:xfrm>
              <a:off x="7697723" y="1499616"/>
              <a:ext cx="1236345" cy="523240"/>
            </a:xfrm>
            <a:custGeom>
              <a:avLst/>
              <a:gdLst/>
              <a:ahLst/>
              <a:cxnLst/>
              <a:rect l="l" t="t" r="r" b="b"/>
              <a:pathLst>
                <a:path w="1236345" h="523239">
                  <a:moveTo>
                    <a:pt x="1235964" y="0"/>
                  </a:moveTo>
                  <a:lnTo>
                    <a:pt x="0" y="0"/>
                  </a:lnTo>
                  <a:lnTo>
                    <a:pt x="0" y="522731"/>
                  </a:lnTo>
                  <a:lnTo>
                    <a:pt x="1235964" y="522731"/>
                  </a:lnTo>
                  <a:lnTo>
                    <a:pt x="1235964" y="0"/>
                  </a:lnTo>
                  <a:close/>
                </a:path>
              </a:pathLst>
            </a:custGeom>
            <a:solidFill>
              <a:srgbClr val="000000"/>
            </a:solidFill>
          </p:spPr>
          <p:txBody>
            <a:bodyPr wrap="square" lIns="0" tIns="0" rIns="0" bIns="0" rtlCol="0"/>
            <a:lstStyle/>
            <a:p>
              <a:endParaRPr sz="1350"/>
            </a:p>
          </p:txBody>
        </p:sp>
      </p:grpSp>
      <p:sp>
        <p:nvSpPr>
          <p:cNvPr id="52" name="object 52"/>
          <p:cNvSpPr txBox="1"/>
          <p:nvPr/>
        </p:nvSpPr>
        <p:spPr>
          <a:xfrm>
            <a:off x="3875532" y="4329531"/>
            <a:ext cx="1664970" cy="563616"/>
          </a:xfrm>
          <a:prstGeom prst="rect">
            <a:avLst/>
          </a:prstGeom>
        </p:spPr>
        <p:txBody>
          <a:bodyPr vert="horz" wrap="square" lIns="0" tIns="9525" rIns="0" bIns="0" rtlCol="0">
            <a:spAutoFit/>
          </a:bodyPr>
          <a:lstStyle/>
          <a:p>
            <a:pPr marL="48101" marR="3810" indent="-39052">
              <a:spcBef>
                <a:spcPts val="75"/>
              </a:spcBef>
            </a:pPr>
            <a:r>
              <a:rPr spc="-8" dirty="0">
                <a:latin typeface="Cambria"/>
                <a:cs typeface="Cambria"/>
              </a:rPr>
              <a:t>Synaptic</a:t>
            </a:r>
            <a:r>
              <a:rPr spc="-45" dirty="0">
                <a:latin typeface="Cambria"/>
                <a:cs typeface="Cambria"/>
              </a:rPr>
              <a:t> </a:t>
            </a:r>
            <a:r>
              <a:rPr spc="-8" dirty="0">
                <a:latin typeface="Cambria"/>
                <a:cs typeface="Cambria"/>
              </a:rPr>
              <a:t>weights </a:t>
            </a:r>
            <a:r>
              <a:rPr spc="-382" dirty="0">
                <a:latin typeface="Cambria"/>
                <a:cs typeface="Cambria"/>
              </a:rPr>
              <a:t> </a:t>
            </a:r>
            <a:r>
              <a:rPr dirty="0">
                <a:latin typeface="Cambria"/>
                <a:cs typeface="Cambria"/>
              </a:rPr>
              <a:t>(including</a:t>
            </a:r>
            <a:r>
              <a:rPr spc="-38" dirty="0">
                <a:latin typeface="Cambria"/>
                <a:cs typeface="Cambria"/>
              </a:rPr>
              <a:t> </a:t>
            </a:r>
            <a:r>
              <a:rPr spc="-4" dirty="0">
                <a:latin typeface="Cambria"/>
                <a:cs typeface="Cambria"/>
              </a:rPr>
              <a:t>bias)</a:t>
            </a:r>
            <a:endParaRPr>
              <a:latin typeface="Cambria"/>
              <a:cs typeface="Cambria"/>
            </a:endParaRPr>
          </a:p>
        </p:txBody>
      </p:sp>
      <p:grpSp>
        <p:nvGrpSpPr>
          <p:cNvPr id="53" name="object 53"/>
          <p:cNvGrpSpPr/>
          <p:nvPr/>
        </p:nvGrpSpPr>
        <p:grpSpPr>
          <a:xfrm>
            <a:off x="2760344" y="1648206"/>
            <a:ext cx="1652588" cy="2470784"/>
            <a:chOff x="3680459" y="2197607"/>
            <a:chExt cx="2203450" cy="3294379"/>
          </a:xfrm>
        </p:grpSpPr>
        <p:pic>
          <p:nvPicPr>
            <p:cNvPr id="54" name="object 54"/>
            <p:cNvPicPr/>
            <p:nvPr/>
          </p:nvPicPr>
          <p:blipFill>
            <a:blip r:embed="rId38" cstate="print"/>
            <a:stretch>
              <a:fillRect/>
            </a:stretch>
          </p:blipFill>
          <p:spPr>
            <a:xfrm>
              <a:off x="5052059" y="2485643"/>
              <a:ext cx="781049" cy="134874"/>
            </a:xfrm>
            <a:prstGeom prst="rect">
              <a:avLst/>
            </a:prstGeom>
          </p:spPr>
        </p:pic>
        <p:pic>
          <p:nvPicPr>
            <p:cNvPr id="55" name="object 55"/>
            <p:cNvPicPr/>
            <p:nvPr/>
          </p:nvPicPr>
          <p:blipFill>
            <a:blip r:embed="rId39" cstate="print"/>
            <a:stretch>
              <a:fillRect/>
            </a:stretch>
          </p:blipFill>
          <p:spPr>
            <a:xfrm>
              <a:off x="5676899" y="2467355"/>
              <a:ext cx="169925" cy="171450"/>
            </a:xfrm>
            <a:prstGeom prst="rect">
              <a:avLst/>
            </a:prstGeom>
          </p:spPr>
        </p:pic>
        <p:pic>
          <p:nvPicPr>
            <p:cNvPr id="56" name="object 56"/>
            <p:cNvPicPr/>
            <p:nvPr/>
          </p:nvPicPr>
          <p:blipFill>
            <a:blip r:embed="rId40" cstate="print"/>
            <a:stretch>
              <a:fillRect/>
            </a:stretch>
          </p:blipFill>
          <p:spPr>
            <a:xfrm>
              <a:off x="4619243" y="5058155"/>
              <a:ext cx="172974" cy="166878"/>
            </a:xfrm>
            <a:prstGeom prst="rect">
              <a:avLst/>
            </a:prstGeom>
          </p:spPr>
        </p:pic>
        <p:pic>
          <p:nvPicPr>
            <p:cNvPr id="57" name="object 57"/>
            <p:cNvPicPr/>
            <p:nvPr/>
          </p:nvPicPr>
          <p:blipFill>
            <a:blip r:embed="rId41" cstate="print"/>
            <a:stretch>
              <a:fillRect/>
            </a:stretch>
          </p:blipFill>
          <p:spPr>
            <a:xfrm>
              <a:off x="4762499" y="5154167"/>
              <a:ext cx="223265" cy="133350"/>
            </a:xfrm>
            <a:prstGeom prst="rect">
              <a:avLst/>
            </a:prstGeom>
          </p:spPr>
        </p:pic>
        <p:pic>
          <p:nvPicPr>
            <p:cNvPr id="58" name="object 58"/>
            <p:cNvPicPr/>
            <p:nvPr/>
          </p:nvPicPr>
          <p:blipFill>
            <a:blip r:embed="rId42" cstate="print"/>
            <a:stretch>
              <a:fillRect/>
            </a:stretch>
          </p:blipFill>
          <p:spPr>
            <a:xfrm>
              <a:off x="4689347" y="3332987"/>
              <a:ext cx="174498" cy="166877"/>
            </a:xfrm>
            <a:prstGeom prst="rect">
              <a:avLst/>
            </a:prstGeom>
          </p:spPr>
        </p:pic>
        <p:pic>
          <p:nvPicPr>
            <p:cNvPr id="59" name="object 59"/>
            <p:cNvPicPr/>
            <p:nvPr/>
          </p:nvPicPr>
          <p:blipFill>
            <a:blip r:embed="rId43" cstate="print"/>
            <a:stretch>
              <a:fillRect/>
            </a:stretch>
          </p:blipFill>
          <p:spPr>
            <a:xfrm>
              <a:off x="4860035" y="3400044"/>
              <a:ext cx="113537" cy="159258"/>
            </a:xfrm>
            <a:prstGeom prst="rect">
              <a:avLst/>
            </a:prstGeom>
          </p:spPr>
        </p:pic>
        <p:pic>
          <p:nvPicPr>
            <p:cNvPr id="60" name="object 60"/>
            <p:cNvPicPr/>
            <p:nvPr/>
          </p:nvPicPr>
          <p:blipFill>
            <a:blip r:embed="rId44" cstate="print"/>
            <a:stretch>
              <a:fillRect/>
            </a:stretch>
          </p:blipFill>
          <p:spPr>
            <a:xfrm>
              <a:off x="4632959" y="2337815"/>
              <a:ext cx="176022" cy="166877"/>
            </a:xfrm>
            <a:prstGeom prst="rect">
              <a:avLst/>
            </a:prstGeom>
          </p:spPr>
        </p:pic>
        <p:pic>
          <p:nvPicPr>
            <p:cNvPr id="61" name="object 61"/>
            <p:cNvPicPr/>
            <p:nvPr/>
          </p:nvPicPr>
          <p:blipFill>
            <a:blip r:embed="rId45" cstate="print"/>
            <a:stretch>
              <a:fillRect/>
            </a:stretch>
          </p:blipFill>
          <p:spPr>
            <a:xfrm>
              <a:off x="4799075" y="2404871"/>
              <a:ext cx="113537" cy="159258"/>
            </a:xfrm>
            <a:prstGeom prst="rect">
              <a:avLst/>
            </a:prstGeom>
          </p:spPr>
        </p:pic>
        <p:pic>
          <p:nvPicPr>
            <p:cNvPr id="62" name="object 62"/>
            <p:cNvPicPr/>
            <p:nvPr/>
          </p:nvPicPr>
          <p:blipFill>
            <a:blip r:embed="rId46" cstate="print"/>
            <a:stretch>
              <a:fillRect/>
            </a:stretch>
          </p:blipFill>
          <p:spPr>
            <a:xfrm>
              <a:off x="3680459" y="2197607"/>
              <a:ext cx="965453" cy="3294126"/>
            </a:xfrm>
            <a:prstGeom prst="rect">
              <a:avLst/>
            </a:prstGeom>
          </p:spPr>
        </p:pic>
        <p:pic>
          <p:nvPicPr>
            <p:cNvPr id="63" name="object 63"/>
            <p:cNvPicPr/>
            <p:nvPr/>
          </p:nvPicPr>
          <p:blipFill>
            <a:blip r:embed="rId47" cstate="print"/>
            <a:stretch>
              <a:fillRect/>
            </a:stretch>
          </p:blipFill>
          <p:spPr>
            <a:xfrm>
              <a:off x="5087111" y="3395472"/>
              <a:ext cx="782574" cy="133350"/>
            </a:xfrm>
            <a:prstGeom prst="rect">
              <a:avLst/>
            </a:prstGeom>
          </p:spPr>
        </p:pic>
        <p:pic>
          <p:nvPicPr>
            <p:cNvPr id="64" name="object 64"/>
            <p:cNvPicPr/>
            <p:nvPr/>
          </p:nvPicPr>
          <p:blipFill>
            <a:blip r:embed="rId48" cstate="print"/>
            <a:stretch>
              <a:fillRect/>
            </a:stretch>
          </p:blipFill>
          <p:spPr>
            <a:xfrm>
              <a:off x="5710427" y="3377183"/>
              <a:ext cx="172974" cy="171450"/>
            </a:xfrm>
            <a:prstGeom prst="rect">
              <a:avLst/>
            </a:prstGeom>
          </p:spPr>
        </p:pic>
        <p:pic>
          <p:nvPicPr>
            <p:cNvPr id="65" name="object 65"/>
            <p:cNvPicPr/>
            <p:nvPr/>
          </p:nvPicPr>
          <p:blipFill>
            <a:blip r:embed="rId47" cstate="print"/>
            <a:stretch>
              <a:fillRect/>
            </a:stretch>
          </p:blipFill>
          <p:spPr>
            <a:xfrm>
              <a:off x="5087111" y="5172455"/>
              <a:ext cx="782574" cy="133350"/>
            </a:xfrm>
            <a:prstGeom prst="rect">
              <a:avLst/>
            </a:prstGeom>
          </p:spPr>
        </p:pic>
        <p:pic>
          <p:nvPicPr>
            <p:cNvPr id="66" name="object 66"/>
            <p:cNvPicPr/>
            <p:nvPr/>
          </p:nvPicPr>
          <p:blipFill>
            <a:blip r:embed="rId49" cstate="print"/>
            <a:stretch>
              <a:fillRect/>
            </a:stretch>
          </p:blipFill>
          <p:spPr>
            <a:xfrm>
              <a:off x="5710427" y="5154167"/>
              <a:ext cx="172974" cy="169925"/>
            </a:xfrm>
            <a:prstGeom prst="rect">
              <a:avLst/>
            </a:prstGeom>
          </p:spPr>
        </p:pic>
      </p:grpSp>
      <p:sp>
        <p:nvSpPr>
          <p:cNvPr id="67" name="object 67"/>
          <p:cNvSpPr txBox="1"/>
          <p:nvPr/>
        </p:nvSpPr>
        <p:spPr>
          <a:xfrm>
            <a:off x="2278761" y="2467165"/>
            <a:ext cx="754380" cy="332303"/>
          </a:xfrm>
          <a:prstGeom prst="rect">
            <a:avLst/>
          </a:prstGeom>
        </p:spPr>
        <p:txBody>
          <a:bodyPr vert="horz" wrap="square" lIns="0" tIns="9049" rIns="0" bIns="0" rtlCol="0">
            <a:spAutoFit/>
          </a:bodyPr>
          <a:lstStyle/>
          <a:p>
            <a:pPr marL="9525">
              <a:spcBef>
                <a:spcPts val="71"/>
              </a:spcBef>
            </a:pPr>
            <a:r>
              <a:rPr sz="2100" spc="-8" dirty="0">
                <a:latin typeface="Cambria"/>
                <a:cs typeface="Cambria"/>
              </a:rPr>
              <a:t>Inputs</a:t>
            </a:r>
            <a:endParaRPr sz="2100">
              <a:latin typeface="Cambria"/>
              <a:cs typeface="Cambria"/>
            </a:endParaRPr>
          </a:p>
        </p:txBody>
      </p:sp>
      <p:sp>
        <p:nvSpPr>
          <p:cNvPr id="68" name="object 68"/>
          <p:cNvSpPr txBox="1"/>
          <p:nvPr/>
        </p:nvSpPr>
        <p:spPr>
          <a:xfrm>
            <a:off x="3641027" y="2834697"/>
            <a:ext cx="66199" cy="714939"/>
          </a:xfrm>
          <a:prstGeom prst="rect">
            <a:avLst/>
          </a:prstGeom>
        </p:spPr>
        <p:txBody>
          <a:bodyPr vert="horz" wrap="square" lIns="0" tIns="9525" rIns="0" bIns="0" rtlCol="0">
            <a:spAutoFit/>
          </a:bodyPr>
          <a:lstStyle/>
          <a:p>
            <a:pPr marL="9525">
              <a:lnSpc>
                <a:spcPts val="1943"/>
              </a:lnSpc>
              <a:spcBef>
                <a:spcPts val="75"/>
              </a:spcBef>
            </a:pPr>
            <a:r>
              <a:rPr dirty="0">
                <a:latin typeface="Cambria"/>
                <a:cs typeface="Cambria"/>
              </a:rPr>
              <a:t>.</a:t>
            </a:r>
            <a:endParaRPr>
              <a:latin typeface="Cambria"/>
              <a:cs typeface="Cambria"/>
            </a:endParaRPr>
          </a:p>
          <a:p>
            <a:pPr marL="9525">
              <a:lnSpc>
                <a:spcPts val="1729"/>
              </a:lnSpc>
            </a:pPr>
            <a:r>
              <a:rPr dirty="0">
                <a:latin typeface="Cambria"/>
                <a:cs typeface="Cambria"/>
              </a:rPr>
              <a:t>.</a:t>
            </a:r>
            <a:endParaRPr>
              <a:latin typeface="Cambria"/>
              <a:cs typeface="Cambria"/>
            </a:endParaRPr>
          </a:p>
          <a:p>
            <a:pPr marL="9525">
              <a:lnSpc>
                <a:spcPts val="1946"/>
              </a:lnSpc>
            </a:pPr>
            <a:r>
              <a:rPr dirty="0">
                <a:latin typeface="Cambria"/>
                <a:cs typeface="Cambria"/>
              </a:rPr>
              <a:t>.</a:t>
            </a:r>
            <a:endParaRPr>
              <a:latin typeface="Cambria"/>
              <a:cs typeface="Cambria"/>
            </a:endParaRPr>
          </a:p>
        </p:txBody>
      </p:sp>
      <p:sp>
        <p:nvSpPr>
          <p:cNvPr id="69" name="object 69"/>
          <p:cNvSpPr txBox="1"/>
          <p:nvPr/>
        </p:nvSpPr>
        <p:spPr>
          <a:xfrm>
            <a:off x="4496181" y="950366"/>
            <a:ext cx="216218" cy="332303"/>
          </a:xfrm>
          <a:prstGeom prst="rect">
            <a:avLst/>
          </a:prstGeom>
        </p:spPr>
        <p:txBody>
          <a:bodyPr vert="horz" wrap="square" lIns="0" tIns="9049" rIns="0" bIns="0" rtlCol="0">
            <a:spAutoFit/>
          </a:bodyPr>
          <a:lstStyle/>
          <a:p>
            <a:pPr marL="9525">
              <a:spcBef>
                <a:spcPts val="71"/>
              </a:spcBef>
            </a:pPr>
            <a:r>
              <a:rPr sz="2100" spc="-4" dirty="0">
                <a:latin typeface="Cambria Math"/>
                <a:cs typeface="Cambria Math"/>
              </a:rPr>
              <a:t>𝑤</a:t>
            </a:r>
            <a:endParaRPr sz="2100">
              <a:latin typeface="Cambria Math"/>
              <a:cs typeface="Cambria Math"/>
            </a:endParaRPr>
          </a:p>
        </p:txBody>
      </p:sp>
      <p:sp>
        <p:nvSpPr>
          <p:cNvPr id="70" name="object 70"/>
          <p:cNvSpPr txBox="1"/>
          <p:nvPr/>
        </p:nvSpPr>
        <p:spPr>
          <a:xfrm>
            <a:off x="4683633" y="1077240"/>
            <a:ext cx="249555" cy="245325"/>
          </a:xfrm>
          <a:prstGeom prst="rect">
            <a:avLst/>
          </a:prstGeom>
        </p:spPr>
        <p:txBody>
          <a:bodyPr vert="horz" wrap="square" lIns="0" tIns="8573" rIns="0" bIns="0" rtlCol="0">
            <a:spAutoFit/>
          </a:bodyPr>
          <a:lstStyle/>
          <a:p>
            <a:pPr marL="9525">
              <a:spcBef>
                <a:spcPts val="68"/>
              </a:spcBef>
            </a:pPr>
            <a:r>
              <a:rPr sz="1538" spc="86" dirty="0">
                <a:latin typeface="Cambria Math"/>
                <a:cs typeface="Cambria Math"/>
              </a:rPr>
              <a:t>𝑘0</a:t>
            </a:r>
            <a:endParaRPr sz="1538">
              <a:latin typeface="Cambria Math"/>
              <a:cs typeface="Cambria Math"/>
            </a:endParaRPr>
          </a:p>
        </p:txBody>
      </p:sp>
      <p:pic>
        <p:nvPicPr>
          <p:cNvPr id="71" name="object 71"/>
          <p:cNvPicPr/>
          <p:nvPr/>
        </p:nvPicPr>
        <p:blipFill>
          <a:blip r:embed="rId50" cstate="print"/>
          <a:stretch>
            <a:fillRect/>
          </a:stretch>
        </p:blipFill>
        <p:spPr>
          <a:xfrm>
            <a:off x="4464558" y="1597913"/>
            <a:ext cx="647519" cy="646367"/>
          </a:xfrm>
          <a:prstGeom prst="rect">
            <a:avLst/>
          </a:prstGeom>
        </p:spPr>
      </p:pic>
      <p:sp>
        <p:nvSpPr>
          <p:cNvPr id="72" name="object 72"/>
          <p:cNvSpPr txBox="1"/>
          <p:nvPr/>
        </p:nvSpPr>
        <p:spPr>
          <a:xfrm>
            <a:off x="4546377" y="1729644"/>
            <a:ext cx="475298" cy="332303"/>
          </a:xfrm>
          <a:prstGeom prst="rect">
            <a:avLst/>
          </a:prstGeom>
        </p:spPr>
        <p:txBody>
          <a:bodyPr vert="horz" wrap="square" lIns="0" tIns="9049" rIns="0" bIns="0" rtlCol="0">
            <a:spAutoFit/>
          </a:bodyPr>
          <a:lstStyle/>
          <a:p>
            <a:pPr marL="28575">
              <a:spcBef>
                <a:spcPts val="71"/>
              </a:spcBef>
            </a:pPr>
            <a:r>
              <a:rPr sz="3150" spc="17" baseline="11904" dirty="0">
                <a:latin typeface="Cambria Math"/>
                <a:cs typeface="Cambria Math"/>
              </a:rPr>
              <a:t>𝑤</a:t>
            </a:r>
            <a:r>
              <a:rPr sz="1538" spc="11" dirty="0">
                <a:latin typeface="Cambria Math"/>
                <a:cs typeface="Cambria Math"/>
              </a:rPr>
              <a:t>𝑘1</a:t>
            </a:r>
            <a:endParaRPr sz="1538">
              <a:latin typeface="Cambria Math"/>
              <a:cs typeface="Cambria Math"/>
            </a:endParaRPr>
          </a:p>
        </p:txBody>
      </p:sp>
      <p:pic>
        <p:nvPicPr>
          <p:cNvPr id="73" name="object 73"/>
          <p:cNvPicPr/>
          <p:nvPr/>
        </p:nvPicPr>
        <p:blipFill>
          <a:blip r:embed="rId51" cstate="print"/>
          <a:stretch>
            <a:fillRect/>
          </a:stretch>
        </p:blipFill>
        <p:spPr>
          <a:xfrm>
            <a:off x="4457700" y="3646169"/>
            <a:ext cx="648653" cy="646376"/>
          </a:xfrm>
          <a:prstGeom prst="rect">
            <a:avLst/>
          </a:prstGeom>
        </p:spPr>
      </p:pic>
      <p:pic>
        <p:nvPicPr>
          <p:cNvPr id="74" name="object 74"/>
          <p:cNvPicPr/>
          <p:nvPr/>
        </p:nvPicPr>
        <p:blipFill>
          <a:blip r:embed="rId51" cstate="print"/>
          <a:stretch>
            <a:fillRect/>
          </a:stretch>
        </p:blipFill>
        <p:spPr>
          <a:xfrm>
            <a:off x="4458842" y="2306564"/>
            <a:ext cx="647519" cy="647519"/>
          </a:xfrm>
          <a:prstGeom prst="rect">
            <a:avLst/>
          </a:prstGeom>
        </p:spPr>
      </p:pic>
      <p:sp>
        <p:nvSpPr>
          <p:cNvPr id="75" name="object 75"/>
          <p:cNvSpPr txBox="1"/>
          <p:nvPr/>
        </p:nvSpPr>
        <p:spPr>
          <a:xfrm>
            <a:off x="4531995" y="2312381"/>
            <a:ext cx="544354" cy="1809309"/>
          </a:xfrm>
          <a:prstGeom prst="rect">
            <a:avLst/>
          </a:prstGeom>
        </p:spPr>
        <p:txBody>
          <a:bodyPr vert="horz" wrap="square" lIns="0" tIns="135731" rIns="0" bIns="0" rtlCol="0">
            <a:spAutoFit/>
          </a:bodyPr>
          <a:lstStyle/>
          <a:p>
            <a:pPr marR="46196" algn="ctr">
              <a:spcBef>
                <a:spcPts val="1069"/>
              </a:spcBef>
            </a:pPr>
            <a:r>
              <a:rPr sz="3150" spc="17" baseline="11904" dirty="0">
                <a:latin typeface="Cambria Math"/>
                <a:cs typeface="Cambria Math"/>
              </a:rPr>
              <a:t>𝑤</a:t>
            </a:r>
            <a:r>
              <a:rPr sz="1538" spc="11" dirty="0">
                <a:latin typeface="Cambria Math"/>
                <a:cs typeface="Cambria Math"/>
              </a:rPr>
              <a:t>𝑘2</a:t>
            </a:r>
            <a:endParaRPr sz="1538">
              <a:latin typeface="Cambria Math"/>
              <a:cs typeface="Cambria Math"/>
            </a:endParaRPr>
          </a:p>
          <a:p>
            <a:pPr marR="41910" algn="ctr">
              <a:lnSpc>
                <a:spcPts val="1939"/>
              </a:lnSpc>
              <a:spcBef>
                <a:spcPts val="855"/>
              </a:spcBef>
            </a:pPr>
            <a:r>
              <a:rPr dirty="0">
                <a:latin typeface="Cambria"/>
                <a:cs typeface="Cambria"/>
              </a:rPr>
              <a:t>.</a:t>
            </a:r>
            <a:endParaRPr>
              <a:latin typeface="Cambria"/>
              <a:cs typeface="Cambria"/>
            </a:endParaRPr>
          </a:p>
          <a:p>
            <a:pPr marR="41910" algn="ctr">
              <a:lnSpc>
                <a:spcPts val="1729"/>
              </a:lnSpc>
            </a:pPr>
            <a:r>
              <a:rPr dirty="0">
                <a:latin typeface="Cambria"/>
                <a:cs typeface="Cambria"/>
              </a:rPr>
              <a:t>.</a:t>
            </a:r>
            <a:endParaRPr>
              <a:latin typeface="Cambria"/>
              <a:cs typeface="Cambria"/>
            </a:endParaRPr>
          </a:p>
          <a:p>
            <a:pPr marR="41910" algn="ctr">
              <a:lnSpc>
                <a:spcPts val="1954"/>
              </a:lnSpc>
            </a:pPr>
            <a:r>
              <a:rPr dirty="0">
                <a:latin typeface="Cambria"/>
                <a:cs typeface="Cambria"/>
              </a:rPr>
              <a:t>.</a:t>
            </a:r>
            <a:endParaRPr>
              <a:latin typeface="Cambria"/>
              <a:cs typeface="Cambria"/>
            </a:endParaRPr>
          </a:p>
          <a:p>
            <a:pPr algn="ctr">
              <a:spcBef>
                <a:spcPts val="1549"/>
              </a:spcBef>
            </a:pPr>
            <a:r>
              <a:rPr sz="3150" spc="67" baseline="11904" dirty="0">
                <a:latin typeface="Cambria Math"/>
                <a:cs typeface="Cambria Math"/>
              </a:rPr>
              <a:t>𝑤</a:t>
            </a:r>
            <a:r>
              <a:rPr sz="1538" spc="45" dirty="0">
                <a:latin typeface="Cambria Math"/>
                <a:cs typeface="Cambria Math"/>
              </a:rPr>
              <a:t>𝑘𝑚</a:t>
            </a:r>
            <a:endParaRPr sz="1538">
              <a:latin typeface="Cambria Math"/>
              <a:cs typeface="Cambria Math"/>
            </a:endParaRPr>
          </a:p>
        </p:txBody>
      </p:sp>
      <p:sp>
        <p:nvSpPr>
          <p:cNvPr id="76" name="object 76"/>
          <p:cNvSpPr/>
          <p:nvPr/>
        </p:nvSpPr>
        <p:spPr>
          <a:xfrm>
            <a:off x="3467861" y="1736216"/>
            <a:ext cx="319088" cy="323850"/>
          </a:xfrm>
          <a:custGeom>
            <a:avLst/>
            <a:gdLst/>
            <a:ahLst/>
            <a:cxnLst/>
            <a:rect l="l" t="t" r="r" b="b"/>
            <a:pathLst>
              <a:path w="425450" h="431800">
                <a:moveTo>
                  <a:pt x="425196" y="0"/>
                </a:moveTo>
                <a:lnTo>
                  <a:pt x="0" y="0"/>
                </a:lnTo>
                <a:lnTo>
                  <a:pt x="0" y="431291"/>
                </a:lnTo>
                <a:lnTo>
                  <a:pt x="425196" y="431291"/>
                </a:lnTo>
                <a:lnTo>
                  <a:pt x="425196" y="0"/>
                </a:lnTo>
                <a:close/>
              </a:path>
            </a:pathLst>
          </a:custGeom>
          <a:solidFill>
            <a:srgbClr val="000000"/>
          </a:solidFill>
        </p:spPr>
        <p:txBody>
          <a:bodyPr wrap="square" lIns="0" tIns="0" rIns="0" bIns="0" rtlCol="0"/>
          <a:lstStyle/>
          <a:p>
            <a:endParaRPr sz="1350"/>
          </a:p>
        </p:txBody>
      </p:sp>
      <p:sp>
        <p:nvSpPr>
          <p:cNvPr id="77" name="object 77"/>
          <p:cNvSpPr txBox="1"/>
          <p:nvPr/>
        </p:nvSpPr>
        <p:spPr>
          <a:xfrm>
            <a:off x="3470623" y="1720082"/>
            <a:ext cx="303848" cy="332303"/>
          </a:xfrm>
          <a:prstGeom prst="rect">
            <a:avLst/>
          </a:prstGeom>
        </p:spPr>
        <p:txBody>
          <a:bodyPr vert="horz" wrap="square" lIns="0" tIns="9049" rIns="0" bIns="0" rtlCol="0">
            <a:spAutoFit/>
          </a:bodyPr>
          <a:lstStyle/>
          <a:p>
            <a:pPr marL="28575">
              <a:spcBef>
                <a:spcPts val="71"/>
              </a:spcBef>
            </a:pPr>
            <a:r>
              <a:rPr sz="2100" spc="-19" dirty="0">
                <a:solidFill>
                  <a:schemeClr val="bg1"/>
                </a:solidFill>
                <a:latin typeface="Cambria Math"/>
                <a:cs typeface="Cambria Math"/>
              </a:rPr>
              <a:t>𝑥</a:t>
            </a:r>
            <a:r>
              <a:rPr sz="2306" spc="-28" baseline="-16260" dirty="0">
                <a:solidFill>
                  <a:schemeClr val="bg1"/>
                </a:solidFill>
                <a:latin typeface="Cambria Math"/>
                <a:cs typeface="Cambria Math"/>
              </a:rPr>
              <a:t>1</a:t>
            </a:r>
            <a:endParaRPr sz="2306" baseline="-16260" dirty="0">
              <a:solidFill>
                <a:schemeClr val="bg1"/>
              </a:solidFill>
              <a:latin typeface="Cambria Math"/>
              <a:cs typeface="Cambria Math"/>
            </a:endParaRPr>
          </a:p>
        </p:txBody>
      </p:sp>
      <p:sp>
        <p:nvSpPr>
          <p:cNvPr id="78" name="object 78"/>
          <p:cNvSpPr txBox="1"/>
          <p:nvPr/>
        </p:nvSpPr>
        <p:spPr>
          <a:xfrm>
            <a:off x="7976996" y="2225992"/>
            <a:ext cx="830580" cy="624690"/>
          </a:xfrm>
          <a:prstGeom prst="rect">
            <a:avLst/>
          </a:prstGeom>
        </p:spPr>
        <p:txBody>
          <a:bodyPr vert="horz" wrap="square" lIns="0" tIns="9049" rIns="0" bIns="0" rtlCol="0">
            <a:spAutoFit/>
          </a:bodyPr>
          <a:lstStyle/>
          <a:p>
            <a:pPr algn="ctr">
              <a:lnSpc>
                <a:spcPts val="2359"/>
              </a:lnSpc>
              <a:spcBef>
                <a:spcPts val="71"/>
              </a:spcBef>
            </a:pPr>
            <a:r>
              <a:rPr sz="2100" spc="-8" dirty="0">
                <a:latin typeface="Calibri"/>
                <a:cs typeface="Calibri"/>
              </a:rPr>
              <a:t>Output</a:t>
            </a:r>
            <a:endParaRPr sz="2100">
              <a:latin typeface="Calibri"/>
              <a:cs typeface="Calibri"/>
            </a:endParaRPr>
          </a:p>
          <a:p>
            <a:pPr marR="1429" algn="ctr">
              <a:lnSpc>
                <a:spcPts val="2359"/>
              </a:lnSpc>
            </a:pPr>
            <a:r>
              <a:rPr sz="2100" spc="4" dirty="0">
                <a:latin typeface="Cambria Math"/>
                <a:cs typeface="Cambria Math"/>
              </a:rPr>
              <a:t>𝑦</a:t>
            </a:r>
            <a:r>
              <a:rPr sz="2306" spc="5" baseline="-16260" dirty="0">
                <a:latin typeface="Cambria Math"/>
                <a:cs typeface="Cambria Math"/>
              </a:rPr>
              <a:t>𝑘</a:t>
            </a:r>
            <a:endParaRPr sz="2306" baseline="-16260">
              <a:latin typeface="Cambria Math"/>
              <a:cs typeface="Cambria Math"/>
            </a:endParaRPr>
          </a:p>
        </p:txBody>
      </p:sp>
      <p:sp>
        <p:nvSpPr>
          <p:cNvPr id="79" name="object 79"/>
          <p:cNvSpPr/>
          <p:nvPr/>
        </p:nvSpPr>
        <p:spPr>
          <a:xfrm>
            <a:off x="3479291" y="2393441"/>
            <a:ext cx="324803" cy="323850"/>
          </a:xfrm>
          <a:custGeom>
            <a:avLst/>
            <a:gdLst/>
            <a:ahLst/>
            <a:cxnLst/>
            <a:rect l="l" t="t" r="r" b="b"/>
            <a:pathLst>
              <a:path w="433070" h="431800">
                <a:moveTo>
                  <a:pt x="432815" y="0"/>
                </a:moveTo>
                <a:lnTo>
                  <a:pt x="0" y="0"/>
                </a:lnTo>
                <a:lnTo>
                  <a:pt x="0" y="431291"/>
                </a:lnTo>
                <a:lnTo>
                  <a:pt x="432815" y="431291"/>
                </a:lnTo>
                <a:lnTo>
                  <a:pt x="432815" y="0"/>
                </a:lnTo>
                <a:close/>
              </a:path>
            </a:pathLst>
          </a:custGeom>
          <a:solidFill>
            <a:srgbClr val="000000"/>
          </a:solidFill>
        </p:spPr>
        <p:txBody>
          <a:bodyPr wrap="square" lIns="0" tIns="0" rIns="0" bIns="0" rtlCol="0"/>
          <a:lstStyle/>
          <a:p>
            <a:endParaRPr sz="1350"/>
          </a:p>
        </p:txBody>
      </p:sp>
      <p:sp>
        <p:nvSpPr>
          <p:cNvPr id="80" name="object 80"/>
          <p:cNvSpPr txBox="1"/>
          <p:nvPr/>
        </p:nvSpPr>
        <p:spPr>
          <a:xfrm>
            <a:off x="3482245" y="2377725"/>
            <a:ext cx="309086" cy="332303"/>
          </a:xfrm>
          <a:prstGeom prst="rect">
            <a:avLst/>
          </a:prstGeom>
        </p:spPr>
        <p:txBody>
          <a:bodyPr vert="horz" wrap="square" lIns="0" tIns="9049" rIns="0" bIns="0" rtlCol="0">
            <a:spAutoFit/>
          </a:bodyPr>
          <a:lstStyle/>
          <a:p>
            <a:pPr marL="28575">
              <a:spcBef>
                <a:spcPts val="71"/>
              </a:spcBef>
            </a:pPr>
            <a:r>
              <a:rPr sz="2100" spc="4" dirty="0">
                <a:solidFill>
                  <a:schemeClr val="bg1"/>
                </a:solidFill>
                <a:latin typeface="Cambria Math"/>
                <a:cs typeface="Cambria Math"/>
              </a:rPr>
              <a:t>𝑥</a:t>
            </a:r>
            <a:r>
              <a:rPr sz="2306" spc="5" baseline="-16260" dirty="0">
                <a:solidFill>
                  <a:schemeClr val="bg1"/>
                </a:solidFill>
                <a:latin typeface="Cambria Math"/>
                <a:cs typeface="Cambria Math"/>
              </a:rPr>
              <a:t>2</a:t>
            </a:r>
            <a:endParaRPr sz="2306" baseline="-16260" dirty="0">
              <a:solidFill>
                <a:schemeClr val="bg1"/>
              </a:solidFill>
              <a:latin typeface="Cambria Math"/>
              <a:cs typeface="Cambria Math"/>
            </a:endParaRPr>
          </a:p>
        </p:txBody>
      </p:sp>
      <p:sp>
        <p:nvSpPr>
          <p:cNvPr id="81" name="object 81"/>
          <p:cNvSpPr/>
          <p:nvPr/>
        </p:nvSpPr>
        <p:spPr>
          <a:xfrm>
            <a:off x="3496436" y="3665601"/>
            <a:ext cx="398145" cy="322421"/>
          </a:xfrm>
          <a:custGeom>
            <a:avLst/>
            <a:gdLst/>
            <a:ahLst/>
            <a:cxnLst/>
            <a:rect l="l" t="t" r="r" b="b"/>
            <a:pathLst>
              <a:path w="530860" h="429895">
                <a:moveTo>
                  <a:pt x="530351" y="0"/>
                </a:moveTo>
                <a:lnTo>
                  <a:pt x="0" y="0"/>
                </a:lnTo>
                <a:lnTo>
                  <a:pt x="0" y="429767"/>
                </a:lnTo>
                <a:lnTo>
                  <a:pt x="530351" y="429767"/>
                </a:lnTo>
                <a:lnTo>
                  <a:pt x="530351" y="0"/>
                </a:lnTo>
                <a:close/>
              </a:path>
            </a:pathLst>
          </a:custGeom>
          <a:solidFill>
            <a:srgbClr val="000000"/>
          </a:solidFill>
        </p:spPr>
        <p:txBody>
          <a:bodyPr wrap="square" lIns="0" tIns="0" rIns="0" bIns="0" rtlCol="0"/>
          <a:lstStyle/>
          <a:p>
            <a:endParaRPr sz="1350"/>
          </a:p>
        </p:txBody>
      </p:sp>
      <p:sp>
        <p:nvSpPr>
          <p:cNvPr id="82" name="object 82"/>
          <p:cNvSpPr txBox="1"/>
          <p:nvPr/>
        </p:nvSpPr>
        <p:spPr>
          <a:xfrm>
            <a:off x="3518249" y="3649694"/>
            <a:ext cx="160972" cy="332303"/>
          </a:xfrm>
          <a:prstGeom prst="rect">
            <a:avLst/>
          </a:prstGeom>
        </p:spPr>
        <p:txBody>
          <a:bodyPr vert="horz" wrap="square" lIns="0" tIns="9049" rIns="0" bIns="0" rtlCol="0">
            <a:spAutoFit/>
          </a:bodyPr>
          <a:lstStyle/>
          <a:p>
            <a:pPr marL="9525">
              <a:spcBef>
                <a:spcPts val="71"/>
              </a:spcBef>
            </a:pPr>
            <a:r>
              <a:rPr sz="2100" spc="-4" dirty="0">
                <a:solidFill>
                  <a:schemeClr val="bg1"/>
                </a:solidFill>
                <a:latin typeface="Cambria Math"/>
                <a:cs typeface="Cambria Math"/>
              </a:rPr>
              <a:t>𝑥</a:t>
            </a:r>
            <a:endParaRPr sz="2100" dirty="0">
              <a:solidFill>
                <a:schemeClr val="bg1"/>
              </a:solidFill>
              <a:latin typeface="Cambria Math"/>
              <a:cs typeface="Cambria Math"/>
            </a:endParaRPr>
          </a:p>
        </p:txBody>
      </p:sp>
      <p:sp>
        <p:nvSpPr>
          <p:cNvPr id="83" name="object 83"/>
          <p:cNvSpPr txBox="1"/>
          <p:nvPr/>
        </p:nvSpPr>
        <p:spPr>
          <a:xfrm>
            <a:off x="3657695" y="3776567"/>
            <a:ext cx="200978" cy="245325"/>
          </a:xfrm>
          <a:prstGeom prst="rect">
            <a:avLst/>
          </a:prstGeom>
        </p:spPr>
        <p:txBody>
          <a:bodyPr vert="horz" wrap="square" lIns="0" tIns="8573" rIns="0" bIns="0" rtlCol="0">
            <a:spAutoFit/>
          </a:bodyPr>
          <a:lstStyle/>
          <a:p>
            <a:pPr marL="9525">
              <a:spcBef>
                <a:spcPts val="68"/>
              </a:spcBef>
            </a:pPr>
            <a:r>
              <a:rPr sz="1538" spc="169" dirty="0">
                <a:solidFill>
                  <a:schemeClr val="bg1"/>
                </a:solidFill>
                <a:latin typeface="Cambria Math"/>
                <a:cs typeface="Cambria Math"/>
              </a:rPr>
              <a:t>𝑚</a:t>
            </a:r>
            <a:endParaRPr sz="1538" dirty="0">
              <a:solidFill>
                <a:schemeClr val="bg1"/>
              </a:solidFill>
              <a:latin typeface="Cambria Math"/>
              <a:cs typeface="Cambria Math"/>
            </a:endParaRPr>
          </a:p>
        </p:txBody>
      </p:sp>
      <p:sp>
        <p:nvSpPr>
          <p:cNvPr id="84" name="object 84"/>
          <p:cNvSpPr txBox="1"/>
          <p:nvPr/>
        </p:nvSpPr>
        <p:spPr>
          <a:xfrm>
            <a:off x="5439346" y="726338"/>
            <a:ext cx="1088231" cy="332303"/>
          </a:xfrm>
          <a:prstGeom prst="rect">
            <a:avLst/>
          </a:prstGeom>
        </p:spPr>
        <p:txBody>
          <a:bodyPr vert="horz" wrap="square" lIns="0" tIns="9049" rIns="0" bIns="0" rtlCol="0">
            <a:spAutoFit/>
          </a:bodyPr>
          <a:lstStyle/>
          <a:p>
            <a:pPr marL="28575">
              <a:spcBef>
                <a:spcPts val="71"/>
              </a:spcBef>
            </a:pPr>
            <a:r>
              <a:rPr sz="2100" spc="11" dirty="0">
                <a:solidFill>
                  <a:schemeClr val="bg1"/>
                </a:solidFill>
                <a:latin typeface="Cambria Math"/>
                <a:cs typeface="Cambria Math"/>
              </a:rPr>
              <a:t>𝑤</a:t>
            </a:r>
            <a:r>
              <a:rPr sz="2306" spc="17" baseline="-16260" dirty="0">
                <a:solidFill>
                  <a:schemeClr val="bg1"/>
                </a:solidFill>
                <a:latin typeface="Cambria Math"/>
                <a:cs typeface="Cambria Math"/>
              </a:rPr>
              <a:t>𝑘0</a:t>
            </a:r>
            <a:r>
              <a:rPr sz="2306" spc="461" baseline="-16260" dirty="0">
                <a:solidFill>
                  <a:schemeClr val="bg1"/>
                </a:solidFill>
                <a:latin typeface="Cambria Math"/>
                <a:cs typeface="Cambria Math"/>
              </a:rPr>
              <a:t> </a:t>
            </a:r>
            <a:r>
              <a:rPr sz="2100" spc="-4" dirty="0">
                <a:solidFill>
                  <a:schemeClr val="bg1"/>
                </a:solidFill>
                <a:latin typeface="Cambria Math"/>
                <a:cs typeface="Cambria Math"/>
              </a:rPr>
              <a:t>=</a:t>
            </a:r>
            <a:r>
              <a:rPr sz="2100" spc="94" dirty="0">
                <a:solidFill>
                  <a:schemeClr val="bg1"/>
                </a:solidFill>
                <a:latin typeface="Cambria Math"/>
                <a:cs typeface="Cambria Math"/>
              </a:rPr>
              <a:t> </a:t>
            </a:r>
            <a:r>
              <a:rPr sz="2100" spc="4" dirty="0">
                <a:solidFill>
                  <a:schemeClr val="bg1"/>
                </a:solidFill>
                <a:latin typeface="Cambria Math"/>
                <a:cs typeface="Cambria Math"/>
              </a:rPr>
              <a:t>𝑏</a:t>
            </a:r>
            <a:r>
              <a:rPr sz="2306" spc="5" baseline="-16260" dirty="0">
                <a:solidFill>
                  <a:schemeClr val="bg1"/>
                </a:solidFill>
                <a:latin typeface="Cambria Math"/>
                <a:cs typeface="Cambria Math"/>
              </a:rPr>
              <a:t>𝑘</a:t>
            </a:r>
            <a:endParaRPr sz="2306" baseline="-16260" dirty="0">
              <a:solidFill>
                <a:schemeClr val="bg1"/>
              </a:solidFill>
              <a:latin typeface="Cambria Math"/>
              <a:cs typeface="Cambria Math"/>
            </a:endParaRPr>
          </a:p>
        </p:txBody>
      </p:sp>
      <p:sp>
        <p:nvSpPr>
          <p:cNvPr id="85" name="object 85"/>
          <p:cNvSpPr txBox="1"/>
          <p:nvPr/>
        </p:nvSpPr>
        <p:spPr>
          <a:xfrm>
            <a:off x="5953696" y="1142810"/>
            <a:ext cx="687229" cy="332303"/>
          </a:xfrm>
          <a:prstGeom prst="rect">
            <a:avLst/>
          </a:prstGeom>
        </p:spPr>
        <p:txBody>
          <a:bodyPr vert="horz" wrap="square" lIns="0" tIns="9049" rIns="0" bIns="0" rtlCol="0">
            <a:spAutoFit/>
          </a:bodyPr>
          <a:lstStyle/>
          <a:p>
            <a:pPr marL="9525">
              <a:spcBef>
                <a:spcPts val="71"/>
              </a:spcBef>
            </a:pPr>
            <a:r>
              <a:rPr sz="2100" spc="-4" dirty="0">
                <a:solidFill>
                  <a:schemeClr val="bg1"/>
                </a:solidFill>
                <a:latin typeface="Cambria"/>
                <a:cs typeface="Cambria"/>
              </a:rPr>
              <a:t>(b</a:t>
            </a:r>
            <a:r>
              <a:rPr sz="2100" dirty="0">
                <a:solidFill>
                  <a:schemeClr val="bg1"/>
                </a:solidFill>
                <a:latin typeface="Cambria"/>
                <a:cs typeface="Cambria"/>
              </a:rPr>
              <a:t>i</a:t>
            </a:r>
            <a:r>
              <a:rPr sz="2100" spc="-8" dirty="0">
                <a:solidFill>
                  <a:schemeClr val="bg1"/>
                </a:solidFill>
                <a:latin typeface="Cambria"/>
                <a:cs typeface="Cambria"/>
              </a:rPr>
              <a:t>as)</a:t>
            </a:r>
            <a:endParaRPr sz="2100" dirty="0">
              <a:solidFill>
                <a:schemeClr val="bg1"/>
              </a:solidFill>
              <a:latin typeface="Cambria"/>
              <a:cs typeface="Cambria"/>
            </a:endParaRPr>
          </a:p>
        </p:txBody>
      </p:sp>
      <p:sp>
        <p:nvSpPr>
          <p:cNvPr id="86" name="object 86"/>
          <p:cNvSpPr txBox="1"/>
          <p:nvPr/>
        </p:nvSpPr>
        <p:spPr>
          <a:xfrm>
            <a:off x="2736627" y="834675"/>
            <a:ext cx="1306354" cy="332303"/>
          </a:xfrm>
          <a:prstGeom prst="rect">
            <a:avLst/>
          </a:prstGeom>
        </p:spPr>
        <p:txBody>
          <a:bodyPr vert="horz" wrap="square" lIns="0" tIns="9049" rIns="0" bIns="0" rtlCol="0">
            <a:spAutoFit/>
          </a:bodyPr>
          <a:lstStyle/>
          <a:p>
            <a:pPr marL="9525">
              <a:spcBef>
                <a:spcPts val="71"/>
              </a:spcBef>
            </a:pPr>
            <a:r>
              <a:rPr sz="2100" spc="-11" dirty="0">
                <a:latin typeface="Cambria"/>
                <a:cs typeface="Cambria"/>
              </a:rPr>
              <a:t>Fixed</a:t>
            </a:r>
            <a:r>
              <a:rPr sz="2100" spc="-56" dirty="0">
                <a:latin typeface="Cambria"/>
                <a:cs typeface="Cambria"/>
              </a:rPr>
              <a:t> </a:t>
            </a:r>
            <a:r>
              <a:rPr sz="2100" dirty="0">
                <a:latin typeface="Cambria"/>
                <a:cs typeface="Cambria"/>
              </a:rPr>
              <a:t>input</a:t>
            </a:r>
            <a:endParaRPr sz="2100">
              <a:latin typeface="Cambria"/>
              <a:cs typeface="Cambria"/>
            </a:endParaRPr>
          </a:p>
        </p:txBody>
      </p:sp>
      <p:sp>
        <p:nvSpPr>
          <p:cNvPr id="87" name="object 87"/>
          <p:cNvSpPr txBox="1"/>
          <p:nvPr/>
        </p:nvSpPr>
        <p:spPr>
          <a:xfrm>
            <a:off x="2888171" y="1154716"/>
            <a:ext cx="1013936" cy="332303"/>
          </a:xfrm>
          <a:prstGeom prst="rect">
            <a:avLst/>
          </a:prstGeom>
        </p:spPr>
        <p:txBody>
          <a:bodyPr vert="horz" wrap="square" lIns="0" tIns="9049" rIns="0" bIns="0" rtlCol="0">
            <a:spAutoFit/>
          </a:bodyPr>
          <a:lstStyle/>
          <a:p>
            <a:pPr marL="28575">
              <a:spcBef>
                <a:spcPts val="71"/>
              </a:spcBef>
            </a:pPr>
            <a:r>
              <a:rPr sz="2100" spc="4" dirty="0">
                <a:latin typeface="Cambria Math"/>
                <a:cs typeface="Cambria Math"/>
              </a:rPr>
              <a:t>𝑥</a:t>
            </a:r>
            <a:r>
              <a:rPr sz="2306" spc="5" baseline="-16260" dirty="0">
                <a:latin typeface="Cambria Math"/>
                <a:cs typeface="Cambria Math"/>
              </a:rPr>
              <a:t>0</a:t>
            </a:r>
            <a:r>
              <a:rPr sz="2306" spc="455" baseline="-16260" dirty="0">
                <a:latin typeface="Cambria Math"/>
                <a:cs typeface="Cambria Math"/>
              </a:rPr>
              <a:t> </a:t>
            </a:r>
            <a:r>
              <a:rPr sz="2100" spc="-4" dirty="0">
                <a:latin typeface="Cambria Math"/>
                <a:cs typeface="Cambria Math"/>
              </a:rPr>
              <a:t>=</a:t>
            </a:r>
            <a:r>
              <a:rPr sz="2100" spc="94" dirty="0">
                <a:latin typeface="Cambria Math"/>
                <a:cs typeface="Cambria Math"/>
              </a:rPr>
              <a:t> </a:t>
            </a:r>
            <a:r>
              <a:rPr sz="2100" spc="-8" dirty="0">
                <a:latin typeface="Cambria Math"/>
                <a:cs typeface="Cambria Math"/>
              </a:rPr>
              <a:t>+1</a:t>
            </a:r>
            <a:endParaRPr sz="2100">
              <a:latin typeface="Cambria Math"/>
              <a:cs typeface="Cambria Math"/>
            </a:endParaRPr>
          </a:p>
        </p:txBody>
      </p:sp>
      <p:pic>
        <p:nvPicPr>
          <p:cNvPr id="88" name="object 88"/>
          <p:cNvPicPr/>
          <p:nvPr/>
        </p:nvPicPr>
        <p:blipFill>
          <a:blip r:embed="rId52" cstate="print"/>
          <a:stretch>
            <a:fillRect/>
          </a:stretch>
        </p:blipFill>
        <p:spPr>
          <a:xfrm>
            <a:off x="5681853" y="2299706"/>
            <a:ext cx="648653" cy="647519"/>
          </a:xfrm>
          <a:prstGeom prst="rect">
            <a:avLst/>
          </a:prstGeom>
        </p:spPr>
      </p:pic>
      <p:sp>
        <p:nvSpPr>
          <p:cNvPr id="89" name="object 89"/>
          <p:cNvSpPr txBox="1"/>
          <p:nvPr/>
        </p:nvSpPr>
        <p:spPr>
          <a:xfrm>
            <a:off x="5891308" y="2373592"/>
            <a:ext cx="235744" cy="379431"/>
          </a:xfrm>
          <a:prstGeom prst="rect">
            <a:avLst/>
          </a:prstGeom>
        </p:spPr>
        <p:txBody>
          <a:bodyPr vert="horz" wrap="square" lIns="0" tIns="10001" rIns="0" bIns="0" rtlCol="0">
            <a:spAutoFit/>
          </a:bodyPr>
          <a:lstStyle/>
          <a:p>
            <a:pPr marL="9525">
              <a:spcBef>
                <a:spcPts val="79"/>
              </a:spcBef>
            </a:pPr>
            <a:r>
              <a:rPr sz="2400" spc="330" dirty="0">
                <a:latin typeface="Cambria Math"/>
                <a:cs typeface="Cambria Math"/>
              </a:rPr>
              <a:t>σ</a:t>
            </a:r>
            <a:endParaRPr sz="2400">
              <a:latin typeface="Cambria Math"/>
              <a:cs typeface="Cambria Math"/>
            </a:endParaRPr>
          </a:p>
        </p:txBody>
      </p:sp>
      <p:pic>
        <p:nvPicPr>
          <p:cNvPr id="94" name="object 94"/>
          <p:cNvPicPr/>
          <p:nvPr/>
        </p:nvPicPr>
        <p:blipFill>
          <a:blip r:embed="rId53" cstate="print"/>
          <a:stretch>
            <a:fillRect/>
          </a:stretch>
        </p:blipFill>
        <p:spPr>
          <a:xfrm>
            <a:off x="6805421" y="2418578"/>
            <a:ext cx="765248" cy="444065"/>
          </a:xfrm>
          <a:prstGeom prst="rect">
            <a:avLst/>
          </a:prstGeom>
        </p:spPr>
      </p:pic>
      <p:sp>
        <p:nvSpPr>
          <p:cNvPr id="95" name="object 95"/>
          <p:cNvSpPr txBox="1"/>
          <p:nvPr/>
        </p:nvSpPr>
        <p:spPr>
          <a:xfrm>
            <a:off x="6112382" y="1756658"/>
            <a:ext cx="1689735" cy="1782219"/>
          </a:xfrm>
          <a:prstGeom prst="rect">
            <a:avLst/>
          </a:prstGeom>
        </p:spPr>
        <p:txBody>
          <a:bodyPr vert="horz" wrap="square" lIns="0" tIns="58103" rIns="0" bIns="0" rtlCol="0">
            <a:spAutoFit/>
          </a:bodyPr>
          <a:lstStyle/>
          <a:p>
            <a:pPr marL="526733" marR="3810" algn="ctr">
              <a:lnSpc>
                <a:spcPts val="2145"/>
              </a:lnSpc>
              <a:spcBef>
                <a:spcPts val="458"/>
              </a:spcBef>
            </a:pPr>
            <a:r>
              <a:rPr sz="2100" spc="-26" dirty="0">
                <a:latin typeface="Cambria"/>
                <a:cs typeface="Cambria"/>
              </a:rPr>
              <a:t>A</a:t>
            </a:r>
            <a:r>
              <a:rPr sz="2100" spc="-4" dirty="0">
                <a:latin typeface="Cambria"/>
                <a:cs typeface="Cambria"/>
              </a:rPr>
              <a:t>ct</a:t>
            </a:r>
            <a:r>
              <a:rPr sz="2100" spc="-45" dirty="0">
                <a:latin typeface="Cambria"/>
                <a:cs typeface="Cambria"/>
              </a:rPr>
              <a:t>i</a:t>
            </a:r>
            <a:r>
              <a:rPr sz="2100" spc="-56" dirty="0">
                <a:latin typeface="Cambria"/>
                <a:cs typeface="Cambria"/>
              </a:rPr>
              <a:t>v</a:t>
            </a:r>
            <a:r>
              <a:rPr sz="2100" spc="-8" dirty="0">
                <a:latin typeface="Cambria"/>
                <a:cs typeface="Cambria"/>
              </a:rPr>
              <a:t>ati</a:t>
            </a:r>
            <a:r>
              <a:rPr sz="2100" spc="-4" dirty="0">
                <a:latin typeface="Cambria"/>
                <a:cs typeface="Cambria"/>
              </a:rPr>
              <a:t>on  </a:t>
            </a:r>
            <a:r>
              <a:rPr sz="2100" spc="-8" dirty="0">
                <a:latin typeface="Cambria"/>
                <a:cs typeface="Cambria"/>
              </a:rPr>
              <a:t>Function</a:t>
            </a:r>
            <a:endParaRPr sz="2100">
              <a:latin typeface="Cambria"/>
              <a:cs typeface="Cambria"/>
            </a:endParaRPr>
          </a:p>
          <a:p>
            <a:pPr marL="463868" algn="ctr">
              <a:spcBef>
                <a:spcPts val="278"/>
              </a:spcBef>
            </a:pPr>
            <a:r>
              <a:rPr sz="4050" spc="-624" baseline="1543" dirty="0">
                <a:latin typeface="Cambria Math"/>
                <a:cs typeface="Cambria Math"/>
              </a:rPr>
              <a:t>𝜑</a:t>
            </a:r>
            <a:r>
              <a:rPr sz="2513" spc="-416" dirty="0">
                <a:latin typeface="Symbol"/>
                <a:cs typeface="Symbol"/>
              </a:rPr>
              <a:t></a:t>
            </a:r>
            <a:r>
              <a:rPr sz="4050" spc="-624" baseline="1543" dirty="0">
                <a:latin typeface="Cambria Math"/>
                <a:cs typeface="Cambria Math"/>
              </a:rPr>
              <a:t>(</a:t>
            </a:r>
            <a:r>
              <a:rPr sz="3600" spc="-624" baseline="-2604" dirty="0">
                <a:latin typeface="Cambria"/>
                <a:cs typeface="Cambria"/>
              </a:rPr>
              <a:t>(</a:t>
            </a:r>
            <a:r>
              <a:rPr sz="4050" spc="-624" baseline="1543" dirty="0">
                <a:latin typeface="Cambria Math"/>
                <a:cs typeface="Cambria Math"/>
              </a:rPr>
              <a:t>.</a:t>
            </a:r>
            <a:r>
              <a:rPr sz="3600" i="1" spc="-624" baseline="-2604" dirty="0">
                <a:latin typeface="Cambria"/>
                <a:cs typeface="Cambria"/>
              </a:rPr>
              <a:t>.</a:t>
            </a:r>
            <a:r>
              <a:rPr sz="3600" spc="-624" baseline="-2604" dirty="0">
                <a:latin typeface="Cambria"/>
                <a:cs typeface="Cambria"/>
              </a:rPr>
              <a:t>)</a:t>
            </a:r>
            <a:r>
              <a:rPr sz="4050" spc="-624" baseline="1543" dirty="0">
                <a:latin typeface="Cambria Math"/>
                <a:cs typeface="Cambria Math"/>
              </a:rPr>
              <a:t>)</a:t>
            </a:r>
            <a:endParaRPr sz="4050" baseline="1543">
              <a:latin typeface="Cambria Math"/>
              <a:cs typeface="Cambria Math"/>
            </a:endParaRPr>
          </a:p>
          <a:p>
            <a:pPr marL="102870" marR="596265" indent="-93821">
              <a:lnSpc>
                <a:spcPts val="2145"/>
              </a:lnSpc>
              <a:spcBef>
                <a:spcPts val="1508"/>
              </a:spcBef>
            </a:pPr>
            <a:r>
              <a:rPr sz="2100" spc="-8" dirty="0">
                <a:latin typeface="Cambria"/>
                <a:cs typeface="Cambria"/>
              </a:rPr>
              <a:t>Summ</a:t>
            </a:r>
            <a:r>
              <a:rPr sz="2100" dirty="0">
                <a:latin typeface="Cambria"/>
                <a:cs typeface="Cambria"/>
              </a:rPr>
              <a:t>i</a:t>
            </a:r>
            <a:r>
              <a:rPr sz="2100" spc="-8" dirty="0">
                <a:latin typeface="Cambria"/>
                <a:cs typeface="Cambria"/>
              </a:rPr>
              <a:t>ng  </a:t>
            </a:r>
            <a:r>
              <a:rPr sz="2100" spc="-4" dirty="0">
                <a:latin typeface="Cambria"/>
                <a:cs typeface="Cambria"/>
              </a:rPr>
              <a:t>Junction</a:t>
            </a:r>
            <a:endParaRPr sz="2100">
              <a:latin typeface="Cambria"/>
              <a:cs typeface="Cambria"/>
            </a:endParaRPr>
          </a:p>
        </p:txBody>
      </p:sp>
      <p:sp>
        <p:nvSpPr>
          <p:cNvPr id="98" name="Text 1">
            <a:extLst>
              <a:ext uri="{FF2B5EF4-FFF2-40B4-BE49-F238E27FC236}">
                <a16:creationId xmlns:a16="http://schemas.microsoft.com/office/drawing/2014/main" id="{5D60E722-00DE-239A-16C3-0A705D67CBDD}"/>
              </a:ext>
            </a:extLst>
          </p:cNvPr>
          <p:cNvSpPr/>
          <p:nvPr/>
        </p:nvSpPr>
        <p:spPr>
          <a:xfrm>
            <a:off x="99464" y="254288"/>
            <a:ext cx="4798861" cy="487313"/>
          </a:xfrm>
          <a:prstGeom prst="rect">
            <a:avLst/>
          </a:prstGeom>
          <a:noFill/>
          <a:ln/>
        </p:spPr>
        <p:txBody>
          <a:bodyPr wrap="square" lIns="0" tIns="0" rIns="0" bIns="0" rtlCol="0" anchor="t">
            <a:spAutoFit/>
          </a:bodyPr>
          <a:lstStyle/>
          <a:p>
            <a:pPr marL="0" indent="0" algn="l">
              <a:lnSpc>
                <a:spcPts val="3800"/>
              </a:lnSpc>
              <a:buNone/>
            </a:pPr>
            <a:r>
              <a:rPr lang="en-US" sz="3294" b="1" dirty="0" err="1"/>
              <a:t>Yapay</a:t>
            </a:r>
            <a:r>
              <a:rPr lang="tr-TR" sz="3294" b="1" dirty="0"/>
              <a:t> </a:t>
            </a:r>
            <a:r>
              <a:rPr lang="en-US" sz="3294" b="1" dirty="0" err="1"/>
              <a:t>Sinir</a:t>
            </a:r>
            <a:r>
              <a:rPr lang="tr-TR" sz="3294" b="1" dirty="0"/>
              <a:t> A</a:t>
            </a:r>
            <a:r>
              <a:rPr lang="en-US" sz="3294" b="1" dirty="0" err="1"/>
              <a:t>ğları</a:t>
            </a:r>
            <a:endParaRPr lang="en-US" sz="3294"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7144"/>
            <a:ext cx="9144000" cy="5143500"/>
          </a:xfrm>
          <a:prstGeom prst="rect">
            <a:avLst/>
          </a:prstGeom>
        </p:spPr>
      </p:pic>
      <p:sp>
        <p:nvSpPr>
          <p:cNvPr id="4" name="Text 0"/>
          <p:cNvSpPr/>
          <p:nvPr/>
        </p:nvSpPr>
        <p:spPr>
          <a:xfrm>
            <a:off x="571500" y="564356"/>
            <a:ext cx="8572500" cy="466130"/>
          </a:xfrm>
          <a:prstGeom prst="rect">
            <a:avLst/>
          </a:prstGeom>
          <a:noFill/>
          <a:ln/>
        </p:spPr>
        <p:txBody>
          <a:bodyPr wrap="none" lIns="0" tIns="0" rIns="0" bIns="0" rtlCol="0" anchor="t">
            <a:spAutoFit/>
          </a:bodyPr>
          <a:lstStyle/>
          <a:p>
            <a:pPr marL="0" indent="0" algn="l">
              <a:lnSpc>
                <a:spcPts val="3200"/>
              </a:lnSpc>
              <a:buNone/>
            </a:pPr>
            <a:r>
              <a:rPr lang="en-US" sz="2436" b="1" dirty="0">
                <a:solidFill>
                  <a:srgbClr val="000000"/>
                </a:solidFill>
              </a:rPr>
              <a:t>Yapay Nöron: Perceptron</a:t>
            </a:r>
            <a:endParaRPr lang="en-US" sz="2436" dirty="0"/>
          </a:p>
        </p:txBody>
      </p:sp>
      <p:sp>
        <p:nvSpPr>
          <p:cNvPr id="5" name="Text 1"/>
          <p:cNvSpPr/>
          <p:nvPr/>
        </p:nvSpPr>
        <p:spPr>
          <a:xfrm>
            <a:off x="600075" y="1173361"/>
            <a:ext cx="1412928" cy="308604"/>
          </a:xfrm>
          <a:prstGeom prst="rect">
            <a:avLst/>
          </a:prstGeom>
          <a:noFill/>
          <a:ln/>
        </p:spPr>
        <p:txBody>
          <a:bodyPr wrap="none" lIns="0" tIns="0" rIns="0" bIns="0" rtlCol="0" anchor="t">
            <a:spAutoFit/>
          </a:bodyPr>
          <a:lstStyle/>
          <a:p>
            <a:pPr marL="0" indent="0" algn="l">
              <a:lnSpc>
                <a:spcPts val="2400"/>
              </a:lnSpc>
              <a:buNone/>
            </a:pPr>
            <a:r>
              <a:rPr lang="en-US" sz="1193" b="1" dirty="0">
                <a:solidFill>
                  <a:srgbClr val="333333"/>
                </a:solidFill>
              </a:rPr>
              <a:t>Girdiler (Inputs):</a:t>
            </a:r>
            <a:endParaRPr lang="en-US" sz="1193" dirty="0"/>
          </a:p>
        </p:txBody>
      </p:sp>
      <p:sp>
        <p:nvSpPr>
          <p:cNvPr id="6" name="Text 2"/>
          <p:cNvSpPr/>
          <p:nvPr/>
        </p:nvSpPr>
        <p:spPr>
          <a:xfrm>
            <a:off x="2013003" y="1173361"/>
            <a:ext cx="1115290" cy="308604"/>
          </a:xfrm>
          <a:prstGeom prst="rect">
            <a:avLst/>
          </a:prstGeom>
          <a:noFill/>
          <a:ln/>
        </p:spPr>
        <p:txBody>
          <a:bodyPr wrap="none" lIns="0" tIns="0" rIns="0" bIns="0" rtlCol="0" anchor="t">
            <a:spAutoFit/>
          </a:bodyPr>
          <a:lstStyle/>
          <a:p>
            <a:pPr marL="0" indent="0" algn="l">
              <a:lnSpc>
                <a:spcPts val="2400"/>
              </a:lnSpc>
              <a:buNone/>
            </a:pPr>
            <a:r>
              <a:rPr lang="en-US" sz="1269" dirty="0">
                <a:solidFill>
                  <a:srgbClr val="333333"/>
                </a:solidFill>
              </a:rPr>
              <a:t>Veri özellikleri</a:t>
            </a:r>
            <a:endParaRPr lang="en-US" sz="1269" dirty="0"/>
          </a:p>
        </p:txBody>
      </p:sp>
      <p:sp>
        <p:nvSpPr>
          <p:cNvPr id="7" name="Text 3"/>
          <p:cNvSpPr/>
          <p:nvPr/>
        </p:nvSpPr>
        <p:spPr>
          <a:xfrm>
            <a:off x="3128293" y="1173361"/>
            <a:ext cx="930473" cy="308604"/>
          </a:xfrm>
          <a:prstGeom prst="rect">
            <a:avLst/>
          </a:prstGeom>
          <a:noFill/>
          <a:ln/>
        </p:spPr>
        <p:txBody>
          <a:bodyPr wrap="none" lIns="0" tIns="0" rIns="0" bIns="0" rtlCol="0" anchor="t">
            <a:spAutoFit/>
          </a:bodyPr>
          <a:lstStyle/>
          <a:p>
            <a:pPr marL="0" indent="0" algn="l">
              <a:lnSpc>
                <a:spcPts val="2400"/>
              </a:lnSpc>
              <a:buNone/>
            </a:pPr>
            <a:r>
              <a:rPr lang="en-US" sz="1269" i="1" dirty="0">
                <a:solidFill>
                  <a:srgbClr val="333333"/>
                </a:solidFill>
              </a:rPr>
              <a:t>(x₁, x₂, ..., xₙ)</a:t>
            </a:r>
            <a:endParaRPr lang="en-US" sz="1269" dirty="0"/>
          </a:p>
        </p:txBody>
      </p:sp>
      <p:sp>
        <p:nvSpPr>
          <p:cNvPr id="8" name="Text 4"/>
          <p:cNvSpPr/>
          <p:nvPr/>
        </p:nvSpPr>
        <p:spPr>
          <a:xfrm>
            <a:off x="596308" y="1567690"/>
            <a:ext cx="1632849" cy="617209"/>
          </a:xfrm>
          <a:prstGeom prst="rect">
            <a:avLst/>
          </a:prstGeom>
          <a:noFill/>
          <a:ln/>
        </p:spPr>
        <p:txBody>
          <a:bodyPr wrap="square" lIns="0" tIns="0" rIns="0" bIns="0" rtlCol="0" anchor="t">
            <a:spAutoFit/>
          </a:bodyPr>
          <a:lstStyle/>
          <a:p>
            <a:pPr marL="0" indent="0" algn="l">
              <a:lnSpc>
                <a:spcPts val="2400"/>
              </a:lnSpc>
              <a:buNone/>
            </a:pPr>
            <a:r>
              <a:rPr lang="en-US" sz="1193" b="1" dirty="0">
                <a:solidFill>
                  <a:srgbClr val="333333"/>
                </a:solidFill>
              </a:rPr>
              <a:t>Ağırlıklar (Weights):</a:t>
            </a:r>
            <a:endParaRPr lang="en-US" sz="1193" dirty="0"/>
          </a:p>
        </p:txBody>
      </p:sp>
      <p:sp>
        <p:nvSpPr>
          <p:cNvPr id="9" name="Text 5"/>
          <p:cNvSpPr/>
          <p:nvPr/>
        </p:nvSpPr>
        <p:spPr>
          <a:xfrm>
            <a:off x="2229157" y="1567690"/>
            <a:ext cx="1228139" cy="617209"/>
          </a:xfrm>
          <a:prstGeom prst="rect">
            <a:avLst/>
          </a:prstGeom>
          <a:noFill/>
          <a:ln/>
        </p:spPr>
        <p:txBody>
          <a:bodyPr wrap="square" lIns="0" tIns="0" rIns="0" bIns="0" rtlCol="0" anchor="t">
            <a:spAutoFit/>
          </a:bodyPr>
          <a:lstStyle/>
          <a:p>
            <a:pPr marL="0" indent="0" algn="l">
              <a:lnSpc>
                <a:spcPts val="2400"/>
              </a:lnSpc>
              <a:buNone/>
            </a:pPr>
            <a:r>
              <a:rPr lang="en-US" sz="1269" dirty="0">
                <a:solidFill>
                  <a:srgbClr val="333333"/>
                </a:solidFill>
              </a:rPr>
              <a:t>Bağlantı kuvveti</a:t>
            </a:r>
            <a:endParaRPr lang="en-US" sz="1269" dirty="0"/>
          </a:p>
        </p:txBody>
      </p:sp>
      <p:sp>
        <p:nvSpPr>
          <p:cNvPr id="10" name="Text 6"/>
          <p:cNvSpPr/>
          <p:nvPr/>
        </p:nvSpPr>
        <p:spPr>
          <a:xfrm>
            <a:off x="3457296" y="1567690"/>
            <a:ext cx="1007548" cy="617209"/>
          </a:xfrm>
          <a:prstGeom prst="rect">
            <a:avLst/>
          </a:prstGeom>
          <a:noFill/>
          <a:ln/>
        </p:spPr>
        <p:txBody>
          <a:bodyPr wrap="square" lIns="0" tIns="0" rIns="0" bIns="0" rtlCol="0" anchor="t">
            <a:spAutoFit/>
          </a:bodyPr>
          <a:lstStyle/>
          <a:p>
            <a:pPr marL="0" indent="0" algn="l">
              <a:lnSpc>
                <a:spcPts val="2400"/>
              </a:lnSpc>
              <a:buNone/>
            </a:pPr>
            <a:r>
              <a:rPr lang="en-US" sz="1269" i="1" dirty="0">
                <a:solidFill>
                  <a:srgbClr val="333333"/>
                </a:solidFill>
              </a:rPr>
              <a:t>(w₁, w₂, ..., wₙ)</a:t>
            </a:r>
            <a:endParaRPr lang="en-US" sz="1269" dirty="0"/>
          </a:p>
        </p:txBody>
      </p:sp>
      <p:sp>
        <p:nvSpPr>
          <p:cNvPr id="11" name="Text 7"/>
          <p:cNvSpPr/>
          <p:nvPr/>
        </p:nvSpPr>
        <p:spPr>
          <a:xfrm>
            <a:off x="600075" y="2270624"/>
            <a:ext cx="1196048" cy="308604"/>
          </a:xfrm>
          <a:prstGeom prst="rect">
            <a:avLst/>
          </a:prstGeom>
          <a:noFill/>
          <a:ln/>
        </p:spPr>
        <p:txBody>
          <a:bodyPr wrap="none" lIns="0" tIns="0" rIns="0" bIns="0" rtlCol="0" anchor="t">
            <a:spAutoFit/>
          </a:bodyPr>
          <a:lstStyle/>
          <a:p>
            <a:pPr marL="0" indent="0" algn="l">
              <a:lnSpc>
                <a:spcPts val="2400"/>
              </a:lnSpc>
              <a:buNone/>
            </a:pPr>
            <a:r>
              <a:rPr lang="en-US" sz="1193" b="1" dirty="0">
                <a:solidFill>
                  <a:srgbClr val="333333"/>
                </a:solidFill>
              </a:rPr>
              <a:t>Yanlılık (Bias):</a:t>
            </a:r>
            <a:endParaRPr lang="en-US" sz="1193" dirty="0"/>
          </a:p>
        </p:txBody>
      </p:sp>
      <p:sp>
        <p:nvSpPr>
          <p:cNvPr id="12" name="Text 8"/>
          <p:cNvSpPr/>
          <p:nvPr/>
        </p:nvSpPr>
        <p:spPr>
          <a:xfrm>
            <a:off x="1796123" y="2270624"/>
            <a:ext cx="877146" cy="308604"/>
          </a:xfrm>
          <a:prstGeom prst="rect">
            <a:avLst/>
          </a:prstGeom>
          <a:noFill/>
          <a:ln/>
        </p:spPr>
        <p:txBody>
          <a:bodyPr wrap="none" lIns="0" tIns="0" rIns="0" bIns="0" rtlCol="0" anchor="t">
            <a:spAutoFit/>
          </a:bodyPr>
          <a:lstStyle/>
          <a:p>
            <a:pPr marL="0" indent="0" algn="l">
              <a:lnSpc>
                <a:spcPts val="2400"/>
              </a:lnSpc>
              <a:buNone/>
            </a:pPr>
            <a:r>
              <a:rPr lang="en-US" sz="1269" dirty="0">
                <a:solidFill>
                  <a:srgbClr val="333333"/>
                </a:solidFill>
              </a:rPr>
              <a:t>Eşik değeri</a:t>
            </a:r>
            <a:endParaRPr lang="en-US" sz="1269" dirty="0"/>
          </a:p>
        </p:txBody>
      </p:sp>
      <p:sp>
        <p:nvSpPr>
          <p:cNvPr id="13" name="Text 9"/>
          <p:cNvSpPr/>
          <p:nvPr/>
        </p:nvSpPr>
        <p:spPr>
          <a:xfrm>
            <a:off x="2673269" y="2270624"/>
            <a:ext cx="198713" cy="308604"/>
          </a:xfrm>
          <a:prstGeom prst="rect">
            <a:avLst/>
          </a:prstGeom>
          <a:noFill/>
          <a:ln/>
        </p:spPr>
        <p:txBody>
          <a:bodyPr wrap="none" lIns="0" tIns="0" rIns="0" bIns="0" rtlCol="0" anchor="t">
            <a:spAutoFit/>
          </a:bodyPr>
          <a:lstStyle/>
          <a:p>
            <a:pPr marL="0" indent="0" algn="l">
              <a:lnSpc>
                <a:spcPts val="2400"/>
              </a:lnSpc>
              <a:buNone/>
            </a:pPr>
            <a:r>
              <a:rPr lang="en-US" sz="1269" i="1" dirty="0">
                <a:solidFill>
                  <a:srgbClr val="333333"/>
                </a:solidFill>
              </a:rPr>
              <a:t>(b)</a:t>
            </a:r>
            <a:endParaRPr lang="en-US" sz="1269" dirty="0"/>
          </a:p>
        </p:txBody>
      </p:sp>
      <p:sp>
        <p:nvSpPr>
          <p:cNvPr id="14" name="Text 10"/>
          <p:cNvSpPr/>
          <p:nvPr/>
        </p:nvSpPr>
        <p:spPr>
          <a:xfrm>
            <a:off x="600075" y="2664954"/>
            <a:ext cx="820220" cy="308604"/>
          </a:xfrm>
          <a:prstGeom prst="rect">
            <a:avLst/>
          </a:prstGeom>
          <a:noFill/>
          <a:ln/>
        </p:spPr>
        <p:txBody>
          <a:bodyPr wrap="none" lIns="0" tIns="0" rIns="0" bIns="0" rtlCol="0" anchor="t">
            <a:spAutoFit/>
          </a:bodyPr>
          <a:lstStyle/>
          <a:p>
            <a:pPr marL="0" indent="0" algn="l">
              <a:lnSpc>
                <a:spcPts val="2400"/>
              </a:lnSpc>
              <a:buNone/>
            </a:pPr>
            <a:r>
              <a:rPr lang="en-US" sz="1193" b="1" dirty="0">
                <a:solidFill>
                  <a:srgbClr val="333333"/>
                </a:solidFill>
              </a:rPr>
              <a:t>Net Girdi:</a:t>
            </a:r>
            <a:endParaRPr lang="en-US" sz="1193" dirty="0"/>
          </a:p>
        </p:txBody>
      </p:sp>
      <p:sp>
        <p:nvSpPr>
          <p:cNvPr id="15" name="Text 11"/>
          <p:cNvSpPr/>
          <p:nvPr/>
        </p:nvSpPr>
        <p:spPr>
          <a:xfrm>
            <a:off x="1420295" y="2664954"/>
            <a:ext cx="2149153" cy="308604"/>
          </a:xfrm>
          <a:prstGeom prst="rect">
            <a:avLst/>
          </a:prstGeom>
          <a:noFill/>
          <a:ln/>
        </p:spPr>
        <p:txBody>
          <a:bodyPr wrap="none" lIns="0" tIns="0" rIns="0" bIns="0" rtlCol="0" anchor="t">
            <a:spAutoFit/>
          </a:bodyPr>
          <a:lstStyle/>
          <a:p>
            <a:pPr marL="0" indent="0" algn="l">
              <a:lnSpc>
                <a:spcPts val="2400"/>
              </a:lnSpc>
              <a:buNone/>
            </a:pPr>
            <a:r>
              <a:rPr lang="en-US" sz="1269" dirty="0">
                <a:solidFill>
                  <a:srgbClr val="333333"/>
                </a:solidFill>
              </a:rPr>
              <a:t>Ağırlıklı toplam fonksiyonu</a:t>
            </a:r>
            <a:endParaRPr lang="en-US" sz="1269" dirty="0"/>
          </a:p>
        </p:txBody>
      </p:sp>
      <p:sp>
        <p:nvSpPr>
          <p:cNvPr id="16" name="Shape 12"/>
          <p:cNvSpPr/>
          <p:nvPr/>
        </p:nvSpPr>
        <p:spPr>
          <a:xfrm>
            <a:off x="4679156" y="1173361"/>
            <a:ext cx="4036219" cy="2786063"/>
          </a:xfrm>
          <a:prstGeom prst="rect">
            <a:avLst/>
          </a:prstGeom>
          <a:solidFill>
            <a:srgbClr val="000000"/>
          </a:solidFill>
          <a:ln/>
        </p:spPr>
        <p:txBody>
          <a:bodyPr/>
          <a:lstStyle/>
          <a:p>
            <a:endParaRPr lang="tr-TR"/>
          </a:p>
        </p:txBody>
      </p:sp>
      <p:sp>
        <p:nvSpPr>
          <p:cNvPr id="17" name="Shape 13"/>
          <p:cNvSpPr/>
          <p:nvPr/>
        </p:nvSpPr>
        <p:spPr>
          <a:xfrm>
            <a:off x="4679156" y="1173361"/>
            <a:ext cx="71438" cy="2786063"/>
          </a:xfrm>
          <a:prstGeom prst="rect">
            <a:avLst/>
          </a:prstGeom>
          <a:solidFill>
            <a:srgbClr val="FF3B30"/>
          </a:solidFill>
          <a:ln/>
        </p:spPr>
        <p:txBody>
          <a:bodyPr/>
          <a:lstStyle/>
          <a:p>
            <a:endParaRPr lang="tr-TR"/>
          </a:p>
        </p:txBody>
      </p:sp>
      <p:sp>
        <p:nvSpPr>
          <p:cNvPr id="18" name="Text 14"/>
          <p:cNvSpPr/>
          <p:nvPr/>
        </p:nvSpPr>
        <p:spPr>
          <a:xfrm>
            <a:off x="4850606" y="1573411"/>
            <a:ext cx="3693319" cy="312539"/>
          </a:xfrm>
          <a:prstGeom prst="rect">
            <a:avLst/>
          </a:prstGeom>
          <a:noFill/>
          <a:ln/>
        </p:spPr>
        <p:txBody>
          <a:bodyPr wrap="none" lIns="0" tIns="0" rIns="0" bIns="0" rtlCol="0" anchor="t">
            <a:spAutoFit/>
          </a:bodyPr>
          <a:lstStyle/>
          <a:p>
            <a:pPr marL="0" indent="0" algn="ctr">
              <a:lnSpc>
                <a:spcPts val="2200"/>
              </a:lnSpc>
              <a:buNone/>
            </a:pPr>
            <a:r>
              <a:rPr lang="en-US" sz="1704" dirty="0">
                <a:solidFill>
                  <a:srgbClr val="FFFFFF"/>
                </a:solidFill>
              </a:rPr>
              <a:t>Net Girdi (z):</a:t>
            </a:r>
            <a:endParaRPr lang="en-US" sz="1704" dirty="0"/>
          </a:p>
        </p:txBody>
      </p:sp>
      <p:sp>
        <p:nvSpPr>
          <p:cNvPr id="19" name="Text 15"/>
          <p:cNvSpPr/>
          <p:nvPr/>
        </p:nvSpPr>
        <p:spPr>
          <a:xfrm>
            <a:off x="4850606" y="2114550"/>
            <a:ext cx="3693319" cy="408980"/>
          </a:xfrm>
          <a:prstGeom prst="rect">
            <a:avLst/>
          </a:prstGeom>
          <a:noFill/>
          <a:ln/>
        </p:spPr>
        <p:txBody>
          <a:bodyPr wrap="none" lIns="0" tIns="0" rIns="0" bIns="0" rtlCol="0" anchor="t">
            <a:spAutoFit/>
          </a:bodyPr>
          <a:lstStyle/>
          <a:p>
            <a:pPr marL="0" indent="0" algn="ctr">
              <a:lnSpc>
                <a:spcPts val="2800"/>
              </a:lnSpc>
              <a:buNone/>
            </a:pPr>
            <a:r>
              <a:rPr lang="en-US" sz="2256" i="1" dirty="0">
                <a:solidFill>
                  <a:srgbClr val="FFFFFF"/>
                </a:solidFill>
              </a:rPr>
              <a:t>z = Σ (wᵢxᵢ) + b</a:t>
            </a:r>
            <a:endParaRPr lang="en-US" sz="2256" dirty="0"/>
          </a:p>
        </p:txBody>
      </p:sp>
      <p:sp>
        <p:nvSpPr>
          <p:cNvPr id="20" name="Text 16"/>
          <p:cNvSpPr/>
          <p:nvPr/>
        </p:nvSpPr>
        <p:spPr>
          <a:xfrm>
            <a:off x="4850606" y="2752130"/>
            <a:ext cx="3693319" cy="312539"/>
          </a:xfrm>
          <a:prstGeom prst="rect">
            <a:avLst/>
          </a:prstGeom>
          <a:noFill/>
          <a:ln/>
        </p:spPr>
        <p:txBody>
          <a:bodyPr wrap="none" lIns="0" tIns="0" rIns="0" bIns="0" rtlCol="0" anchor="t">
            <a:spAutoFit/>
          </a:bodyPr>
          <a:lstStyle/>
          <a:p>
            <a:pPr marL="0" indent="0" algn="ctr">
              <a:lnSpc>
                <a:spcPts val="2200"/>
              </a:lnSpc>
              <a:buNone/>
            </a:pPr>
            <a:r>
              <a:rPr lang="en-US" sz="1704" dirty="0">
                <a:solidFill>
                  <a:srgbClr val="FFFFFF"/>
                </a:solidFill>
              </a:rPr>
              <a:t>Çıktı (y):</a:t>
            </a:r>
            <a:endParaRPr lang="en-US" sz="1704" dirty="0"/>
          </a:p>
        </p:txBody>
      </p:sp>
      <p:sp>
        <p:nvSpPr>
          <p:cNvPr id="21" name="Text 17"/>
          <p:cNvSpPr/>
          <p:nvPr/>
        </p:nvSpPr>
        <p:spPr>
          <a:xfrm>
            <a:off x="4850606" y="3293269"/>
            <a:ext cx="3693319" cy="408980"/>
          </a:xfrm>
          <a:prstGeom prst="rect">
            <a:avLst/>
          </a:prstGeom>
          <a:noFill/>
          <a:ln/>
        </p:spPr>
        <p:txBody>
          <a:bodyPr wrap="none" lIns="0" tIns="0" rIns="0" bIns="0" rtlCol="0" anchor="t">
            <a:spAutoFit/>
          </a:bodyPr>
          <a:lstStyle/>
          <a:p>
            <a:pPr marL="0" indent="0" algn="ctr">
              <a:lnSpc>
                <a:spcPts val="2800"/>
              </a:lnSpc>
              <a:buNone/>
            </a:pPr>
            <a:r>
              <a:rPr lang="en-US" sz="2256" i="1" dirty="0">
                <a:solidFill>
                  <a:srgbClr val="FFFFFF"/>
                </a:solidFill>
              </a:rPr>
              <a:t>y = f(z)</a:t>
            </a:r>
            <a:endParaRPr lang="en-US" sz="2256" dirty="0"/>
          </a:p>
        </p:txBody>
      </p:sp>
      <p:sp>
        <p:nvSpPr>
          <p:cNvPr id="22" name="Text 18"/>
          <p:cNvSpPr/>
          <p:nvPr/>
        </p:nvSpPr>
        <p:spPr>
          <a:xfrm>
            <a:off x="428625" y="4102298"/>
            <a:ext cx="8715375" cy="194667"/>
          </a:xfrm>
          <a:prstGeom prst="rect">
            <a:avLst/>
          </a:prstGeom>
          <a:noFill/>
          <a:ln/>
        </p:spPr>
        <p:txBody>
          <a:bodyPr wrap="none" lIns="0" tIns="0" rIns="0" bIns="0" rtlCol="0" anchor="t">
            <a:spAutoFit/>
          </a:bodyPr>
          <a:lstStyle/>
          <a:p>
            <a:pPr marL="0" indent="0" algn="l">
              <a:lnSpc>
                <a:spcPts val="1400"/>
              </a:lnSpc>
              <a:buNone/>
            </a:pPr>
            <a:r>
              <a:rPr lang="en-US" sz="987" b="1" dirty="0">
                <a:solidFill>
                  <a:srgbClr val="666666"/>
                </a:solidFill>
              </a:rPr>
              <a:t>Not:</a:t>
            </a:r>
            <a:r>
              <a:rPr lang="en-US" sz="1050" dirty="0">
                <a:solidFill>
                  <a:srgbClr val="666666"/>
                </a:solidFill>
              </a:rPr>
              <a:t> Frank Rosenblatt tarafından 1958'de önerilen bu model, doğrusal sınıflandırma yapabilen en temel sinir ağı birimidir.</a:t>
            </a:r>
            <a:endParaRPr lang="en-US" sz="987"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4" name="Text 0"/>
          <p:cNvSpPr/>
          <p:nvPr/>
        </p:nvSpPr>
        <p:spPr>
          <a:xfrm>
            <a:off x="571500" y="357188"/>
            <a:ext cx="8572500" cy="408980"/>
          </a:xfrm>
          <a:prstGeom prst="rect">
            <a:avLst/>
          </a:prstGeom>
          <a:noFill/>
          <a:ln/>
        </p:spPr>
        <p:txBody>
          <a:bodyPr wrap="none" lIns="0" tIns="0" rIns="0" bIns="0" rtlCol="0" anchor="t">
            <a:spAutoFit/>
          </a:bodyPr>
          <a:lstStyle/>
          <a:p>
            <a:pPr marL="0" indent="0" algn="l">
              <a:lnSpc>
                <a:spcPts val="2800"/>
              </a:lnSpc>
              <a:buNone/>
            </a:pPr>
            <a:r>
              <a:rPr lang="en-US" sz="2121" b="1" dirty="0">
                <a:solidFill>
                  <a:srgbClr val="000000"/>
                </a:solidFill>
              </a:rPr>
              <a:t>Aktivasyon Fonksiyonları</a:t>
            </a:r>
            <a:endParaRPr lang="en-US" sz="2121" dirty="0"/>
          </a:p>
        </p:txBody>
      </p:sp>
      <p:sp>
        <p:nvSpPr>
          <p:cNvPr id="5" name="Shape 1"/>
          <p:cNvSpPr/>
          <p:nvPr/>
        </p:nvSpPr>
        <p:spPr>
          <a:xfrm>
            <a:off x="571500" y="909042"/>
            <a:ext cx="3943350" cy="1216558"/>
          </a:xfrm>
          <a:prstGeom prst="rect">
            <a:avLst/>
          </a:prstGeom>
          <a:solidFill>
            <a:srgbClr val="F4F4F4"/>
          </a:solidFill>
          <a:ln/>
        </p:spPr>
        <p:txBody>
          <a:bodyPr/>
          <a:lstStyle/>
          <a:p>
            <a:endParaRPr lang="tr-TR"/>
          </a:p>
        </p:txBody>
      </p:sp>
      <p:sp>
        <p:nvSpPr>
          <p:cNvPr id="6" name="Shape 2"/>
          <p:cNvSpPr/>
          <p:nvPr/>
        </p:nvSpPr>
        <p:spPr>
          <a:xfrm>
            <a:off x="571500" y="909042"/>
            <a:ext cx="3943350" cy="28575"/>
          </a:xfrm>
          <a:prstGeom prst="rect">
            <a:avLst/>
          </a:prstGeom>
          <a:solidFill>
            <a:srgbClr val="000000"/>
          </a:solidFill>
          <a:ln/>
        </p:spPr>
        <p:txBody>
          <a:bodyPr/>
          <a:lstStyle/>
          <a:p>
            <a:endParaRPr lang="tr-TR"/>
          </a:p>
        </p:txBody>
      </p:sp>
      <p:sp>
        <p:nvSpPr>
          <p:cNvPr id="7" name="Text 3"/>
          <p:cNvSpPr/>
          <p:nvPr/>
        </p:nvSpPr>
        <p:spPr>
          <a:xfrm>
            <a:off x="657225" y="994767"/>
            <a:ext cx="3771900" cy="233958"/>
          </a:xfrm>
          <a:prstGeom prst="rect">
            <a:avLst/>
          </a:prstGeom>
          <a:noFill/>
          <a:ln/>
        </p:spPr>
        <p:txBody>
          <a:bodyPr wrap="none" lIns="0" tIns="0" rIns="0" bIns="0" rtlCol="0" anchor="t">
            <a:spAutoFit/>
          </a:bodyPr>
          <a:lstStyle/>
          <a:p>
            <a:pPr marL="0" indent="0" algn="l">
              <a:lnSpc>
                <a:spcPts val="1600"/>
              </a:lnSpc>
              <a:buNone/>
            </a:pPr>
            <a:r>
              <a:rPr lang="en-US" sz="1193" b="1" dirty="0">
                <a:solidFill>
                  <a:srgbClr val="FF3B30"/>
                </a:solidFill>
              </a:rPr>
              <a:t>Sigmoid</a:t>
            </a:r>
            <a:endParaRPr lang="en-US" sz="1193" dirty="0"/>
          </a:p>
        </p:txBody>
      </p:sp>
      <p:sp>
        <p:nvSpPr>
          <p:cNvPr id="8" name="Shape 4"/>
          <p:cNvSpPr/>
          <p:nvPr/>
        </p:nvSpPr>
        <p:spPr>
          <a:xfrm>
            <a:off x="657225" y="1285875"/>
            <a:ext cx="3771900" cy="348258"/>
          </a:xfrm>
          <a:prstGeom prst="rect">
            <a:avLst/>
          </a:prstGeom>
          <a:solidFill>
            <a:srgbClr val="FFFFFF"/>
          </a:solidFill>
          <a:ln/>
        </p:spPr>
        <p:txBody>
          <a:bodyPr/>
          <a:lstStyle/>
          <a:p>
            <a:endParaRPr lang="tr-TR"/>
          </a:p>
        </p:txBody>
      </p:sp>
      <p:sp>
        <p:nvSpPr>
          <p:cNvPr id="9" name="Text 5"/>
          <p:cNvSpPr/>
          <p:nvPr/>
        </p:nvSpPr>
        <p:spPr>
          <a:xfrm>
            <a:off x="657225" y="1285875"/>
            <a:ext cx="3771900" cy="348258"/>
          </a:xfrm>
          <a:prstGeom prst="rect">
            <a:avLst/>
          </a:prstGeom>
          <a:noFill/>
          <a:ln/>
        </p:spPr>
        <p:txBody>
          <a:bodyPr wrap="square" lIns="68072" tIns="68072" rIns="68072" bIns="68072" rtlCol="0" anchor="t">
            <a:spAutoFit/>
          </a:bodyPr>
          <a:lstStyle/>
          <a:p>
            <a:pPr marL="0" indent="0" algn="ctr">
              <a:lnSpc>
                <a:spcPts val="1600"/>
              </a:lnSpc>
              <a:buNone/>
            </a:pPr>
            <a:r>
              <a:rPr lang="en-US" sz="1269" i="1" dirty="0">
                <a:solidFill>
                  <a:srgbClr val="333333"/>
                </a:solidFill>
              </a:rPr>
              <a:t>σ(z) = 1 / (1 + e⁻ᶻ)</a:t>
            </a:r>
            <a:endParaRPr lang="en-US" sz="1269" dirty="0"/>
          </a:p>
        </p:txBody>
      </p:sp>
      <p:sp>
        <p:nvSpPr>
          <p:cNvPr id="10" name="Text 6"/>
          <p:cNvSpPr/>
          <p:nvPr/>
        </p:nvSpPr>
        <p:spPr>
          <a:xfrm>
            <a:off x="657225" y="1691283"/>
            <a:ext cx="3771900" cy="320018"/>
          </a:xfrm>
          <a:prstGeom prst="rect">
            <a:avLst/>
          </a:prstGeom>
          <a:noFill/>
          <a:ln/>
        </p:spPr>
        <p:txBody>
          <a:bodyPr wrap="square" lIns="0" tIns="0" rIns="0" bIns="0" rtlCol="0" anchor="t">
            <a:spAutoFit/>
          </a:bodyPr>
          <a:lstStyle/>
          <a:p>
            <a:pPr marL="0" indent="0" algn="l">
              <a:lnSpc>
                <a:spcPts val="1300"/>
              </a:lnSpc>
              <a:buNone/>
            </a:pPr>
            <a:r>
              <a:rPr lang="en-US" sz="834" dirty="0">
                <a:solidFill>
                  <a:srgbClr val="333333"/>
                </a:solidFill>
              </a:rPr>
              <a:t>Çıktıyı (0, 1) arasına sıkıştırır. Olasılıksal yorumlar için uygundur ancak "vanishing gradient" problemine yol açabilir.</a:t>
            </a:r>
            <a:endParaRPr lang="en-US" sz="834" dirty="0"/>
          </a:p>
        </p:txBody>
      </p:sp>
      <p:sp>
        <p:nvSpPr>
          <p:cNvPr id="11" name="Shape 7"/>
          <p:cNvSpPr/>
          <p:nvPr/>
        </p:nvSpPr>
        <p:spPr>
          <a:xfrm>
            <a:off x="4629150" y="909042"/>
            <a:ext cx="3943350" cy="1216558"/>
          </a:xfrm>
          <a:prstGeom prst="rect">
            <a:avLst/>
          </a:prstGeom>
          <a:solidFill>
            <a:srgbClr val="F4F4F4"/>
          </a:solidFill>
          <a:ln/>
        </p:spPr>
        <p:txBody>
          <a:bodyPr/>
          <a:lstStyle/>
          <a:p>
            <a:endParaRPr lang="tr-TR"/>
          </a:p>
        </p:txBody>
      </p:sp>
      <p:sp>
        <p:nvSpPr>
          <p:cNvPr id="12" name="Shape 8"/>
          <p:cNvSpPr/>
          <p:nvPr/>
        </p:nvSpPr>
        <p:spPr>
          <a:xfrm>
            <a:off x="4629150" y="909042"/>
            <a:ext cx="3943350" cy="28575"/>
          </a:xfrm>
          <a:prstGeom prst="rect">
            <a:avLst/>
          </a:prstGeom>
          <a:solidFill>
            <a:srgbClr val="000000"/>
          </a:solidFill>
          <a:ln/>
        </p:spPr>
        <p:txBody>
          <a:bodyPr/>
          <a:lstStyle/>
          <a:p>
            <a:endParaRPr lang="tr-TR"/>
          </a:p>
        </p:txBody>
      </p:sp>
      <p:sp>
        <p:nvSpPr>
          <p:cNvPr id="13" name="Text 9"/>
          <p:cNvSpPr/>
          <p:nvPr/>
        </p:nvSpPr>
        <p:spPr>
          <a:xfrm>
            <a:off x="4714875" y="994767"/>
            <a:ext cx="3771900" cy="233958"/>
          </a:xfrm>
          <a:prstGeom prst="rect">
            <a:avLst/>
          </a:prstGeom>
          <a:noFill/>
          <a:ln/>
        </p:spPr>
        <p:txBody>
          <a:bodyPr wrap="none" lIns="0" tIns="0" rIns="0" bIns="0" rtlCol="0" anchor="t">
            <a:spAutoFit/>
          </a:bodyPr>
          <a:lstStyle/>
          <a:p>
            <a:pPr marL="0" indent="0" algn="l">
              <a:lnSpc>
                <a:spcPts val="1600"/>
              </a:lnSpc>
              <a:buNone/>
            </a:pPr>
            <a:r>
              <a:rPr lang="en-US" sz="1193" b="1" dirty="0">
                <a:solidFill>
                  <a:srgbClr val="FF3B30"/>
                </a:solidFill>
              </a:rPr>
              <a:t>Tanh (Hiperbolik Tanjant)</a:t>
            </a:r>
            <a:endParaRPr lang="en-US" sz="1193" dirty="0"/>
          </a:p>
        </p:txBody>
      </p:sp>
      <p:sp>
        <p:nvSpPr>
          <p:cNvPr id="14" name="Shape 10"/>
          <p:cNvSpPr/>
          <p:nvPr/>
        </p:nvSpPr>
        <p:spPr>
          <a:xfrm>
            <a:off x="4714875" y="1285875"/>
            <a:ext cx="3771900" cy="348258"/>
          </a:xfrm>
          <a:prstGeom prst="rect">
            <a:avLst/>
          </a:prstGeom>
          <a:solidFill>
            <a:srgbClr val="FFFFFF"/>
          </a:solidFill>
          <a:ln/>
        </p:spPr>
        <p:txBody>
          <a:bodyPr/>
          <a:lstStyle/>
          <a:p>
            <a:endParaRPr lang="tr-TR"/>
          </a:p>
        </p:txBody>
      </p:sp>
      <p:sp>
        <p:nvSpPr>
          <p:cNvPr id="15" name="Text 11"/>
          <p:cNvSpPr/>
          <p:nvPr/>
        </p:nvSpPr>
        <p:spPr>
          <a:xfrm>
            <a:off x="4714875" y="1285875"/>
            <a:ext cx="3771900" cy="348258"/>
          </a:xfrm>
          <a:prstGeom prst="rect">
            <a:avLst/>
          </a:prstGeom>
          <a:noFill/>
          <a:ln/>
        </p:spPr>
        <p:txBody>
          <a:bodyPr wrap="square" lIns="68072" tIns="68072" rIns="68072" bIns="68072" rtlCol="0" anchor="t">
            <a:spAutoFit/>
          </a:bodyPr>
          <a:lstStyle/>
          <a:p>
            <a:pPr marL="0" indent="0" algn="ctr">
              <a:lnSpc>
                <a:spcPts val="1600"/>
              </a:lnSpc>
              <a:buNone/>
            </a:pPr>
            <a:r>
              <a:rPr lang="en-US" sz="1269" i="1" dirty="0">
                <a:solidFill>
                  <a:srgbClr val="333333"/>
                </a:solidFill>
              </a:rPr>
              <a:t>tanh(z) = (eᶻ - e⁻ᶻ) / (eᶻ + e⁻ᶻ)</a:t>
            </a:r>
            <a:endParaRPr lang="en-US" sz="1269" dirty="0"/>
          </a:p>
        </p:txBody>
      </p:sp>
      <p:sp>
        <p:nvSpPr>
          <p:cNvPr id="16" name="Text 12"/>
          <p:cNvSpPr/>
          <p:nvPr/>
        </p:nvSpPr>
        <p:spPr>
          <a:xfrm>
            <a:off x="4714875" y="1691283"/>
            <a:ext cx="3771900" cy="320018"/>
          </a:xfrm>
          <a:prstGeom prst="rect">
            <a:avLst/>
          </a:prstGeom>
          <a:noFill/>
          <a:ln/>
        </p:spPr>
        <p:txBody>
          <a:bodyPr wrap="square" lIns="0" tIns="0" rIns="0" bIns="0" rtlCol="0" anchor="t">
            <a:spAutoFit/>
          </a:bodyPr>
          <a:lstStyle/>
          <a:p>
            <a:pPr marL="0" indent="0" algn="l">
              <a:lnSpc>
                <a:spcPts val="1300"/>
              </a:lnSpc>
              <a:buNone/>
            </a:pPr>
            <a:r>
              <a:rPr lang="en-US" sz="834" dirty="0">
                <a:solidFill>
                  <a:srgbClr val="333333"/>
                </a:solidFill>
              </a:rPr>
              <a:t>Çıktıyı (-1, 1) arasına sıkıştırır. Sıfır merkezli olduğu için genellikle Sigmoid'den daha iyi performans gösterir.</a:t>
            </a:r>
            <a:endParaRPr lang="en-US" sz="834" dirty="0"/>
          </a:p>
        </p:txBody>
      </p:sp>
      <p:sp>
        <p:nvSpPr>
          <p:cNvPr id="17" name="Shape 13"/>
          <p:cNvSpPr/>
          <p:nvPr/>
        </p:nvSpPr>
        <p:spPr>
          <a:xfrm>
            <a:off x="571500" y="2239900"/>
            <a:ext cx="3943350" cy="1216558"/>
          </a:xfrm>
          <a:prstGeom prst="rect">
            <a:avLst/>
          </a:prstGeom>
          <a:solidFill>
            <a:srgbClr val="F4F4F4"/>
          </a:solidFill>
          <a:ln/>
        </p:spPr>
        <p:txBody>
          <a:bodyPr/>
          <a:lstStyle/>
          <a:p>
            <a:endParaRPr lang="tr-TR"/>
          </a:p>
        </p:txBody>
      </p:sp>
      <p:sp>
        <p:nvSpPr>
          <p:cNvPr id="18" name="Shape 14"/>
          <p:cNvSpPr/>
          <p:nvPr/>
        </p:nvSpPr>
        <p:spPr>
          <a:xfrm>
            <a:off x="571500" y="2239900"/>
            <a:ext cx="3943350" cy="28575"/>
          </a:xfrm>
          <a:prstGeom prst="rect">
            <a:avLst/>
          </a:prstGeom>
          <a:solidFill>
            <a:srgbClr val="000000"/>
          </a:solidFill>
          <a:ln/>
        </p:spPr>
        <p:txBody>
          <a:bodyPr/>
          <a:lstStyle/>
          <a:p>
            <a:endParaRPr lang="tr-TR"/>
          </a:p>
        </p:txBody>
      </p:sp>
      <p:sp>
        <p:nvSpPr>
          <p:cNvPr id="19" name="Text 15"/>
          <p:cNvSpPr/>
          <p:nvPr/>
        </p:nvSpPr>
        <p:spPr>
          <a:xfrm>
            <a:off x="657225" y="2325625"/>
            <a:ext cx="3771900" cy="233958"/>
          </a:xfrm>
          <a:prstGeom prst="rect">
            <a:avLst/>
          </a:prstGeom>
          <a:noFill/>
          <a:ln/>
        </p:spPr>
        <p:txBody>
          <a:bodyPr wrap="none" lIns="0" tIns="0" rIns="0" bIns="0" rtlCol="0" anchor="t">
            <a:spAutoFit/>
          </a:bodyPr>
          <a:lstStyle/>
          <a:p>
            <a:pPr marL="0" indent="0" algn="l">
              <a:lnSpc>
                <a:spcPts val="1600"/>
              </a:lnSpc>
              <a:buNone/>
            </a:pPr>
            <a:r>
              <a:rPr lang="en-US" sz="1193" b="1" dirty="0">
                <a:solidFill>
                  <a:srgbClr val="FF3B30"/>
                </a:solidFill>
              </a:rPr>
              <a:t>ReLU (Rectified Linear Unit)</a:t>
            </a:r>
            <a:endParaRPr lang="en-US" sz="1193" dirty="0"/>
          </a:p>
        </p:txBody>
      </p:sp>
      <p:sp>
        <p:nvSpPr>
          <p:cNvPr id="20" name="Shape 16"/>
          <p:cNvSpPr/>
          <p:nvPr/>
        </p:nvSpPr>
        <p:spPr>
          <a:xfrm>
            <a:off x="657225" y="2616733"/>
            <a:ext cx="3771900" cy="348258"/>
          </a:xfrm>
          <a:prstGeom prst="rect">
            <a:avLst/>
          </a:prstGeom>
          <a:solidFill>
            <a:srgbClr val="FFFFFF"/>
          </a:solidFill>
          <a:ln/>
        </p:spPr>
        <p:txBody>
          <a:bodyPr/>
          <a:lstStyle/>
          <a:p>
            <a:endParaRPr lang="tr-TR"/>
          </a:p>
        </p:txBody>
      </p:sp>
      <p:sp>
        <p:nvSpPr>
          <p:cNvPr id="21" name="Text 17"/>
          <p:cNvSpPr/>
          <p:nvPr/>
        </p:nvSpPr>
        <p:spPr>
          <a:xfrm>
            <a:off x="657225" y="2616733"/>
            <a:ext cx="3771900" cy="348258"/>
          </a:xfrm>
          <a:prstGeom prst="rect">
            <a:avLst/>
          </a:prstGeom>
          <a:noFill/>
          <a:ln/>
        </p:spPr>
        <p:txBody>
          <a:bodyPr wrap="square" lIns="68072" tIns="68072" rIns="68072" bIns="68072" rtlCol="0" anchor="t">
            <a:spAutoFit/>
          </a:bodyPr>
          <a:lstStyle/>
          <a:p>
            <a:pPr marL="0" indent="0" algn="ctr">
              <a:lnSpc>
                <a:spcPts val="1600"/>
              </a:lnSpc>
              <a:buNone/>
            </a:pPr>
            <a:r>
              <a:rPr lang="en-US" sz="1269" i="1" dirty="0">
                <a:solidFill>
                  <a:srgbClr val="333333"/>
                </a:solidFill>
              </a:rPr>
              <a:t>f(z) = max(0, z)</a:t>
            </a:r>
            <a:endParaRPr lang="en-US" sz="1269" dirty="0"/>
          </a:p>
        </p:txBody>
      </p:sp>
      <p:sp>
        <p:nvSpPr>
          <p:cNvPr id="22" name="Text 18"/>
          <p:cNvSpPr/>
          <p:nvPr/>
        </p:nvSpPr>
        <p:spPr>
          <a:xfrm>
            <a:off x="657225" y="3022141"/>
            <a:ext cx="3771900" cy="320018"/>
          </a:xfrm>
          <a:prstGeom prst="rect">
            <a:avLst/>
          </a:prstGeom>
          <a:noFill/>
          <a:ln/>
        </p:spPr>
        <p:txBody>
          <a:bodyPr wrap="square" lIns="0" tIns="0" rIns="0" bIns="0" rtlCol="0" anchor="t">
            <a:spAutoFit/>
          </a:bodyPr>
          <a:lstStyle/>
          <a:p>
            <a:pPr marL="0" indent="0" algn="l">
              <a:lnSpc>
                <a:spcPts val="1300"/>
              </a:lnSpc>
              <a:buNone/>
            </a:pPr>
            <a:r>
              <a:rPr lang="en-US" sz="834" dirty="0">
                <a:solidFill>
                  <a:srgbClr val="333333"/>
                </a:solidFill>
              </a:rPr>
              <a:t>Modern ağlarda en yaygın kullanılan fonksiyondur. Hesaplama hızı yüksektir ve gradyan sönümlenmesini azaltır.</a:t>
            </a:r>
            <a:endParaRPr lang="en-US" sz="834" dirty="0"/>
          </a:p>
        </p:txBody>
      </p:sp>
      <p:sp>
        <p:nvSpPr>
          <p:cNvPr id="23" name="Shape 19"/>
          <p:cNvSpPr/>
          <p:nvPr/>
        </p:nvSpPr>
        <p:spPr>
          <a:xfrm>
            <a:off x="4629150" y="2239900"/>
            <a:ext cx="3943350" cy="1216558"/>
          </a:xfrm>
          <a:prstGeom prst="rect">
            <a:avLst/>
          </a:prstGeom>
          <a:solidFill>
            <a:srgbClr val="F4F4F4"/>
          </a:solidFill>
          <a:ln/>
        </p:spPr>
        <p:txBody>
          <a:bodyPr/>
          <a:lstStyle/>
          <a:p>
            <a:endParaRPr lang="tr-TR"/>
          </a:p>
        </p:txBody>
      </p:sp>
      <p:sp>
        <p:nvSpPr>
          <p:cNvPr id="24" name="Shape 20"/>
          <p:cNvSpPr/>
          <p:nvPr/>
        </p:nvSpPr>
        <p:spPr>
          <a:xfrm>
            <a:off x="4629150" y="2239900"/>
            <a:ext cx="3943350" cy="28575"/>
          </a:xfrm>
          <a:prstGeom prst="rect">
            <a:avLst/>
          </a:prstGeom>
          <a:solidFill>
            <a:srgbClr val="000000"/>
          </a:solidFill>
          <a:ln/>
        </p:spPr>
        <p:txBody>
          <a:bodyPr/>
          <a:lstStyle/>
          <a:p>
            <a:endParaRPr lang="tr-TR"/>
          </a:p>
        </p:txBody>
      </p:sp>
      <p:sp>
        <p:nvSpPr>
          <p:cNvPr id="25" name="Text 21"/>
          <p:cNvSpPr/>
          <p:nvPr/>
        </p:nvSpPr>
        <p:spPr>
          <a:xfrm>
            <a:off x="4714875" y="2297050"/>
            <a:ext cx="3771900" cy="233958"/>
          </a:xfrm>
          <a:prstGeom prst="rect">
            <a:avLst/>
          </a:prstGeom>
          <a:noFill/>
          <a:ln/>
        </p:spPr>
        <p:txBody>
          <a:bodyPr wrap="none" lIns="0" tIns="0" rIns="0" bIns="0" rtlCol="0" anchor="t">
            <a:spAutoFit/>
          </a:bodyPr>
          <a:lstStyle/>
          <a:p>
            <a:pPr marL="0" indent="0" algn="l">
              <a:lnSpc>
                <a:spcPts val="1600"/>
              </a:lnSpc>
              <a:buNone/>
            </a:pPr>
            <a:r>
              <a:rPr lang="en-US" sz="1193" b="1" dirty="0">
                <a:solidFill>
                  <a:srgbClr val="FF3B30"/>
                </a:solidFill>
              </a:rPr>
              <a:t>Softmax</a:t>
            </a:r>
            <a:endParaRPr lang="en-US" sz="1193" dirty="0"/>
          </a:p>
        </p:txBody>
      </p:sp>
      <p:sp>
        <p:nvSpPr>
          <p:cNvPr id="26" name="Shape 22"/>
          <p:cNvSpPr/>
          <p:nvPr/>
        </p:nvSpPr>
        <p:spPr>
          <a:xfrm>
            <a:off x="4714875" y="2588158"/>
            <a:ext cx="3771900" cy="348258"/>
          </a:xfrm>
          <a:prstGeom prst="rect">
            <a:avLst/>
          </a:prstGeom>
          <a:solidFill>
            <a:srgbClr val="FFFFFF"/>
          </a:solidFill>
          <a:ln/>
        </p:spPr>
        <p:txBody>
          <a:bodyPr/>
          <a:lstStyle/>
          <a:p>
            <a:endParaRPr lang="tr-TR"/>
          </a:p>
        </p:txBody>
      </p:sp>
      <p:sp>
        <p:nvSpPr>
          <p:cNvPr id="27" name="Text 23"/>
          <p:cNvSpPr/>
          <p:nvPr/>
        </p:nvSpPr>
        <p:spPr>
          <a:xfrm>
            <a:off x="4714875" y="2588158"/>
            <a:ext cx="3771900" cy="348258"/>
          </a:xfrm>
          <a:prstGeom prst="rect">
            <a:avLst/>
          </a:prstGeom>
          <a:noFill/>
          <a:ln/>
        </p:spPr>
        <p:txBody>
          <a:bodyPr wrap="square" lIns="68072" tIns="68072" rIns="68072" bIns="68072" rtlCol="0" anchor="t">
            <a:spAutoFit/>
          </a:bodyPr>
          <a:lstStyle/>
          <a:p>
            <a:pPr marL="0" indent="0" algn="ctr">
              <a:lnSpc>
                <a:spcPts val="1600"/>
              </a:lnSpc>
              <a:buNone/>
            </a:pPr>
            <a:r>
              <a:rPr lang="en-US" sz="1269" i="1" dirty="0">
                <a:solidFill>
                  <a:srgbClr val="333333"/>
                </a:solidFill>
              </a:rPr>
              <a:t>σ(z)ᵢ = eᶻⁱ / Σ eᶻʲ</a:t>
            </a:r>
            <a:endParaRPr lang="en-US" sz="1269" dirty="0"/>
          </a:p>
        </p:txBody>
      </p:sp>
      <p:sp>
        <p:nvSpPr>
          <p:cNvPr id="28" name="Text 24"/>
          <p:cNvSpPr/>
          <p:nvPr/>
        </p:nvSpPr>
        <p:spPr>
          <a:xfrm>
            <a:off x="4714875" y="2993566"/>
            <a:ext cx="3771900" cy="320018"/>
          </a:xfrm>
          <a:prstGeom prst="rect">
            <a:avLst/>
          </a:prstGeom>
          <a:noFill/>
          <a:ln/>
        </p:spPr>
        <p:txBody>
          <a:bodyPr wrap="square" lIns="0" tIns="0" rIns="0" bIns="0" rtlCol="0" anchor="t">
            <a:spAutoFit/>
          </a:bodyPr>
          <a:lstStyle/>
          <a:p>
            <a:pPr marL="0" indent="0" algn="l">
              <a:lnSpc>
                <a:spcPts val="1300"/>
              </a:lnSpc>
              <a:buNone/>
            </a:pPr>
            <a:r>
              <a:rPr lang="en-US" sz="834" dirty="0">
                <a:solidFill>
                  <a:srgbClr val="333333"/>
                </a:solidFill>
              </a:rPr>
              <a:t>Çok sınıflı sınıflandırma problemlerinde çıkış katmanında kullanılır. Çıktıların toplamını 1'e normalize eder.</a:t>
            </a:r>
            <a:endParaRPr lang="en-US" sz="834"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9144000" cy="5188148"/>
          </a:xfrm>
          <a:prstGeom prst="rect">
            <a:avLst/>
          </a:prstGeom>
        </p:spPr>
      </p:pic>
      <p:sp>
        <p:nvSpPr>
          <p:cNvPr id="4" name="Text 0"/>
          <p:cNvSpPr/>
          <p:nvPr/>
        </p:nvSpPr>
        <p:spPr>
          <a:xfrm>
            <a:off x="571500" y="357188"/>
            <a:ext cx="8572500" cy="408980"/>
          </a:xfrm>
          <a:prstGeom prst="rect">
            <a:avLst/>
          </a:prstGeom>
          <a:noFill/>
          <a:ln/>
        </p:spPr>
        <p:txBody>
          <a:bodyPr wrap="none" lIns="0" tIns="0" rIns="0" bIns="0" rtlCol="0" anchor="t">
            <a:spAutoFit/>
          </a:bodyPr>
          <a:lstStyle/>
          <a:p>
            <a:pPr marL="0" indent="0" algn="l">
              <a:lnSpc>
                <a:spcPts val="2800"/>
              </a:lnSpc>
              <a:buNone/>
            </a:pPr>
            <a:r>
              <a:rPr lang="en-US" sz="2121" b="1" dirty="0">
                <a:solidFill>
                  <a:srgbClr val="000000"/>
                </a:solidFill>
              </a:rPr>
              <a:t>Çok Katmanlı Algılayıcı (MLP) ve İleri Yayılım</a:t>
            </a:r>
            <a:endParaRPr lang="en-US" sz="2121" dirty="0"/>
          </a:p>
        </p:txBody>
      </p:sp>
      <p:sp>
        <p:nvSpPr>
          <p:cNvPr id="5" name="Shape 1"/>
          <p:cNvSpPr/>
          <p:nvPr/>
        </p:nvSpPr>
        <p:spPr>
          <a:xfrm>
            <a:off x="571500" y="1051917"/>
            <a:ext cx="3506912" cy="1287661"/>
          </a:xfrm>
          <a:prstGeom prst="rect">
            <a:avLst/>
          </a:prstGeom>
          <a:solidFill>
            <a:srgbClr val="000000"/>
          </a:solidFill>
          <a:ln/>
        </p:spPr>
        <p:txBody>
          <a:bodyPr/>
          <a:lstStyle/>
          <a:p>
            <a:endParaRPr lang="tr-TR"/>
          </a:p>
        </p:txBody>
      </p:sp>
      <p:sp>
        <p:nvSpPr>
          <p:cNvPr id="6" name="Shape 2"/>
          <p:cNvSpPr/>
          <p:nvPr/>
        </p:nvSpPr>
        <p:spPr>
          <a:xfrm>
            <a:off x="571500" y="1051917"/>
            <a:ext cx="57150" cy="1287661"/>
          </a:xfrm>
          <a:prstGeom prst="rect">
            <a:avLst/>
          </a:prstGeom>
          <a:solidFill>
            <a:srgbClr val="FF3B30"/>
          </a:solidFill>
          <a:ln/>
        </p:spPr>
        <p:txBody>
          <a:bodyPr/>
          <a:lstStyle/>
          <a:p>
            <a:endParaRPr lang="tr-TR"/>
          </a:p>
        </p:txBody>
      </p:sp>
      <p:sp>
        <p:nvSpPr>
          <p:cNvPr id="7" name="Text 3"/>
          <p:cNvSpPr/>
          <p:nvPr/>
        </p:nvSpPr>
        <p:spPr>
          <a:xfrm>
            <a:off x="742950" y="1394817"/>
            <a:ext cx="3164012" cy="233958"/>
          </a:xfrm>
          <a:prstGeom prst="rect">
            <a:avLst/>
          </a:prstGeom>
          <a:noFill/>
          <a:ln/>
        </p:spPr>
        <p:txBody>
          <a:bodyPr wrap="none" lIns="0" tIns="0" rIns="0" bIns="0" rtlCol="0" anchor="t">
            <a:spAutoFit/>
          </a:bodyPr>
          <a:lstStyle/>
          <a:p>
            <a:pPr marL="0" indent="0" algn="l">
              <a:lnSpc>
                <a:spcPts val="1600"/>
              </a:lnSpc>
              <a:buNone/>
            </a:pPr>
            <a:r>
              <a:rPr lang="en-US" sz="1193" b="1" dirty="0">
                <a:solidFill>
                  <a:srgbClr val="FF3B30"/>
                </a:solidFill>
              </a:rPr>
              <a:t>Giriş Katmanı (Input Layer)</a:t>
            </a:r>
            <a:endParaRPr lang="en-US" sz="1193" dirty="0"/>
          </a:p>
        </p:txBody>
      </p:sp>
      <p:sp>
        <p:nvSpPr>
          <p:cNvPr id="8" name="Text 4"/>
          <p:cNvSpPr/>
          <p:nvPr/>
        </p:nvSpPr>
        <p:spPr>
          <a:xfrm>
            <a:off x="742950" y="1743075"/>
            <a:ext cx="3164012" cy="310753"/>
          </a:xfrm>
          <a:prstGeom prst="rect">
            <a:avLst/>
          </a:prstGeom>
          <a:noFill/>
          <a:ln/>
        </p:spPr>
        <p:txBody>
          <a:bodyPr wrap="square" lIns="0" tIns="0" rIns="0" bIns="0" rtlCol="0" anchor="t">
            <a:spAutoFit/>
          </a:bodyPr>
          <a:lstStyle/>
          <a:p>
            <a:pPr marL="0" indent="0" algn="l">
              <a:lnSpc>
                <a:spcPts val="1100"/>
              </a:lnSpc>
              <a:buNone/>
            </a:pPr>
            <a:r>
              <a:rPr lang="en-US" sz="834" dirty="0">
                <a:solidFill>
                  <a:srgbClr val="FFFFFF"/>
                </a:solidFill>
              </a:rPr>
              <a:t>Ham verinin ağa girdiği katmandır. Her nöron bir özelliği temsil eder.</a:t>
            </a:r>
            <a:endParaRPr lang="en-US" sz="834" dirty="0"/>
          </a:p>
        </p:txBody>
      </p:sp>
      <p:sp>
        <p:nvSpPr>
          <p:cNvPr id="9" name="Shape 5"/>
          <p:cNvSpPr/>
          <p:nvPr/>
        </p:nvSpPr>
        <p:spPr>
          <a:xfrm>
            <a:off x="571500" y="2482453"/>
            <a:ext cx="3506912" cy="1287661"/>
          </a:xfrm>
          <a:prstGeom prst="rect">
            <a:avLst/>
          </a:prstGeom>
          <a:solidFill>
            <a:srgbClr val="000000"/>
          </a:solidFill>
          <a:ln/>
        </p:spPr>
        <p:txBody>
          <a:bodyPr/>
          <a:lstStyle/>
          <a:p>
            <a:endParaRPr lang="tr-TR"/>
          </a:p>
        </p:txBody>
      </p:sp>
      <p:sp>
        <p:nvSpPr>
          <p:cNvPr id="10" name="Shape 6"/>
          <p:cNvSpPr/>
          <p:nvPr/>
        </p:nvSpPr>
        <p:spPr>
          <a:xfrm>
            <a:off x="571500" y="2482453"/>
            <a:ext cx="57150" cy="1287661"/>
          </a:xfrm>
          <a:prstGeom prst="rect">
            <a:avLst/>
          </a:prstGeom>
          <a:solidFill>
            <a:srgbClr val="FF3B30"/>
          </a:solidFill>
          <a:ln/>
        </p:spPr>
        <p:txBody>
          <a:bodyPr/>
          <a:lstStyle/>
          <a:p>
            <a:endParaRPr lang="tr-TR"/>
          </a:p>
        </p:txBody>
      </p:sp>
      <p:sp>
        <p:nvSpPr>
          <p:cNvPr id="11" name="Text 7"/>
          <p:cNvSpPr/>
          <p:nvPr/>
        </p:nvSpPr>
        <p:spPr>
          <a:xfrm>
            <a:off x="742950" y="2825353"/>
            <a:ext cx="3164012" cy="233958"/>
          </a:xfrm>
          <a:prstGeom prst="rect">
            <a:avLst/>
          </a:prstGeom>
          <a:noFill/>
          <a:ln/>
        </p:spPr>
        <p:txBody>
          <a:bodyPr wrap="none" lIns="0" tIns="0" rIns="0" bIns="0" rtlCol="0" anchor="t">
            <a:spAutoFit/>
          </a:bodyPr>
          <a:lstStyle/>
          <a:p>
            <a:pPr marL="0" indent="0" algn="l">
              <a:lnSpc>
                <a:spcPts val="1600"/>
              </a:lnSpc>
              <a:buNone/>
            </a:pPr>
            <a:r>
              <a:rPr lang="en-US" sz="1193" b="1" dirty="0">
                <a:solidFill>
                  <a:srgbClr val="FF3B30"/>
                </a:solidFill>
              </a:rPr>
              <a:t>Gizli Katmanlar (Hidden Layers)</a:t>
            </a:r>
            <a:endParaRPr lang="en-US" sz="1193" dirty="0"/>
          </a:p>
        </p:txBody>
      </p:sp>
      <p:sp>
        <p:nvSpPr>
          <p:cNvPr id="12" name="Text 8"/>
          <p:cNvSpPr/>
          <p:nvPr/>
        </p:nvSpPr>
        <p:spPr>
          <a:xfrm>
            <a:off x="742950" y="3173611"/>
            <a:ext cx="3164012" cy="310753"/>
          </a:xfrm>
          <a:prstGeom prst="rect">
            <a:avLst/>
          </a:prstGeom>
          <a:noFill/>
          <a:ln/>
        </p:spPr>
        <p:txBody>
          <a:bodyPr wrap="square" lIns="0" tIns="0" rIns="0" bIns="0" rtlCol="0" anchor="t">
            <a:spAutoFit/>
          </a:bodyPr>
          <a:lstStyle/>
          <a:p>
            <a:pPr marL="0" indent="0" algn="l">
              <a:lnSpc>
                <a:spcPts val="1100"/>
              </a:lnSpc>
              <a:buNone/>
            </a:pPr>
            <a:r>
              <a:rPr lang="en-US" sz="834" dirty="0">
                <a:solidFill>
                  <a:srgbClr val="FFFFFF"/>
                </a:solidFill>
              </a:rPr>
              <a:t>Doğrusal olmayan dönüşümlerin yapıldığı, özelliklerin öğrenildiği katmanlardır.</a:t>
            </a:r>
            <a:endParaRPr lang="en-US" sz="834" dirty="0"/>
          </a:p>
        </p:txBody>
      </p:sp>
      <p:sp>
        <p:nvSpPr>
          <p:cNvPr id="13" name="Shape 9"/>
          <p:cNvSpPr/>
          <p:nvPr/>
        </p:nvSpPr>
        <p:spPr>
          <a:xfrm>
            <a:off x="571500" y="3912989"/>
            <a:ext cx="3506912" cy="1132284"/>
          </a:xfrm>
          <a:prstGeom prst="rect">
            <a:avLst/>
          </a:prstGeom>
          <a:solidFill>
            <a:srgbClr val="000000"/>
          </a:solidFill>
          <a:ln/>
        </p:spPr>
        <p:txBody>
          <a:bodyPr/>
          <a:lstStyle/>
          <a:p>
            <a:endParaRPr lang="tr-TR"/>
          </a:p>
        </p:txBody>
      </p:sp>
      <p:sp>
        <p:nvSpPr>
          <p:cNvPr id="14" name="Shape 10"/>
          <p:cNvSpPr/>
          <p:nvPr/>
        </p:nvSpPr>
        <p:spPr>
          <a:xfrm>
            <a:off x="571500" y="3912989"/>
            <a:ext cx="57150" cy="1132284"/>
          </a:xfrm>
          <a:prstGeom prst="rect">
            <a:avLst/>
          </a:prstGeom>
          <a:solidFill>
            <a:srgbClr val="FF3B30"/>
          </a:solidFill>
          <a:ln/>
        </p:spPr>
        <p:txBody>
          <a:bodyPr/>
          <a:lstStyle/>
          <a:p>
            <a:endParaRPr lang="tr-TR"/>
          </a:p>
        </p:txBody>
      </p:sp>
      <p:sp>
        <p:nvSpPr>
          <p:cNvPr id="15" name="Text 11"/>
          <p:cNvSpPr/>
          <p:nvPr/>
        </p:nvSpPr>
        <p:spPr>
          <a:xfrm>
            <a:off x="742950" y="4255889"/>
            <a:ext cx="3164012" cy="233958"/>
          </a:xfrm>
          <a:prstGeom prst="rect">
            <a:avLst/>
          </a:prstGeom>
          <a:noFill/>
          <a:ln/>
        </p:spPr>
        <p:txBody>
          <a:bodyPr wrap="none" lIns="0" tIns="0" rIns="0" bIns="0" rtlCol="0" anchor="t">
            <a:spAutoFit/>
          </a:bodyPr>
          <a:lstStyle/>
          <a:p>
            <a:pPr marL="0" indent="0" algn="l">
              <a:lnSpc>
                <a:spcPts val="1600"/>
              </a:lnSpc>
              <a:buNone/>
            </a:pPr>
            <a:r>
              <a:rPr lang="en-US" sz="1193" b="1" dirty="0">
                <a:solidFill>
                  <a:srgbClr val="FF3B30"/>
                </a:solidFill>
              </a:rPr>
              <a:t>Çıkış Katmanı (Output Layer)</a:t>
            </a:r>
            <a:endParaRPr lang="en-US" sz="1193" dirty="0"/>
          </a:p>
        </p:txBody>
      </p:sp>
      <p:sp>
        <p:nvSpPr>
          <p:cNvPr id="16" name="Text 12"/>
          <p:cNvSpPr/>
          <p:nvPr/>
        </p:nvSpPr>
        <p:spPr>
          <a:xfrm>
            <a:off x="742950" y="4604147"/>
            <a:ext cx="3164012" cy="155377"/>
          </a:xfrm>
          <a:prstGeom prst="rect">
            <a:avLst/>
          </a:prstGeom>
          <a:noFill/>
          <a:ln/>
        </p:spPr>
        <p:txBody>
          <a:bodyPr wrap="none" lIns="0" tIns="0" rIns="0" bIns="0" rtlCol="0" anchor="t">
            <a:spAutoFit/>
          </a:bodyPr>
          <a:lstStyle/>
          <a:p>
            <a:pPr marL="0" indent="0" algn="l">
              <a:lnSpc>
                <a:spcPts val="1100"/>
              </a:lnSpc>
              <a:buNone/>
            </a:pPr>
            <a:r>
              <a:rPr lang="en-US" sz="834" dirty="0">
                <a:solidFill>
                  <a:srgbClr val="FFFFFF"/>
                </a:solidFill>
              </a:rPr>
              <a:t>Ağın nihai tahminini ürettiği katmandır.</a:t>
            </a:r>
            <a:endParaRPr lang="en-US" sz="834" dirty="0"/>
          </a:p>
        </p:txBody>
      </p:sp>
      <p:sp>
        <p:nvSpPr>
          <p:cNvPr id="17" name="Shape 13"/>
          <p:cNvSpPr/>
          <p:nvPr/>
        </p:nvSpPr>
        <p:spPr>
          <a:xfrm>
            <a:off x="4364162" y="1051917"/>
            <a:ext cx="4208338" cy="3625760"/>
          </a:xfrm>
          <a:prstGeom prst="rect">
            <a:avLst/>
          </a:prstGeom>
          <a:solidFill>
            <a:srgbClr val="F4F4F4"/>
          </a:solidFill>
          <a:ln/>
        </p:spPr>
        <p:txBody>
          <a:bodyPr/>
          <a:lstStyle/>
          <a:p>
            <a:endParaRPr lang="tr-TR"/>
          </a:p>
        </p:txBody>
      </p:sp>
      <p:sp>
        <p:nvSpPr>
          <p:cNvPr id="18" name="Shape 14"/>
          <p:cNvSpPr/>
          <p:nvPr/>
        </p:nvSpPr>
        <p:spPr>
          <a:xfrm>
            <a:off x="4364162" y="1051917"/>
            <a:ext cx="4208338" cy="35719"/>
          </a:xfrm>
          <a:prstGeom prst="rect">
            <a:avLst/>
          </a:prstGeom>
          <a:solidFill>
            <a:srgbClr val="000000"/>
          </a:solidFill>
          <a:ln/>
        </p:spPr>
        <p:txBody>
          <a:bodyPr/>
          <a:lstStyle/>
          <a:p>
            <a:endParaRPr lang="tr-TR"/>
          </a:p>
        </p:txBody>
      </p:sp>
      <p:sp>
        <p:nvSpPr>
          <p:cNvPr id="19" name="Text 15"/>
          <p:cNvSpPr/>
          <p:nvPr/>
        </p:nvSpPr>
        <p:spPr>
          <a:xfrm>
            <a:off x="4578474" y="1456237"/>
            <a:ext cx="1278899" cy="208955"/>
          </a:xfrm>
          <a:prstGeom prst="rect">
            <a:avLst/>
          </a:prstGeom>
          <a:noFill/>
          <a:ln/>
        </p:spPr>
        <p:txBody>
          <a:bodyPr wrap="none" lIns="0" tIns="0" rIns="0" bIns="0" rtlCol="0" anchor="t">
            <a:spAutoFit/>
          </a:bodyPr>
          <a:lstStyle/>
          <a:p>
            <a:pPr marL="0" indent="0" algn="l">
              <a:lnSpc>
                <a:spcPts val="1400"/>
              </a:lnSpc>
              <a:buNone/>
            </a:pPr>
            <a:r>
              <a:rPr lang="en-US" sz="987" b="1" dirty="0">
                <a:solidFill>
                  <a:srgbClr val="333333"/>
                </a:solidFill>
              </a:rPr>
              <a:t>1. Ağırlıklı Toplam</a:t>
            </a:r>
            <a:endParaRPr lang="en-US" sz="987" dirty="0"/>
          </a:p>
        </p:txBody>
      </p:sp>
      <p:sp>
        <p:nvSpPr>
          <p:cNvPr id="20" name="Shape 16"/>
          <p:cNvSpPr/>
          <p:nvPr/>
        </p:nvSpPr>
        <p:spPr>
          <a:xfrm>
            <a:off x="4578474" y="1736629"/>
            <a:ext cx="3779713" cy="416123"/>
          </a:xfrm>
          <a:prstGeom prst="rect">
            <a:avLst/>
          </a:prstGeom>
          <a:solidFill>
            <a:srgbClr val="FFFFFF"/>
          </a:solidFill>
          <a:ln/>
        </p:spPr>
        <p:txBody>
          <a:bodyPr/>
          <a:lstStyle/>
          <a:p>
            <a:endParaRPr lang="tr-TR"/>
          </a:p>
        </p:txBody>
      </p:sp>
      <p:sp>
        <p:nvSpPr>
          <p:cNvPr id="21" name="Text 17"/>
          <p:cNvSpPr/>
          <p:nvPr/>
        </p:nvSpPr>
        <p:spPr>
          <a:xfrm>
            <a:off x="4578474" y="1736629"/>
            <a:ext cx="3779713" cy="416123"/>
          </a:xfrm>
          <a:prstGeom prst="rect">
            <a:avLst/>
          </a:prstGeom>
          <a:noFill/>
          <a:ln/>
        </p:spPr>
        <p:txBody>
          <a:bodyPr wrap="square" lIns="85090" tIns="85090" rIns="85090" bIns="85090" rtlCol="0" anchor="t">
            <a:spAutoFit/>
          </a:bodyPr>
          <a:lstStyle/>
          <a:p>
            <a:pPr marL="0" indent="0" algn="ctr">
              <a:lnSpc>
                <a:spcPts val="1900"/>
              </a:lnSpc>
              <a:buNone/>
            </a:pPr>
            <a:r>
              <a:rPr lang="en-US" sz="1486" i="1" dirty="0">
                <a:solidFill>
                  <a:srgbClr val="333333"/>
                </a:solidFill>
              </a:rPr>
              <a:t>z⁽ˡ⁾ = W⁽ˡ⁾ a⁽ˡ⁻¹⁾ + b⁽ˡ⁾</a:t>
            </a:r>
            <a:endParaRPr lang="en-US" sz="1486" dirty="0"/>
          </a:p>
        </p:txBody>
      </p:sp>
      <p:sp>
        <p:nvSpPr>
          <p:cNvPr id="22" name="Text 18"/>
          <p:cNvSpPr/>
          <p:nvPr/>
        </p:nvSpPr>
        <p:spPr>
          <a:xfrm>
            <a:off x="4578474" y="2521353"/>
            <a:ext cx="1721811" cy="208955"/>
          </a:xfrm>
          <a:prstGeom prst="rect">
            <a:avLst/>
          </a:prstGeom>
          <a:noFill/>
          <a:ln/>
        </p:spPr>
        <p:txBody>
          <a:bodyPr wrap="none" lIns="0" tIns="0" rIns="0" bIns="0" rtlCol="0" anchor="t">
            <a:spAutoFit/>
          </a:bodyPr>
          <a:lstStyle/>
          <a:p>
            <a:pPr marL="0" indent="0" algn="l">
              <a:lnSpc>
                <a:spcPts val="1400"/>
              </a:lnSpc>
              <a:buNone/>
            </a:pPr>
            <a:r>
              <a:rPr lang="en-US" sz="987" b="1" dirty="0">
                <a:solidFill>
                  <a:srgbClr val="333333"/>
                </a:solidFill>
              </a:rPr>
              <a:t>2. Aktivasyon Uygulama</a:t>
            </a:r>
            <a:endParaRPr lang="en-US" sz="987" dirty="0"/>
          </a:p>
        </p:txBody>
      </p:sp>
      <p:sp>
        <p:nvSpPr>
          <p:cNvPr id="23" name="Shape 19"/>
          <p:cNvSpPr/>
          <p:nvPr/>
        </p:nvSpPr>
        <p:spPr>
          <a:xfrm>
            <a:off x="4578474" y="2801745"/>
            <a:ext cx="3779713" cy="416123"/>
          </a:xfrm>
          <a:prstGeom prst="rect">
            <a:avLst/>
          </a:prstGeom>
          <a:solidFill>
            <a:srgbClr val="FFFFFF"/>
          </a:solidFill>
          <a:ln/>
        </p:spPr>
        <p:txBody>
          <a:bodyPr/>
          <a:lstStyle/>
          <a:p>
            <a:endParaRPr lang="tr-TR"/>
          </a:p>
        </p:txBody>
      </p:sp>
      <p:sp>
        <p:nvSpPr>
          <p:cNvPr id="24" name="Text 20"/>
          <p:cNvSpPr/>
          <p:nvPr/>
        </p:nvSpPr>
        <p:spPr>
          <a:xfrm>
            <a:off x="4578474" y="2801745"/>
            <a:ext cx="3779713" cy="416123"/>
          </a:xfrm>
          <a:prstGeom prst="rect">
            <a:avLst/>
          </a:prstGeom>
          <a:noFill/>
          <a:ln/>
        </p:spPr>
        <p:txBody>
          <a:bodyPr wrap="square" lIns="85090" tIns="85090" rIns="85090" bIns="85090" rtlCol="0" anchor="t">
            <a:spAutoFit/>
          </a:bodyPr>
          <a:lstStyle/>
          <a:p>
            <a:pPr marL="0" indent="0" algn="ctr">
              <a:lnSpc>
                <a:spcPts val="1900"/>
              </a:lnSpc>
              <a:buNone/>
            </a:pPr>
            <a:r>
              <a:rPr lang="en-US" sz="1486" i="1" dirty="0">
                <a:solidFill>
                  <a:srgbClr val="333333"/>
                </a:solidFill>
              </a:rPr>
              <a:t>a⁽ˡ⁾ = σ(z⁽ˡ⁾)</a:t>
            </a:r>
            <a:endParaRPr lang="en-US" sz="1486" dirty="0"/>
          </a:p>
        </p:txBody>
      </p:sp>
      <p:sp>
        <p:nvSpPr>
          <p:cNvPr id="25" name="Text 21"/>
          <p:cNvSpPr/>
          <p:nvPr/>
        </p:nvSpPr>
        <p:spPr>
          <a:xfrm>
            <a:off x="4578474" y="3586469"/>
            <a:ext cx="1269885" cy="208955"/>
          </a:xfrm>
          <a:prstGeom prst="rect">
            <a:avLst/>
          </a:prstGeom>
          <a:noFill/>
          <a:ln/>
        </p:spPr>
        <p:txBody>
          <a:bodyPr wrap="none" lIns="0" tIns="0" rIns="0" bIns="0" rtlCol="0" anchor="t">
            <a:spAutoFit/>
          </a:bodyPr>
          <a:lstStyle/>
          <a:p>
            <a:pPr marL="0" indent="0" algn="l">
              <a:lnSpc>
                <a:spcPts val="1400"/>
              </a:lnSpc>
              <a:buNone/>
            </a:pPr>
            <a:r>
              <a:rPr lang="en-US" sz="987" b="1" dirty="0">
                <a:solidFill>
                  <a:srgbClr val="333333"/>
                </a:solidFill>
              </a:rPr>
              <a:t>3. Tahmin Üretimi</a:t>
            </a:r>
            <a:endParaRPr lang="en-US" sz="987" dirty="0"/>
          </a:p>
        </p:txBody>
      </p:sp>
      <p:sp>
        <p:nvSpPr>
          <p:cNvPr id="26" name="Text 22"/>
          <p:cNvSpPr/>
          <p:nvPr/>
        </p:nvSpPr>
        <p:spPr>
          <a:xfrm>
            <a:off x="4578474" y="3938299"/>
            <a:ext cx="3779713" cy="310753"/>
          </a:xfrm>
          <a:prstGeom prst="rect">
            <a:avLst/>
          </a:prstGeom>
          <a:noFill/>
          <a:ln/>
        </p:spPr>
        <p:txBody>
          <a:bodyPr wrap="square" lIns="0" tIns="0" rIns="0" bIns="0" rtlCol="0" anchor="t">
            <a:spAutoFit/>
          </a:bodyPr>
          <a:lstStyle/>
          <a:p>
            <a:pPr marL="0" indent="0" algn="l">
              <a:lnSpc>
                <a:spcPts val="1100"/>
              </a:lnSpc>
              <a:buNone/>
            </a:pPr>
            <a:r>
              <a:rPr lang="en-US" sz="834" dirty="0">
                <a:solidFill>
                  <a:srgbClr val="333333"/>
                </a:solidFill>
              </a:rPr>
              <a:t>Bilgi, girişten çıkışa doğru katman katman (l=1'den L'ye) bu adımlarla akar.</a:t>
            </a:r>
            <a:endParaRPr lang="en-US" sz="834"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4" name="Text 0"/>
          <p:cNvSpPr/>
          <p:nvPr/>
        </p:nvSpPr>
        <p:spPr>
          <a:xfrm>
            <a:off x="571500" y="357188"/>
            <a:ext cx="8572500" cy="408980"/>
          </a:xfrm>
          <a:prstGeom prst="rect">
            <a:avLst/>
          </a:prstGeom>
          <a:noFill/>
          <a:ln/>
        </p:spPr>
        <p:txBody>
          <a:bodyPr wrap="none" lIns="0" tIns="0" rIns="0" bIns="0" rtlCol="0" anchor="t">
            <a:spAutoFit/>
          </a:bodyPr>
          <a:lstStyle/>
          <a:p>
            <a:pPr marL="0" indent="0" algn="l">
              <a:lnSpc>
                <a:spcPts val="2800"/>
              </a:lnSpc>
              <a:buNone/>
            </a:pPr>
            <a:r>
              <a:rPr lang="en-US" sz="2121" b="1" dirty="0">
                <a:solidFill>
                  <a:srgbClr val="000000"/>
                </a:solidFill>
              </a:rPr>
              <a:t>Perceptron Sınırlılığı: XOR Problemi</a:t>
            </a:r>
            <a:endParaRPr lang="en-US" sz="2121" dirty="0"/>
          </a:p>
        </p:txBody>
      </p:sp>
      <p:sp>
        <p:nvSpPr>
          <p:cNvPr id="5" name="Text 1"/>
          <p:cNvSpPr/>
          <p:nvPr/>
        </p:nvSpPr>
        <p:spPr>
          <a:xfrm>
            <a:off x="571500" y="1251942"/>
            <a:ext cx="4543425" cy="320018"/>
          </a:xfrm>
          <a:prstGeom prst="rect">
            <a:avLst/>
          </a:prstGeom>
          <a:noFill/>
          <a:ln/>
        </p:spPr>
        <p:txBody>
          <a:bodyPr wrap="none" lIns="0" tIns="0" rIns="0" bIns="0" rtlCol="0" anchor="t">
            <a:spAutoFit/>
          </a:bodyPr>
          <a:lstStyle/>
          <a:p>
            <a:pPr marL="0" indent="0" algn="l">
              <a:lnSpc>
                <a:spcPts val="2500"/>
              </a:lnSpc>
              <a:buNone/>
            </a:pPr>
            <a:r>
              <a:rPr lang="en-US" sz="1397" b="1" dirty="0">
                <a:solidFill>
                  <a:srgbClr val="FF3B30"/>
                </a:solidFill>
              </a:rPr>
              <a:t>Doğrusal Ayrıştırılabilirlik</a:t>
            </a:r>
            <a:endParaRPr lang="en-US" sz="1397" dirty="0"/>
          </a:p>
        </p:txBody>
      </p:sp>
      <p:sp>
        <p:nvSpPr>
          <p:cNvPr id="6" name="Text 2"/>
          <p:cNvSpPr/>
          <p:nvPr/>
        </p:nvSpPr>
        <p:spPr>
          <a:xfrm>
            <a:off x="571500" y="1729122"/>
            <a:ext cx="4543425" cy="754363"/>
          </a:xfrm>
          <a:prstGeom prst="rect">
            <a:avLst/>
          </a:prstGeom>
          <a:noFill/>
          <a:ln/>
        </p:spPr>
        <p:txBody>
          <a:bodyPr wrap="square" lIns="0" tIns="0" rIns="0" bIns="0" rtlCol="0" anchor="t">
            <a:spAutoFit/>
          </a:bodyPr>
          <a:lstStyle/>
          <a:p>
            <a:pPr marL="0" indent="0" algn="l">
              <a:lnSpc>
                <a:spcPts val="2000"/>
              </a:lnSpc>
              <a:buNone/>
            </a:pPr>
            <a:r>
              <a:rPr lang="en-US" sz="1159" dirty="0">
                <a:solidFill>
                  <a:srgbClr val="333333"/>
                </a:solidFill>
              </a:rPr>
              <a:t>Tek katmanlı bir Perceptron, girdileri sadece </a:t>
            </a:r>
            <a:r>
              <a:rPr lang="en-US" sz="1090" b="1" dirty="0">
                <a:solidFill>
                  <a:srgbClr val="333333"/>
                </a:solidFill>
              </a:rPr>
              <a:t>doğrusal bir karar sınırı</a:t>
            </a:r>
            <a:r>
              <a:rPr lang="en-US" sz="1159" dirty="0">
                <a:solidFill>
                  <a:srgbClr val="333333"/>
                </a:solidFill>
              </a:rPr>
              <a:t> (hiper-düzlem) ile ikiye ayırabilir. AND ve OR kapıları bu şekilde ayrılabilirken, XOR kapısı ayrılamaz.</a:t>
            </a:r>
            <a:endParaRPr lang="en-US" sz="1159" dirty="0"/>
          </a:p>
        </p:txBody>
      </p:sp>
      <p:sp>
        <p:nvSpPr>
          <p:cNvPr id="7" name="Shape 3"/>
          <p:cNvSpPr/>
          <p:nvPr/>
        </p:nvSpPr>
        <p:spPr>
          <a:xfrm>
            <a:off x="571500" y="2769236"/>
            <a:ext cx="4543425" cy="1377293"/>
          </a:xfrm>
          <a:prstGeom prst="rect">
            <a:avLst/>
          </a:prstGeom>
          <a:solidFill>
            <a:srgbClr val="000000"/>
          </a:solidFill>
          <a:ln/>
        </p:spPr>
        <p:txBody>
          <a:bodyPr/>
          <a:lstStyle/>
          <a:p>
            <a:endParaRPr lang="tr-TR"/>
          </a:p>
        </p:txBody>
      </p:sp>
      <p:sp>
        <p:nvSpPr>
          <p:cNvPr id="8" name="Shape 4"/>
          <p:cNvSpPr/>
          <p:nvPr/>
        </p:nvSpPr>
        <p:spPr>
          <a:xfrm>
            <a:off x="571500" y="2769236"/>
            <a:ext cx="57150" cy="1377293"/>
          </a:xfrm>
          <a:prstGeom prst="rect">
            <a:avLst/>
          </a:prstGeom>
          <a:solidFill>
            <a:srgbClr val="FF3B30"/>
          </a:solidFill>
          <a:ln/>
        </p:spPr>
        <p:txBody>
          <a:bodyPr/>
          <a:lstStyle/>
          <a:p>
            <a:endParaRPr lang="tr-TR"/>
          </a:p>
        </p:txBody>
      </p:sp>
      <p:sp>
        <p:nvSpPr>
          <p:cNvPr id="9" name="Text 5"/>
          <p:cNvSpPr/>
          <p:nvPr/>
        </p:nvSpPr>
        <p:spPr>
          <a:xfrm>
            <a:off x="785813" y="3140711"/>
            <a:ext cx="4114800" cy="1005818"/>
          </a:xfrm>
          <a:prstGeom prst="rect">
            <a:avLst/>
          </a:prstGeom>
          <a:noFill/>
          <a:ln/>
        </p:spPr>
        <p:txBody>
          <a:bodyPr wrap="square" lIns="0" tIns="0" rIns="0" bIns="0" rtlCol="0" anchor="t">
            <a:spAutoFit/>
          </a:bodyPr>
          <a:lstStyle/>
          <a:p>
            <a:pPr marL="0" indent="0" algn="l">
              <a:lnSpc>
                <a:spcPts val="2000"/>
              </a:lnSpc>
              <a:buNone/>
            </a:pPr>
            <a:r>
              <a:rPr lang="en-US" sz="1090" b="1" dirty="0">
                <a:solidFill>
                  <a:srgbClr val="FFFFFF"/>
                </a:solidFill>
              </a:rPr>
              <a:t>Tarihsel Not:</a:t>
            </a:r>
            <a:r>
              <a:rPr lang="en-US" sz="1159" dirty="0">
                <a:solidFill>
                  <a:srgbClr val="FFFFFF"/>
                </a:solidFill>
              </a:rPr>
              <a:t> 1969'da Marvin Minsky ve Seymour Papert, Perceptron'un XOR gibi basit problemleri çözemediğini kanıtlayarak "Yapay Zeka Kışı" dönemini başlatmıştır.</a:t>
            </a:r>
            <a:endParaRPr lang="en-US" sz="1090" dirty="0"/>
          </a:p>
        </p:txBody>
      </p:sp>
      <p:sp>
        <p:nvSpPr>
          <p:cNvPr id="10" name="Shape 6"/>
          <p:cNvSpPr/>
          <p:nvPr/>
        </p:nvSpPr>
        <p:spPr>
          <a:xfrm>
            <a:off x="5550694" y="1201936"/>
            <a:ext cx="437080" cy="485775"/>
          </a:xfrm>
          <a:prstGeom prst="rect">
            <a:avLst/>
          </a:prstGeom>
          <a:solidFill>
            <a:srgbClr val="000000"/>
          </a:solidFill>
          <a:ln w="18288">
            <a:solidFill>
              <a:srgbClr val="000000"/>
            </a:solidFill>
            <a:prstDash val="solid"/>
          </a:ln>
        </p:spPr>
        <p:txBody>
          <a:bodyPr/>
          <a:lstStyle/>
          <a:p>
            <a:endParaRPr lang="tr-TR"/>
          </a:p>
        </p:txBody>
      </p:sp>
      <p:sp>
        <p:nvSpPr>
          <p:cNvPr id="11" name="Text 7"/>
          <p:cNvSpPr/>
          <p:nvPr/>
        </p:nvSpPr>
        <p:spPr>
          <a:xfrm>
            <a:off x="5550694" y="1201936"/>
            <a:ext cx="437080" cy="485775"/>
          </a:xfrm>
          <a:prstGeom prst="rect">
            <a:avLst/>
          </a:prstGeom>
          <a:noFill/>
          <a:ln/>
        </p:spPr>
        <p:txBody>
          <a:bodyPr wrap="square" lIns="8509" tIns="127508" rIns="8509" bIns="8509" rtlCol="0" anchor="ctr">
            <a:spAutoFit/>
          </a:bodyPr>
          <a:lstStyle/>
          <a:p>
            <a:pPr marL="0" indent="0" algn="ctr">
              <a:lnSpc>
                <a:spcPts val="1400"/>
              </a:lnSpc>
              <a:buNone/>
            </a:pPr>
            <a:r>
              <a:rPr lang="en-US" sz="987" b="1" dirty="0">
                <a:solidFill>
                  <a:srgbClr val="FFFFFF"/>
                </a:solidFill>
              </a:rPr>
              <a:t>x₁</a:t>
            </a:r>
            <a:endParaRPr lang="en-US" sz="987" dirty="0"/>
          </a:p>
        </p:txBody>
      </p:sp>
      <p:sp>
        <p:nvSpPr>
          <p:cNvPr id="12" name="Shape 8"/>
          <p:cNvSpPr/>
          <p:nvPr/>
        </p:nvSpPr>
        <p:spPr>
          <a:xfrm>
            <a:off x="5971533" y="1201936"/>
            <a:ext cx="439843" cy="485775"/>
          </a:xfrm>
          <a:prstGeom prst="rect">
            <a:avLst/>
          </a:prstGeom>
          <a:solidFill>
            <a:srgbClr val="000000"/>
          </a:solidFill>
          <a:ln w="18288">
            <a:solidFill>
              <a:srgbClr val="000000"/>
            </a:solidFill>
            <a:prstDash val="solid"/>
          </a:ln>
        </p:spPr>
        <p:txBody>
          <a:bodyPr/>
          <a:lstStyle/>
          <a:p>
            <a:endParaRPr lang="tr-TR"/>
          </a:p>
        </p:txBody>
      </p:sp>
      <p:sp>
        <p:nvSpPr>
          <p:cNvPr id="13" name="Text 9"/>
          <p:cNvSpPr/>
          <p:nvPr/>
        </p:nvSpPr>
        <p:spPr>
          <a:xfrm>
            <a:off x="5971533" y="1201936"/>
            <a:ext cx="439843" cy="485775"/>
          </a:xfrm>
          <a:prstGeom prst="rect">
            <a:avLst/>
          </a:prstGeom>
          <a:noFill/>
          <a:ln/>
        </p:spPr>
        <p:txBody>
          <a:bodyPr wrap="square" lIns="8509" tIns="127508" rIns="8509" bIns="8509" rtlCol="0" anchor="ctr">
            <a:spAutoFit/>
          </a:bodyPr>
          <a:lstStyle/>
          <a:p>
            <a:pPr marL="0" indent="0" algn="ctr">
              <a:lnSpc>
                <a:spcPts val="1400"/>
              </a:lnSpc>
              <a:buNone/>
            </a:pPr>
            <a:r>
              <a:rPr lang="en-US" sz="987" b="1" dirty="0">
                <a:solidFill>
                  <a:srgbClr val="FFFFFF"/>
                </a:solidFill>
              </a:rPr>
              <a:t>x₂</a:t>
            </a:r>
            <a:endParaRPr lang="en-US" sz="987" dirty="0"/>
          </a:p>
        </p:txBody>
      </p:sp>
      <p:sp>
        <p:nvSpPr>
          <p:cNvPr id="14" name="Shape 10"/>
          <p:cNvSpPr/>
          <p:nvPr/>
        </p:nvSpPr>
        <p:spPr>
          <a:xfrm>
            <a:off x="6383834" y="1201936"/>
            <a:ext cx="2181523" cy="485775"/>
          </a:xfrm>
          <a:prstGeom prst="rect">
            <a:avLst/>
          </a:prstGeom>
          <a:solidFill>
            <a:srgbClr val="000000"/>
          </a:solidFill>
          <a:ln w="18288">
            <a:solidFill>
              <a:srgbClr val="000000"/>
            </a:solidFill>
            <a:prstDash val="solid"/>
          </a:ln>
        </p:spPr>
        <p:txBody>
          <a:bodyPr/>
          <a:lstStyle/>
          <a:p>
            <a:endParaRPr lang="tr-TR"/>
          </a:p>
        </p:txBody>
      </p:sp>
      <p:sp>
        <p:nvSpPr>
          <p:cNvPr id="15" name="Text 11"/>
          <p:cNvSpPr/>
          <p:nvPr/>
        </p:nvSpPr>
        <p:spPr>
          <a:xfrm>
            <a:off x="6383834" y="1201936"/>
            <a:ext cx="2181523" cy="485775"/>
          </a:xfrm>
          <a:prstGeom prst="rect">
            <a:avLst/>
          </a:prstGeom>
          <a:noFill/>
          <a:ln/>
        </p:spPr>
        <p:txBody>
          <a:bodyPr wrap="square" lIns="8509" tIns="127508" rIns="8509" bIns="8509" rtlCol="0" anchor="ctr">
            <a:spAutoFit/>
          </a:bodyPr>
          <a:lstStyle/>
          <a:p>
            <a:pPr marL="0" indent="0" algn="ctr">
              <a:lnSpc>
                <a:spcPts val="1400"/>
              </a:lnSpc>
              <a:buNone/>
            </a:pPr>
            <a:r>
              <a:rPr lang="en-US" sz="987" b="1" dirty="0">
                <a:solidFill>
                  <a:srgbClr val="FFFFFF"/>
                </a:solidFill>
              </a:rPr>
              <a:t>XOR Çıktısı</a:t>
            </a:r>
            <a:endParaRPr lang="en-US" sz="987" dirty="0"/>
          </a:p>
        </p:txBody>
      </p:sp>
      <p:sp>
        <p:nvSpPr>
          <p:cNvPr id="16" name="Text 12"/>
          <p:cNvSpPr/>
          <p:nvPr/>
        </p:nvSpPr>
        <p:spPr>
          <a:xfrm>
            <a:off x="5550694" y="1673423"/>
            <a:ext cx="414896" cy="485775"/>
          </a:xfrm>
          <a:prstGeom prst="rect">
            <a:avLst/>
          </a:prstGeom>
          <a:noFill/>
          <a:ln/>
        </p:spPr>
        <p:txBody>
          <a:bodyPr wrap="square" lIns="8509" tIns="127508" rIns="8509" bIns="8509" rtlCol="0" anchor="ctr">
            <a:spAutoFit/>
          </a:bodyPr>
          <a:lstStyle/>
          <a:p>
            <a:pPr marL="0" indent="0" algn="ctr">
              <a:lnSpc>
                <a:spcPts val="1400"/>
              </a:lnSpc>
              <a:buNone/>
            </a:pPr>
            <a:r>
              <a:rPr lang="en-US" sz="1050" dirty="0">
                <a:solidFill>
                  <a:srgbClr val="333333"/>
                </a:solidFill>
              </a:rPr>
              <a:t>0</a:t>
            </a:r>
            <a:endParaRPr lang="en-US" sz="1050" dirty="0"/>
          </a:p>
        </p:txBody>
      </p:sp>
      <p:sp>
        <p:nvSpPr>
          <p:cNvPr id="17" name="Text 13"/>
          <p:cNvSpPr/>
          <p:nvPr/>
        </p:nvSpPr>
        <p:spPr>
          <a:xfrm>
            <a:off x="5965589" y="1673423"/>
            <a:ext cx="414896" cy="485775"/>
          </a:xfrm>
          <a:prstGeom prst="rect">
            <a:avLst/>
          </a:prstGeom>
          <a:noFill/>
          <a:ln/>
        </p:spPr>
        <p:txBody>
          <a:bodyPr wrap="square" lIns="8509" tIns="127508" rIns="8509" bIns="8509" rtlCol="0" anchor="ctr">
            <a:spAutoFit/>
          </a:bodyPr>
          <a:lstStyle/>
          <a:p>
            <a:pPr marL="0" indent="0" algn="ctr">
              <a:lnSpc>
                <a:spcPts val="1400"/>
              </a:lnSpc>
              <a:buNone/>
            </a:pPr>
            <a:r>
              <a:rPr lang="en-US" sz="1050" dirty="0">
                <a:solidFill>
                  <a:srgbClr val="333333"/>
                </a:solidFill>
              </a:rPr>
              <a:t>0</a:t>
            </a:r>
            <a:endParaRPr lang="en-US" sz="1050" dirty="0"/>
          </a:p>
        </p:txBody>
      </p:sp>
      <p:sp>
        <p:nvSpPr>
          <p:cNvPr id="18" name="Text 14"/>
          <p:cNvSpPr/>
          <p:nvPr/>
        </p:nvSpPr>
        <p:spPr>
          <a:xfrm>
            <a:off x="6380485" y="1673423"/>
            <a:ext cx="2184871" cy="485775"/>
          </a:xfrm>
          <a:prstGeom prst="rect">
            <a:avLst/>
          </a:prstGeom>
          <a:noFill/>
          <a:ln/>
        </p:spPr>
        <p:txBody>
          <a:bodyPr wrap="square" lIns="8509" tIns="127508" rIns="8509" bIns="8509" rtlCol="0" anchor="ctr">
            <a:spAutoFit/>
          </a:bodyPr>
          <a:lstStyle/>
          <a:p>
            <a:pPr marL="0" indent="0" algn="ctr">
              <a:lnSpc>
                <a:spcPts val="1400"/>
              </a:lnSpc>
              <a:buNone/>
            </a:pPr>
            <a:r>
              <a:rPr lang="en-US" sz="1050" dirty="0">
                <a:solidFill>
                  <a:srgbClr val="333333"/>
                </a:solidFill>
              </a:rPr>
              <a:t>0</a:t>
            </a:r>
            <a:endParaRPr lang="en-US" sz="1050" dirty="0"/>
          </a:p>
        </p:txBody>
      </p:sp>
      <p:sp>
        <p:nvSpPr>
          <p:cNvPr id="19" name="Text 15"/>
          <p:cNvSpPr/>
          <p:nvPr/>
        </p:nvSpPr>
        <p:spPr>
          <a:xfrm>
            <a:off x="5550694" y="2159198"/>
            <a:ext cx="414896" cy="485775"/>
          </a:xfrm>
          <a:prstGeom prst="rect">
            <a:avLst/>
          </a:prstGeom>
          <a:noFill/>
          <a:ln/>
        </p:spPr>
        <p:txBody>
          <a:bodyPr wrap="square" lIns="8509" tIns="127508" rIns="8509" bIns="8509" rtlCol="0" anchor="ctr">
            <a:spAutoFit/>
          </a:bodyPr>
          <a:lstStyle/>
          <a:p>
            <a:pPr marL="0" indent="0" algn="ctr">
              <a:lnSpc>
                <a:spcPts val="1400"/>
              </a:lnSpc>
              <a:buNone/>
            </a:pPr>
            <a:r>
              <a:rPr lang="en-US" sz="1050" dirty="0">
                <a:solidFill>
                  <a:srgbClr val="333333"/>
                </a:solidFill>
              </a:rPr>
              <a:t>0</a:t>
            </a:r>
            <a:endParaRPr lang="en-US" sz="1050" dirty="0"/>
          </a:p>
        </p:txBody>
      </p:sp>
      <p:sp>
        <p:nvSpPr>
          <p:cNvPr id="20" name="Text 16"/>
          <p:cNvSpPr/>
          <p:nvPr/>
        </p:nvSpPr>
        <p:spPr>
          <a:xfrm>
            <a:off x="5965589" y="2159198"/>
            <a:ext cx="414896" cy="485775"/>
          </a:xfrm>
          <a:prstGeom prst="rect">
            <a:avLst/>
          </a:prstGeom>
          <a:noFill/>
          <a:ln/>
        </p:spPr>
        <p:txBody>
          <a:bodyPr wrap="square" lIns="8509" tIns="127508" rIns="8509" bIns="8509" rtlCol="0" anchor="ctr">
            <a:spAutoFit/>
          </a:bodyPr>
          <a:lstStyle/>
          <a:p>
            <a:pPr marL="0" indent="0" algn="ctr">
              <a:lnSpc>
                <a:spcPts val="1400"/>
              </a:lnSpc>
              <a:buNone/>
            </a:pPr>
            <a:r>
              <a:rPr lang="en-US" sz="1050" dirty="0">
                <a:solidFill>
                  <a:srgbClr val="333333"/>
                </a:solidFill>
              </a:rPr>
              <a:t>1</a:t>
            </a:r>
            <a:endParaRPr lang="en-US" sz="1050" dirty="0"/>
          </a:p>
        </p:txBody>
      </p:sp>
      <p:sp>
        <p:nvSpPr>
          <p:cNvPr id="21" name="Text 17"/>
          <p:cNvSpPr/>
          <p:nvPr/>
        </p:nvSpPr>
        <p:spPr>
          <a:xfrm>
            <a:off x="6380485" y="2159198"/>
            <a:ext cx="2184871" cy="485775"/>
          </a:xfrm>
          <a:prstGeom prst="rect">
            <a:avLst/>
          </a:prstGeom>
          <a:noFill/>
          <a:ln/>
        </p:spPr>
        <p:txBody>
          <a:bodyPr wrap="square" lIns="8509" tIns="127508" rIns="8509" bIns="8509" rtlCol="0" anchor="ctr">
            <a:spAutoFit/>
          </a:bodyPr>
          <a:lstStyle/>
          <a:p>
            <a:pPr marL="0" indent="0" algn="ctr">
              <a:lnSpc>
                <a:spcPts val="1400"/>
              </a:lnSpc>
              <a:buNone/>
            </a:pPr>
            <a:r>
              <a:rPr lang="en-US" sz="1050" dirty="0">
                <a:solidFill>
                  <a:srgbClr val="333333"/>
                </a:solidFill>
              </a:rPr>
              <a:t>1</a:t>
            </a:r>
            <a:endParaRPr lang="en-US" sz="1050" dirty="0"/>
          </a:p>
        </p:txBody>
      </p:sp>
      <p:sp>
        <p:nvSpPr>
          <p:cNvPr id="22" name="Text 18"/>
          <p:cNvSpPr/>
          <p:nvPr/>
        </p:nvSpPr>
        <p:spPr>
          <a:xfrm>
            <a:off x="5550694" y="2644973"/>
            <a:ext cx="414896" cy="485775"/>
          </a:xfrm>
          <a:prstGeom prst="rect">
            <a:avLst/>
          </a:prstGeom>
          <a:noFill/>
          <a:ln/>
        </p:spPr>
        <p:txBody>
          <a:bodyPr wrap="square" lIns="8509" tIns="127508" rIns="8509" bIns="8509" rtlCol="0" anchor="ctr">
            <a:spAutoFit/>
          </a:bodyPr>
          <a:lstStyle/>
          <a:p>
            <a:pPr marL="0" indent="0" algn="ctr">
              <a:lnSpc>
                <a:spcPts val="1400"/>
              </a:lnSpc>
              <a:buNone/>
            </a:pPr>
            <a:r>
              <a:rPr lang="en-US" sz="1050" dirty="0">
                <a:solidFill>
                  <a:srgbClr val="333333"/>
                </a:solidFill>
              </a:rPr>
              <a:t>1</a:t>
            </a:r>
            <a:endParaRPr lang="en-US" sz="1050" dirty="0"/>
          </a:p>
        </p:txBody>
      </p:sp>
      <p:sp>
        <p:nvSpPr>
          <p:cNvPr id="23" name="Text 19"/>
          <p:cNvSpPr/>
          <p:nvPr/>
        </p:nvSpPr>
        <p:spPr>
          <a:xfrm>
            <a:off x="5965589" y="2644973"/>
            <a:ext cx="414896" cy="485775"/>
          </a:xfrm>
          <a:prstGeom prst="rect">
            <a:avLst/>
          </a:prstGeom>
          <a:noFill/>
          <a:ln/>
        </p:spPr>
        <p:txBody>
          <a:bodyPr wrap="square" lIns="8509" tIns="127508" rIns="8509" bIns="8509" rtlCol="0" anchor="ctr">
            <a:spAutoFit/>
          </a:bodyPr>
          <a:lstStyle/>
          <a:p>
            <a:pPr marL="0" indent="0" algn="ctr">
              <a:lnSpc>
                <a:spcPts val="1400"/>
              </a:lnSpc>
              <a:buNone/>
            </a:pPr>
            <a:r>
              <a:rPr lang="en-US" sz="1050" dirty="0">
                <a:solidFill>
                  <a:srgbClr val="333333"/>
                </a:solidFill>
              </a:rPr>
              <a:t>0</a:t>
            </a:r>
            <a:endParaRPr lang="en-US" sz="1050" dirty="0"/>
          </a:p>
        </p:txBody>
      </p:sp>
      <p:sp>
        <p:nvSpPr>
          <p:cNvPr id="24" name="Text 20"/>
          <p:cNvSpPr/>
          <p:nvPr/>
        </p:nvSpPr>
        <p:spPr>
          <a:xfrm>
            <a:off x="6380485" y="2644973"/>
            <a:ext cx="2184871" cy="485775"/>
          </a:xfrm>
          <a:prstGeom prst="rect">
            <a:avLst/>
          </a:prstGeom>
          <a:noFill/>
          <a:ln/>
        </p:spPr>
        <p:txBody>
          <a:bodyPr wrap="square" lIns="8509" tIns="127508" rIns="8509" bIns="8509" rtlCol="0" anchor="ctr">
            <a:spAutoFit/>
          </a:bodyPr>
          <a:lstStyle/>
          <a:p>
            <a:pPr marL="0" indent="0" algn="ctr">
              <a:lnSpc>
                <a:spcPts val="1400"/>
              </a:lnSpc>
              <a:buNone/>
            </a:pPr>
            <a:r>
              <a:rPr lang="en-US" sz="1050" dirty="0">
                <a:solidFill>
                  <a:srgbClr val="333333"/>
                </a:solidFill>
              </a:rPr>
              <a:t>1</a:t>
            </a:r>
            <a:endParaRPr lang="en-US" sz="1050" dirty="0"/>
          </a:p>
        </p:txBody>
      </p:sp>
      <p:sp>
        <p:nvSpPr>
          <p:cNvPr id="25" name="Text 21"/>
          <p:cNvSpPr/>
          <p:nvPr/>
        </p:nvSpPr>
        <p:spPr>
          <a:xfrm>
            <a:off x="5550694" y="3130748"/>
            <a:ext cx="414896" cy="485775"/>
          </a:xfrm>
          <a:prstGeom prst="rect">
            <a:avLst/>
          </a:prstGeom>
          <a:noFill/>
          <a:ln/>
        </p:spPr>
        <p:txBody>
          <a:bodyPr wrap="square" lIns="8509" tIns="127508" rIns="8509" bIns="8509" rtlCol="0" anchor="ctr">
            <a:spAutoFit/>
          </a:bodyPr>
          <a:lstStyle/>
          <a:p>
            <a:pPr marL="0" indent="0" algn="ctr">
              <a:lnSpc>
                <a:spcPts val="1400"/>
              </a:lnSpc>
              <a:buNone/>
            </a:pPr>
            <a:r>
              <a:rPr lang="en-US" sz="1050" dirty="0">
                <a:solidFill>
                  <a:srgbClr val="333333"/>
                </a:solidFill>
              </a:rPr>
              <a:t>1</a:t>
            </a:r>
            <a:endParaRPr lang="en-US" sz="1050" dirty="0"/>
          </a:p>
        </p:txBody>
      </p:sp>
      <p:sp>
        <p:nvSpPr>
          <p:cNvPr id="26" name="Text 22"/>
          <p:cNvSpPr/>
          <p:nvPr/>
        </p:nvSpPr>
        <p:spPr>
          <a:xfrm>
            <a:off x="5965589" y="3130748"/>
            <a:ext cx="414896" cy="485775"/>
          </a:xfrm>
          <a:prstGeom prst="rect">
            <a:avLst/>
          </a:prstGeom>
          <a:noFill/>
          <a:ln/>
        </p:spPr>
        <p:txBody>
          <a:bodyPr wrap="square" lIns="8509" tIns="127508" rIns="8509" bIns="8509" rtlCol="0" anchor="ctr">
            <a:spAutoFit/>
          </a:bodyPr>
          <a:lstStyle/>
          <a:p>
            <a:pPr marL="0" indent="0" algn="ctr">
              <a:lnSpc>
                <a:spcPts val="1400"/>
              </a:lnSpc>
              <a:buNone/>
            </a:pPr>
            <a:r>
              <a:rPr lang="en-US" sz="1050" dirty="0">
                <a:solidFill>
                  <a:srgbClr val="333333"/>
                </a:solidFill>
              </a:rPr>
              <a:t>1</a:t>
            </a:r>
            <a:endParaRPr lang="en-US" sz="1050" dirty="0"/>
          </a:p>
        </p:txBody>
      </p:sp>
      <p:sp>
        <p:nvSpPr>
          <p:cNvPr id="27" name="Text 23"/>
          <p:cNvSpPr/>
          <p:nvPr/>
        </p:nvSpPr>
        <p:spPr>
          <a:xfrm>
            <a:off x="6380485" y="3130748"/>
            <a:ext cx="2184871" cy="485775"/>
          </a:xfrm>
          <a:prstGeom prst="rect">
            <a:avLst/>
          </a:prstGeom>
          <a:noFill/>
          <a:ln/>
        </p:spPr>
        <p:txBody>
          <a:bodyPr wrap="square" lIns="8509" tIns="127508" rIns="8509" bIns="8509" rtlCol="0" anchor="ctr">
            <a:spAutoFit/>
          </a:bodyPr>
          <a:lstStyle/>
          <a:p>
            <a:pPr marL="0" indent="0" algn="ctr">
              <a:lnSpc>
                <a:spcPts val="1400"/>
              </a:lnSpc>
              <a:buNone/>
            </a:pPr>
            <a:r>
              <a:rPr lang="en-US" sz="1050" dirty="0">
                <a:solidFill>
                  <a:srgbClr val="333333"/>
                </a:solidFill>
              </a:rPr>
              <a:t>0</a:t>
            </a:r>
            <a:endParaRPr lang="en-US" sz="1050" dirty="0"/>
          </a:p>
        </p:txBody>
      </p:sp>
      <p:sp>
        <p:nvSpPr>
          <p:cNvPr id="28" name="Text 24"/>
          <p:cNvSpPr/>
          <p:nvPr/>
        </p:nvSpPr>
        <p:spPr>
          <a:xfrm>
            <a:off x="5543550" y="3837980"/>
            <a:ext cx="3028950" cy="540051"/>
          </a:xfrm>
          <a:prstGeom prst="rect">
            <a:avLst/>
          </a:prstGeom>
          <a:noFill/>
          <a:ln/>
        </p:spPr>
        <p:txBody>
          <a:bodyPr wrap="square" lIns="0" tIns="0" rIns="0" bIns="0" rtlCol="0" anchor="t">
            <a:spAutoFit/>
          </a:bodyPr>
          <a:lstStyle/>
          <a:p>
            <a:pPr marL="0" indent="0" algn="l">
              <a:lnSpc>
                <a:spcPts val="1400"/>
              </a:lnSpc>
              <a:buNone/>
            </a:pPr>
            <a:r>
              <a:rPr lang="en-US" sz="942" dirty="0">
                <a:solidFill>
                  <a:srgbClr val="666666"/>
                </a:solidFill>
              </a:rPr>
              <a:t>XOR probleminde (0,0) ve (1,1) noktaları ile (0,1) ve (1,0) noktaları tek bir düz çizgi ile birbirinden ayrılamaz. Çözüm için </a:t>
            </a:r>
            <a:r>
              <a:rPr lang="en-US" sz="885" b="1" dirty="0">
                <a:solidFill>
                  <a:srgbClr val="666666"/>
                </a:solidFill>
              </a:rPr>
              <a:t>gizli katmanlar</a:t>
            </a:r>
            <a:r>
              <a:rPr lang="en-US" sz="942" dirty="0">
                <a:solidFill>
                  <a:srgbClr val="666666"/>
                </a:solidFill>
              </a:rPr>
              <a:t> gereklidir.</a:t>
            </a:r>
            <a:endParaRPr lang="en-US" sz="942"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4" name="Text 0"/>
          <p:cNvSpPr/>
          <p:nvPr/>
        </p:nvSpPr>
        <p:spPr>
          <a:xfrm>
            <a:off x="571500" y="357188"/>
            <a:ext cx="8572500" cy="408980"/>
          </a:xfrm>
          <a:prstGeom prst="rect">
            <a:avLst/>
          </a:prstGeom>
          <a:noFill/>
          <a:ln/>
        </p:spPr>
        <p:txBody>
          <a:bodyPr wrap="none" lIns="0" tIns="0" rIns="0" bIns="0" rtlCol="0" anchor="t">
            <a:spAutoFit/>
          </a:bodyPr>
          <a:lstStyle/>
          <a:p>
            <a:pPr marL="0" indent="0" algn="l">
              <a:lnSpc>
                <a:spcPts val="2800"/>
              </a:lnSpc>
              <a:buNone/>
            </a:pPr>
            <a:r>
              <a:rPr lang="en-US" sz="2121" b="1" dirty="0">
                <a:solidFill>
                  <a:srgbClr val="000000"/>
                </a:solidFill>
              </a:rPr>
              <a:t>Hata Ölçümü: Kayıp Fonksiyonları</a:t>
            </a:r>
            <a:endParaRPr lang="en-US" sz="2121" dirty="0"/>
          </a:p>
        </p:txBody>
      </p:sp>
      <p:sp>
        <p:nvSpPr>
          <p:cNvPr id="5" name="Shape 1"/>
          <p:cNvSpPr/>
          <p:nvPr/>
        </p:nvSpPr>
        <p:spPr>
          <a:xfrm>
            <a:off x="571500" y="1051917"/>
            <a:ext cx="3857625" cy="2608808"/>
          </a:xfrm>
          <a:prstGeom prst="rect">
            <a:avLst/>
          </a:prstGeom>
          <a:solidFill>
            <a:srgbClr val="F4F4F4"/>
          </a:solidFill>
          <a:ln/>
        </p:spPr>
        <p:txBody>
          <a:bodyPr/>
          <a:lstStyle/>
          <a:p>
            <a:endParaRPr lang="tr-TR"/>
          </a:p>
        </p:txBody>
      </p:sp>
      <p:sp>
        <p:nvSpPr>
          <p:cNvPr id="6" name="Shape 2"/>
          <p:cNvSpPr/>
          <p:nvPr/>
        </p:nvSpPr>
        <p:spPr>
          <a:xfrm>
            <a:off x="571500" y="1051917"/>
            <a:ext cx="3857625" cy="42863"/>
          </a:xfrm>
          <a:prstGeom prst="rect">
            <a:avLst/>
          </a:prstGeom>
          <a:solidFill>
            <a:srgbClr val="000000"/>
          </a:solidFill>
          <a:ln/>
        </p:spPr>
        <p:txBody>
          <a:bodyPr/>
          <a:lstStyle/>
          <a:p>
            <a:endParaRPr lang="tr-TR"/>
          </a:p>
        </p:txBody>
      </p:sp>
      <p:sp>
        <p:nvSpPr>
          <p:cNvPr id="7" name="Text 3"/>
          <p:cNvSpPr/>
          <p:nvPr/>
        </p:nvSpPr>
        <p:spPr>
          <a:xfrm>
            <a:off x="785813" y="1266230"/>
            <a:ext cx="3429000" cy="233958"/>
          </a:xfrm>
          <a:prstGeom prst="rect">
            <a:avLst/>
          </a:prstGeom>
          <a:noFill/>
          <a:ln/>
        </p:spPr>
        <p:txBody>
          <a:bodyPr wrap="none" lIns="0" tIns="0" rIns="0" bIns="0" rtlCol="0" anchor="t">
            <a:spAutoFit/>
          </a:bodyPr>
          <a:lstStyle/>
          <a:p>
            <a:pPr marL="0" indent="0" algn="l">
              <a:lnSpc>
                <a:spcPts val="1600"/>
              </a:lnSpc>
              <a:buNone/>
            </a:pPr>
            <a:r>
              <a:rPr lang="en-US" sz="1193" b="1" dirty="0">
                <a:solidFill>
                  <a:srgbClr val="FF3B30"/>
                </a:solidFill>
              </a:rPr>
              <a:t>Mean Squared Error (MSE)</a:t>
            </a:r>
            <a:endParaRPr lang="en-US" sz="1193" dirty="0"/>
          </a:p>
        </p:txBody>
      </p:sp>
      <p:sp>
        <p:nvSpPr>
          <p:cNvPr id="8" name="Shape 4"/>
          <p:cNvSpPr/>
          <p:nvPr/>
        </p:nvSpPr>
        <p:spPr>
          <a:xfrm>
            <a:off x="785813" y="1607344"/>
            <a:ext cx="3429000" cy="573286"/>
          </a:xfrm>
          <a:prstGeom prst="rect">
            <a:avLst/>
          </a:prstGeom>
          <a:solidFill>
            <a:srgbClr val="FFFFFF"/>
          </a:solidFill>
          <a:ln w="9144">
            <a:solidFill>
              <a:srgbClr val="E0E0E0"/>
            </a:solidFill>
            <a:prstDash val="solid"/>
          </a:ln>
        </p:spPr>
        <p:txBody>
          <a:bodyPr/>
          <a:lstStyle/>
          <a:p>
            <a:endParaRPr lang="tr-TR"/>
          </a:p>
        </p:txBody>
      </p:sp>
      <p:sp>
        <p:nvSpPr>
          <p:cNvPr id="9" name="Text 5"/>
          <p:cNvSpPr/>
          <p:nvPr/>
        </p:nvSpPr>
        <p:spPr>
          <a:xfrm>
            <a:off x="785813" y="1607344"/>
            <a:ext cx="3429000" cy="573286"/>
          </a:xfrm>
          <a:prstGeom prst="rect">
            <a:avLst/>
          </a:prstGeom>
          <a:noFill/>
          <a:ln/>
        </p:spPr>
        <p:txBody>
          <a:bodyPr wrap="square" lIns="170053" tIns="170053" rIns="170053" bIns="170053" rtlCol="0" anchor="t">
            <a:spAutoFit/>
          </a:bodyPr>
          <a:lstStyle/>
          <a:p>
            <a:pPr marL="0" indent="0" algn="ctr">
              <a:lnSpc>
                <a:spcPts val="1900"/>
              </a:lnSpc>
              <a:buNone/>
            </a:pPr>
            <a:r>
              <a:rPr lang="en-US" sz="1486" i="1" dirty="0">
                <a:solidFill>
                  <a:srgbClr val="333333"/>
                </a:solidFill>
              </a:rPr>
              <a:t>L = (1/n) * Σ (yᵢ - ŷᵢ)²</a:t>
            </a:r>
            <a:endParaRPr lang="en-US" sz="1486" dirty="0"/>
          </a:p>
        </p:txBody>
      </p:sp>
      <p:sp>
        <p:nvSpPr>
          <p:cNvPr id="10" name="Text 6"/>
          <p:cNvSpPr/>
          <p:nvPr/>
        </p:nvSpPr>
        <p:spPr>
          <a:xfrm>
            <a:off x="785813" y="2309217"/>
            <a:ext cx="3429000" cy="205718"/>
          </a:xfrm>
          <a:prstGeom prst="rect">
            <a:avLst/>
          </a:prstGeom>
          <a:noFill/>
          <a:ln/>
        </p:spPr>
        <p:txBody>
          <a:bodyPr wrap="none" lIns="0" tIns="0" rIns="0" bIns="0" rtlCol="0" anchor="t">
            <a:spAutoFit/>
          </a:bodyPr>
          <a:lstStyle/>
          <a:p>
            <a:pPr marL="0" indent="0" algn="l">
              <a:lnSpc>
                <a:spcPts val="1600"/>
              </a:lnSpc>
              <a:buNone/>
            </a:pPr>
            <a:r>
              <a:rPr lang="en-US" sz="885" b="1" dirty="0">
                <a:solidFill>
                  <a:srgbClr val="000000"/>
                </a:solidFill>
              </a:rPr>
              <a:t>Kullanım:</a:t>
            </a:r>
            <a:r>
              <a:rPr lang="en-US" sz="942" dirty="0">
                <a:solidFill>
                  <a:srgbClr val="333333"/>
                </a:solidFill>
              </a:rPr>
              <a:t> Regresyon problemleri.</a:t>
            </a:r>
            <a:endParaRPr lang="en-US" sz="885" dirty="0"/>
          </a:p>
        </p:txBody>
      </p:sp>
      <p:sp>
        <p:nvSpPr>
          <p:cNvPr id="11" name="Text 7"/>
          <p:cNvSpPr/>
          <p:nvPr/>
        </p:nvSpPr>
        <p:spPr>
          <a:xfrm>
            <a:off x="785813" y="2643522"/>
            <a:ext cx="3429000" cy="411435"/>
          </a:xfrm>
          <a:prstGeom prst="rect">
            <a:avLst/>
          </a:prstGeom>
          <a:noFill/>
          <a:ln/>
        </p:spPr>
        <p:txBody>
          <a:bodyPr wrap="square" lIns="0" tIns="0" rIns="0" bIns="0" rtlCol="0" anchor="t">
            <a:spAutoFit/>
          </a:bodyPr>
          <a:lstStyle/>
          <a:p>
            <a:pPr marL="0" indent="0" algn="l">
              <a:lnSpc>
                <a:spcPts val="1600"/>
              </a:lnSpc>
              <a:buNone/>
            </a:pPr>
            <a:r>
              <a:rPr lang="en-US" sz="885" b="1" dirty="0">
                <a:solidFill>
                  <a:srgbClr val="000000"/>
                </a:solidFill>
              </a:rPr>
              <a:t>Özellik:</a:t>
            </a:r>
            <a:r>
              <a:rPr lang="en-US" sz="942" dirty="0">
                <a:solidFill>
                  <a:srgbClr val="333333"/>
                </a:solidFill>
              </a:rPr>
              <a:t> Tahmin edilen değer ile gerçek değer arasındaki farkın karesini alır. Büyük hataları daha ağır cezalandırır.</a:t>
            </a:r>
            <a:endParaRPr lang="en-US" sz="885" dirty="0"/>
          </a:p>
        </p:txBody>
      </p:sp>
      <p:sp>
        <p:nvSpPr>
          <p:cNvPr id="12" name="Shape 8"/>
          <p:cNvSpPr/>
          <p:nvPr/>
        </p:nvSpPr>
        <p:spPr>
          <a:xfrm>
            <a:off x="4714875" y="1051917"/>
            <a:ext cx="3857625" cy="2608808"/>
          </a:xfrm>
          <a:prstGeom prst="rect">
            <a:avLst/>
          </a:prstGeom>
          <a:solidFill>
            <a:srgbClr val="F4F4F4"/>
          </a:solidFill>
          <a:ln/>
        </p:spPr>
        <p:txBody>
          <a:bodyPr/>
          <a:lstStyle/>
          <a:p>
            <a:endParaRPr lang="tr-TR"/>
          </a:p>
        </p:txBody>
      </p:sp>
      <p:sp>
        <p:nvSpPr>
          <p:cNvPr id="13" name="Shape 9"/>
          <p:cNvSpPr/>
          <p:nvPr/>
        </p:nvSpPr>
        <p:spPr>
          <a:xfrm>
            <a:off x="4714875" y="1051917"/>
            <a:ext cx="3857625" cy="42863"/>
          </a:xfrm>
          <a:prstGeom prst="rect">
            <a:avLst/>
          </a:prstGeom>
          <a:solidFill>
            <a:srgbClr val="000000"/>
          </a:solidFill>
          <a:ln/>
        </p:spPr>
        <p:txBody>
          <a:bodyPr/>
          <a:lstStyle/>
          <a:p>
            <a:endParaRPr lang="tr-TR"/>
          </a:p>
        </p:txBody>
      </p:sp>
      <p:sp>
        <p:nvSpPr>
          <p:cNvPr id="14" name="Text 10"/>
          <p:cNvSpPr/>
          <p:nvPr/>
        </p:nvSpPr>
        <p:spPr>
          <a:xfrm>
            <a:off x="4929188" y="1266230"/>
            <a:ext cx="3429000" cy="233958"/>
          </a:xfrm>
          <a:prstGeom prst="rect">
            <a:avLst/>
          </a:prstGeom>
          <a:noFill/>
          <a:ln/>
        </p:spPr>
        <p:txBody>
          <a:bodyPr wrap="none" lIns="0" tIns="0" rIns="0" bIns="0" rtlCol="0" anchor="t">
            <a:spAutoFit/>
          </a:bodyPr>
          <a:lstStyle/>
          <a:p>
            <a:pPr marL="0" indent="0" algn="l">
              <a:lnSpc>
                <a:spcPts val="1600"/>
              </a:lnSpc>
              <a:buNone/>
            </a:pPr>
            <a:r>
              <a:rPr lang="en-US" sz="1193" b="1" dirty="0">
                <a:solidFill>
                  <a:srgbClr val="FF3B30"/>
                </a:solidFill>
              </a:rPr>
              <a:t>Cross-Entropy Loss</a:t>
            </a:r>
            <a:endParaRPr lang="en-US" sz="1193" dirty="0"/>
          </a:p>
        </p:txBody>
      </p:sp>
      <p:sp>
        <p:nvSpPr>
          <p:cNvPr id="15" name="Shape 11"/>
          <p:cNvSpPr/>
          <p:nvPr/>
        </p:nvSpPr>
        <p:spPr>
          <a:xfrm>
            <a:off x="4929188" y="1607344"/>
            <a:ext cx="3429000" cy="573286"/>
          </a:xfrm>
          <a:prstGeom prst="rect">
            <a:avLst/>
          </a:prstGeom>
          <a:solidFill>
            <a:srgbClr val="FFFFFF"/>
          </a:solidFill>
          <a:ln w="9144">
            <a:solidFill>
              <a:srgbClr val="E0E0E0"/>
            </a:solidFill>
            <a:prstDash val="solid"/>
          </a:ln>
        </p:spPr>
        <p:txBody>
          <a:bodyPr/>
          <a:lstStyle/>
          <a:p>
            <a:endParaRPr lang="tr-TR"/>
          </a:p>
        </p:txBody>
      </p:sp>
      <p:sp>
        <p:nvSpPr>
          <p:cNvPr id="16" name="Text 12"/>
          <p:cNvSpPr/>
          <p:nvPr/>
        </p:nvSpPr>
        <p:spPr>
          <a:xfrm>
            <a:off x="4929188" y="1607344"/>
            <a:ext cx="3429000" cy="573286"/>
          </a:xfrm>
          <a:prstGeom prst="rect">
            <a:avLst/>
          </a:prstGeom>
          <a:noFill/>
          <a:ln/>
        </p:spPr>
        <p:txBody>
          <a:bodyPr wrap="square" lIns="170053" tIns="170053" rIns="170053" bIns="170053" rtlCol="0" anchor="t">
            <a:spAutoFit/>
          </a:bodyPr>
          <a:lstStyle/>
          <a:p>
            <a:pPr marL="0" indent="0" algn="ctr">
              <a:lnSpc>
                <a:spcPts val="1900"/>
              </a:lnSpc>
              <a:buNone/>
            </a:pPr>
            <a:r>
              <a:rPr lang="en-US" sz="1486" i="1" dirty="0">
                <a:solidFill>
                  <a:srgbClr val="333333"/>
                </a:solidFill>
              </a:rPr>
              <a:t>L = -Σ yᵢ * log(ŷᵢ)</a:t>
            </a:r>
            <a:endParaRPr lang="en-US" sz="1486" dirty="0"/>
          </a:p>
        </p:txBody>
      </p:sp>
      <p:sp>
        <p:nvSpPr>
          <p:cNvPr id="17" name="Text 13"/>
          <p:cNvSpPr/>
          <p:nvPr/>
        </p:nvSpPr>
        <p:spPr>
          <a:xfrm>
            <a:off x="4929188" y="2309217"/>
            <a:ext cx="3429000" cy="205718"/>
          </a:xfrm>
          <a:prstGeom prst="rect">
            <a:avLst/>
          </a:prstGeom>
          <a:noFill/>
          <a:ln/>
        </p:spPr>
        <p:txBody>
          <a:bodyPr wrap="none" lIns="0" tIns="0" rIns="0" bIns="0" rtlCol="0" anchor="t">
            <a:spAutoFit/>
          </a:bodyPr>
          <a:lstStyle/>
          <a:p>
            <a:pPr marL="0" indent="0" algn="l">
              <a:lnSpc>
                <a:spcPts val="1600"/>
              </a:lnSpc>
              <a:buNone/>
            </a:pPr>
            <a:r>
              <a:rPr lang="en-US" sz="885" b="1" dirty="0">
                <a:solidFill>
                  <a:srgbClr val="000000"/>
                </a:solidFill>
              </a:rPr>
              <a:t>Kullanım:</a:t>
            </a:r>
            <a:r>
              <a:rPr lang="en-US" sz="942" dirty="0">
                <a:solidFill>
                  <a:srgbClr val="333333"/>
                </a:solidFill>
              </a:rPr>
              <a:t> Sınıflandırma problemleri.</a:t>
            </a:r>
            <a:endParaRPr lang="en-US" sz="885" dirty="0"/>
          </a:p>
        </p:txBody>
      </p:sp>
      <p:sp>
        <p:nvSpPr>
          <p:cNvPr id="18" name="Text 14"/>
          <p:cNvSpPr/>
          <p:nvPr/>
        </p:nvSpPr>
        <p:spPr>
          <a:xfrm>
            <a:off x="4929188" y="2643522"/>
            <a:ext cx="3429000" cy="617153"/>
          </a:xfrm>
          <a:prstGeom prst="rect">
            <a:avLst/>
          </a:prstGeom>
          <a:noFill/>
          <a:ln/>
        </p:spPr>
        <p:txBody>
          <a:bodyPr wrap="square" lIns="0" tIns="0" rIns="0" bIns="0" rtlCol="0" anchor="t">
            <a:spAutoFit/>
          </a:bodyPr>
          <a:lstStyle/>
          <a:p>
            <a:pPr marL="0" indent="0" algn="l">
              <a:lnSpc>
                <a:spcPts val="1600"/>
              </a:lnSpc>
              <a:buNone/>
            </a:pPr>
            <a:r>
              <a:rPr lang="en-US" sz="885" b="1" dirty="0">
                <a:solidFill>
                  <a:srgbClr val="000000"/>
                </a:solidFill>
              </a:rPr>
              <a:t>Özellik:</a:t>
            </a:r>
            <a:r>
              <a:rPr lang="en-US" sz="942" dirty="0">
                <a:solidFill>
                  <a:srgbClr val="333333"/>
                </a:solidFill>
              </a:rPr>
              <a:t> Olasılıksal tahminlerin doğruluğunu ölçer. Yanlış sınıfa yüksek güvenle yapılan tahminleri şiddetle cezalandırır.</a:t>
            </a:r>
            <a:endParaRPr lang="en-US" sz="885" dirty="0"/>
          </a:p>
        </p:txBody>
      </p:sp>
      <p:sp>
        <p:nvSpPr>
          <p:cNvPr id="19" name="Shape 15"/>
          <p:cNvSpPr/>
          <p:nvPr/>
        </p:nvSpPr>
        <p:spPr>
          <a:xfrm>
            <a:off x="571500" y="4702373"/>
            <a:ext cx="6492190" cy="155377"/>
          </a:xfrm>
          <a:prstGeom prst="rect">
            <a:avLst/>
          </a:prstGeom>
          <a:solidFill>
            <a:srgbClr val="000000">
              <a:alpha val="0"/>
            </a:srgbClr>
          </a:solidFill>
          <a:ln/>
        </p:spPr>
        <p:txBody>
          <a:bodyPr/>
          <a:lstStyle/>
          <a:p>
            <a:endParaRPr lang="tr-TR"/>
          </a:p>
        </p:txBody>
      </p:sp>
      <p:sp>
        <p:nvSpPr>
          <p:cNvPr id="20" name="Shape 16"/>
          <p:cNvSpPr/>
          <p:nvPr/>
        </p:nvSpPr>
        <p:spPr>
          <a:xfrm>
            <a:off x="571500" y="4702373"/>
            <a:ext cx="28575" cy="155377"/>
          </a:xfrm>
          <a:prstGeom prst="rect">
            <a:avLst/>
          </a:prstGeom>
          <a:solidFill>
            <a:srgbClr val="FF3B30"/>
          </a:solidFill>
          <a:ln/>
        </p:spPr>
        <p:txBody>
          <a:bodyPr/>
          <a:lstStyle/>
          <a:p>
            <a:endParaRPr lang="tr-TR"/>
          </a:p>
        </p:txBody>
      </p:sp>
      <p:sp>
        <p:nvSpPr>
          <p:cNvPr id="21" name="Text 17"/>
          <p:cNvSpPr/>
          <p:nvPr/>
        </p:nvSpPr>
        <p:spPr>
          <a:xfrm>
            <a:off x="571500" y="4702373"/>
            <a:ext cx="6492190" cy="155377"/>
          </a:xfrm>
          <a:prstGeom prst="rect">
            <a:avLst/>
          </a:prstGeom>
          <a:noFill/>
          <a:ln/>
        </p:spPr>
        <p:txBody>
          <a:bodyPr wrap="none" lIns="127508" tIns="0" rIns="0" bIns="0" rtlCol="0" anchor="t">
            <a:spAutoFit/>
          </a:bodyPr>
          <a:lstStyle/>
          <a:p>
            <a:pPr marL="0" indent="0" algn="l">
              <a:lnSpc>
                <a:spcPts val="1100"/>
              </a:lnSpc>
              <a:buNone/>
            </a:pPr>
            <a:r>
              <a:rPr lang="en-US" sz="834" dirty="0">
                <a:solidFill>
                  <a:srgbClr val="666666"/>
                </a:solidFill>
              </a:rPr>
              <a:t>Kayıp fonksiyonu, modelin ne kadar "yanlış" olduğunu nicelleştirir. Optimizasyonun amacı bu değeri minimize etmektir.</a:t>
            </a:r>
            <a:endParaRPr lang="en-US" sz="834"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9144000" cy="5218788"/>
          </a:xfrm>
          <a:prstGeom prst="rect">
            <a:avLst/>
          </a:prstGeom>
        </p:spPr>
      </p:pic>
      <p:sp>
        <p:nvSpPr>
          <p:cNvPr id="4" name="Text 0"/>
          <p:cNvSpPr/>
          <p:nvPr/>
        </p:nvSpPr>
        <p:spPr>
          <a:xfrm>
            <a:off x="571500" y="428625"/>
            <a:ext cx="8572500" cy="466130"/>
          </a:xfrm>
          <a:prstGeom prst="rect">
            <a:avLst/>
          </a:prstGeom>
          <a:noFill/>
          <a:ln/>
        </p:spPr>
        <p:txBody>
          <a:bodyPr wrap="none" lIns="0" tIns="0" rIns="0" bIns="0" rtlCol="0" anchor="t">
            <a:spAutoFit/>
          </a:bodyPr>
          <a:lstStyle/>
          <a:p>
            <a:pPr marL="0" indent="0" algn="l">
              <a:lnSpc>
                <a:spcPts val="3200"/>
              </a:lnSpc>
              <a:buNone/>
            </a:pPr>
            <a:r>
              <a:rPr lang="en-US" sz="2436" b="1" dirty="0">
                <a:solidFill>
                  <a:srgbClr val="000000"/>
                </a:solidFill>
              </a:rPr>
              <a:t>Öğrenmenin Kalbi: Geri Yayılım</a:t>
            </a:r>
            <a:endParaRPr lang="en-US" sz="2436" dirty="0"/>
          </a:p>
        </p:txBody>
      </p:sp>
      <p:sp>
        <p:nvSpPr>
          <p:cNvPr id="5" name="Shape 1"/>
          <p:cNvSpPr/>
          <p:nvPr/>
        </p:nvSpPr>
        <p:spPr>
          <a:xfrm>
            <a:off x="571500" y="1137642"/>
            <a:ext cx="4629150" cy="710803"/>
          </a:xfrm>
          <a:prstGeom prst="rect">
            <a:avLst/>
          </a:prstGeom>
          <a:solidFill>
            <a:srgbClr val="F4F4F4"/>
          </a:solidFill>
          <a:ln/>
        </p:spPr>
        <p:txBody>
          <a:bodyPr/>
          <a:lstStyle/>
          <a:p>
            <a:endParaRPr lang="tr-TR"/>
          </a:p>
        </p:txBody>
      </p:sp>
      <p:sp>
        <p:nvSpPr>
          <p:cNvPr id="6" name="Shape 2"/>
          <p:cNvSpPr/>
          <p:nvPr/>
        </p:nvSpPr>
        <p:spPr>
          <a:xfrm>
            <a:off x="571500" y="1137642"/>
            <a:ext cx="42863" cy="710803"/>
          </a:xfrm>
          <a:prstGeom prst="rect">
            <a:avLst/>
          </a:prstGeom>
          <a:solidFill>
            <a:srgbClr val="000000"/>
          </a:solidFill>
          <a:ln/>
        </p:spPr>
        <p:txBody>
          <a:bodyPr/>
          <a:lstStyle/>
          <a:p>
            <a:endParaRPr lang="tr-TR"/>
          </a:p>
        </p:txBody>
      </p:sp>
      <p:sp>
        <p:nvSpPr>
          <p:cNvPr id="7" name="Text 3"/>
          <p:cNvSpPr/>
          <p:nvPr/>
        </p:nvSpPr>
        <p:spPr>
          <a:xfrm>
            <a:off x="714375" y="1280517"/>
            <a:ext cx="4343400" cy="194667"/>
          </a:xfrm>
          <a:prstGeom prst="rect">
            <a:avLst/>
          </a:prstGeom>
          <a:noFill/>
          <a:ln/>
        </p:spPr>
        <p:txBody>
          <a:bodyPr wrap="none" lIns="0" tIns="0" rIns="0" bIns="0" rtlCol="0" anchor="t">
            <a:spAutoFit/>
          </a:bodyPr>
          <a:lstStyle/>
          <a:p>
            <a:pPr marL="0" indent="0" algn="l">
              <a:lnSpc>
                <a:spcPts val="1400"/>
              </a:lnSpc>
              <a:buNone/>
            </a:pPr>
            <a:r>
              <a:rPr lang="en-US" sz="987" b="1" dirty="0">
                <a:solidFill>
                  <a:srgbClr val="FF3B30"/>
                </a:solidFill>
              </a:rPr>
              <a:t>1. Hata Hesaplama</a:t>
            </a:r>
            <a:endParaRPr lang="en-US" sz="987" dirty="0"/>
          </a:p>
        </p:txBody>
      </p:sp>
      <p:sp>
        <p:nvSpPr>
          <p:cNvPr id="8" name="Text 4"/>
          <p:cNvSpPr/>
          <p:nvPr/>
        </p:nvSpPr>
        <p:spPr>
          <a:xfrm>
            <a:off x="714375" y="1510903"/>
            <a:ext cx="3297287" cy="194667"/>
          </a:xfrm>
          <a:prstGeom prst="rect">
            <a:avLst/>
          </a:prstGeom>
          <a:noFill/>
          <a:ln/>
        </p:spPr>
        <p:txBody>
          <a:bodyPr wrap="none" lIns="0" tIns="0" rIns="0" bIns="0" rtlCol="0" anchor="t">
            <a:spAutoFit/>
          </a:bodyPr>
          <a:lstStyle/>
          <a:p>
            <a:pPr marL="0" indent="0" algn="l">
              <a:lnSpc>
                <a:spcPts val="1400"/>
              </a:lnSpc>
              <a:buNone/>
            </a:pPr>
            <a:r>
              <a:rPr lang="en-US" sz="1050" dirty="0">
                <a:solidFill>
                  <a:srgbClr val="333333"/>
                </a:solidFill>
              </a:rPr>
              <a:t>Çıkış katmanındaki tahmin hatası (Loss) belirlenir.</a:t>
            </a:r>
            <a:endParaRPr lang="en-US" sz="1050" dirty="0"/>
          </a:p>
        </p:txBody>
      </p:sp>
      <p:sp>
        <p:nvSpPr>
          <p:cNvPr id="9" name="Shape 5"/>
          <p:cNvSpPr/>
          <p:nvPr/>
        </p:nvSpPr>
        <p:spPr>
          <a:xfrm>
            <a:off x="571500" y="1955602"/>
            <a:ext cx="4629150" cy="905470"/>
          </a:xfrm>
          <a:prstGeom prst="rect">
            <a:avLst/>
          </a:prstGeom>
          <a:solidFill>
            <a:srgbClr val="F4F4F4"/>
          </a:solidFill>
          <a:ln/>
        </p:spPr>
        <p:txBody>
          <a:bodyPr/>
          <a:lstStyle/>
          <a:p>
            <a:endParaRPr lang="tr-TR"/>
          </a:p>
        </p:txBody>
      </p:sp>
      <p:sp>
        <p:nvSpPr>
          <p:cNvPr id="10" name="Shape 6"/>
          <p:cNvSpPr/>
          <p:nvPr/>
        </p:nvSpPr>
        <p:spPr>
          <a:xfrm>
            <a:off x="571500" y="1955602"/>
            <a:ext cx="42863" cy="905470"/>
          </a:xfrm>
          <a:prstGeom prst="rect">
            <a:avLst/>
          </a:prstGeom>
          <a:solidFill>
            <a:srgbClr val="000000"/>
          </a:solidFill>
          <a:ln/>
        </p:spPr>
        <p:txBody>
          <a:bodyPr/>
          <a:lstStyle/>
          <a:p>
            <a:endParaRPr lang="tr-TR"/>
          </a:p>
        </p:txBody>
      </p:sp>
      <p:sp>
        <p:nvSpPr>
          <p:cNvPr id="11" name="Text 7"/>
          <p:cNvSpPr/>
          <p:nvPr/>
        </p:nvSpPr>
        <p:spPr>
          <a:xfrm>
            <a:off x="714375" y="2098477"/>
            <a:ext cx="4343400" cy="194667"/>
          </a:xfrm>
          <a:prstGeom prst="rect">
            <a:avLst/>
          </a:prstGeom>
          <a:noFill/>
          <a:ln/>
        </p:spPr>
        <p:txBody>
          <a:bodyPr wrap="none" lIns="0" tIns="0" rIns="0" bIns="0" rtlCol="0" anchor="t">
            <a:spAutoFit/>
          </a:bodyPr>
          <a:lstStyle/>
          <a:p>
            <a:pPr marL="0" indent="0" algn="l">
              <a:lnSpc>
                <a:spcPts val="1400"/>
              </a:lnSpc>
              <a:buNone/>
            </a:pPr>
            <a:r>
              <a:rPr lang="en-US" sz="987" b="1" dirty="0">
                <a:solidFill>
                  <a:srgbClr val="FF3B30"/>
                </a:solidFill>
              </a:rPr>
              <a:t>2. Gradyanların Dağıtılması</a:t>
            </a:r>
            <a:endParaRPr lang="en-US" sz="987" dirty="0"/>
          </a:p>
        </p:txBody>
      </p:sp>
      <p:sp>
        <p:nvSpPr>
          <p:cNvPr id="12" name="Text 8"/>
          <p:cNvSpPr/>
          <p:nvPr/>
        </p:nvSpPr>
        <p:spPr>
          <a:xfrm>
            <a:off x="714375" y="2328863"/>
            <a:ext cx="3889632" cy="194667"/>
          </a:xfrm>
          <a:prstGeom prst="rect">
            <a:avLst/>
          </a:prstGeom>
          <a:noFill/>
          <a:ln/>
        </p:spPr>
        <p:txBody>
          <a:bodyPr wrap="none" lIns="0" tIns="0" rIns="0" bIns="0" rtlCol="0" anchor="t">
            <a:spAutoFit/>
          </a:bodyPr>
          <a:lstStyle/>
          <a:p>
            <a:pPr marL="0" indent="0" algn="l">
              <a:lnSpc>
                <a:spcPts val="1400"/>
              </a:lnSpc>
              <a:buNone/>
            </a:pPr>
            <a:r>
              <a:rPr lang="en-US" sz="1050" dirty="0">
                <a:solidFill>
                  <a:srgbClr val="333333"/>
                </a:solidFill>
              </a:rPr>
              <a:t>Zincir kuralı kullanılarak hatanın her bir ağırlığa olan etkisi</a:t>
            </a:r>
            <a:endParaRPr lang="en-US" sz="1050" dirty="0"/>
          </a:p>
        </p:txBody>
      </p:sp>
      <p:sp>
        <p:nvSpPr>
          <p:cNvPr id="13" name="Text 9"/>
          <p:cNvSpPr/>
          <p:nvPr/>
        </p:nvSpPr>
        <p:spPr>
          <a:xfrm>
            <a:off x="714375" y="2523530"/>
            <a:ext cx="1228027" cy="194667"/>
          </a:xfrm>
          <a:prstGeom prst="rect">
            <a:avLst/>
          </a:prstGeom>
          <a:noFill/>
          <a:ln/>
        </p:spPr>
        <p:txBody>
          <a:bodyPr wrap="none" lIns="0" tIns="0" rIns="0" bIns="0" rtlCol="0" anchor="t">
            <a:spAutoFit/>
          </a:bodyPr>
          <a:lstStyle/>
          <a:p>
            <a:pPr marL="0" indent="0" algn="l">
              <a:lnSpc>
                <a:spcPts val="1400"/>
              </a:lnSpc>
              <a:buNone/>
            </a:pPr>
            <a:r>
              <a:rPr lang="en-US" sz="1050" dirty="0">
                <a:solidFill>
                  <a:srgbClr val="333333"/>
                </a:solidFill>
              </a:rPr>
              <a:t>(türevi) hesaplanır.</a:t>
            </a:r>
            <a:endParaRPr lang="en-US" sz="1050" dirty="0"/>
          </a:p>
        </p:txBody>
      </p:sp>
      <p:sp>
        <p:nvSpPr>
          <p:cNvPr id="14" name="Shape 10"/>
          <p:cNvSpPr/>
          <p:nvPr/>
        </p:nvSpPr>
        <p:spPr>
          <a:xfrm>
            <a:off x="571500" y="2968228"/>
            <a:ext cx="4629150" cy="710803"/>
          </a:xfrm>
          <a:prstGeom prst="rect">
            <a:avLst/>
          </a:prstGeom>
          <a:solidFill>
            <a:srgbClr val="F4F4F4"/>
          </a:solidFill>
          <a:ln/>
        </p:spPr>
        <p:txBody>
          <a:bodyPr/>
          <a:lstStyle/>
          <a:p>
            <a:endParaRPr lang="tr-TR"/>
          </a:p>
        </p:txBody>
      </p:sp>
      <p:sp>
        <p:nvSpPr>
          <p:cNvPr id="15" name="Shape 11"/>
          <p:cNvSpPr/>
          <p:nvPr/>
        </p:nvSpPr>
        <p:spPr>
          <a:xfrm>
            <a:off x="571500" y="2968228"/>
            <a:ext cx="42863" cy="710803"/>
          </a:xfrm>
          <a:prstGeom prst="rect">
            <a:avLst/>
          </a:prstGeom>
          <a:solidFill>
            <a:srgbClr val="000000"/>
          </a:solidFill>
          <a:ln/>
        </p:spPr>
        <p:txBody>
          <a:bodyPr/>
          <a:lstStyle/>
          <a:p>
            <a:endParaRPr lang="tr-TR"/>
          </a:p>
        </p:txBody>
      </p:sp>
      <p:sp>
        <p:nvSpPr>
          <p:cNvPr id="16" name="Text 12"/>
          <p:cNvSpPr/>
          <p:nvPr/>
        </p:nvSpPr>
        <p:spPr>
          <a:xfrm>
            <a:off x="714375" y="3111103"/>
            <a:ext cx="4343400" cy="194667"/>
          </a:xfrm>
          <a:prstGeom prst="rect">
            <a:avLst/>
          </a:prstGeom>
          <a:noFill/>
          <a:ln/>
        </p:spPr>
        <p:txBody>
          <a:bodyPr wrap="none" lIns="0" tIns="0" rIns="0" bIns="0" rtlCol="0" anchor="t">
            <a:spAutoFit/>
          </a:bodyPr>
          <a:lstStyle/>
          <a:p>
            <a:pPr marL="0" indent="0" algn="l">
              <a:lnSpc>
                <a:spcPts val="1400"/>
              </a:lnSpc>
              <a:buNone/>
            </a:pPr>
            <a:r>
              <a:rPr lang="en-US" sz="987" b="1" dirty="0">
                <a:solidFill>
                  <a:srgbClr val="FF3B30"/>
                </a:solidFill>
              </a:rPr>
              <a:t>3. Ağırlık Güncelleme</a:t>
            </a:r>
            <a:endParaRPr lang="en-US" sz="987" dirty="0"/>
          </a:p>
        </p:txBody>
      </p:sp>
      <p:sp>
        <p:nvSpPr>
          <p:cNvPr id="17" name="Text 13"/>
          <p:cNvSpPr/>
          <p:nvPr/>
        </p:nvSpPr>
        <p:spPr>
          <a:xfrm>
            <a:off x="714375" y="3341489"/>
            <a:ext cx="4235407" cy="194667"/>
          </a:xfrm>
          <a:prstGeom prst="rect">
            <a:avLst/>
          </a:prstGeom>
          <a:noFill/>
          <a:ln/>
        </p:spPr>
        <p:txBody>
          <a:bodyPr wrap="none" lIns="0" tIns="0" rIns="0" bIns="0" rtlCol="0" anchor="t">
            <a:spAutoFit/>
          </a:bodyPr>
          <a:lstStyle/>
          <a:p>
            <a:pPr marL="0" indent="0" algn="l">
              <a:lnSpc>
                <a:spcPts val="1400"/>
              </a:lnSpc>
              <a:buNone/>
            </a:pPr>
            <a:r>
              <a:rPr lang="en-US" sz="1050" dirty="0">
                <a:solidFill>
                  <a:srgbClr val="333333"/>
                </a:solidFill>
              </a:rPr>
              <a:t>Hesaplanan gradyanlar doğrultusunda ağırlıklar optimize edilir.</a:t>
            </a:r>
            <a:endParaRPr lang="en-US" sz="1050" dirty="0"/>
          </a:p>
        </p:txBody>
      </p:sp>
      <p:sp>
        <p:nvSpPr>
          <p:cNvPr id="18" name="Shape 14"/>
          <p:cNvSpPr/>
          <p:nvPr/>
        </p:nvSpPr>
        <p:spPr>
          <a:xfrm>
            <a:off x="5486400" y="1137642"/>
            <a:ext cx="3086100" cy="3634662"/>
          </a:xfrm>
          <a:prstGeom prst="rect">
            <a:avLst/>
          </a:prstGeom>
          <a:solidFill>
            <a:srgbClr val="000000"/>
          </a:solidFill>
          <a:ln/>
        </p:spPr>
        <p:txBody>
          <a:bodyPr/>
          <a:lstStyle/>
          <a:p>
            <a:endParaRPr lang="tr-TR"/>
          </a:p>
        </p:txBody>
      </p:sp>
      <p:sp>
        <p:nvSpPr>
          <p:cNvPr id="19" name="Text 15"/>
          <p:cNvSpPr/>
          <p:nvPr/>
        </p:nvSpPr>
        <p:spPr>
          <a:xfrm>
            <a:off x="5700713" y="1551980"/>
            <a:ext cx="2657475" cy="280029"/>
          </a:xfrm>
          <a:prstGeom prst="rect">
            <a:avLst/>
          </a:prstGeom>
          <a:noFill/>
          <a:ln/>
        </p:spPr>
        <p:txBody>
          <a:bodyPr wrap="none" lIns="0" tIns="0" rIns="0" bIns="0" rtlCol="0" anchor="t">
            <a:spAutoFit/>
          </a:bodyPr>
          <a:lstStyle/>
          <a:p>
            <a:pPr marL="0" indent="0" algn="ctr">
              <a:lnSpc>
                <a:spcPts val="2200"/>
              </a:lnSpc>
              <a:buNone/>
            </a:pPr>
            <a:r>
              <a:rPr lang="en-US" sz="1486" i="1" dirty="0">
                <a:solidFill>
                  <a:srgbClr val="FFFFFF"/>
                </a:solidFill>
              </a:rPr>
              <a:t>Zincir Kuralı:</a:t>
            </a:r>
            <a:endParaRPr lang="en-US" sz="1486" dirty="0"/>
          </a:p>
        </p:txBody>
      </p:sp>
      <p:sp>
        <p:nvSpPr>
          <p:cNvPr id="20" name="Text 16"/>
          <p:cNvSpPr/>
          <p:nvPr/>
        </p:nvSpPr>
        <p:spPr>
          <a:xfrm>
            <a:off x="5700713" y="2032034"/>
            <a:ext cx="2657475" cy="640035"/>
          </a:xfrm>
          <a:prstGeom prst="rect">
            <a:avLst/>
          </a:prstGeom>
          <a:noFill/>
          <a:ln/>
        </p:spPr>
        <p:txBody>
          <a:bodyPr wrap="square" lIns="0" tIns="0" rIns="0" bIns="0" rtlCol="0" anchor="t">
            <a:spAutoFit/>
          </a:bodyPr>
          <a:lstStyle/>
          <a:p>
            <a:pPr marL="0" indent="0" algn="ctr">
              <a:lnSpc>
                <a:spcPts val="2500"/>
              </a:lnSpc>
              <a:buNone/>
            </a:pPr>
            <a:r>
              <a:rPr lang="en-US" sz="1704" i="1" dirty="0">
                <a:solidFill>
                  <a:srgbClr val="FFFFFF"/>
                </a:solidFill>
              </a:rPr>
              <a:t>∂L/∂w = </a:t>
            </a:r>
            <a:r>
              <a:rPr lang="en-US" sz="1602" b="1" i="1" dirty="0">
                <a:solidFill>
                  <a:srgbClr val="FF3B30"/>
                </a:solidFill>
              </a:rPr>
              <a:t>∂L/∂ŷ</a:t>
            </a:r>
            <a:r>
              <a:rPr lang="en-US" sz="1704" i="1" dirty="0">
                <a:solidFill>
                  <a:srgbClr val="FFFFFF"/>
                </a:solidFill>
              </a:rPr>
              <a:t> · </a:t>
            </a:r>
            <a:r>
              <a:rPr lang="en-US" sz="1602" b="1" i="1" dirty="0">
                <a:solidFill>
                  <a:srgbClr val="FF3B30"/>
                </a:solidFill>
              </a:rPr>
              <a:t>∂ŷ/∂z</a:t>
            </a:r>
            <a:r>
              <a:rPr lang="en-US" sz="1704" i="1" dirty="0">
                <a:solidFill>
                  <a:srgbClr val="FFFFFF"/>
                </a:solidFill>
              </a:rPr>
              <a:t> · </a:t>
            </a:r>
            <a:r>
              <a:rPr lang="en-US" sz="1602" b="1" i="1" dirty="0">
                <a:solidFill>
                  <a:srgbClr val="FF3B30"/>
                </a:solidFill>
              </a:rPr>
              <a:t>∂z/∂w</a:t>
            </a:r>
            <a:endParaRPr lang="en-US" sz="1704" dirty="0"/>
          </a:p>
        </p:txBody>
      </p:sp>
      <p:sp>
        <p:nvSpPr>
          <p:cNvPr id="21" name="Text 17"/>
          <p:cNvSpPr/>
          <p:nvPr/>
        </p:nvSpPr>
        <p:spPr>
          <a:xfrm>
            <a:off x="5700713" y="3315007"/>
            <a:ext cx="2657475" cy="280029"/>
          </a:xfrm>
          <a:prstGeom prst="rect">
            <a:avLst/>
          </a:prstGeom>
          <a:noFill/>
          <a:ln/>
        </p:spPr>
        <p:txBody>
          <a:bodyPr wrap="none" lIns="0" tIns="0" rIns="0" bIns="0" rtlCol="0" anchor="t">
            <a:spAutoFit/>
          </a:bodyPr>
          <a:lstStyle/>
          <a:p>
            <a:pPr marL="0" indent="0" algn="ctr">
              <a:lnSpc>
                <a:spcPts val="2200"/>
              </a:lnSpc>
              <a:buNone/>
            </a:pPr>
            <a:r>
              <a:rPr lang="en-US" sz="1486" i="1" dirty="0">
                <a:solidFill>
                  <a:srgbClr val="FFFFFF"/>
                </a:solidFill>
              </a:rPr>
              <a:t>Güncelleme Kuralı:</a:t>
            </a:r>
            <a:endParaRPr lang="en-US" sz="1486" dirty="0"/>
          </a:p>
        </p:txBody>
      </p:sp>
      <p:sp>
        <p:nvSpPr>
          <p:cNvPr id="22" name="Text 18"/>
          <p:cNvSpPr/>
          <p:nvPr/>
        </p:nvSpPr>
        <p:spPr>
          <a:xfrm>
            <a:off x="5700713" y="3795061"/>
            <a:ext cx="2657475" cy="320018"/>
          </a:xfrm>
          <a:prstGeom prst="rect">
            <a:avLst/>
          </a:prstGeom>
          <a:noFill/>
          <a:ln/>
        </p:spPr>
        <p:txBody>
          <a:bodyPr wrap="none" lIns="0" tIns="0" rIns="0" bIns="0" rtlCol="0" anchor="t">
            <a:spAutoFit/>
          </a:bodyPr>
          <a:lstStyle/>
          <a:p>
            <a:pPr marL="0" indent="0" algn="ctr">
              <a:lnSpc>
                <a:spcPts val="2500"/>
              </a:lnSpc>
              <a:buNone/>
            </a:pPr>
            <a:r>
              <a:rPr lang="en-US" sz="1704" i="1" dirty="0">
                <a:solidFill>
                  <a:srgbClr val="FFFFFF"/>
                </a:solidFill>
              </a:rPr>
              <a:t>w = w - </a:t>
            </a:r>
            <a:r>
              <a:rPr lang="en-US" sz="1602" b="1" i="1" dirty="0">
                <a:solidFill>
                  <a:srgbClr val="FF3B30"/>
                </a:solidFill>
              </a:rPr>
              <a:t>η</a:t>
            </a:r>
            <a:r>
              <a:rPr lang="en-US" sz="1704" i="1" dirty="0">
                <a:solidFill>
                  <a:srgbClr val="FFFFFF"/>
                </a:solidFill>
              </a:rPr>
              <a:t> · ∂L/∂w</a:t>
            </a:r>
            <a:endParaRPr lang="en-US" sz="1704" dirty="0"/>
          </a:p>
        </p:txBody>
      </p:sp>
      <p:sp>
        <p:nvSpPr>
          <p:cNvPr id="23" name="Text 19"/>
          <p:cNvSpPr/>
          <p:nvPr/>
        </p:nvSpPr>
        <p:spPr>
          <a:xfrm>
            <a:off x="571500" y="5043767"/>
            <a:ext cx="8572500" cy="175022"/>
          </a:xfrm>
          <a:prstGeom prst="rect">
            <a:avLst/>
          </a:prstGeom>
          <a:noFill/>
          <a:ln/>
        </p:spPr>
        <p:txBody>
          <a:bodyPr wrap="none" lIns="0" tIns="0" rIns="0" bIns="0" rtlCol="0" anchor="t">
            <a:spAutoFit/>
          </a:bodyPr>
          <a:lstStyle/>
          <a:p>
            <a:pPr marL="0" indent="0" algn="l">
              <a:lnSpc>
                <a:spcPts val="1200"/>
              </a:lnSpc>
              <a:buNone/>
            </a:pPr>
            <a:r>
              <a:rPr lang="en-US" sz="885" b="1" dirty="0">
                <a:solidFill>
                  <a:srgbClr val="666666"/>
                </a:solidFill>
              </a:rPr>
              <a:t>Not:</a:t>
            </a:r>
            <a:r>
              <a:rPr lang="en-US" sz="942" dirty="0">
                <a:solidFill>
                  <a:srgbClr val="666666"/>
                </a:solidFill>
              </a:rPr>
              <a:t> η (eta) öğrenme oranını (learning rate) temsil eder ve adım büyüklüğünü belirler.</a:t>
            </a:r>
            <a:endParaRPr lang="en-US" sz="885"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4" name="Text 0"/>
          <p:cNvSpPr/>
          <p:nvPr/>
        </p:nvSpPr>
        <p:spPr>
          <a:xfrm>
            <a:off x="571500" y="357188"/>
            <a:ext cx="8572500" cy="408980"/>
          </a:xfrm>
          <a:prstGeom prst="rect">
            <a:avLst/>
          </a:prstGeom>
          <a:noFill/>
          <a:ln/>
        </p:spPr>
        <p:txBody>
          <a:bodyPr wrap="none" lIns="0" tIns="0" rIns="0" bIns="0" rtlCol="0" anchor="t">
            <a:spAutoFit/>
          </a:bodyPr>
          <a:lstStyle/>
          <a:p>
            <a:pPr marL="0" indent="0" algn="l">
              <a:lnSpc>
                <a:spcPts val="2800"/>
              </a:lnSpc>
              <a:buNone/>
            </a:pPr>
            <a:r>
              <a:rPr lang="en-US" sz="2121" b="1" dirty="0">
                <a:solidFill>
                  <a:srgbClr val="000000"/>
                </a:solidFill>
              </a:rPr>
              <a:t>Optimizasyon ve Gradyan İnişi</a:t>
            </a:r>
            <a:endParaRPr lang="en-US" sz="2121" dirty="0"/>
          </a:p>
        </p:txBody>
      </p:sp>
      <p:sp>
        <p:nvSpPr>
          <p:cNvPr id="5" name="Shape 1"/>
          <p:cNvSpPr/>
          <p:nvPr/>
        </p:nvSpPr>
        <p:spPr>
          <a:xfrm>
            <a:off x="571500" y="980480"/>
            <a:ext cx="8001000" cy="600075"/>
          </a:xfrm>
          <a:prstGeom prst="rect">
            <a:avLst/>
          </a:prstGeom>
          <a:solidFill>
            <a:srgbClr val="000000"/>
          </a:solidFill>
          <a:ln/>
        </p:spPr>
        <p:txBody>
          <a:bodyPr/>
          <a:lstStyle/>
          <a:p>
            <a:endParaRPr lang="tr-TR"/>
          </a:p>
        </p:txBody>
      </p:sp>
      <p:sp>
        <p:nvSpPr>
          <p:cNvPr id="6" name="Shape 2"/>
          <p:cNvSpPr/>
          <p:nvPr/>
        </p:nvSpPr>
        <p:spPr>
          <a:xfrm>
            <a:off x="571500" y="980480"/>
            <a:ext cx="57150" cy="600075"/>
          </a:xfrm>
          <a:prstGeom prst="rect">
            <a:avLst/>
          </a:prstGeom>
          <a:solidFill>
            <a:srgbClr val="FF3B30"/>
          </a:solidFill>
          <a:ln/>
        </p:spPr>
        <p:txBody>
          <a:bodyPr/>
          <a:lstStyle/>
          <a:p>
            <a:endParaRPr lang="tr-TR"/>
          </a:p>
        </p:txBody>
      </p:sp>
      <p:sp>
        <p:nvSpPr>
          <p:cNvPr id="7" name="Text 3"/>
          <p:cNvSpPr/>
          <p:nvPr/>
        </p:nvSpPr>
        <p:spPr>
          <a:xfrm>
            <a:off x="785813" y="1123355"/>
            <a:ext cx="7572375" cy="457200"/>
          </a:xfrm>
          <a:prstGeom prst="rect">
            <a:avLst/>
          </a:prstGeom>
          <a:noFill/>
          <a:ln/>
        </p:spPr>
        <p:txBody>
          <a:bodyPr wrap="square" lIns="0" tIns="0" rIns="0" bIns="0" rtlCol="0" anchor="t">
            <a:spAutoFit/>
          </a:bodyPr>
          <a:lstStyle/>
          <a:p>
            <a:pPr marL="0" indent="0" algn="l">
              <a:lnSpc>
                <a:spcPts val="1800"/>
              </a:lnSpc>
              <a:buNone/>
            </a:pPr>
            <a:r>
              <a:rPr lang="en-US" sz="1050" dirty="0">
                <a:solidFill>
                  <a:srgbClr val="FFFFFF"/>
                </a:solidFill>
              </a:rPr>
              <a:t>Optimizasyon, kayıp fonksiyonunu minimize etmek için ağırlıkların güncellenme stratejisidir. Temel amaç, hata yüzeyindeki küresel minimum noktasına en hızlı ve kararlı şekilde ulaşmaktır.</a:t>
            </a:r>
            <a:endParaRPr lang="en-US" sz="1050" dirty="0"/>
          </a:p>
        </p:txBody>
      </p:sp>
      <p:sp>
        <p:nvSpPr>
          <p:cNvPr id="8" name="Shape 4"/>
          <p:cNvSpPr/>
          <p:nvPr/>
        </p:nvSpPr>
        <p:spPr>
          <a:xfrm>
            <a:off x="571500" y="1794867"/>
            <a:ext cx="2571750" cy="1957388"/>
          </a:xfrm>
          <a:prstGeom prst="rect">
            <a:avLst/>
          </a:prstGeom>
          <a:solidFill>
            <a:srgbClr val="F4F4F4"/>
          </a:solidFill>
          <a:ln/>
        </p:spPr>
        <p:txBody>
          <a:bodyPr/>
          <a:lstStyle/>
          <a:p>
            <a:endParaRPr lang="tr-TR"/>
          </a:p>
        </p:txBody>
      </p:sp>
      <p:sp>
        <p:nvSpPr>
          <p:cNvPr id="9" name="Shape 5"/>
          <p:cNvSpPr/>
          <p:nvPr/>
        </p:nvSpPr>
        <p:spPr>
          <a:xfrm>
            <a:off x="571500" y="1794867"/>
            <a:ext cx="2571750" cy="28575"/>
          </a:xfrm>
          <a:prstGeom prst="rect">
            <a:avLst/>
          </a:prstGeom>
          <a:solidFill>
            <a:srgbClr val="000000"/>
          </a:solidFill>
          <a:ln/>
        </p:spPr>
        <p:txBody>
          <a:bodyPr/>
          <a:lstStyle/>
          <a:p>
            <a:endParaRPr lang="tr-TR"/>
          </a:p>
        </p:txBody>
      </p:sp>
      <p:sp>
        <p:nvSpPr>
          <p:cNvPr id="10" name="Text 6"/>
          <p:cNvSpPr/>
          <p:nvPr/>
        </p:nvSpPr>
        <p:spPr>
          <a:xfrm>
            <a:off x="714375" y="1937742"/>
            <a:ext cx="2286000" cy="214313"/>
          </a:xfrm>
          <a:prstGeom prst="rect">
            <a:avLst/>
          </a:prstGeom>
          <a:noFill/>
          <a:ln/>
        </p:spPr>
        <p:txBody>
          <a:bodyPr wrap="none" lIns="0" tIns="0" rIns="0" bIns="0" rtlCol="0" anchor="t">
            <a:spAutoFit/>
          </a:bodyPr>
          <a:lstStyle/>
          <a:p>
            <a:pPr marL="0" indent="0" algn="l">
              <a:lnSpc>
                <a:spcPts val="1500"/>
              </a:lnSpc>
              <a:buNone/>
            </a:pPr>
            <a:r>
              <a:rPr lang="en-US" sz="1090" b="1" dirty="0">
                <a:solidFill>
                  <a:srgbClr val="FF3B30"/>
                </a:solidFill>
              </a:rPr>
              <a:t>SGD</a:t>
            </a:r>
            <a:endParaRPr lang="en-US" sz="1090" dirty="0"/>
          </a:p>
        </p:txBody>
      </p:sp>
      <p:sp>
        <p:nvSpPr>
          <p:cNvPr id="11" name="Text 7"/>
          <p:cNvSpPr/>
          <p:nvPr/>
        </p:nvSpPr>
        <p:spPr>
          <a:xfrm>
            <a:off x="714375" y="2230636"/>
            <a:ext cx="1606507" cy="155377"/>
          </a:xfrm>
          <a:prstGeom prst="rect">
            <a:avLst/>
          </a:prstGeom>
          <a:noFill/>
          <a:ln/>
        </p:spPr>
        <p:txBody>
          <a:bodyPr wrap="none" lIns="0" tIns="0" rIns="0" bIns="0" rtlCol="0" anchor="t">
            <a:spAutoFit/>
          </a:bodyPr>
          <a:lstStyle/>
          <a:p>
            <a:pPr marL="0" indent="0" algn="l">
              <a:lnSpc>
                <a:spcPts val="1400"/>
              </a:lnSpc>
              <a:buNone/>
            </a:pPr>
            <a:r>
              <a:rPr lang="en-US" sz="784" b="1" dirty="0">
                <a:solidFill>
                  <a:srgbClr val="333333"/>
                </a:solidFill>
              </a:rPr>
              <a:t>Stochastic Gradient Descent</a:t>
            </a:r>
            <a:endParaRPr lang="en-US" sz="784" dirty="0"/>
          </a:p>
        </p:txBody>
      </p:sp>
      <p:sp>
        <p:nvSpPr>
          <p:cNvPr id="12" name="Text 8"/>
          <p:cNvSpPr/>
          <p:nvPr/>
        </p:nvSpPr>
        <p:spPr>
          <a:xfrm>
            <a:off x="857250" y="2466380"/>
            <a:ext cx="2143125" cy="171450"/>
          </a:xfrm>
          <a:prstGeom prst="rect">
            <a:avLst/>
          </a:prstGeom>
          <a:noFill/>
          <a:ln/>
        </p:spPr>
        <p:txBody>
          <a:bodyPr wrap="none" lIns="0" tIns="0" rIns="0" bIns="0" rtlCol="0" anchor="t">
            <a:spAutoFit/>
          </a:bodyPr>
          <a:lstStyle/>
          <a:p>
            <a:pPr marL="0" indent="0" algn="l">
              <a:lnSpc>
                <a:spcPts val="1400"/>
              </a:lnSpc>
              <a:buNone/>
            </a:pPr>
            <a:r>
              <a:rPr lang="en-US" sz="834" dirty="0">
                <a:solidFill>
                  <a:srgbClr val="333333"/>
                </a:solidFill>
              </a:rPr>
              <a:t>Her veri örneği için güncelleme yapar.</a:t>
            </a:r>
            <a:endParaRPr lang="en-US" sz="834" dirty="0"/>
          </a:p>
        </p:txBody>
      </p:sp>
      <p:sp>
        <p:nvSpPr>
          <p:cNvPr id="13" name="Text 9"/>
          <p:cNvSpPr/>
          <p:nvPr/>
        </p:nvSpPr>
        <p:spPr>
          <a:xfrm>
            <a:off x="857250" y="2694980"/>
            <a:ext cx="2143125" cy="342900"/>
          </a:xfrm>
          <a:prstGeom prst="rect">
            <a:avLst/>
          </a:prstGeom>
          <a:noFill/>
          <a:ln/>
        </p:spPr>
        <p:txBody>
          <a:bodyPr wrap="square" lIns="0" tIns="0" rIns="0" bIns="0" rtlCol="0" anchor="t">
            <a:spAutoFit/>
          </a:bodyPr>
          <a:lstStyle/>
          <a:p>
            <a:pPr marL="0" indent="0" algn="l">
              <a:lnSpc>
                <a:spcPts val="1400"/>
              </a:lnSpc>
              <a:buNone/>
            </a:pPr>
            <a:r>
              <a:rPr lang="en-US" sz="834" dirty="0">
                <a:solidFill>
                  <a:srgbClr val="333333"/>
                </a:solidFill>
              </a:rPr>
              <a:t>Hızlıdır ancak gürültülü (dalgalı) bir ilerleyiş sergiler.</a:t>
            </a:r>
            <a:endParaRPr lang="en-US" sz="834" dirty="0"/>
          </a:p>
        </p:txBody>
      </p:sp>
      <p:sp>
        <p:nvSpPr>
          <p:cNvPr id="14" name="Text 10"/>
          <p:cNvSpPr/>
          <p:nvPr/>
        </p:nvSpPr>
        <p:spPr>
          <a:xfrm>
            <a:off x="857250" y="3095030"/>
            <a:ext cx="2143125" cy="342900"/>
          </a:xfrm>
          <a:prstGeom prst="rect">
            <a:avLst/>
          </a:prstGeom>
          <a:noFill/>
          <a:ln/>
        </p:spPr>
        <p:txBody>
          <a:bodyPr wrap="square" lIns="0" tIns="0" rIns="0" bIns="0" rtlCol="0" anchor="t">
            <a:spAutoFit/>
          </a:bodyPr>
          <a:lstStyle/>
          <a:p>
            <a:pPr marL="0" indent="0" algn="l">
              <a:lnSpc>
                <a:spcPts val="1400"/>
              </a:lnSpc>
              <a:buNone/>
            </a:pPr>
            <a:r>
              <a:rPr lang="en-US" sz="834" dirty="0">
                <a:solidFill>
                  <a:srgbClr val="333333"/>
                </a:solidFill>
              </a:rPr>
              <a:t>Yerel minimumlardan kaçma şansı yüksektir.</a:t>
            </a:r>
            <a:endParaRPr lang="en-US" sz="834" dirty="0"/>
          </a:p>
        </p:txBody>
      </p:sp>
      <p:sp>
        <p:nvSpPr>
          <p:cNvPr id="15" name="Shape 11"/>
          <p:cNvSpPr/>
          <p:nvPr/>
        </p:nvSpPr>
        <p:spPr>
          <a:xfrm>
            <a:off x="3286125" y="1794867"/>
            <a:ext cx="2571750" cy="1957388"/>
          </a:xfrm>
          <a:prstGeom prst="rect">
            <a:avLst/>
          </a:prstGeom>
          <a:solidFill>
            <a:srgbClr val="F4F4F4"/>
          </a:solidFill>
          <a:ln/>
        </p:spPr>
        <p:txBody>
          <a:bodyPr/>
          <a:lstStyle/>
          <a:p>
            <a:endParaRPr lang="tr-TR"/>
          </a:p>
        </p:txBody>
      </p:sp>
      <p:sp>
        <p:nvSpPr>
          <p:cNvPr id="16" name="Shape 12"/>
          <p:cNvSpPr/>
          <p:nvPr/>
        </p:nvSpPr>
        <p:spPr>
          <a:xfrm>
            <a:off x="3286125" y="1794867"/>
            <a:ext cx="2571750" cy="28575"/>
          </a:xfrm>
          <a:prstGeom prst="rect">
            <a:avLst/>
          </a:prstGeom>
          <a:solidFill>
            <a:srgbClr val="000000"/>
          </a:solidFill>
          <a:ln/>
        </p:spPr>
        <p:txBody>
          <a:bodyPr/>
          <a:lstStyle/>
          <a:p>
            <a:endParaRPr lang="tr-TR"/>
          </a:p>
        </p:txBody>
      </p:sp>
      <p:sp>
        <p:nvSpPr>
          <p:cNvPr id="17" name="Text 13"/>
          <p:cNvSpPr/>
          <p:nvPr/>
        </p:nvSpPr>
        <p:spPr>
          <a:xfrm>
            <a:off x="3429000" y="1937742"/>
            <a:ext cx="2286000" cy="214313"/>
          </a:xfrm>
          <a:prstGeom prst="rect">
            <a:avLst/>
          </a:prstGeom>
          <a:noFill/>
          <a:ln/>
        </p:spPr>
        <p:txBody>
          <a:bodyPr wrap="none" lIns="0" tIns="0" rIns="0" bIns="0" rtlCol="0" anchor="t">
            <a:spAutoFit/>
          </a:bodyPr>
          <a:lstStyle/>
          <a:p>
            <a:pPr marL="0" indent="0" algn="l">
              <a:lnSpc>
                <a:spcPts val="1500"/>
              </a:lnSpc>
              <a:buNone/>
            </a:pPr>
            <a:r>
              <a:rPr lang="en-US" sz="1090" b="1" dirty="0">
                <a:solidFill>
                  <a:srgbClr val="FF3B30"/>
                </a:solidFill>
              </a:rPr>
              <a:t>Momentum</a:t>
            </a:r>
            <a:endParaRPr lang="en-US" sz="1090" dirty="0"/>
          </a:p>
        </p:txBody>
      </p:sp>
      <p:sp>
        <p:nvSpPr>
          <p:cNvPr id="18" name="Text 14"/>
          <p:cNvSpPr/>
          <p:nvPr/>
        </p:nvSpPr>
        <p:spPr>
          <a:xfrm>
            <a:off x="3429000" y="2230636"/>
            <a:ext cx="879100" cy="155377"/>
          </a:xfrm>
          <a:prstGeom prst="rect">
            <a:avLst/>
          </a:prstGeom>
          <a:noFill/>
          <a:ln/>
        </p:spPr>
        <p:txBody>
          <a:bodyPr wrap="none" lIns="0" tIns="0" rIns="0" bIns="0" rtlCol="0" anchor="t">
            <a:spAutoFit/>
          </a:bodyPr>
          <a:lstStyle/>
          <a:p>
            <a:pPr marL="0" indent="0" algn="l">
              <a:lnSpc>
                <a:spcPts val="1400"/>
              </a:lnSpc>
              <a:buNone/>
            </a:pPr>
            <a:r>
              <a:rPr lang="en-US" sz="784" b="1" dirty="0">
                <a:solidFill>
                  <a:srgbClr val="333333"/>
                </a:solidFill>
              </a:rPr>
              <a:t>Hızlanma Etkisi</a:t>
            </a:r>
            <a:endParaRPr lang="en-US" sz="784" dirty="0"/>
          </a:p>
        </p:txBody>
      </p:sp>
      <p:sp>
        <p:nvSpPr>
          <p:cNvPr id="19" name="Text 15"/>
          <p:cNvSpPr/>
          <p:nvPr/>
        </p:nvSpPr>
        <p:spPr>
          <a:xfrm>
            <a:off x="3571875" y="2466380"/>
            <a:ext cx="2143125" cy="342900"/>
          </a:xfrm>
          <a:prstGeom prst="rect">
            <a:avLst/>
          </a:prstGeom>
          <a:noFill/>
          <a:ln/>
        </p:spPr>
        <p:txBody>
          <a:bodyPr wrap="square" lIns="0" tIns="0" rIns="0" bIns="0" rtlCol="0" anchor="t">
            <a:spAutoFit/>
          </a:bodyPr>
          <a:lstStyle/>
          <a:p>
            <a:pPr marL="0" indent="0" algn="l">
              <a:lnSpc>
                <a:spcPts val="1400"/>
              </a:lnSpc>
              <a:buNone/>
            </a:pPr>
            <a:r>
              <a:rPr lang="en-US" sz="834" dirty="0">
                <a:solidFill>
                  <a:srgbClr val="333333"/>
                </a:solidFill>
              </a:rPr>
              <a:t>Önceki güncellemelerin yönünü dikkate alır.</a:t>
            </a:r>
            <a:endParaRPr lang="en-US" sz="834" dirty="0"/>
          </a:p>
        </p:txBody>
      </p:sp>
      <p:sp>
        <p:nvSpPr>
          <p:cNvPr id="20" name="Text 16"/>
          <p:cNvSpPr/>
          <p:nvPr/>
        </p:nvSpPr>
        <p:spPr>
          <a:xfrm>
            <a:off x="3571875" y="2866430"/>
            <a:ext cx="2143125" cy="342900"/>
          </a:xfrm>
          <a:prstGeom prst="rect">
            <a:avLst/>
          </a:prstGeom>
          <a:noFill/>
          <a:ln/>
        </p:spPr>
        <p:txBody>
          <a:bodyPr wrap="square" lIns="0" tIns="0" rIns="0" bIns="0" rtlCol="0" anchor="t">
            <a:spAutoFit/>
          </a:bodyPr>
          <a:lstStyle/>
          <a:p>
            <a:pPr marL="0" indent="0" algn="l">
              <a:lnSpc>
                <a:spcPts val="1400"/>
              </a:lnSpc>
              <a:buNone/>
            </a:pPr>
            <a:r>
              <a:rPr lang="en-US" sz="834" dirty="0">
                <a:solidFill>
                  <a:srgbClr val="333333"/>
                </a:solidFill>
              </a:rPr>
              <a:t>Gradyan yönünde hızlanarak salınımları azaltır.</a:t>
            </a:r>
            <a:endParaRPr lang="en-US" sz="834" dirty="0"/>
          </a:p>
        </p:txBody>
      </p:sp>
      <p:sp>
        <p:nvSpPr>
          <p:cNvPr id="21" name="Text 17"/>
          <p:cNvSpPr/>
          <p:nvPr/>
        </p:nvSpPr>
        <p:spPr>
          <a:xfrm>
            <a:off x="3571875" y="3266480"/>
            <a:ext cx="2143125" cy="171450"/>
          </a:xfrm>
          <a:prstGeom prst="rect">
            <a:avLst/>
          </a:prstGeom>
          <a:noFill/>
          <a:ln/>
        </p:spPr>
        <p:txBody>
          <a:bodyPr wrap="none" lIns="0" tIns="0" rIns="0" bIns="0" rtlCol="0" anchor="t">
            <a:spAutoFit/>
          </a:bodyPr>
          <a:lstStyle/>
          <a:p>
            <a:pPr marL="0" indent="0" algn="l">
              <a:lnSpc>
                <a:spcPts val="1400"/>
              </a:lnSpc>
              <a:buNone/>
            </a:pPr>
            <a:r>
              <a:rPr lang="en-US" sz="834" dirty="0">
                <a:solidFill>
                  <a:srgbClr val="333333"/>
                </a:solidFill>
              </a:rPr>
              <a:t>Düz alanlarda (plateau) daha hızlı ilerler.</a:t>
            </a:r>
            <a:endParaRPr lang="en-US" sz="834" dirty="0"/>
          </a:p>
        </p:txBody>
      </p:sp>
      <p:sp>
        <p:nvSpPr>
          <p:cNvPr id="22" name="Shape 18"/>
          <p:cNvSpPr/>
          <p:nvPr/>
        </p:nvSpPr>
        <p:spPr>
          <a:xfrm>
            <a:off x="6000750" y="1794867"/>
            <a:ext cx="2571750" cy="1957388"/>
          </a:xfrm>
          <a:prstGeom prst="rect">
            <a:avLst/>
          </a:prstGeom>
          <a:solidFill>
            <a:srgbClr val="F4F4F4"/>
          </a:solidFill>
          <a:ln/>
        </p:spPr>
        <p:txBody>
          <a:bodyPr/>
          <a:lstStyle/>
          <a:p>
            <a:endParaRPr lang="tr-TR"/>
          </a:p>
        </p:txBody>
      </p:sp>
      <p:sp>
        <p:nvSpPr>
          <p:cNvPr id="23" name="Shape 19"/>
          <p:cNvSpPr/>
          <p:nvPr/>
        </p:nvSpPr>
        <p:spPr>
          <a:xfrm>
            <a:off x="6000750" y="1794867"/>
            <a:ext cx="2571750" cy="28575"/>
          </a:xfrm>
          <a:prstGeom prst="rect">
            <a:avLst/>
          </a:prstGeom>
          <a:solidFill>
            <a:srgbClr val="000000"/>
          </a:solidFill>
          <a:ln/>
        </p:spPr>
        <p:txBody>
          <a:bodyPr/>
          <a:lstStyle/>
          <a:p>
            <a:endParaRPr lang="tr-TR"/>
          </a:p>
        </p:txBody>
      </p:sp>
      <p:sp>
        <p:nvSpPr>
          <p:cNvPr id="24" name="Text 20"/>
          <p:cNvSpPr/>
          <p:nvPr/>
        </p:nvSpPr>
        <p:spPr>
          <a:xfrm>
            <a:off x="6143625" y="1937742"/>
            <a:ext cx="2286000" cy="214313"/>
          </a:xfrm>
          <a:prstGeom prst="rect">
            <a:avLst/>
          </a:prstGeom>
          <a:noFill/>
          <a:ln/>
        </p:spPr>
        <p:txBody>
          <a:bodyPr wrap="none" lIns="0" tIns="0" rIns="0" bIns="0" rtlCol="0" anchor="t">
            <a:spAutoFit/>
          </a:bodyPr>
          <a:lstStyle/>
          <a:p>
            <a:pPr marL="0" indent="0" algn="l">
              <a:lnSpc>
                <a:spcPts val="1500"/>
              </a:lnSpc>
              <a:buNone/>
            </a:pPr>
            <a:r>
              <a:rPr lang="en-US" sz="1090" b="1" dirty="0">
                <a:solidFill>
                  <a:srgbClr val="FF3B30"/>
                </a:solidFill>
              </a:rPr>
              <a:t>Adam</a:t>
            </a:r>
            <a:endParaRPr lang="en-US" sz="1090" dirty="0"/>
          </a:p>
        </p:txBody>
      </p:sp>
      <p:sp>
        <p:nvSpPr>
          <p:cNvPr id="25" name="Text 21"/>
          <p:cNvSpPr/>
          <p:nvPr/>
        </p:nvSpPr>
        <p:spPr>
          <a:xfrm>
            <a:off x="6143625" y="2230636"/>
            <a:ext cx="1669014" cy="155377"/>
          </a:xfrm>
          <a:prstGeom prst="rect">
            <a:avLst/>
          </a:prstGeom>
          <a:noFill/>
          <a:ln/>
        </p:spPr>
        <p:txBody>
          <a:bodyPr wrap="none" lIns="0" tIns="0" rIns="0" bIns="0" rtlCol="0" anchor="t">
            <a:spAutoFit/>
          </a:bodyPr>
          <a:lstStyle/>
          <a:p>
            <a:pPr marL="0" indent="0" algn="l">
              <a:lnSpc>
                <a:spcPts val="1400"/>
              </a:lnSpc>
              <a:buNone/>
            </a:pPr>
            <a:r>
              <a:rPr lang="en-US" sz="784" b="1" dirty="0">
                <a:solidFill>
                  <a:srgbClr val="333333"/>
                </a:solidFill>
              </a:rPr>
              <a:t>Adaptive Moment Estimation</a:t>
            </a:r>
            <a:endParaRPr lang="en-US" sz="784" dirty="0"/>
          </a:p>
        </p:txBody>
      </p:sp>
      <p:sp>
        <p:nvSpPr>
          <p:cNvPr id="26" name="Text 22"/>
          <p:cNvSpPr/>
          <p:nvPr/>
        </p:nvSpPr>
        <p:spPr>
          <a:xfrm>
            <a:off x="6286500" y="2466380"/>
            <a:ext cx="2143125" cy="342900"/>
          </a:xfrm>
          <a:prstGeom prst="rect">
            <a:avLst/>
          </a:prstGeom>
          <a:noFill/>
          <a:ln/>
        </p:spPr>
        <p:txBody>
          <a:bodyPr wrap="square" lIns="0" tIns="0" rIns="0" bIns="0" rtlCol="0" anchor="t">
            <a:spAutoFit/>
          </a:bodyPr>
          <a:lstStyle/>
          <a:p>
            <a:pPr marL="0" indent="0" algn="l">
              <a:lnSpc>
                <a:spcPts val="1400"/>
              </a:lnSpc>
              <a:buNone/>
            </a:pPr>
            <a:r>
              <a:rPr lang="en-US" sz="834" dirty="0">
                <a:solidFill>
                  <a:srgbClr val="333333"/>
                </a:solidFill>
              </a:rPr>
              <a:t>Her parametre için ayrı öğrenme oranı belirler.</a:t>
            </a:r>
            <a:endParaRPr lang="en-US" sz="834" dirty="0"/>
          </a:p>
        </p:txBody>
      </p:sp>
      <p:sp>
        <p:nvSpPr>
          <p:cNvPr id="27" name="Text 23"/>
          <p:cNvSpPr/>
          <p:nvPr/>
        </p:nvSpPr>
        <p:spPr>
          <a:xfrm>
            <a:off x="6286500" y="2866430"/>
            <a:ext cx="2143125" cy="342900"/>
          </a:xfrm>
          <a:prstGeom prst="rect">
            <a:avLst/>
          </a:prstGeom>
          <a:noFill/>
          <a:ln/>
        </p:spPr>
        <p:txBody>
          <a:bodyPr wrap="square" lIns="0" tIns="0" rIns="0" bIns="0" rtlCol="0" anchor="t">
            <a:spAutoFit/>
          </a:bodyPr>
          <a:lstStyle/>
          <a:p>
            <a:pPr marL="0" indent="0" algn="l">
              <a:lnSpc>
                <a:spcPts val="1400"/>
              </a:lnSpc>
              <a:buNone/>
            </a:pPr>
            <a:r>
              <a:rPr lang="en-US" sz="834" dirty="0">
                <a:solidFill>
                  <a:srgbClr val="333333"/>
                </a:solidFill>
              </a:rPr>
              <a:t>Momentum ve RMSProp yöntemlerini birleştirir.</a:t>
            </a:r>
            <a:endParaRPr lang="en-US" sz="834" dirty="0"/>
          </a:p>
        </p:txBody>
      </p:sp>
      <p:sp>
        <p:nvSpPr>
          <p:cNvPr id="28" name="Text 24"/>
          <p:cNvSpPr/>
          <p:nvPr/>
        </p:nvSpPr>
        <p:spPr>
          <a:xfrm>
            <a:off x="6286500" y="3266480"/>
            <a:ext cx="2143125" cy="342900"/>
          </a:xfrm>
          <a:prstGeom prst="rect">
            <a:avLst/>
          </a:prstGeom>
          <a:noFill/>
          <a:ln/>
        </p:spPr>
        <p:txBody>
          <a:bodyPr wrap="square" lIns="0" tIns="0" rIns="0" bIns="0" rtlCol="0" anchor="t">
            <a:spAutoFit/>
          </a:bodyPr>
          <a:lstStyle/>
          <a:p>
            <a:pPr marL="0" indent="0" algn="l">
              <a:lnSpc>
                <a:spcPts val="1400"/>
              </a:lnSpc>
              <a:buNone/>
            </a:pPr>
            <a:r>
              <a:rPr lang="en-US" sz="834" dirty="0">
                <a:solidFill>
                  <a:srgbClr val="333333"/>
                </a:solidFill>
              </a:rPr>
              <a:t>Günümüzde en yaygın ve kararlı optimizasyon yöntemidir.</a:t>
            </a:r>
            <a:endParaRPr lang="en-US" sz="834"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4" name="Text 0"/>
          <p:cNvSpPr/>
          <p:nvPr/>
        </p:nvSpPr>
        <p:spPr>
          <a:xfrm>
            <a:off x="571500" y="357188"/>
            <a:ext cx="8572500" cy="408980"/>
          </a:xfrm>
          <a:prstGeom prst="rect">
            <a:avLst/>
          </a:prstGeom>
          <a:noFill/>
          <a:ln/>
        </p:spPr>
        <p:txBody>
          <a:bodyPr wrap="none" lIns="0" tIns="0" rIns="0" bIns="0" rtlCol="0" anchor="t">
            <a:spAutoFit/>
          </a:bodyPr>
          <a:lstStyle/>
          <a:p>
            <a:pPr marL="0" indent="0" algn="l">
              <a:lnSpc>
                <a:spcPts val="2800"/>
              </a:lnSpc>
              <a:buNone/>
            </a:pPr>
            <a:r>
              <a:rPr lang="en-US" sz="2121" b="1" dirty="0">
                <a:solidFill>
                  <a:srgbClr val="000000"/>
                </a:solidFill>
              </a:rPr>
              <a:t>Sayısal Örnek: Adım Adım Hesaplama</a:t>
            </a:r>
            <a:endParaRPr lang="en-US" sz="2121" dirty="0"/>
          </a:p>
        </p:txBody>
      </p:sp>
      <p:sp>
        <p:nvSpPr>
          <p:cNvPr id="5" name="Shape 1"/>
          <p:cNvSpPr/>
          <p:nvPr/>
        </p:nvSpPr>
        <p:spPr>
          <a:xfrm>
            <a:off x="571500" y="980480"/>
            <a:ext cx="3857625" cy="3509283"/>
          </a:xfrm>
          <a:prstGeom prst="rect">
            <a:avLst/>
          </a:prstGeom>
          <a:solidFill>
            <a:srgbClr val="F4F4F4"/>
          </a:solidFill>
          <a:ln/>
        </p:spPr>
        <p:txBody>
          <a:bodyPr/>
          <a:lstStyle/>
          <a:p>
            <a:endParaRPr lang="tr-TR"/>
          </a:p>
        </p:txBody>
      </p:sp>
      <p:sp>
        <p:nvSpPr>
          <p:cNvPr id="6" name="Shape 2"/>
          <p:cNvSpPr/>
          <p:nvPr/>
        </p:nvSpPr>
        <p:spPr>
          <a:xfrm>
            <a:off x="571500" y="980480"/>
            <a:ext cx="3857625" cy="35719"/>
          </a:xfrm>
          <a:prstGeom prst="rect">
            <a:avLst/>
          </a:prstGeom>
          <a:solidFill>
            <a:srgbClr val="000000"/>
          </a:solidFill>
          <a:ln/>
        </p:spPr>
        <p:txBody>
          <a:bodyPr/>
          <a:lstStyle/>
          <a:p>
            <a:endParaRPr lang="tr-TR"/>
          </a:p>
        </p:txBody>
      </p:sp>
      <p:sp>
        <p:nvSpPr>
          <p:cNvPr id="7" name="Text 3"/>
          <p:cNvSpPr/>
          <p:nvPr/>
        </p:nvSpPr>
        <p:spPr>
          <a:xfrm>
            <a:off x="714375" y="1294805"/>
            <a:ext cx="3571875" cy="233958"/>
          </a:xfrm>
          <a:prstGeom prst="rect">
            <a:avLst/>
          </a:prstGeom>
          <a:noFill/>
          <a:ln/>
        </p:spPr>
        <p:txBody>
          <a:bodyPr wrap="none" lIns="0" tIns="0" rIns="0" bIns="0" rtlCol="0" anchor="t">
            <a:spAutoFit/>
          </a:bodyPr>
          <a:lstStyle/>
          <a:p>
            <a:pPr marL="0" indent="0" algn="l">
              <a:lnSpc>
                <a:spcPts val="1600"/>
              </a:lnSpc>
              <a:buNone/>
            </a:pPr>
            <a:r>
              <a:rPr lang="en-US" sz="1193" b="1" dirty="0">
                <a:solidFill>
                  <a:srgbClr val="FF3B30"/>
                </a:solidFill>
              </a:rPr>
              <a:t>1. İleri Yayılım (Forward)</a:t>
            </a:r>
            <a:endParaRPr lang="en-US" sz="1193" dirty="0"/>
          </a:p>
        </p:txBody>
      </p:sp>
      <p:sp>
        <p:nvSpPr>
          <p:cNvPr id="8" name="Shape 4"/>
          <p:cNvSpPr/>
          <p:nvPr/>
        </p:nvSpPr>
        <p:spPr>
          <a:xfrm>
            <a:off x="717947" y="1635919"/>
            <a:ext cx="914177" cy="273248"/>
          </a:xfrm>
          <a:prstGeom prst="rect">
            <a:avLst/>
          </a:prstGeom>
          <a:solidFill>
            <a:srgbClr val="333333"/>
          </a:solidFill>
          <a:ln/>
        </p:spPr>
        <p:txBody>
          <a:bodyPr/>
          <a:lstStyle/>
          <a:p>
            <a:endParaRPr lang="tr-TR"/>
          </a:p>
        </p:txBody>
      </p:sp>
      <p:sp>
        <p:nvSpPr>
          <p:cNvPr id="9" name="Text 5"/>
          <p:cNvSpPr/>
          <p:nvPr/>
        </p:nvSpPr>
        <p:spPr>
          <a:xfrm>
            <a:off x="717947" y="1635919"/>
            <a:ext cx="914177" cy="273248"/>
          </a:xfrm>
          <a:prstGeom prst="rect">
            <a:avLst/>
          </a:prstGeom>
          <a:noFill/>
          <a:ln/>
        </p:spPr>
        <p:txBody>
          <a:bodyPr wrap="square" lIns="68072" tIns="68072" rIns="68072" bIns="68072" rtlCol="0" anchor="ctr">
            <a:spAutoFit/>
          </a:bodyPr>
          <a:lstStyle/>
          <a:p>
            <a:pPr marL="0" indent="0" algn="ctr">
              <a:lnSpc>
                <a:spcPts val="1100"/>
              </a:lnSpc>
              <a:buNone/>
            </a:pPr>
            <a:r>
              <a:rPr lang="en-US" sz="784" b="1" dirty="0">
                <a:solidFill>
                  <a:srgbClr val="FFFFFF"/>
                </a:solidFill>
              </a:rPr>
              <a:t>Giriş (x)</a:t>
            </a:r>
            <a:endParaRPr lang="en-US" sz="784" dirty="0"/>
          </a:p>
        </p:txBody>
      </p:sp>
      <p:sp>
        <p:nvSpPr>
          <p:cNvPr id="10" name="Shape 6"/>
          <p:cNvSpPr/>
          <p:nvPr/>
        </p:nvSpPr>
        <p:spPr>
          <a:xfrm>
            <a:off x="1632124" y="1635919"/>
            <a:ext cx="1162701" cy="273248"/>
          </a:xfrm>
          <a:prstGeom prst="rect">
            <a:avLst/>
          </a:prstGeom>
          <a:solidFill>
            <a:srgbClr val="333333"/>
          </a:solidFill>
          <a:ln/>
        </p:spPr>
        <p:txBody>
          <a:bodyPr/>
          <a:lstStyle/>
          <a:p>
            <a:endParaRPr lang="tr-TR"/>
          </a:p>
        </p:txBody>
      </p:sp>
      <p:sp>
        <p:nvSpPr>
          <p:cNvPr id="11" name="Text 7"/>
          <p:cNvSpPr/>
          <p:nvPr/>
        </p:nvSpPr>
        <p:spPr>
          <a:xfrm>
            <a:off x="1632124" y="1635919"/>
            <a:ext cx="1162701" cy="273248"/>
          </a:xfrm>
          <a:prstGeom prst="rect">
            <a:avLst/>
          </a:prstGeom>
          <a:noFill/>
          <a:ln/>
        </p:spPr>
        <p:txBody>
          <a:bodyPr wrap="square" lIns="68072" tIns="68072" rIns="68072" bIns="68072" rtlCol="0" anchor="ctr">
            <a:spAutoFit/>
          </a:bodyPr>
          <a:lstStyle/>
          <a:p>
            <a:pPr marL="0" indent="0" algn="ctr">
              <a:lnSpc>
                <a:spcPts val="1100"/>
              </a:lnSpc>
              <a:buNone/>
            </a:pPr>
            <a:r>
              <a:rPr lang="en-US" sz="784" b="1" dirty="0">
                <a:solidFill>
                  <a:srgbClr val="FFFFFF"/>
                </a:solidFill>
              </a:rPr>
              <a:t>Ağırlık (w)</a:t>
            </a:r>
            <a:endParaRPr lang="en-US" sz="784" dirty="0"/>
          </a:p>
        </p:txBody>
      </p:sp>
      <p:sp>
        <p:nvSpPr>
          <p:cNvPr id="12" name="Shape 8"/>
          <p:cNvSpPr/>
          <p:nvPr/>
        </p:nvSpPr>
        <p:spPr>
          <a:xfrm>
            <a:off x="2794825" y="1635919"/>
            <a:ext cx="1016617" cy="273248"/>
          </a:xfrm>
          <a:prstGeom prst="rect">
            <a:avLst/>
          </a:prstGeom>
          <a:solidFill>
            <a:srgbClr val="333333"/>
          </a:solidFill>
          <a:ln/>
        </p:spPr>
        <p:txBody>
          <a:bodyPr/>
          <a:lstStyle/>
          <a:p>
            <a:endParaRPr lang="tr-TR"/>
          </a:p>
        </p:txBody>
      </p:sp>
      <p:sp>
        <p:nvSpPr>
          <p:cNvPr id="13" name="Text 9"/>
          <p:cNvSpPr/>
          <p:nvPr/>
        </p:nvSpPr>
        <p:spPr>
          <a:xfrm>
            <a:off x="2794825" y="1635919"/>
            <a:ext cx="1016617" cy="273248"/>
          </a:xfrm>
          <a:prstGeom prst="rect">
            <a:avLst/>
          </a:prstGeom>
          <a:noFill/>
          <a:ln/>
        </p:spPr>
        <p:txBody>
          <a:bodyPr wrap="square" lIns="68072" tIns="68072" rIns="68072" bIns="68072" rtlCol="0" anchor="ctr">
            <a:spAutoFit/>
          </a:bodyPr>
          <a:lstStyle/>
          <a:p>
            <a:pPr marL="0" indent="0" algn="ctr">
              <a:lnSpc>
                <a:spcPts val="1100"/>
              </a:lnSpc>
              <a:buNone/>
            </a:pPr>
            <a:r>
              <a:rPr lang="en-US" sz="784" b="1" dirty="0">
                <a:solidFill>
                  <a:srgbClr val="FFFFFF"/>
                </a:solidFill>
              </a:rPr>
              <a:t>Hedef (t)</a:t>
            </a:r>
            <a:endParaRPr lang="en-US" sz="784" dirty="0"/>
          </a:p>
        </p:txBody>
      </p:sp>
      <p:sp>
        <p:nvSpPr>
          <p:cNvPr id="14" name="Shape 10"/>
          <p:cNvSpPr/>
          <p:nvPr/>
        </p:nvSpPr>
        <p:spPr>
          <a:xfrm>
            <a:off x="3811442" y="1635919"/>
            <a:ext cx="471236" cy="273248"/>
          </a:xfrm>
          <a:prstGeom prst="rect">
            <a:avLst/>
          </a:prstGeom>
          <a:solidFill>
            <a:srgbClr val="333333"/>
          </a:solidFill>
          <a:ln/>
        </p:spPr>
        <p:txBody>
          <a:bodyPr/>
          <a:lstStyle/>
          <a:p>
            <a:endParaRPr lang="tr-TR"/>
          </a:p>
        </p:txBody>
      </p:sp>
      <p:sp>
        <p:nvSpPr>
          <p:cNvPr id="15" name="Text 11"/>
          <p:cNvSpPr/>
          <p:nvPr/>
        </p:nvSpPr>
        <p:spPr>
          <a:xfrm>
            <a:off x="3811442" y="1635919"/>
            <a:ext cx="471236" cy="273248"/>
          </a:xfrm>
          <a:prstGeom prst="rect">
            <a:avLst/>
          </a:prstGeom>
          <a:noFill/>
          <a:ln/>
        </p:spPr>
        <p:txBody>
          <a:bodyPr wrap="square" lIns="68072" tIns="68072" rIns="68072" bIns="68072" rtlCol="0" anchor="ctr">
            <a:spAutoFit/>
          </a:bodyPr>
          <a:lstStyle/>
          <a:p>
            <a:pPr marL="0" indent="0" algn="ctr">
              <a:lnSpc>
                <a:spcPts val="1100"/>
              </a:lnSpc>
              <a:buNone/>
            </a:pPr>
            <a:r>
              <a:rPr lang="en-US" sz="784" b="1" dirty="0">
                <a:solidFill>
                  <a:srgbClr val="FFFFFF"/>
                </a:solidFill>
              </a:rPr>
              <a:t>η</a:t>
            </a:r>
            <a:endParaRPr lang="en-US" sz="784" dirty="0"/>
          </a:p>
        </p:txBody>
      </p:sp>
      <p:sp>
        <p:nvSpPr>
          <p:cNvPr id="16" name="Text 12"/>
          <p:cNvSpPr/>
          <p:nvPr/>
        </p:nvSpPr>
        <p:spPr>
          <a:xfrm>
            <a:off x="717947" y="1909167"/>
            <a:ext cx="914177" cy="276820"/>
          </a:xfrm>
          <a:prstGeom prst="rect">
            <a:avLst/>
          </a:prstGeom>
          <a:noFill/>
          <a:ln/>
        </p:spPr>
        <p:txBody>
          <a:bodyPr wrap="square" lIns="68072" tIns="68072" rIns="68072" bIns="68072" rtlCol="0" anchor="ctr">
            <a:spAutoFit/>
          </a:bodyPr>
          <a:lstStyle/>
          <a:p>
            <a:pPr marL="0" indent="0" algn="ctr">
              <a:lnSpc>
                <a:spcPts val="1100"/>
              </a:lnSpc>
              <a:buNone/>
            </a:pPr>
            <a:r>
              <a:rPr lang="en-US" sz="834" dirty="0">
                <a:solidFill>
                  <a:srgbClr val="333333"/>
                </a:solidFill>
              </a:rPr>
              <a:t>0.5</a:t>
            </a:r>
            <a:endParaRPr lang="en-US" sz="834" dirty="0"/>
          </a:p>
        </p:txBody>
      </p:sp>
      <p:sp>
        <p:nvSpPr>
          <p:cNvPr id="17" name="Text 13"/>
          <p:cNvSpPr/>
          <p:nvPr/>
        </p:nvSpPr>
        <p:spPr>
          <a:xfrm>
            <a:off x="1632124" y="1909167"/>
            <a:ext cx="1162701" cy="276820"/>
          </a:xfrm>
          <a:prstGeom prst="rect">
            <a:avLst/>
          </a:prstGeom>
          <a:noFill/>
          <a:ln/>
        </p:spPr>
        <p:txBody>
          <a:bodyPr wrap="square" lIns="68072" tIns="68072" rIns="68072" bIns="68072" rtlCol="0" anchor="ctr">
            <a:spAutoFit/>
          </a:bodyPr>
          <a:lstStyle/>
          <a:p>
            <a:pPr marL="0" indent="0" algn="ctr">
              <a:lnSpc>
                <a:spcPts val="1100"/>
              </a:lnSpc>
              <a:buNone/>
            </a:pPr>
            <a:r>
              <a:rPr lang="en-US" sz="834" dirty="0">
                <a:solidFill>
                  <a:srgbClr val="333333"/>
                </a:solidFill>
              </a:rPr>
              <a:t>0.8</a:t>
            </a:r>
            <a:endParaRPr lang="en-US" sz="834" dirty="0"/>
          </a:p>
        </p:txBody>
      </p:sp>
      <p:sp>
        <p:nvSpPr>
          <p:cNvPr id="18" name="Text 14"/>
          <p:cNvSpPr/>
          <p:nvPr/>
        </p:nvSpPr>
        <p:spPr>
          <a:xfrm>
            <a:off x="2794825" y="1909167"/>
            <a:ext cx="1016617" cy="276820"/>
          </a:xfrm>
          <a:prstGeom prst="rect">
            <a:avLst/>
          </a:prstGeom>
          <a:noFill/>
          <a:ln/>
        </p:spPr>
        <p:txBody>
          <a:bodyPr wrap="square" lIns="68072" tIns="68072" rIns="68072" bIns="68072" rtlCol="0" anchor="ctr">
            <a:spAutoFit/>
          </a:bodyPr>
          <a:lstStyle/>
          <a:p>
            <a:pPr marL="0" indent="0" algn="ctr">
              <a:lnSpc>
                <a:spcPts val="1100"/>
              </a:lnSpc>
              <a:buNone/>
            </a:pPr>
            <a:r>
              <a:rPr lang="en-US" sz="834" dirty="0">
                <a:solidFill>
                  <a:srgbClr val="333333"/>
                </a:solidFill>
              </a:rPr>
              <a:t>1.0</a:t>
            </a:r>
            <a:endParaRPr lang="en-US" sz="834" dirty="0"/>
          </a:p>
        </p:txBody>
      </p:sp>
      <p:sp>
        <p:nvSpPr>
          <p:cNvPr id="19" name="Text 15"/>
          <p:cNvSpPr/>
          <p:nvPr/>
        </p:nvSpPr>
        <p:spPr>
          <a:xfrm>
            <a:off x="3811442" y="1909167"/>
            <a:ext cx="471236" cy="276820"/>
          </a:xfrm>
          <a:prstGeom prst="rect">
            <a:avLst/>
          </a:prstGeom>
          <a:noFill/>
          <a:ln/>
        </p:spPr>
        <p:txBody>
          <a:bodyPr wrap="square" lIns="68072" tIns="68072" rIns="68072" bIns="68072" rtlCol="0" anchor="ctr">
            <a:spAutoFit/>
          </a:bodyPr>
          <a:lstStyle/>
          <a:p>
            <a:pPr marL="0" indent="0" algn="ctr">
              <a:lnSpc>
                <a:spcPts val="1100"/>
              </a:lnSpc>
              <a:buNone/>
            </a:pPr>
            <a:r>
              <a:rPr lang="en-US" sz="834" dirty="0">
                <a:solidFill>
                  <a:srgbClr val="333333"/>
                </a:solidFill>
              </a:rPr>
              <a:t>0.1</a:t>
            </a:r>
            <a:endParaRPr lang="en-US" sz="834" dirty="0"/>
          </a:p>
        </p:txBody>
      </p:sp>
      <p:sp>
        <p:nvSpPr>
          <p:cNvPr id="20" name="Text 16"/>
          <p:cNvSpPr/>
          <p:nvPr/>
        </p:nvSpPr>
        <p:spPr>
          <a:xfrm>
            <a:off x="714375" y="2298502"/>
            <a:ext cx="615172" cy="175022"/>
          </a:xfrm>
          <a:prstGeom prst="rect">
            <a:avLst/>
          </a:prstGeom>
          <a:noFill/>
          <a:ln/>
        </p:spPr>
        <p:txBody>
          <a:bodyPr wrap="none" lIns="0" tIns="0" rIns="0" bIns="0" rtlCol="0" anchor="t">
            <a:spAutoFit/>
          </a:bodyPr>
          <a:lstStyle/>
          <a:p>
            <a:pPr marL="0" indent="0" algn="l">
              <a:lnSpc>
                <a:spcPts val="1400"/>
              </a:lnSpc>
              <a:buNone/>
            </a:pPr>
            <a:r>
              <a:rPr lang="en-US" sz="885" b="1" dirty="0">
                <a:solidFill>
                  <a:srgbClr val="333333"/>
                </a:solidFill>
              </a:rPr>
              <a:t>Net Girdi:</a:t>
            </a:r>
            <a:endParaRPr lang="en-US" sz="885" dirty="0"/>
          </a:p>
        </p:txBody>
      </p:sp>
      <p:sp>
        <p:nvSpPr>
          <p:cNvPr id="21" name="Shape 17"/>
          <p:cNvSpPr/>
          <p:nvPr/>
        </p:nvSpPr>
        <p:spPr>
          <a:xfrm>
            <a:off x="714375" y="2512451"/>
            <a:ext cx="3571875" cy="348593"/>
          </a:xfrm>
          <a:prstGeom prst="rect">
            <a:avLst/>
          </a:prstGeom>
          <a:solidFill>
            <a:srgbClr val="FFFFFF"/>
          </a:solidFill>
          <a:ln w="9144">
            <a:solidFill>
              <a:srgbClr val="E0E0E0"/>
            </a:solidFill>
            <a:prstDash val="solid"/>
          </a:ln>
        </p:spPr>
        <p:txBody>
          <a:bodyPr/>
          <a:lstStyle/>
          <a:p>
            <a:endParaRPr lang="tr-TR"/>
          </a:p>
        </p:txBody>
      </p:sp>
      <p:sp>
        <p:nvSpPr>
          <p:cNvPr id="22" name="Text 18"/>
          <p:cNvSpPr/>
          <p:nvPr/>
        </p:nvSpPr>
        <p:spPr>
          <a:xfrm>
            <a:off x="714375" y="2512451"/>
            <a:ext cx="3571875" cy="348593"/>
          </a:xfrm>
          <a:prstGeom prst="rect">
            <a:avLst/>
          </a:prstGeom>
          <a:noFill/>
          <a:ln/>
        </p:spPr>
        <p:txBody>
          <a:bodyPr wrap="square" lIns="68072" tIns="68072" rIns="68072" bIns="68072" rtlCol="0" anchor="t">
            <a:spAutoFit/>
          </a:bodyPr>
          <a:lstStyle/>
          <a:p>
            <a:pPr marL="0" indent="0" algn="l">
              <a:lnSpc>
                <a:spcPts val="1700"/>
              </a:lnSpc>
              <a:buNone/>
            </a:pPr>
            <a:r>
              <a:rPr lang="en-US" sz="1159" i="1" dirty="0">
                <a:solidFill>
                  <a:srgbClr val="333333"/>
                </a:solidFill>
              </a:rPr>
              <a:t>z = x * w = 0.5 * 0.8 = 0.4</a:t>
            </a:r>
            <a:endParaRPr lang="en-US" sz="1159" dirty="0"/>
          </a:p>
        </p:txBody>
      </p:sp>
      <p:sp>
        <p:nvSpPr>
          <p:cNvPr id="23" name="Text 19"/>
          <p:cNvSpPr/>
          <p:nvPr/>
        </p:nvSpPr>
        <p:spPr>
          <a:xfrm>
            <a:off x="714375" y="2955699"/>
            <a:ext cx="1390687" cy="175022"/>
          </a:xfrm>
          <a:prstGeom prst="rect">
            <a:avLst/>
          </a:prstGeom>
          <a:noFill/>
          <a:ln/>
        </p:spPr>
        <p:txBody>
          <a:bodyPr wrap="none" lIns="0" tIns="0" rIns="0" bIns="0" rtlCol="0" anchor="t">
            <a:spAutoFit/>
          </a:bodyPr>
          <a:lstStyle/>
          <a:p>
            <a:pPr marL="0" indent="0" algn="l">
              <a:lnSpc>
                <a:spcPts val="1400"/>
              </a:lnSpc>
              <a:buNone/>
            </a:pPr>
            <a:r>
              <a:rPr lang="en-US" sz="885" b="1" dirty="0">
                <a:solidFill>
                  <a:srgbClr val="333333"/>
                </a:solidFill>
              </a:rPr>
              <a:t>Aktivasyon (Sigmoid):</a:t>
            </a:r>
            <a:endParaRPr lang="en-US" sz="885" dirty="0"/>
          </a:p>
        </p:txBody>
      </p:sp>
      <p:sp>
        <p:nvSpPr>
          <p:cNvPr id="24" name="Shape 20"/>
          <p:cNvSpPr/>
          <p:nvPr/>
        </p:nvSpPr>
        <p:spPr>
          <a:xfrm>
            <a:off x="714375" y="3169648"/>
            <a:ext cx="3571875" cy="348593"/>
          </a:xfrm>
          <a:prstGeom prst="rect">
            <a:avLst/>
          </a:prstGeom>
          <a:solidFill>
            <a:srgbClr val="FFFFFF"/>
          </a:solidFill>
          <a:ln w="9144">
            <a:solidFill>
              <a:srgbClr val="E0E0E0"/>
            </a:solidFill>
            <a:prstDash val="solid"/>
          </a:ln>
        </p:spPr>
        <p:txBody>
          <a:bodyPr/>
          <a:lstStyle/>
          <a:p>
            <a:endParaRPr lang="tr-TR"/>
          </a:p>
        </p:txBody>
      </p:sp>
      <p:sp>
        <p:nvSpPr>
          <p:cNvPr id="25" name="Text 21"/>
          <p:cNvSpPr/>
          <p:nvPr/>
        </p:nvSpPr>
        <p:spPr>
          <a:xfrm>
            <a:off x="714375" y="3169648"/>
            <a:ext cx="3571875" cy="348593"/>
          </a:xfrm>
          <a:prstGeom prst="rect">
            <a:avLst/>
          </a:prstGeom>
          <a:noFill/>
          <a:ln/>
        </p:spPr>
        <p:txBody>
          <a:bodyPr wrap="square" lIns="68072" tIns="68072" rIns="68072" bIns="68072" rtlCol="0" anchor="t">
            <a:spAutoFit/>
          </a:bodyPr>
          <a:lstStyle/>
          <a:p>
            <a:pPr marL="0" indent="0" algn="l">
              <a:lnSpc>
                <a:spcPts val="1700"/>
              </a:lnSpc>
              <a:buNone/>
            </a:pPr>
            <a:r>
              <a:rPr lang="en-US" sz="1159" i="1" dirty="0">
                <a:solidFill>
                  <a:srgbClr val="333333"/>
                </a:solidFill>
              </a:rPr>
              <a:t>ŷ = σ(0.4) ≈ 0.60</a:t>
            </a:r>
            <a:endParaRPr lang="en-US" sz="1159" dirty="0"/>
          </a:p>
        </p:txBody>
      </p:sp>
      <p:sp>
        <p:nvSpPr>
          <p:cNvPr id="26" name="Text 22"/>
          <p:cNvSpPr/>
          <p:nvPr/>
        </p:nvSpPr>
        <p:spPr>
          <a:xfrm>
            <a:off x="714375" y="3612896"/>
            <a:ext cx="778222" cy="175022"/>
          </a:xfrm>
          <a:prstGeom prst="rect">
            <a:avLst/>
          </a:prstGeom>
          <a:noFill/>
          <a:ln/>
        </p:spPr>
        <p:txBody>
          <a:bodyPr wrap="none" lIns="0" tIns="0" rIns="0" bIns="0" rtlCol="0" anchor="t">
            <a:spAutoFit/>
          </a:bodyPr>
          <a:lstStyle/>
          <a:p>
            <a:pPr marL="0" indent="0" algn="l">
              <a:lnSpc>
                <a:spcPts val="1400"/>
              </a:lnSpc>
              <a:buNone/>
            </a:pPr>
            <a:r>
              <a:rPr lang="en-US" sz="885" b="1" dirty="0">
                <a:solidFill>
                  <a:srgbClr val="333333"/>
                </a:solidFill>
              </a:rPr>
              <a:t>Kayıp (MSE):</a:t>
            </a:r>
            <a:endParaRPr lang="en-US" sz="885" dirty="0"/>
          </a:p>
        </p:txBody>
      </p:sp>
      <p:sp>
        <p:nvSpPr>
          <p:cNvPr id="27" name="Shape 23"/>
          <p:cNvSpPr/>
          <p:nvPr/>
        </p:nvSpPr>
        <p:spPr>
          <a:xfrm>
            <a:off x="714375" y="3826845"/>
            <a:ext cx="3571875" cy="348593"/>
          </a:xfrm>
          <a:prstGeom prst="rect">
            <a:avLst/>
          </a:prstGeom>
          <a:solidFill>
            <a:srgbClr val="FFFFFF"/>
          </a:solidFill>
          <a:ln w="9144">
            <a:solidFill>
              <a:srgbClr val="E0E0E0"/>
            </a:solidFill>
            <a:prstDash val="solid"/>
          </a:ln>
        </p:spPr>
        <p:txBody>
          <a:bodyPr/>
          <a:lstStyle/>
          <a:p>
            <a:endParaRPr lang="tr-TR"/>
          </a:p>
        </p:txBody>
      </p:sp>
      <p:sp>
        <p:nvSpPr>
          <p:cNvPr id="28" name="Text 24"/>
          <p:cNvSpPr/>
          <p:nvPr/>
        </p:nvSpPr>
        <p:spPr>
          <a:xfrm>
            <a:off x="714375" y="3826845"/>
            <a:ext cx="3571875" cy="348593"/>
          </a:xfrm>
          <a:prstGeom prst="rect">
            <a:avLst/>
          </a:prstGeom>
          <a:noFill/>
          <a:ln/>
        </p:spPr>
        <p:txBody>
          <a:bodyPr wrap="square" lIns="68072" tIns="68072" rIns="68072" bIns="68072" rtlCol="0" anchor="t">
            <a:spAutoFit/>
          </a:bodyPr>
          <a:lstStyle/>
          <a:p>
            <a:pPr marL="0" indent="0" algn="l">
              <a:lnSpc>
                <a:spcPts val="1700"/>
              </a:lnSpc>
              <a:buNone/>
            </a:pPr>
            <a:r>
              <a:rPr lang="en-US" sz="1159" i="1" dirty="0">
                <a:solidFill>
                  <a:srgbClr val="333333"/>
                </a:solidFill>
              </a:rPr>
              <a:t>L = (1 - 0.60)² = 0.16</a:t>
            </a:r>
            <a:endParaRPr lang="en-US" sz="1159" dirty="0"/>
          </a:p>
        </p:txBody>
      </p:sp>
      <p:sp>
        <p:nvSpPr>
          <p:cNvPr id="29" name="Shape 25"/>
          <p:cNvSpPr/>
          <p:nvPr/>
        </p:nvSpPr>
        <p:spPr>
          <a:xfrm>
            <a:off x="4714875" y="980480"/>
            <a:ext cx="3857625" cy="3430702"/>
          </a:xfrm>
          <a:prstGeom prst="rect">
            <a:avLst/>
          </a:prstGeom>
          <a:solidFill>
            <a:srgbClr val="F4F4F4"/>
          </a:solidFill>
          <a:ln/>
        </p:spPr>
        <p:txBody>
          <a:bodyPr/>
          <a:lstStyle/>
          <a:p>
            <a:endParaRPr lang="tr-TR"/>
          </a:p>
        </p:txBody>
      </p:sp>
      <p:sp>
        <p:nvSpPr>
          <p:cNvPr id="30" name="Shape 26"/>
          <p:cNvSpPr/>
          <p:nvPr/>
        </p:nvSpPr>
        <p:spPr>
          <a:xfrm>
            <a:off x="4714875" y="980480"/>
            <a:ext cx="3857625" cy="35719"/>
          </a:xfrm>
          <a:prstGeom prst="rect">
            <a:avLst/>
          </a:prstGeom>
          <a:solidFill>
            <a:srgbClr val="000000"/>
          </a:solidFill>
          <a:ln/>
        </p:spPr>
        <p:txBody>
          <a:bodyPr/>
          <a:lstStyle/>
          <a:p>
            <a:endParaRPr lang="tr-TR"/>
          </a:p>
        </p:txBody>
      </p:sp>
      <p:sp>
        <p:nvSpPr>
          <p:cNvPr id="31" name="Text 27"/>
          <p:cNvSpPr/>
          <p:nvPr/>
        </p:nvSpPr>
        <p:spPr>
          <a:xfrm>
            <a:off x="4857750" y="1294805"/>
            <a:ext cx="3571875" cy="233958"/>
          </a:xfrm>
          <a:prstGeom prst="rect">
            <a:avLst/>
          </a:prstGeom>
          <a:noFill/>
          <a:ln/>
        </p:spPr>
        <p:txBody>
          <a:bodyPr wrap="none" lIns="0" tIns="0" rIns="0" bIns="0" rtlCol="0" anchor="t">
            <a:spAutoFit/>
          </a:bodyPr>
          <a:lstStyle/>
          <a:p>
            <a:pPr marL="0" indent="0" algn="l">
              <a:lnSpc>
                <a:spcPts val="1600"/>
              </a:lnSpc>
              <a:buNone/>
            </a:pPr>
            <a:r>
              <a:rPr lang="en-US" sz="1193" b="1" dirty="0">
                <a:solidFill>
                  <a:srgbClr val="FF3B30"/>
                </a:solidFill>
              </a:rPr>
              <a:t>2. Geri Yayılım (Backward)</a:t>
            </a:r>
            <a:endParaRPr lang="en-US" sz="1193" dirty="0"/>
          </a:p>
        </p:txBody>
      </p:sp>
      <p:sp>
        <p:nvSpPr>
          <p:cNvPr id="32" name="Text 28"/>
          <p:cNvSpPr/>
          <p:nvPr/>
        </p:nvSpPr>
        <p:spPr>
          <a:xfrm>
            <a:off x="4857750" y="1637705"/>
            <a:ext cx="1538808" cy="175022"/>
          </a:xfrm>
          <a:prstGeom prst="rect">
            <a:avLst/>
          </a:prstGeom>
          <a:noFill/>
          <a:ln/>
        </p:spPr>
        <p:txBody>
          <a:bodyPr wrap="none" lIns="0" tIns="0" rIns="0" bIns="0" rtlCol="0" anchor="t">
            <a:spAutoFit/>
          </a:bodyPr>
          <a:lstStyle/>
          <a:p>
            <a:pPr marL="0" indent="0" algn="l">
              <a:lnSpc>
                <a:spcPts val="1400"/>
              </a:lnSpc>
              <a:buNone/>
            </a:pPr>
            <a:r>
              <a:rPr lang="en-US" sz="885" b="1" dirty="0">
                <a:solidFill>
                  <a:srgbClr val="333333"/>
                </a:solidFill>
              </a:rPr>
              <a:t>Hata Gradyanı (∂L/∂ŷ):</a:t>
            </a:r>
            <a:endParaRPr lang="en-US" sz="885" dirty="0"/>
          </a:p>
        </p:txBody>
      </p:sp>
      <p:sp>
        <p:nvSpPr>
          <p:cNvPr id="33" name="Shape 29"/>
          <p:cNvSpPr/>
          <p:nvPr/>
        </p:nvSpPr>
        <p:spPr>
          <a:xfrm>
            <a:off x="4857750" y="1851654"/>
            <a:ext cx="3571875" cy="348593"/>
          </a:xfrm>
          <a:prstGeom prst="rect">
            <a:avLst/>
          </a:prstGeom>
          <a:solidFill>
            <a:srgbClr val="FFFFFF"/>
          </a:solidFill>
          <a:ln w="9144">
            <a:solidFill>
              <a:srgbClr val="E0E0E0"/>
            </a:solidFill>
            <a:prstDash val="solid"/>
          </a:ln>
        </p:spPr>
        <p:txBody>
          <a:bodyPr/>
          <a:lstStyle/>
          <a:p>
            <a:endParaRPr lang="tr-TR"/>
          </a:p>
        </p:txBody>
      </p:sp>
      <p:sp>
        <p:nvSpPr>
          <p:cNvPr id="34" name="Text 30"/>
          <p:cNvSpPr/>
          <p:nvPr/>
        </p:nvSpPr>
        <p:spPr>
          <a:xfrm>
            <a:off x="4857750" y="1851654"/>
            <a:ext cx="3571875" cy="348593"/>
          </a:xfrm>
          <a:prstGeom prst="rect">
            <a:avLst/>
          </a:prstGeom>
          <a:noFill/>
          <a:ln/>
        </p:spPr>
        <p:txBody>
          <a:bodyPr wrap="square" lIns="68072" tIns="68072" rIns="68072" bIns="68072" rtlCol="0" anchor="t">
            <a:spAutoFit/>
          </a:bodyPr>
          <a:lstStyle/>
          <a:p>
            <a:pPr marL="0" indent="0" algn="l">
              <a:lnSpc>
                <a:spcPts val="1700"/>
              </a:lnSpc>
              <a:buNone/>
            </a:pPr>
            <a:r>
              <a:rPr lang="en-US" sz="1159" i="1" dirty="0">
                <a:solidFill>
                  <a:srgbClr val="333333"/>
                </a:solidFill>
              </a:rPr>
              <a:t>∂L/∂ŷ = -2 * (1 - 0.60) = -0.8</a:t>
            </a:r>
            <a:endParaRPr lang="en-US" sz="1159" dirty="0"/>
          </a:p>
        </p:txBody>
      </p:sp>
      <p:sp>
        <p:nvSpPr>
          <p:cNvPr id="35" name="Text 31"/>
          <p:cNvSpPr/>
          <p:nvPr/>
        </p:nvSpPr>
        <p:spPr>
          <a:xfrm>
            <a:off x="4857750" y="2294902"/>
            <a:ext cx="1746479" cy="175022"/>
          </a:xfrm>
          <a:prstGeom prst="rect">
            <a:avLst/>
          </a:prstGeom>
          <a:noFill/>
          <a:ln/>
        </p:spPr>
        <p:txBody>
          <a:bodyPr wrap="none" lIns="0" tIns="0" rIns="0" bIns="0" rtlCol="0" anchor="t">
            <a:spAutoFit/>
          </a:bodyPr>
          <a:lstStyle/>
          <a:p>
            <a:pPr marL="0" indent="0" algn="l">
              <a:lnSpc>
                <a:spcPts val="1400"/>
              </a:lnSpc>
              <a:buNone/>
            </a:pPr>
            <a:r>
              <a:rPr lang="en-US" sz="885" b="1" dirty="0">
                <a:solidFill>
                  <a:srgbClr val="333333"/>
                </a:solidFill>
              </a:rPr>
              <a:t>Aktivasyon Türevi (∂ŷ/∂z):</a:t>
            </a:r>
            <a:endParaRPr lang="en-US" sz="885" dirty="0"/>
          </a:p>
        </p:txBody>
      </p:sp>
      <p:sp>
        <p:nvSpPr>
          <p:cNvPr id="36" name="Shape 32"/>
          <p:cNvSpPr/>
          <p:nvPr/>
        </p:nvSpPr>
        <p:spPr>
          <a:xfrm>
            <a:off x="4857750" y="2508852"/>
            <a:ext cx="3571875" cy="348593"/>
          </a:xfrm>
          <a:prstGeom prst="rect">
            <a:avLst/>
          </a:prstGeom>
          <a:solidFill>
            <a:srgbClr val="FFFFFF"/>
          </a:solidFill>
          <a:ln w="9144">
            <a:solidFill>
              <a:srgbClr val="E0E0E0"/>
            </a:solidFill>
            <a:prstDash val="solid"/>
          </a:ln>
        </p:spPr>
        <p:txBody>
          <a:bodyPr/>
          <a:lstStyle/>
          <a:p>
            <a:endParaRPr lang="tr-TR"/>
          </a:p>
        </p:txBody>
      </p:sp>
      <p:sp>
        <p:nvSpPr>
          <p:cNvPr id="37" name="Text 33"/>
          <p:cNvSpPr/>
          <p:nvPr/>
        </p:nvSpPr>
        <p:spPr>
          <a:xfrm>
            <a:off x="4857750" y="2508852"/>
            <a:ext cx="3571875" cy="348593"/>
          </a:xfrm>
          <a:prstGeom prst="rect">
            <a:avLst/>
          </a:prstGeom>
          <a:noFill/>
          <a:ln/>
        </p:spPr>
        <p:txBody>
          <a:bodyPr wrap="square" lIns="68072" tIns="68072" rIns="68072" bIns="68072" rtlCol="0" anchor="t">
            <a:spAutoFit/>
          </a:bodyPr>
          <a:lstStyle/>
          <a:p>
            <a:pPr marL="0" indent="0" algn="l">
              <a:lnSpc>
                <a:spcPts val="1700"/>
              </a:lnSpc>
              <a:buNone/>
            </a:pPr>
            <a:r>
              <a:rPr lang="en-US" sz="1159" i="1" dirty="0">
                <a:solidFill>
                  <a:srgbClr val="333333"/>
                </a:solidFill>
              </a:rPr>
              <a:t>∂ŷ/∂z = 0.60 * (1 - 0.60) = 0.24</a:t>
            </a:r>
            <a:endParaRPr lang="en-US" sz="1159" dirty="0"/>
          </a:p>
        </p:txBody>
      </p:sp>
      <p:sp>
        <p:nvSpPr>
          <p:cNvPr id="38" name="Text 34"/>
          <p:cNvSpPr/>
          <p:nvPr/>
        </p:nvSpPr>
        <p:spPr>
          <a:xfrm>
            <a:off x="4857750" y="2952099"/>
            <a:ext cx="1256826" cy="175022"/>
          </a:xfrm>
          <a:prstGeom prst="rect">
            <a:avLst/>
          </a:prstGeom>
          <a:noFill/>
          <a:ln/>
        </p:spPr>
        <p:txBody>
          <a:bodyPr wrap="none" lIns="0" tIns="0" rIns="0" bIns="0" rtlCol="0" anchor="t">
            <a:spAutoFit/>
          </a:bodyPr>
          <a:lstStyle/>
          <a:p>
            <a:pPr marL="0" indent="0" algn="l">
              <a:lnSpc>
                <a:spcPts val="1400"/>
              </a:lnSpc>
              <a:buNone/>
            </a:pPr>
            <a:r>
              <a:rPr lang="en-US" sz="885" b="1" dirty="0">
                <a:solidFill>
                  <a:srgbClr val="333333"/>
                </a:solidFill>
              </a:rPr>
              <a:t>Ağırlık Güncelleme:</a:t>
            </a:r>
            <a:endParaRPr lang="en-US" sz="885" dirty="0"/>
          </a:p>
        </p:txBody>
      </p:sp>
      <p:sp>
        <p:nvSpPr>
          <p:cNvPr id="39" name="Shape 35"/>
          <p:cNvSpPr/>
          <p:nvPr/>
        </p:nvSpPr>
        <p:spPr>
          <a:xfrm>
            <a:off x="4857750" y="3166049"/>
            <a:ext cx="3571875" cy="348593"/>
          </a:xfrm>
          <a:prstGeom prst="rect">
            <a:avLst/>
          </a:prstGeom>
          <a:solidFill>
            <a:srgbClr val="FFFFFF"/>
          </a:solidFill>
          <a:ln w="9144">
            <a:solidFill>
              <a:srgbClr val="E0E0E0"/>
            </a:solidFill>
            <a:prstDash val="solid"/>
          </a:ln>
        </p:spPr>
        <p:txBody>
          <a:bodyPr/>
          <a:lstStyle/>
          <a:p>
            <a:endParaRPr lang="tr-TR"/>
          </a:p>
        </p:txBody>
      </p:sp>
      <p:sp>
        <p:nvSpPr>
          <p:cNvPr id="40" name="Text 36"/>
          <p:cNvSpPr/>
          <p:nvPr/>
        </p:nvSpPr>
        <p:spPr>
          <a:xfrm>
            <a:off x="4857750" y="3166049"/>
            <a:ext cx="3571875" cy="348593"/>
          </a:xfrm>
          <a:prstGeom prst="rect">
            <a:avLst/>
          </a:prstGeom>
          <a:noFill/>
          <a:ln/>
        </p:spPr>
        <p:txBody>
          <a:bodyPr wrap="square" lIns="68072" tIns="68072" rIns="68072" bIns="68072" rtlCol="0" anchor="t">
            <a:spAutoFit/>
          </a:bodyPr>
          <a:lstStyle/>
          <a:p>
            <a:pPr marL="0" indent="0" algn="l">
              <a:lnSpc>
                <a:spcPts val="1700"/>
              </a:lnSpc>
              <a:buNone/>
            </a:pPr>
            <a:r>
              <a:rPr lang="en-US" sz="1159" i="1" dirty="0">
                <a:solidFill>
                  <a:srgbClr val="333333"/>
                </a:solidFill>
              </a:rPr>
              <a:t>Δw = η * (-0.8 * 0.24 * 0.5) = -0.0096</a:t>
            </a:r>
            <a:endParaRPr lang="en-US" sz="1159" dirty="0"/>
          </a:p>
        </p:txBody>
      </p:sp>
      <p:sp>
        <p:nvSpPr>
          <p:cNvPr id="41" name="Shape 37"/>
          <p:cNvSpPr/>
          <p:nvPr/>
        </p:nvSpPr>
        <p:spPr>
          <a:xfrm>
            <a:off x="4857750" y="3536073"/>
            <a:ext cx="3571875" cy="348593"/>
          </a:xfrm>
          <a:prstGeom prst="rect">
            <a:avLst/>
          </a:prstGeom>
          <a:solidFill>
            <a:srgbClr val="FFFFFF"/>
          </a:solidFill>
          <a:ln w="9144">
            <a:solidFill>
              <a:srgbClr val="E0E0E0"/>
            </a:solidFill>
            <a:prstDash val="solid"/>
          </a:ln>
        </p:spPr>
        <p:txBody>
          <a:bodyPr/>
          <a:lstStyle/>
          <a:p>
            <a:endParaRPr lang="tr-TR"/>
          </a:p>
        </p:txBody>
      </p:sp>
      <p:sp>
        <p:nvSpPr>
          <p:cNvPr id="42" name="Text 38"/>
          <p:cNvSpPr/>
          <p:nvPr/>
        </p:nvSpPr>
        <p:spPr>
          <a:xfrm>
            <a:off x="4857750" y="3536073"/>
            <a:ext cx="3571875" cy="348593"/>
          </a:xfrm>
          <a:prstGeom prst="rect">
            <a:avLst/>
          </a:prstGeom>
          <a:noFill/>
          <a:ln/>
        </p:spPr>
        <p:txBody>
          <a:bodyPr wrap="square" lIns="68072" tIns="68072" rIns="68072" bIns="68072" rtlCol="0" anchor="t">
            <a:spAutoFit/>
          </a:bodyPr>
          <a:lstStyle/>
          <a:p>
            <a:pPr marL="0" indent="0" algn="l">
              <a:lnSpc>
                <a:spcPts val="1700"/>
              </a:lnSpc>
              <a:buNone/>
            </a:pPr>
            <a:r>
              <a:rPr lang="en-US" sz="1159" i="1" dirty="0">
                <a:solidFill>
                  <a:srgbClr val="333333"/>
                </a:solidFill>
              </a:rPr>
              <a:t>w_yeni = 0.8 - (-0.0096) = 0.8096</a:t>
            </a:r>
            <a:endParaRPr lang="en-US" sz="1159"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4" name="Text 0"/>
          <p:cNvSpPr/>
          <p:nvPr/>
        </p:nvSpPr>
        <p:spPr>
          <a:xfrm>
            <a:off x="571500" y="357188"/>
            <a:ext cx="8572500" cy="408980"/>
          </a:xfrm>
          <a:prstGeom prst="rect">
            <a:avLst/>
          </a:prstGeom>
          <a:noFill/>
          <a:ln/>
        </p:spPr>
        <p:txBody>
          <a:bodyPr wrap="none" lIns="0" tIns="0" rIns="0" bIns="0" rtlCol="0" anchor="t">
            <a:spAutoFit/>
          </a:bodyPr>
          <a:lstStyle/>
          <a:p>
            <a:pPr marL="0" indent="0" algn="l">
              <a:lnSpc>
                <a:spcPts val="2800"/>
              </a:lnSpc>
              <a:buNone/>
            </a:pPr>
            <a:r>
              <a:rPr lang="en-US" sz="2121" b="1" dirty="0">
                <a:solidFill>
                  <a:srgbClr val="000000"/>
                </a:solidFill>
              </a:rPr>
              <a:t>Overfitting ve Düzenlileştirme</a:t>
            </a:r>
            <a:endParaRPr lang="en-US" sz="2121" dirty="0"/>
          </a:p>
        </p:txBody>
      </p:sp>
      <p:sp>
        <p:nvSpPr>
          <p:cNvPr id="5" name="Shape 1"/>
          <p:cNvSpPr/>
          <p:nvPr/>
        </p:nvSpPr>
        <p:spPr>
          <a:xfrm>
            <a:off x="571500" y="1051917"/>
            <a:ext cx="3086100" cy="3528538"/>
          </a:xfrm>
          <a:prstGeom prst="rect">
            <a:avLst/>
          </a:prstGeom>
          <a:solidFill>
            <a:srgbClr val="000000"/>
          </a:solidFill>
          <a:ln/>
        </p:spPr>
        <p:txBody>
          <a:bodyPr/>
          <a:lstStyle/>
          <a:p>
            <a:endParaRPr lang="tr-TR"/>
          </a:p>
        </p:txBody>
      </p:sp>
      <p:sp>
        <p:nvSpPr>
          <p:cNvPr id="6" name="Shape 2"/>
          <p:cNvSpPr/>
          <p:nvPr/>
        </p:nvSpPr>
        <p:spPr>
          <a:xfrm>
            <a:off x="571500" y="1051917"/>
            <a:ext cx="57150" cy="3528538"/>
          </a:xfrm>
          <a:prstGeom prst="rect">
            <a:avLst/>
          </a:prstGeom>
          <a:solidFill>
            <a:srgbClr val="FF3B30"/>
          </a:solidFill>
          <a:ln/>
        </p:spPr>
        <p:txBody>
          <a:bodyPr/>
          <a:lstStyle/>
          <a:p>
            <a:endParaRPr lang="tr-TR"/>
          </a:p>
        </p:txBody>
      </p:sp>
      <p:sp>
        <p:nvSpPr>
          <p:cNvPr id="7" name="Text 3"/>
          <p:cNvSpPr/>
          <p:nvPr/>
        </p:nvSpPr>
        <p:spPr>
          <a:xfrm>
            <a:off x="785813" y="1437680"/>
            <a:ext cx="2657475" cy="233958"/>
          </a:xfrm>
          <a:prstGeom prst="rect">
            <a:avLst/>
          </a:prstGeom>
          <a:noFill/>
          <a:ln/>
        </p:spPr>
        <p:txBody>
          <a:bodyPr wrap="none" lIns="0" tIns="0" rIns="0" bIns="0" rtlCol="0" anchor="t">
            <a:spAutoFit/>
          </a:bodyPr>
          <a:lstStyle/>
          <a:p>
            <a:pPr marL="0" indent="0" algn="l">
              <a:lnSpc>
                <a:spcPts val="1600"/>
              </a:lnSpc>
              <a:buNone/>
            </a:pPr>
            <a:r>
              <a:rPr lang="en-US" sz="1193" b="1" dirty="0">
                <a:solidFill>
                  <a:srgbClr val="FF3B30"/>
                </a:solidFill>
              </a:rPr>
              <a:t>Aşırı Öğrenme (Overfitting)</a:t>
            </a:r>
            <a:endParaRPr lang="en-US" sz="1193" dirty="0"/>
          </a:p>
        </p:txBody>
      </p:sp>
      <p:sp>
        <p:nvSpPr>
          <p:cNvPr id="8" name="Text 4"/>
          <p:cNvSpPr/>
          <p:nvPr/>
        </p:nvSpPr>
        <p:spPr>
          <a:xfrm>
            <a:off x="785813" y="1800225"/>
            <a:ext cx="2657475" cy="822871"/>
          </a:xfrm>
          <a:prstGeom prst="rect">
            <a:avLst/>
          </a:prstGeom>
          <a:noFill/>
          <a:ln/>
        </p:spPr>
        <p:txBody>
          <a:bodyPr wrap="square" lIns="0" tIns="0" rIns="0" bIns="0" rtlCol="0" anchor="t">
            <a:spAutoFit/>
          </a:bodyPr>
          <a:lstStyle/>
          <a:p>
            <a:pPr marL="0" indent="0" algn="l">
              <a:lnSpc>
                <a:spcPts val="1600"/>
              </a:lnSpc>
              <a:buNone/>
            </a:pPr>
            <a:r>
              <a:rPr lang="en-US" sz="942" dirty="0">
                <a:solidFill>
                  <a:srgbClr val="FFFFFF"/>
                </a:solidFill>
              </a:rPr>
              <a:t>Modelin eğitim verisindeki gürültüyü ve detayları ezberlemesi, ancak yeni (görülmemiş) verilerde başarısız olması durumudur.</a:t>
            </a:r>
            <a:endParaRPr lang="en-US" sz="942" dirty="0"/>
          </a:p>
        </p:txBody>
      </p:sp>
      <p:sp>
        <p:nvSpPr>
          <p:cNvPr id="9" name="Text 5"/>
          <p:cNvSpPr/>
          <p:nvPr/>
        </p:nvSpPr>
        <p:spPr>
          <a:xfrm>
            <a:off x="785813" y="2765971"/>
            <a:ext cx="2657475" cy="310753"/>
          </a:xfrm>
          <a:prstGeom prst="rect">
            <a:avLst/>
          </a:prstGeom>
          <a:noFill/>
          <a:ln/>
        </p:spPr>
        <p:txBody>
          <a:bodyPr wrap="square" lIns="0" tIns="0" rIns="0" bIns="0" rtlCol="0" anchor="t">
            <a:spAutoFit/>
          </a:bodyPr>
          <a:lstStyle/>
          <a:p>
            <a:pPr marL="0" indent="0" algn="l">
              <a:lnSpc>
                <a:spcPts val="1100"/>
              </a:lnSpc>
              <a:buNone/>
            </a:pPr>
            <a:r>
              <a:rPr lang="en-US" sz="834" dirty="0">
                <a:solidFill>
                  <a:srgbClr val="CCCCCC"/>
                </a:solidFill>
              </a:rPr>
              <a:t>Belirti: Eğitim hatası çok düşük, test hatası çok yüksek.</a:t>
            </a:r>
            <a:endParaRPr lang="en-US" sz="834" dirty="0"/>
          </a:p>
        </p:txBody>
      </p:sp>
      <p:sp>
        <p:nvSpPr>
          <p:cNvPr id="10" name="Shape 6"/>
          <p:cNvSpPr/>
          <p:nvPr/>
        </p:nvSpPr>
        <p:spPr>
          <a:xfrm>
            <a:off x="3943350" y="1051917"/>
            <a:ext cx="4629150" cy="1104742"/>
          </a:xfrm>
          <a:prstGeom prst="rect">
            <a:avLst/>
          </a:prstGeom>
          <a:solidFill>
            <a:srgbClr val="F4F4F4"/>
          </a:solidFill>
          <a:ln/>
        </p:spPr>
        <p:txBody>
          <a:bodyPr/>
          <a:lstStyle/>
          <a:p>
            <a:endParaRPr lang="tr-TR"/>
          </a:p>
        </p:txBody>
      </p:sp>
      <p:sp>
        <p:nvSpPr>
          <p:cNvPr id="11" name="Shape 7"/>
          <p:cNvSpPr/>
          <p:nvPr/>
        </p:nvSpPr>
        <p:spPr>
          <a:xfrm>
            <a:off x="3943350" y="1051917"/>
            <a:ext cx="4629150" cy="28575"/>
          </a:xfrm>
          <a:prstGeom prst="rect">
            <a:avLst/>
          </a:prstGeom>
          <a:solidFill>
            <a:srgbClr val="000000"/>
          </a:solidFill>
          <a:ln/>
        </p:spPr>
        <p:txBody>
          <a:bodyPr/>
          <a:lstStyle/>
          <a:p>
            <a:endParaRPr lang="tr-TR"/>
          </a:p>
        </p:txBody>
      </p:sp>
      <p:sp>
        <p:nvSpPr>
          <p:cNvPr id="12" name="Text 8"/>
          <p:cNvSpPr/>
          <p:nvPr/>
        </p:nvSpPr>
        <p:spPr>
          <a:xfrm>
            <a:off x="4086225" y="1384799"/>
            <a:ext cx="4343400" cy="194667"/>
          </a:xfrm>
          <a:prstGeom prst="rect">
            <a:avLst/>
          </a:prstGeom>
          <a:noFill/>
          <a:ln/>
        </p:spPr>
        <p:txBody>
          <a:bodyPr wrap="none" lIns="0" tIns="0" rIns="0" bIns="0" rtlCol="0" anchor="t">
            <a:spAutoFit/>
          </a:bodyPr>
          <a:lstStyle/>
          <a:p>
            <a:pPr marL="0" indent="0" algn="l">
              <a:lnSpc>
                <a:spcPts val="1400"/>
              </a:lnSpc>
              <a:buNone/>
            </a:pPr>
            <a:r>
              <a:rPr lang="en-US" sz="987" b="1" dirty="0">
                <a:solidFill>
                  <a:srgbClr val="000000"/>
                </a:solidFill>
              </a:rPr>
              <a:t>L1 &amp; L2 Düzenlileştirme</a:t>
            </a:r>
            <a:endParaRPr lang="en-US" sz="987" dirty="0"/>
          </a:p>
        </p:txBody>
      </p:sp>
      <p:sp>
        <p:nvSpPr>
          <p:cNvPr id="13" name="Text 9"/>
          <p:cNvSpPr/>
          <p:nvPr/>
        </p:nvSpPr>
        <p:spPr>
          <a:xfrm>
            <a:off x="4086225" y="1693766"/>
            <a:ext cx="4343400" cy="320018"/>
          </a:xfrm>
          <a:prstGeom prst="rect">
            <a:avLst/>
          </a:prstGeom>
          <a:noFill/>
          <a:ln/>
        </p:spPr>
        <p:txBody>
          <a:bodyPr wrap="square" lIns="0" tIns="0" rIns="0" bIns="0" rtlCol="0" anchor="t">
            <a:spAutoFit/>
          </a:bodyPr>
          <a:lstStyle/>
          <a:p>
            <a:pPr marL="0" indent="0" algn="l">
              <a:lnSpc>
                <a:spcPts val="1300"/>
              </a:lnSpc>
              <a:buNone/>
            </a:pPr>
            <a:r>
              <a:rPr lang="en-US" sz="834" dirty="0">
                <a:solidFill>
                  <a:srgbClr val="333333"/>
                </a:solidFill>
              </a:rPr>
              <a:t>Kayıp fonksiyonuna ağırlıkların büyüklüğünü ekleyerek (Penalty), modelin çok karmaşık hale gelmesini engeller. </a:t>
            </a:r>
            <a:r>
              <a:rPr lang="en-US" sz="784" b="1" i="1" dirty="0">
                <a:solidFill>
                  <a:srgbClr val="333333"/>
                </a:solidFill>
              </a:rPr>
              <a:t>L = Loss + λΣ|w|</a:t>
            </a:r>
            <a:endParaRPr lang="en-US" sz="834" dirty="0"/>
          </a:p>
        </p:txBody>
      </p:sp>
      <p:sp>
        <p:nvSpPr>
          <p:cNvPr id="14" name="Shape 10"/>
          <p:cNvSpPr/>
          <p:nvPr/>
        </p:nvSpPr>
        <p:spPr>
          <a:xfrm>
            <a:off x="3943350" y="2235240"/>
            <a:ext cx="4629150" cy="1104742"/>
          </a:xfrm>
          <a:prstGeom prst="rect">
            <a:avLst/>
          </a:prstGeom>
          <a:solidFill>
            <a:srgbClr val="F4F4F4"/>
          </a:solidFill>
          <a:ln/>
        </p:spPr>
        <p:txBody>
          <a:bodyPr/>
          <a:lstStyle/>
          <a:p>
            <a:endParaRPr lang="tr-TR"/>
          </a:p>
        </p:txBody>
      </p:sp>
      <p:sp>
        <p:nvSpPr>
          <p:cNvPr id="15" name="Shape 11"/>
          <p:cNvSpPr/>
          <p:nvPr/>
        </p:nvSpPr>
        <p:spPr>
          <a:xfrm>
            <a:off x="3943350" y="2235240"/>
            <a:ext cx="4629150" cy="28575"/>
          </a:xfrm>
          <a:prstGeom prst="rect">
            <a:avLst/>
          </a:prstGeom>
          <a:solidFill>
            <a:srgbClr val="000000"/>
          </a:solidFill>
          <a:ln/>
        </p:spPr>
        <p:txBody>
          <a:bodyPr/>
          <a:lstStyle/>
          <a:p>
            <a:endParaRPr lang="tr-TR"/>
          </a:p>
        </p:txBody>
      </p:sp>
      <p:sp>
        <p:nvSpPr>
          <p:cNvPr id="16" name="Text 12"/>
          <p:cNvSpPr/>
          <p:nvPr/>
        </p:nvSpPr>
        <p:spPr>
          <a:xfrm>
            <a:off x="4086225" y="2568122"/>
            <a:ext cx="4343400" cy="194667"/>
          </a:xfrm>
          <a:prstGeom prst="rect">
            <a:avLst/>
          </a:prstGeom>
          <a:noFill/>
          <a:ln/>
        </p:spPr>
        <p:txBody>
          <a:bodyPr wrap="none" lIns="0" tIns="0" rIns="0" bIns="0" rtlCol="0" anchor="t">
            <a:spAutoFit/>
          </a:bodyPr>
          <a:lstStyle/>
          <a:p>
            <a:pPr marL="0" indent="0" algn="l">
              <a:lnSpc>
                <a:spcPts val="1400"/>
              </a:lnSpc>
              <a:buNone/>
            </a:pPr>
            <a:r>
              <a:rPr lang="en-US" sz="987" b="1" dirty="0">
                <a:solidFill>
                  <a:srgbClr val="000000"/>
                </a:solidFill>
              </a:rPr>
              <a:t>Dropout</a:t>
            </a:r>
            <a:endParaRPr lang="en-US" sz="987" dirty="0"/>
          </a:p>
        </p:txBody>
      </p:sp>
      <p:sp>
        <p:nvSpPr>
          <p:cNvPr id="17" name="Text 13"/>
          <p:cNvSpPr/>
          <p:nvPr/>
        </p:nvSpPr>
        <p:spPr>
          <a:xfrm>
            <a:off x="4086225" y="2877090"/>
            <a:ext cx="4343400" cy="320018"/>
          </a:xfrm>
          <a:prstGeom prst="rect">
            <a:avLst/>
          </a:prstGeom>
          <a:noFill/>
          <a:ln/>
        </p:spPr>
        <p:txBody>
          <a:bodyPr wrap="square" lIns="0" tIns="0" rIns="0" bIns="0" rtlCol="0" anchor="t">
            <a:spAutoFit/>
          </a:bodyPr>
          <a:lstStyle/>
          <a:p>
            <a:pPr marL="0" indent="0" algn="l">
              <a:lnSpc>
                <a:spcPts val="1300"/>
              </a:lnSpc>
              <a:buNone/>
            </a:pPr>
            <a:r>
              <a:rPr lang="en-US" sz="834" dirty="0">
                <a:solidFill>
                  <a:srgbClr val="333333"/>
                </a:solidFill>
              </a:rPr>
              <a:t>Eğitim sırasında her adımda nöronların belirli bir kısmını rastgele devre dışı bırakır. Bu, ağın belirli nöronlara aşırı bağımlı olmasını önler.</a:t>
            </a:r>
            <a:endParaRPr lang="en-US" sz="834" dirty="0"/>
          </a:p>
        </p:txBody>
      </p:sp>
      <p:sp>
        <p:nvSpPr>
          <p:cNvPr id="18" name="Shape 14"/>
          <p:cNvSpPr/>
          <p:nvPr/>
        </p:nvSpPr>
        <p:spPr>
          <a:xfrm>
            <a:off x="3943350" y="3418563"/>
            <a:ext cx="4629150" cy="1104742"/>
          </a:xfrm>
          <a:prstGeom prst="rect">
            <a:avLst/>
          </a:prstGeom>
          <a:solidFill>
            <a:srgbClr val="F4F4F4"/>
          </a:solidFill>
          <a:ln/>
        </p:spPr>
        <p:txBody>
          <a:bodyPr/>
          <a:lstStyle/>
          <a:p>
            <a:endParaRPr lang="tr-TR"/>
          </a:p>
        </p:txBody>
      </p:sp>
      <p:sp>
        <p:nvSpPr>
          <p:cNvPr id="19" name="Shape 15"/>
          <p:cNvSpPr/>
          <p:nvPr/>
        </p:nvSpPr>
        <p:spPr>
          <a:xfrm>
            <a:off x="3943350" y="3418563"/>
            <a:ext cx="4629150" cy="28575"/>
          </a:xfrm>
          <a:prstGeom prst="rect">
            <a:avLst/>
          </a:prstGeom>
          <a:solidFill>
            <a:srgbClr val="000000"/>
          </a:solidFill>
          <a:ln/>
        </p:spPr>
        <p:txBody>
          <a:bodyPr/>
          <a:lstStyle/>
          <a:p>
            <a:endParaRPr lang="tr-TR"/>
          </a:p>
        </p:txBody>
      </p:sp>
      <p:sp>
        <p:nvSpPr>
          <p:cNvPr id="20" name="Text 16"/>
          <p:cNvSpPr/>
          <p:nvPr/>
        </p:nvSpPr>
        <p:spPr>
          <a:xfrm>
            <a:off x="4086225" y="3751445"/>
            <a:ext cx="4343400" cy="194667"/>
          </a:xfrm>
          <a:prstGeom prst="rect">
            <a:avLst/>
          </a:prstGeom>
          <a:noFill/>
          <a:ln/>
        </p:spPr>
        <p:txBody>
          <a:bodyPr wrap="none" lIns="0" tIns="0" rIns="0" bIns="0" rtlCol="0" anchor="t">
            <a:spAutoFit/>
          </a:bodyPr>
          <a:lstStyle/>
          <a:p>
            <a:pPr marL="0" indent="0" algn="l">
              <a:lnSpc>
                <a:spcPts val="1400"/>
              </a:lnSpc>
              <a:buNone/>
            </a:pPr>
            <a:r>
              <a:rPr lang="en-US" sz="987" b="1" dirty="0">
                <a:solidFill>
                  <a:srgbClr val="000000"/>
                </a:solidFill>
              </a:rPr>
              <a:t>Erken Durdurma (Early Stopping)</a:t>
            </a:r>
            <a:endParaRPr lang="en-US" sz="987" dirty="0"/>
          </a:p>
        </p:txBody>
      </p:sp>
      <p:sp>
        <p:nvSpPr>
          <p:cNvPr id="21" name="Text 17"/>
          <p:cNvSpPr/>
          <p:nvPr/>
        </p:nvSpPr>
        <p:spPr>
          <a:xfrm>
            <a:off x="4086225" y="4060413"/>
            <a:ext cx="4343400" cy="320018"/>
          </a:xfrm>
          <a:prstGeom prst="rect">
            <a:avLst/>
          </a:prstGeom>
          <a:noFill/>
          <a:ln/>
        </p:spPr>
        <p:txBody>
          <a:bodyPr wrap="square" lIns="0" tIns="0" rIns="0" bIns="0" rtlCol="0" anchor="t">
            <a:spAutoFit/>
          </a:bodyPr>
          <a:lstStyle/>
          <a:p>
            <a:pPr marL="0" indent="0" algn="l">
              <a:lnSpc>
                <a:spcPts val="1300"/>
              </a:lnSpc>
              <a:buNone/>
            </a:pPr>
            <a:r>
              <a:rPr lang="en-US" sz="834" dirty="0">
                <a:solidFill>
                  <a:srgbClr val="333333"/>
                </a:solidFill>
              </a:rPr>
              <a:t>Doğrulama (Validation) hatası artmaya başladığında eğitimi sonlandırarak modelin ezberlemesini engeller.</a:t>
            </a:r>
            <a:endParaRPr lang="en-US" sz="834"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4" name="Text 0"/>
          <p:cNvSpPr/>
          <p:nvPr/>
        </p:nvSpPr>
        <p:spPr>
          <a:xfrm>
            <a:off x="571500" y="357188"/>
            <a:ext cx="8572500" cy="408980"/>
          </a:xfrm>
          <a:prstGeom prst="rect">
            <a:avLst/>
          </a:prstGeom>
          <a:noFill/>
          <a:ln/>
        </p:spPr>
        <p:txBody>
          <a:bodyPr wrap="none" lIns="0" tIns="0" rIns="0" bIns="0" rtlCol="0" anchor="t">
            <a:spAutoFit/>
          </a:bodyPr>
          <a:lstStyle/>
          <a:p>
            <a:pPr marL="0" indent="0" algn="l">
              <a:lnSpc>
                <a:spcPts val="2800"/>
              </a:lnSpc>
              <a:buNone/>
            </a:pPr>
            <a:r>
              <a:rPr lang="en-US" sz="2121" b="1" dirty="0">
                <a:solidFill>
                  <a:srgbClr val="000000"/>
                </a:solidFill>
              </a:rPr>
              <a:t>Derin Öğrenmeye Geçiş: CNN ve RNN</a:t>
            </a:r>
            <a:endParaRPr lang="en-US" sz="2121" dirty="0"/>
          </a:p>
        </p:txBody>
      </p:sp>
      <p:sp>
        <p:nvSpPr>
          <p:cNvPr id="5" name="Shape 1"/>
          <p:cNvSpPr/>
          <p:nvPr/>
        </p:nvSpPr>
        <p:spPr>
          <a:xfrm>
            <a:off x="571500" y="1051917"/>
            <a:ext cx="3857625" cy="3190577"/>
          </a:xfrm>
          <a:prstGeom prst="rect">
            <a:avLst/>
          </a:prstGeom>
          <a:solidFill>
            <a:srgbClr val="F4F4F4"/>
          </a:solidFill>
          <a:ln/>
        </p:spPr>
        <p:txBody>
          <a:bodyPr/>
          <a:lstStyle/>
          <a:p>
            <a:endParaRPr lang="tr-TR"/>
          </a:p>
        </p:txBody>
      </p:sp>
      <p:sp>
        <p:nvSpPr>
          <p:cNvPr id="6" name="Shape 2"/>
          <p:cNvSpPr/>
          <p:nvPr/>
        </p:nvSpPr>
        <p:spPr>
          <a:xfrm>
            <a:off x="571500" y="1051917"/>
            <a:ext cx="3857625" cy="42863"/>
          </a:xfrm>
          <a:prstGeom prst="rect">
            <a:avLst/>
          </a:prstGeom>
          <a:solidFill>
            <a:srgbClr val="000000"/>
          </a:solidFill>
          <a:ln/>
        </p:spPr>
        <p:txBody>
          <a:bodyPr/>
          <a:lstStyle/>
          <a:p>
            <a:endParaRPr lang="tr-TR"/>
          </a:p>
        </p:txBody>
      </p:sp>
      <p:pic>
        <p:nvPicPr>
          <p:cNvPr id="7" name="Image 1" descr="preencoded.png"/>
          <p:cNvPicPr>
            <a:picLocks noChangeAspect="1"/>
          </p:cNvPicPr>
          <p:nvPr/>
        </p:nvPicPr>
        <p:blipFill>
          <a:blip r:embed="rId4"/>
          <a:stretch>
            <a:fillRect/>
          </a:stretch>
        </p:blipFill>
        <p:spPr>
          <a:xfrm>
            <a:off x="785813" y="1266230"/>
            <a:ext cx="342900" cy="342900"/>
          </a:xfrm>
          <a:prstGeom prst="rect">
            <a:avLst/>
          </a:prstGeom>
        </p:spPr>
      </p:pic>
      <p:sp>
        <p:nvSpPr>
          <p:cNvPr id="8" name="Text 3"/>
          <p:cNvSpPr/>
          <p:nvPr/>
        </p:nvSpPr>
        <p:spPr>
          <a:xfrm>
            <a:off x="785813" y="1752005"/>
            <a:ext cx="3429000" cy="273248"/>
          </a:xfrm>
          <a:prstGeom prst="rect">
            <a:avLst/>
          </a:prstGeom>
          <a:noFill/>
          <a:ln/>
        </p:spPr>
        <p:txBody>
          <a:bodyPr wrap="none" lIns="0" tIns="0" rIns="0" bIns="0" rtlCol="0" anchor="t">
            <a:spAutoFit/>
          </a:bodyPr>
          <a:lstStyle/>
          <a:p>
            <a:pPr marL="0" indent="0" algn="l">
              <a:lnSpc>
                <a:spcPts val="1900"/>
              </a:lnSpc>
              <a:buNone/>
            </a:pPr>
            <a:r>
              <a:rPr lang="en-US" sz="1397" b="1" dirty="0">
                <a:solidFill>
                  <a:srgbClr val="000000"/>
                </a:solidFill>
              </a:rPr>
              <a:t>CNN (Evrişimli SA)</a:t>
            </a:r>
            <a:endParaRPr lang="en-US" sz="1397" dirty="0"/>
          </a:p>
        </p:txBody>
      </p:sp>
      <p:sp>
        <p:nvSpPr>
          <p:cNvPr id="9" name="Text 4"/>
          <p:cNvSpPr/>
          <p:nvPr/>
        </p:nvSpPr>
        <p:spPr>
          <a:xfrm>
            <a:off x="785813" y="2153841"/>
            <a:ext cx="3429000" cy="411435"/>
          </a:xfrm>
          <a:prstGeom prst="rect">
            <a:avLst/>
          </a:prstGeom>
          <a:noFill/>
          <a:ln/>
        </p:spPr>
        <p:txBody>
          <a:bodyPr wrap="square" lIns="0" tIns="0" rIns="0" bIns="0" rtlCol="0" anchor="t">
            <a:spAutoFit/>
          </a:bodyPr>
          <a:lstStyle/>
          <a:p>
            <a:pPr marL="0" indent="0" algn="l">
              <a:lnSpc>
                <a:spcPts val="1600"/>
              </a:lnSpc>
              <a:buNone/>
            </a:pPr>
            <a:r>
              <a:rPr lang="en-US" sz="942" dirty="0">
                <a:solidFill>
                  <a:srgbClr val="333333"/>
                </a:solidFill>
              </a:rPr>
              <a:t>Görüntü ve video gibi ızgara yapılı veriler için özelleşmiş mimarilerdir.</a:t>
            </a:r>
            <a:endParaRPr lang="en-US" sz="942" dirty="0"/>
          </a:p>
        </p:txBody>
      </p:sp>
      <p:sp>
        <p:nvSpPr>
          <p:cNvPr id="10" name="Text 5"/>
          <p:cNvSpPr/>
          <p:nvPr/>
        </p:nvSpPr>
        <p:spPr>
          <a:xfrm>
            <a:off x="928688" y="2708151"/>
            <a:ext cx="1411002" cy="175022"/>
          </a:xfrm>
          <a:prstGeom prst="rect">
            <a:avLst/>
          </a:prstGeom>
          <a:noFill/>
          <a:ln/>
        </p:spPr>
        <p:txBody>
          <a:bodyPr wrap="none" lIns="0" tIns="0" rIns="0" bIns="0" rtlCol="0" anchor="t">
            <a:spAutoFit/>
          </a:bodyPr>
          <a:lstStyle/>
          <a:p>
            <a:pPr marL="0" indent="0" algn="l">
              <a:lnSpc>
                <a:spcPts val="1600"/>
              </a:lnSpc>
              <a:buNone/>
            </a:pPr>
            <a:r>
              <a:rPr lang="en-US" sz="885" b="1" dirty="0">
                <a:solidFill>
                  <a:srgbClr val="FF3B30"/>
                </a:solidFill>
              </a:rPr>
              <a:t>Evrişim (Convolution):</a:t>
            </a:r>
            <a:endParaRPr lang="en-US" sz="885" dirty="0"/>
          </a:p>
        </p:txBody>
      </p:sp>
      <p:sp>
        <p:nvSpPr>
          <p:cNvPr id="11" name="Text 6"/>
          <p:cNvSpPr/>
          <p:nvPr/>
        </p:nvSpPr>
        <p:spPr>
          <a:xfrm>
            <a:off x="928688" y="2708151"/>
            <a:ext cx="2989548" cy="380740"/>
          </a:xfrm>
          <a:prstGeom prst="rect">
            <a:avLst/>
          </a:prstGeom>
          <a:noFill/>
          <a:ln/>
        </p:spPr>
        <p:txBody>
          <a:bodyPr wrap="square" lIns="0" tIns="0" rIns="0" bIns="0" rtlCol="0" anchor="t">
            <a:spAutoFit/>
          </a:bodyPr>
          <a:lstStyle/>
          <a:p>
            <a:pPr marL="0" indent="0" algn="l">
              <a:lnSpc>
                <a:spcPts val="1600"/>
              </a:lnSpc>
              <a:buNone/>
            </a:pPr>
            <a:r>
              <a:rPr lang="en-US" sz="942" dirty="0">
                <a:solidFill>
                  <a:srgbClr val="333333"/>
                </a:solidFill>
              </a:rPr>
              <a:t>Filtreler aracılığıyla özellik çıkarma.</a:t>
            </a:r>
            <a:endParaRPr lang="en-US" sz="942" dirty="0"/>
          </a:p>
        </p:txBody>
      </p:sp>
      <p:sp>
        <p:nvSpPr>
          <p:cNvPr id="12" name="Text 7"/>
          <p:cNvSpPr/>
          <p:nvPr/>
        </p:nvSpPr>
        <p:spPr>
          <a:xfrm>
            <a:off x="928688" y="3191024"/>
            <a:ext cx="1358791" cy="175022"/>
          </a:xfrm>
          <a:prstGeom prst="rect">
            <a:avLst/>
          </a:prstGeom>
          <a:noFill/>
          <a:ln/>
        </p:spPr>
        <p:txBody>
          <a:bodyPr wrap="none" lIns="0" tIns="0" rIns="0" bIns="0" rtlCol="0" anchor="t">
            <a:spAutoFit/>
          </a:bodyPr>
          <a:lstStyle/>
          <a:p>
            <a:pPr marL="0" indent="0" algn="l">
              <a:lnSpc>
                <a:spcPts val="1600"/>
              </a:lnSpc>
              <a:buNone/>
            </a:pPr>
            <a:r>
              <a:rPr lang="en-US" sz="885" b="1" dirty="0">
                <a:solidFill>
                  <a:srgbClr val="FF3B30"/>
                </a:solidFill>
              </a:rPr>
              <a:t>Havuzlama (Pooling):</a:t>
            </a:r>
            <a:endParaRPr lang="en-US" sz="885" dirty="0"/>
          </a:p>
        </p:txBody>
      </p:sp>
      <p:sp>
        <p:nvSpPr>
          <p:cNvPr id="13" name="Text 8"/>
          <p:cNvSpPr/>
          <p:nvPr/>
        </p:nvSpPr>
        <p:spPr>
          <a:xfrm>
            <a:off x="928688" y="3191024"/>
            <a:ext cx="2780202" cy="380740"/>
          </a:xfrm>
          <a:prstGeom prst="rect">
            <a:avLst/>
          </a:prstGeom>
          <a:noFill/>
          <a:ln/>
        </p:spPr>
        <p:txBody>
          <a:bodyPr wrap="square" lIns="0" tIns="0" rIns="0" bIns="0" rtlCol="0" anchor="t">
            <a:spAutoFit/>
          </a:bodyPr>
          <a:lstStyle/>
          <a:p>
            <a:pPr marL="0" indent="0" algn="l">
              <a:lnSpc>
                <a:spcPts val="1600"/>
              </a:lnSpc>
              <a:buNone/>
            </a:pPr>
            <a:r>
              <a:rPr lang="en-US" sz="942" dirty="0">
                <a:solidFill>
                  <a:srgbClr val="333333"/>
                </a:solidFill>
              </a:rPr>
              <a:t>Boyut azaltma ve veriyi özetleme.</a:t>
            </a:r>
            <a:endParaRPr lang="en-US" sz="942" dirty="0"/>
          </a:p>
        </p:txBody>
      </p:sp>
      <p:sp>
        <p:nvSpPr>
          <p:cNvPr id="14" name="Text 9"/>
          <p:cNvSpPr/>
          <p:nvPr/>
        </p:nvSpPr>
        <p:spPr>
          <a:xfrm>
            <a:off x="928688" y="3659609"/>
            <a:ext cx="3286125" cy="411435"/>
          </a:xfrm>
          <a:prstGeom prst="rect">
            <a:avLst/>
          </a:prstGeom>
          <a:noFill/>
          <a:ln/>
        </p:spPr>
        <p:txBody>
          <a:bodyPr wrap="square" lIns="0" tIns="0" rIns="0" bIns="0" rtlCol="0" anchor="t">
            <a:spAutoFit/>
          </a:bodyPr>
          <a:lstStyle/>
          <a:p>
            <a:pPr marL="0" indent="0" algn="l">
              <a:lnSpc>
                <a:spcPts val="1600"/>
              </a:lnSpc>
              <a:buNone/>
            </a:pPr>
            <a:r>
              <a:rPr lang="en-US" sz="942" dirty="0">
                <a:solidFill>
                  <a:srgbClr val="333333"/>
                </a:solidFill>
              </a:rPr>
              <a:t>Kullanım: Nesne tanıma, yüz tanıma, tıbbi görüntüleme.</a:t>
            </a:r>
            <a:endParaRPr lang="en-US" sz="942" dirty="0"/>
          </a:p>
        </p:txBody>
      </p:sp>
      <p:sp>
        <p:nvSpPr>
          <p:cNvPr id="15" name="Shape 10"/>
          <p:cNvSpPr/>
          <p:nvPr/>
        </p:nvSpPr>
        <p:spPr>
          <a:xfrm>
            <a:off x="4714875" y="1051917"/>
            <a:ext cx="3857625" cy="3190577"/>
          </a:xfrm>
          <a:prstGeom prst="rect">
            <a:avLst/>
          </a:prstGeom>
          <a:solidFill>
            <a:srgbClr val="F4F4F4"/>
          </a:solidFill>
          <a:ln/>
        </p:spPr>
        <p:txBody>
          <a:bodyPr/>
          <a:lstStyle/>
          <a:p>
            <a:endParaRPr lang="tr-TR"/>
          </a:p>
        </p:txBody>
      </p:sp>
      <p:sp>
        <p:nvSpPr>
          <p:cNvPr id="16" name="Shape 11"/>
          <p:cNvSpPr/>
          <p:nvPr/>
        </p:nvSpPr>
        <p:spPr>
          <a:xfrm>
            <a:off x="4714875" y="1051917"/>
            <a:ext cx="3857625" cy="42863"/>
          </a:xfrm>
          <a:prstGeom prst="rect">
            <a:avLst/>
          </a:prstGeom>
          <a:solidFill>
            <a:srgbClr val="000000"/>
          </a:solidFill>
          <a:ln/>
        </p:spPr>
        <p:txBody>
          <a:bodyPr/>
          <a:lstStyle/>
          <a:p>
            <a:endParaRPr lang="tr-TR"/>
          </a:p>
        </p:txBody>
      </p:sp>
      <p:pic>
        <p:nvPicPr>
          <p:cNvPr id="17" name="Image 2" descr="preencoded.png"/>
          <p:cNvPicPr>
            <a:picLocks noChangeAspect="1"/>
          </p:cNvPicPr>
          <p:nvPr/>
        </p:nvPicPr>
        <p:blipFill>
          <a:blip r:embed="rId5"/>
          <a:stretch>
            <a:fillRect/>
          </a:stretch>
        </p:blipFill>
        <p:spPr>
          <a:xfrm>
            <a:off x="4929188" y="1266230"/>
            <a:ext cx="342900" cy="342900"/>
          </a:xfrm>
          <a:prstGeom prst="rect">
            <a:avLst/>
          </a:prstGeom>
        </p:spPr>
      </p:pic>
      <p:sp>
        <p:nvSpPr>
          <p:cNvPr id="18" name="Text 12"/>
          <p:cNvSpPr/>
          <p:nvPr/>
        </p:nvSpPr>
        <p:spPr>
          <a:xfrm>
            <a:off x="4929188" y="1752005"/>
            <a:ext cx="3429000" cy="273248"/>
          </a:xfrm>
          <a:prstGeom prst="rect">
            <a:avLst/>
          </a:prstGeom>
          <a:noFill/>
          <a:ln/>
        </p:spPr>
        <p:txBody>
          <a:bodyPr wrap="none" lIns="0" tIns="0" rIns="0" bIns="0" rtlCol="0" anchor="t">
            <a:spAutoFit/>
          </a:bodyPr>
          <a:lstStyle/>
          <a:p>
            <a:pPr marL="0" indent="0" algn="l">
              <a:lnSpc>
                <a:spcPts val="1900"/>
              </a:lnSpc>
              <a:buNone/>
            </a:pPr>
            <a:r>
              <a:rPr lang="en-US" sz="1397" b="1" dirty="0">
                <a:solidFill>
                  <a:srgbClr val="000000"/>
                </a:solidFill>
              </a:rPr>
              <a:t>RNN (Özyinelemeli SA)</a:t>
            </a:r>
            <a:endParaRPr lang="en-US" sz="1397" dirty="0"/>
          </a:p>
        </p:txBody>
      </p:sp>
      <p:sp>
        <p:nvSpPr>
          <p:cNvPr id="19" name="Text 13"/>
          <p:cNvSpPr/>
          <p:nvPr/>
        </p:nvSpPr>
        <p:spPr>
          <a:xfrm>
            <a:off x="4929188" y="2153841"/>
            <a:ext cx="3429000" cy="411435"/>
          </a:xfrm>
          <a:prstGeom prst="rect">
            <a:avLst/>
          </a:prstGeom>
          <a:noFill/>
          <a:ln/>
        </p:spPr>
        <p:txBody>
          <a:bodyPr wrap="square" lIns="0" tIns="0" rIns="0" bIns="0" rtlCol="0" anchor="t">
            <a:spAutoFit/>
          </a:bodyPr>
          <a:lstStyle/>
          <a:p>
            <a:pPr marL="0" indent="0" algn="l">
              <a:lnSpc>
                <a:spcPts val="1600"/>
              </a:lnSpc>
              <a:buNone/>
            </a:pPr>
            <a:r>
              <a:rPr lang="en-US" sz="942" dirty="0">
                <a:solidFill>
                  <a:srgbClr val="333333"/>
                </a:solidFill>
              </a:rPr>
              <a:t>Sıralı ve zamana bağlı verileri işlemek için tasarlanmış mimarilerdir.</a:t>
            </a:r>
            <a:endParaRPr lang="en-US" sz="942" dirty="0"/>
          </a:p>
        </p:txBody>
      </p:sp>
      <p:sp>
        <p:nvSpPr>
          <p:cNvPr id="20" name="Text 14"/>
          <p:cNvSpPr/>
          <p:nvPr/>
        </p:nvSpPr>
        <p:spPr>
          <a:xfrm>
            <a:off x="5072063" y="2708151"/>
            <a:ext cx="841874" cy="175022"/>
          </a:xfrm>
          <a:prstGeom prst="rect">
            <a:avLst/>
          </a:prstGeom>
          <a:noFill/>
          <a:ln/>
        </p:spPr>
        <p:txBody>
          <a:bodyPr wrap="none" lIns="0" tIns="0" rIns="0" bIns="0" rtlCol="0" anchor="t">
            <a:spAutoFit/>
          </a:bodyPr>
          <a:lstStyle/>
          <a:p>
            <a:pPr marL="0" indent="0" algn="l">
              <a:lnSpc>
                <a:spcPts val="1600"/>
              </a:lnSpc>
              <a:buNone/>
            </a:pPr>
            <a:r>
              <a:rPr lang="en-US" sz="885" b="1" dirty="0">
                <a:solidFill>
                  <a:srgbClr val="FF3B30"/>
                </a:solidFill>
              </a:rPr>
              <a:t>Bellek Yapısı:</a:t>
            </a:r>
            <a:endParaRPr lang="en-US" sz="885" dirty="0"/>
          </a:p>
        </p:txBody>
      </p:sp>
      <p:sp>
        <p:nvSpPr>
          <p:cNvPr id="21" name="Text 15"/>
          <p:cNvSpPr/>
          <p:nvPr/>
        </p:nvSpPr>
        <p:spPr>
          <a:xfrm>
            <a:off x="5072063" y="2708151"/>
            <a:ext cx="2961642" cy="380740"/>
          </a:xfrm>
          <a:prstGeom prst="rect">
            <a:avLst/>
          </a:prstGeom>
          <a:noFill/>
          <a:ln/>
        </p:spPr>
        <p:txBody>
          <a:bodyPr wrap="square" lIns="0" tIns="0" rIns="0" bIns="0" rtlCol="0" anchor="t">
            <a:spAutoFit/>
          </a:bodyPr>
          <a:lstStyle/>
          <a:p>
            <a:pPr marL="0" indent="0" algn="l">
              <a:lnSpc>
                <a:spcPts val="1600"/>
              </a:lnSpc>
              <a:buNone/>
            </a:pPr>
            <a:r>
              <a:rPr lang="en-US" sz="942" dirty="0">
                <a:solidFill>
                  <a:srgbClr val="333333"/>
                </a:solidFill>
              </a:rPr>
              <a:t>Önceki adımlardaki bilgiyi saklama yeteneği.</a:t>
            </a:r>
            <a:endParaRPr lang="en-US" sz="942" dirty="0"/>
          </a:p>
        </p:txBody>
      </p:sp>
      <p:sp>
        <p:nvSpPr>
          <p:cNvPr id="22" name="Text 16"/>
          <p:cNvSpPr/>
          <p:nvPr/>
        </p:nvSpPr>
        <p:spPr>
          <a:xfrm>
            <a:off x="5072063" y="3191024"/>
            <a:ext cx="1391469" cy="175022"/>
          </a:xfrm>
          <a:prstGeom prst="rect">
            <a:avLst/>
          </a:prstGeom>
          <a:noFill/>
          <a:ln/>
        </p:spPr>
        <p:txBody>
          <a:bodyPr wrap="none" lIns="0" tIns="0" rIns="0" bIns="0" rtlCol="0" anchor="t">
            <a:spAutoFit/>
          </a:bodyPr>
          <a:lstStyle/>
          <a:p>
            <a:pPr marL="0" indent="0" algn="l">
              <a:lnSpc>
                <a:spcPts val="1600"/>
              </a:lnSpc>
              <a:buNone/>
            </a:pPr>
            <a:r>
              <a:rPr lang="en-US" sz="885" b="1" dirty="0">
                <a:solidFill>
                  <a:srgbClr val="FF3B30"/>
                </a:solidFill>
              </a:rPr>
              <a:t>Döngüsel Bağlantılar:</a:t>
            </a:r>
            <a:endParaRPr lang="en-US" sz="885" dirty="0"/>
          </a:p>
        </p:txBody>
      </p:sp>
      <p:sp>
        <p:nvSpPr>
          <p:cNvPr id="23" name="Text 17"/>
          <p:cNvSpPr/>
          <p:nvPr/>
        </p:nvSpPr>
        <p:spPr>
          <a:xfrm>
            <a:off x="5072063" y="3191024"/>
            <a:ext cx="3197498" cy="380740"/>
          </a:xfrm>
          <a:prstGeom prst="rect">
            <a:avLst/>
          </a:prstGeom>
          <a:noFill/>
          <a:ln/>
        </p:spPr>
        <p:txBody>
          <a:bodyPr wrap="square" lIns="0" tIns="0" rIns="0" bIns="0" rtlCol="0" anchor="t">
            <a:spAutoFit/>
          </a:bodyPr>
          <a:lstStyle/>
          <a:p>
            <a:pPr marL="0" indent="0" algn="l">
              <a:lnSpc>
                <a:spcPts val="1600"/>
              </a:lnSpc>
              <a:buNone/>
            </a:pPr>
            <a:r>
              <a:rPr lang="en-US" sz="942" dirty="0">
                <a:solidFill>
                  <a:srgbClr val="333333"/>
                </a:solidFill>
              </a:rPr>
              <a:t>Verinin zaman içindeki akışını modelleme.</a:t>
            </a:r>
            <a:endParaRPr lang="en-US" sz="942" dirty="0"/>
          </a:p>
        </p:txBody>
      </p:sp>
      <p:sp>
        <p:nvSpPr>
          <p:cNvPr id="24" name="Text 18"/>
          <p:cNvSpPr/>
          <p:nvPr/>
        </p:nvSpPr>
        <p:spPr>
          <a:xfrm>
            <a:off x="5072063" y="3659609"/>
            <a:ext cx="3286125" cy="411435"/>
          </a:xfrm>
          <a:prstGeom prst="rect">
            <a:avLst/>
          </a:prstGeom>
          <a:noFill/>
          <a:ln/>
        </p:spPr>
        <p:txBody>
          <a:bodyPr wrap="square" lIns="0" tIns="0" rIns="0" bIns="0" rtlCol="0" anchor="t">
            <a:spAutoFit/>
          </a:bodyPr>
          <a:lstStyle/>
          <a:p>
            <a:pPr marL="0" indent="0" algn="l">
              <a:lnSpc>
                <a:spcPts val="1600"/>
              </a:lnSpc>
              <a:buNone/>
            </a:pPr>
            <a:r>
              <a:rPr lang="en-US" sz="942" dirty="0">
                <a:solidFill>
                  <a:srgbClr val="333333"/>
                </a:solidFill>
              </a:rPr>
              <a:t>Kullanım: Doğal dil işleme, çeviri, zaman serisi tahmini.</a:t>
            </a:r>
            <a:endParaRPr lang="en-US" sz="942"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4" name="Text 0"/>
          <p:cNvSpPr/>
          <p:nvPr/>
        </p:nvSpPr>
        <p:spPr>
          <a:xfrm>
            <a:off x="571500" y="357188"/>
            <a:ext cx="814325" cy="341119"/>
          </a:xfrm>
          <a:prstGeom prst="rect">
            <a:avLst/>
          </a:prstGeom>
          <a:noFill/>
          <a:ln/>
        </p:spPr>
        <p:txBody>
          <a:bodyPr wrap="none" lIns="0" tIns="0" rIns="0" bIns="0" rtlCol="0" anchor="t">
            <a:spAutoFit/>
          </a:bodyPr>
          <a:lstStyle/>
          <a:p>
            <a:pPr marL="0" indent="0" algn="l">
              <a:lnSpc>
                <a:spcPts val="2800"/>
              </a:lnSpc>
              <a:buNone/>
            </a:pPr>
            <a:r>
              <a:rPr lang="en-US" sz="2121" b="1" dirty="0" err="1">
                <a:solidFill>
                  <a:srgbClr val="000000"/>
                </a:solidFill>
              </a:rPr>
              <a:t>Sorular</a:t>
            </a:r>
            <a:endParaRPr lang="en-US" sz="2121" dirty="0"/>
          </a:p>
        </p:txBody>
      </p:sp>
      <p:sp>
        <p:nvSpPr>
          <p:cNvPr id="5" name="Shape 1"/>
          <p:cNvSpPr/>
          <p:nvPr/>
        </p:nvSpPr>
        <p:spPr>
          <a:xfrm>
            <a:off x="557485" y="918775"/>
            <a:ext cx="4543425" cy="3286125"/>
          </a:xfrm>
          <a:prstGeom prst="rect">
            <a:avLst/>
          </a:prstGeom>
          <a:solidFill>
            <a:srgbClr val="000000"/>
          </a:solidFill>
          <a:ln/>
        </p:spPr>
        <p:txBody>
          <a:bodyPr/>
          <a:lstStyle/>
          <a:p>
            <a:endParaRPr lang="tr-TR"/>
          </a:p>
        </p:txBody>
      </p:sp>
      <p:sp>
        <p:nvSpPr>
          <p:cNvPr id="6" name="Shape 2"/>
          <p:cNvSpPr/>
          <p:nvPr/>
        </p:nvSpPr>
        <p:spPr>
          <a:xfrm>
            <a:off x="557485" y="918775"/>
            <a:ext cx="71438" cy="3286125"/>
          </a:xfrm>
          <a:prstGeom prst="rect">
            <a:avLst/>
          </a:prstGeom>
          <a:solidFill>
            <a:srgbClr val="FF3B30"/>
          </a:solidFill>
          <a:ln/>
        </p:spPr>
        <p:txBody>
          <a:bodyPr/>
          <a:lstStyle/>
          <a:p>
            <a:endParaRPr lang="tr-TR"/>
          </a:p>
        </p:txBody>
      </p:sp>
      <p:sp>
        <p:nvSpPr>
          <p:cNvPr id="7" name="Text 3"/>
          <p:cNvSpPr/>
          <p:nvPr/>
        </p:nvSpPr>
        <p:spPr>
          <a:xfrm>
            <a:off x="843235" y="1204525"/>
            <a:ext cx="267946" cy="642938"/>
          </a:xfrm>
          <a:prstGeom prst="rect">
            <a:avLst/>
          </a:prstGeom>
          <a:noFill/>
          <a:ln/>
        </p:spPr>
        <p:txBody>
          <a:bodyPr wrap="square" lIns="0" tIns="0" rIns="0" bIns="0" rtlCol="0" anchor="t">
            <a:spAutoFit/>
          </a:bodyPr>
          <a:lstStyle/>
          <a:p>
            <a:pPr marL="0" indent="0" algn="l">
              <a:lnSpc>
                <a:spcPts val="2200"/>
              </a:lnSpc>
              <a:buNone/>
            </a:pPr>
            <a:r>
              <a:rPr lang="en-US" sz="1602" b="1" dirty="0">
                <a:solidFill>
                  <a:srgbClr val="FF3B30"/>
                </a:solidFill>
              </a:rPr>
              <a:t>01</a:t>
            </a:r>
            <a:endParaRPr lang="en-US" sz="1602" dirty="0"/>
          </a:p>
        </p:txBody>
      </p:sp>
      <p:sp>
        <p:nvSpPr>
          <p:cNvPr id="8" name="Text 4"/>
          <p:cNvSpPr/>
          <p:nvPr/>
        </p:nvSpPr>
        <p:spPr>
          <a:xfrm>
            <a:off x="1254056" y="1204525"/>
            <a:ext cx="3561104" cy="642938"/>
          </a:xfrm>
          <a:prstGeom prst="rect">
            <a:avLst/>
          </a:prstGeom>
          <a:noFill/>
          <a:ln/>
        </p:spPr>
        <p:txBody>
          <a:bodyPr wrap="square" lIns="0" tIns="0" rIns="0" bIns="0" rtlCol="0" anchor="t">
            <a:spAutoFit/>
          </a:bodyPr>
          <a:lstStyle/>
          <a:p>
            <a:pPr marL="0" indent="0" algn="l">
              <a:lnSpc>
                <a:spcPts val="1700"/>
              </a:lnSpc>
              <a:buNone/>
            </a:pPr>
            <a:r>
              <a:rPr lang="en-US" sz="1050" dirty="0">
                <a:solidFill>
                  <a:srgbClr val="FFFFFF"/>
                </a:solidFill>
              </a:rPr>
              <a:t>Aktivasyon fonksiyonu kullanılmayan bir sinir ağı neden sadece doğrusal bir modeldir? Matematiksel olarak açıklayınız.</a:t>
            </a:r>
            <a:endParaRPr lang="en-US" sz="1050" dirty="0"/>
          </a:p>
        </p:txBody>
      </p:sp>
      <p:sp>
        <p:nvSpPr>
          <p:cNvPr id="9" name="Text 5"/>
          <p:cNvSpPr/>
          <p:nvPr/>
        </p:nvSpPr>
        <p:spPr>
          <a:xfrm>
            <a:off x="843235" y="2061775"/>
            <a:ext cx="267946" cy="642938"/>
          </a:xfrm>
          <a:prstGeom prst="rect">
            <a:avLst/>
          </a:prstGeom>
          <a:noFill/>
          <a:ln/>
        </p:spPr>
        <p:txBody>
          <a:bodyPr wrap="square" lIns="0" tIns="0" rIns="0" bIns="0" rtlCol="0" anchor="t">
            <a:spAutoFit/>
          </a:bodyPr>
          <a:lstStyle/>
          <a:p>
            <a:pPr marL="0" indent="0" algn="l">
              <a:lnSpc>
                <a:spcPts val="2200"/>
              </a:lnSpc>
              <a:buNone/>
            </a:pPr>
            <a:r>
              <a:rPr lang="en-US" sz="1602" b="1" dirty="0">
                <a:solidFill>
                  <a:srgbClr val="FF3B30"/>
                </a:solidFill>
              </a:rPr>
              <a:t>02</a:t>
            </a:r>
            <a:endParaRPr lang="en-US" sz="1602" dirty="0"/>
          </a:p>
        </p:txBody>
      </p:sp>
      <p:sp>
        <p:nvSpPr>
          <p:cNvPr id="10" name="Text 6"/>
          <p:cNvSpPr/>
          <p:nvPr/>
        </p:nvSpPr>
        <p:spPr>
          <a:xfrm>
            <a:off x="1254056" y="2061775"/>
            <a:ext cx="3561104" cy="642938"/>
          </a:xfrm>
          <a:prstGeom prst="rect">
            <a:avLst/>
          </a:prstGeom>
          <a:noFill/>
          <a:ln/>
        </p:spPr>
        <p:txBody>
          <a:bodyPr wrap="square" lIns="0" tIns="0" rIns="0" bIns="0" rtlCol="0" anchor="t">
            <a:spAutoFit/>
          </a:bodyPr>
          <a:lstStyle/>
          <a:p>
            <a:pPr marL="0" indent="0" algn="l">
              <a:lnSpc>
                <a:spcPts val="1700"/>
              </a:lnSpc>
              <a:buNone/>
            </a:pPr>
            <a:r>
              <a:rPr lang="en-US" sz="1050" dirty="0">
                <a:solidFill>
                  <a:srgbClr val="FFFFFF"/>
                </a:solidFill>
              </a:rPr>
              <a:t>Geri yayılımda "kaybolan gradyan" (vanishing gradient) problemi nedir ve ReLU bu sorunu nasıl çözer?</a:t>
            </a:r>
            <a:endParaRPr lang="en-US" sz="1050" dirty="0"/>
          </a:p>
        </p:txBody>
      </p:sp>
      <p:sp>
        <p:nvSpPr>
          <p:cNvPr id="11" name="Text 7"/>
          <p:cNvSpPr/>
          <p:nvPr/>
        </p:nvSpPr>
        <p:spPr>
          <a:xfrm>
            <a:off x="843235" y="2919025"/>
            <a:ext cx="267946" cy="428625"/>
          </a:xfrm>
          <a:prstGeom prst="rect">
            <a:avLst/>
          </a:prstGeom>
          <a:noFill/>
          <a:ln/>
        </p:spPr>
        <p:txBody>
          <a:bodyPr wrap="square" lIns="0" tIns="0" rIns="0" bIns="0" rtlCol="0" anchor="t">
            <a:spAutoFit/>
          </a:bodyPr>
          <a:lstStyle/>
          <a:p>
            <a:pPr marL="0" indent="0" algn="l">
              <a:lnSpc>
                <a:spcPts val="2200"/>
              </a:lnSpc>
              <a:buNone/>
            </a:pPr>
            <a:r>
              <a:rPr lang="en-US" sz="1602" b="1" dirty="0">
                <a:solidFill>
                  <a:srgbClr val="FF3B30"/>
                </a:solidFill>
              </a:rPr>
              <a:t>03</a:t>
            </a:r>
            <a:endParaRPr lang="en-US" sz="1602" dirty="0"/>
          </a:p>
        </p:txBody>
      </p:sp>
      <p:sp>
        <p:nvSpPr>
          <p:cNvPr id="12" name="Text 8"/>
          <p:cNvSpPr/>
          <p:nvPr/>
        </p:nvSpPr>
        <p:spPr>
          <a:xfrm>
            <a:off x="1254056" y="2919025"/>
            <a:ext cx="3561104" cy="428625"/>
          </a:xfrm>
          <a:prstGeom prst="rect">
            <a:avLst/>
          </a:prstGeom>
          <a:noFill/>
          <a:ln/>
        </p:spPr>
        <p:txBody>
          <a:bodyPr wrap="square" lIns="0" tIns="0" rIns="0" bIns="0" rtlCol="0" anchor="t">
            <a:spAutoFit/>
          </a:bodyPr>
          <a:lstStyle/>
          <a:p>
            <a:pPr marL="0" indent="0" algn="l">
              <a:lnSpc>
                <a:spcPts val="1700"/>
              </a:lnSpc>
              <a:buNone/>
            </a:pPr>
            <a:r>
              <a:rPr lang="en-US" sz="1050" dirty="0">
                <a:solidFill>
                  <a:srgbClr val="FFFFFF"/>
                </a:solidFill>
              </a:rPr>
              <a:t>Veri setinin çok küçük olduğu durumlarda Dropout kullanmak model performansını nasıl etkiler?</a:t>
            </a:r>
            <a:endParaRPr lang="en-US" sz="1050" dirty="0"/>
          </a:p>
        </p:txBody>
      </p:sp>
      <p:sp>
        <p:nvSpPr>
          <p:cNvPr id="13" name="Text 9"/>
          <p:cNvSpPr/>
          <p:nvPr/>
        </p:nvSpPr>
        <p:spPr>
          <a:xfrm>
            <a:off x="843235" y="3561962"/>
            <a:ext cx="267946" cy="428625"/>
          </a:xfrm>
          <a:prstGeom prst="rect">
            <a:avLst/>
          </a:prstGeom>
          <a:noFill/>
          <a:ln/>
        </p:spPr>
        <p:txBody>
          <a:bodyPr wrap="square" lIns="0" tIns="0" rIns="0" bIns="0" rtlCol="0" anchor="t">
            <a:spAutoFit/>
          </a:bodyPr>
          <a:lstStyle/>
          <a:p>
            <a:pPr marL="0" indent="0" algn="l">
              <a:lnSpc>
                <a:spcPts val="2200"/>
              </a:lnSpc>
              <a:buNone/>
            </a:pPr>
            <a:r>
              <a:rPr lang="en-US" sz="1602" b="1" dirty="0">
                <a:solidFill>
                  <a:srgbClr val="FF3B30"/>
                </a:solidFill>
              </a:rPr>
              <a:t>04</a:t>
            </a:r>
            <a:endParaRPr lang="en-US" sz="1602" dirty="0"/>
          </a:p>
        </p:txBody>
      </p:sp>
      <p:sp>
        <p:nvSpPr>
          <p:cNvPr id="14" name="Text 10"/>
          <p:cNvSpPr/>
          <p:nvPr/>
        </p:nvSpPr>
        <p:spPr>
          <a:xfrm>
            <a:off x="1254056" y="3561962"/>
            <a:ext cx="3561104" cy="428625"/>
          </a:xfrm>
          <a:prstGeom prst="rect">
            <a:avLst/>
          </a:prstGeom>
          <a:noFill/>
          <a:ln/>
        </p:spPr>
        <p:txBody>
          <a:bodyPr wrap="square" lIns="0" tIns="0" rIns="0" bIns="0" rtlCol="0" anchor="t">
            <a:spAutoFit/>
          </a:bodyPr>
          <a:lstStyle/>
          <a:p>
            <a:pPr marL="0" indent="0" algn="l">
              <a:lnSpc>
                <a:spcPts val="1700"/>
              </a:lnSpc>
              <a:buNone/>
            </a:pPr>
            <a:r>
              <a:rPr lang="en-US" sz="1050" dirty="0">
                <a:solidFill>
                  <a:srgbClr val="FFFFFF"/>
                </a:solidFill>
              </a:rPr>
              <a:t>Yapay sinir ağlarının biyolojik beyinle olan benzerlikleri ve temel farkları nelerdir?</a:t>
            </a:r>
            <a:endParaRPr lang="en-US" sz="10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123952-D896-FE92-6465-74FFBAE5C156}"/>
            </a:ext>
          </a:extLst>
        </p:cNvPr>
        <p:cNvGrpSpPr/>
        <p:nvPr/>
      </p:nvGrpSpPr>
      <p:grpSpPr>
        <a:xfrm>
          <a:off x="0" y="0"/>
          <a:ext cx="0" cy="0"/>
          <a:chOff x="0" y="0"/>
          <a:chExt cx="0" cy="0"/>
        </a:xfrm>
      </p:grpSpPr>
      <p:pic>
        <p:nvPicPr>
          <p:cNvPr id="3" name="Image 0" descr="preencoded.png">
            <a:extLst>
              <a:ext uri="{FF2B5EF4-FFF2-40B4-BE49-F238E27FC236}">
                <a16:creationId xmlns:a16="http://schemas.microsoft.com/office/drawing/2014/main" id="{06A706E1-30F3-E2B7-8702-40ADF7C658EB}"/>
              </a:ext>
            </a:extLst>
          </p:cNvPr>
          <p:cNvPicPr>
            <a:picLocks noChangeAspect="1"/>
          </p:cNvPicPr>
          <p:nvPr/>
        </p:nvPicPr>
        <p:blipFill>
          <a:blip r:embed="rId3"/>
          <a:stretch>
            <a:fillRect/>
          </a:stretch>
        </p:blipFill>
        <p:spPr>
          <a:xfrm>
            <a:off x="0" y="0"/>
            <a:ext cx="9144000" cy="5143500"/>
          </a:xfrm>
          <a:prstGeom prst="rect">
            <a:avLst/>
          </a:prstGeom>
        </p:spPr>
      </p:pic>
      <p:sp>
        <p:nvSpPr>
          <p:cNvPr id="4" name="Text 0">
            <a:extLst>
              <a:ext uri="{FF2B5EF4-FFF2-40B4-BE49-F238E27FC236}">
                <a16:creationId xmlns:a16="http://schemas.microsoft.com/office/drawing/2014/main" id="{DE56CBAC-CA23-33E6-0701-4A3C97995C67}"/>
              </a:ext>
            </a:extLst>
          </p:cNvPr>
          <p:cNvSpPr/>
          <p:nvPr/>
        </p:nvSpPr>
        <p:spPr>
          <a:xfrm>
            <a:off x="571500" y="357188"/>
            <a:ext cx="905184" cy="341119"/>
          </a:xfrm>
          <a:prstGeom prst="rect">
            <a:avLst/>
          </a:prstGeom>
          <a:noFill/>
          <a:ln/>
        </p:spPr>
        <p:txBody>
          <a:bodyPr wrap="none" lIns="0" tIns="0" rIns="0" bIns="0" rtlCol="0" anchor="t">
            <a:spAutoFit/>
          </a:bodyPr>
          <a:lstStyle/>
          <a:p>
            <a:pPr marL="0" indent="0" algn="l">
              <a:lnSpc>
                <a:spcPts val="2800"/>
              </a:lnSpc>
              <a:buNone/>
            </a:pPr>
            <a:r>
              <a:rPr lang="tr-TR" sz="2121" b="1" dirty="0">
                <a:solidFill>
                  <a:srgbClr val="000000"/>
                </a:solidFill>
              </a:rPr>
              <a:t>Cevap-1</a:t>
            </a:r>
            <a:endParaRPr lang="en-US" sz="2121" dirty="0"/>
          </a:p>
        </p:txBody>
      </p:sp>
      <p:sp>
        <p:nvSpPr>
          <p:cNvPr id="8" name="Text 4">
            <a:extLst>
              <a:ext uri="{FF2B5EF4-FFF2-40B4-BE49-F238E27FC236}">
                <a16:creationId xmlns:a16="http://schemas.microsoft.com/office/drawing/2014/main" id="{987A3009-6D80-7C8C-0EBA-0AD089D6F2E0}"/>
              </a:ext>
            </a:extLst>
          </p:cNvPr>
          <p:cNvSpPr/>
          <p:nvPr/>
        </p:nvSpPr>
        <p:spPr>
          <a:xfrm>
            <a:off x="1254056" y="1204525"/>
            <a:ext cx="3561104" cy="642938"/>
          </a:xfrm>
          <a:prstGeom prst="rect">
            <a:avLst/>
          </a:prstGeom>
          <a:noFill/>
          <a:ln/>
        </p:spPr>
        <p:txBody>
          <a:bodyPr wrap="square" lIns="0" tIns="0" rIns="0" bIns="0" rtlCol="0" anchor="t">
            <a:spAutoFit/>
          </a:bodyPr>
          <a:lstStyle/>
          <a:p>
            <a:pPr marL="0" indent="0" algn="l">
              <a:lnSpc>
                <a:spcPts val="1700"/>
              </a:lnSpc>
              <a:buNone/>
            </a:pPr>
            <a:r>
              <a:rPr lang="en-US" sz="1050" dirty="0">
                <a:solidFill>
                  <a:srgbClr val="FFFFFF"/>
                </a:solidFill>
              </a:rPr>
              <a:t>Aktivasyon fonksiyonu kullanılmayan bir sinir ağı neden sadece doğrusal bir modeldir? Matematiksel olarak açıklayınız.</a:t>
            </a:r>
            <a:endParaRPr lang="en-US" sz="1050" dirty="0"/>
          </a:p>
        </p:txBody>
      </p:sp>
      <p:sp>
        <p:nvSpPr>
          <p:cNvPr id="10" name="Text 6">
            <a:extLst>
              <a:ext uri="{FF2B5EF4-FFF2-40B4-BE49-F238E27FC236}">
                <a16:creationId xmlns:a16="http://schemas.microsoft.com/office/drawing/2014/main" id="{47986D14-6A90-57AF-AC61-36AECAAE60C1}"/>
              </a:ext>
            </a:extLst>
          </p:cNvPr>
          <p:cNvSpPr/>
          <p:nvPr/>
        </p:nvSpPr>
        <p:spPr>
          <a:xfrm>
            <a:off x="1254056" y="2061775"/>
            <a:ext cx="3561104" cy="642938"/>
          </a:xfrm>
          <a:prstGeom prst="rect">
            <a:avLst/>
          </a:prstGeom>
          <a:noFill/>
          <a:ln/>
        </p:spPr>
        <p:txBody>
          <a:bodyPr wrap="square" lIns="0" tIns="0" rIns="0" bIns="0" rtlCol="0" anchor="t">
            <a:spAutoFit/>
          </a:bodyPr>
          <a:lstStyle/>
          <a:p>
            <a:pPr marL="0" indent="0" algn="l">
              <a:lnSpc>
                <a:spcPts val="1700"/>
              </a:lnSpc>
              <a:buNone/>
            </a:pPr>
            <a:r>
              <a:rPr lang="en-US" sz="1050" dirty="0">
                <a:solidFill>
                  <a:srgbClr val="FFFFFF"/>
                </a:solidFill>
              </a:rPr>
              <a:t>Geri yayılımda "kaybolan gradyan" (vanishing gradient) problemi nedir ve ReLU bu sorunu nasıl çözer?</a:t>
            </a:r>
            <a:endParaRPr lang="en-US" sz="1050" dirty="0"/>
          </a:p>
        </p:txBody>
      </p:sp>
      <p:sp>
        <p:nvSpPr>
          <p:cNvPr id="12" name="Text 8">
            <a:extLst>
              <a:ext uri="{FF2B5EF4-FFF2-40B4-BE49-F238E27FC236}">
                <a16:creationId xmlns:a16="http://schemas.microsoft.com/office/drawing/2014/main" id="{E99EC9BA-1BCE-AAF2-48FF-B1754FF94C50}"/>
              </a:ext>
            </a:extLst>
          </p:cNvPr>
          <p:cNvSpPr/>
          <p:nvPr/>
        </p:nvSpPr>
        <p:spPr>
          <a:xfrm>
            <a:off x="1254056" y="2919025"/>
            <a:ext cx="3561104" cy="428625"/>
          </a:xfrm>
          <a:prstGeom prst="rect">
            <a:avLst/>
          </a:prstGeom>
          <a:noFill/>
          <a:ln/>
        </p:spPr>
        <p:txBody>
          <a:bodyPr wrap="square" lIns="0" tIns="0" rIns="0" bIns="0" rtlCol="0" anchor="t">
            <a:spAutoFit/>
          </a:bodyPr>
          <a:lstStyle/>
          <a:p>
            <a:pPr marL="0" indent="0" algn="l">
              <a:lnSpc>
                <a:spcPts val="1700"/>
              </a:lnSpc>
              <a:buNone/>
            </a:pPr>
            <a:r>
              <a:rPr lang="en-US" sz="1050" dirty="0">
                <a:solidFill>
                  <a:srgbClr val="FFFFFF"/>
                </a:solidFill>
              </a:rPr>
              <a:t>Veri setinin çok küçük olduğu durumlarda Dropout kullanmak model performansını nasıl etkiler?</a:t>
            </a:r>
            <a:endParaRPr lang="en-US" sz="1050" dirty="0"/>
          </a:p>
        </p:txBody>
      </p:sp>
      <p:sp>
        <p:nvSpPr>
          <p:cNvPr id="14" name="Text 10">
            <a:extLst>
              <a:ext uri="{FF2B5EF4-FFF2-40B4-BE49-F238E27FC236}">
                <a16:creationId xmlns:a16="http://schemas.microsoft.com/office/drawing/2014/main" id="{7BBC6089-3F7E-9411-EE30-3F4044407B9D}"/>
              </a:ext>
            </a:extLst>
          </p:cNvPr>
          <p:cNvSpPr/>
          <p:nvPr/>
        </p:nvSpPr>
        <p:spPr>
          <a:xfrm>
            <a:off x="1254056" y="3561962"/>
            <a:ext cx="3561104" cy="428625"/>
          </a:xfrm>
          <a:prstGeom prst="rect">
            <a:avLst/>
          </a:prstGeom>
          <a:noFill/>
          <a:ln/>
        </p:spPr>
        <p:txBody>
          <a:bodyPr wrap="square" lIns="0" tIns="0" rIns="0" bIns="0" rtlCol="0" anchor="t">
            <a:spAutoFit/>
          </a:bodyPr>
          <a:lstStyle/>
          <a:p>
            <a:pPr marL="0" indent="0" algn="l">
              <a:lnSpc>
                <a:spcPts val="1700"/>
              </a:lnSpc>
              <a:buNone/>
            </a:pPr>
            <a:r>
              <a:rPr lang="en-US" sz="1050" dirty="0">
                <a:solidFill>
                  <a:srgbClr val="FFFFFF"/>
                </a:solidFill>
              </a:rPr>
              <a:t>Yapay sinir ağlarının biyolojik beyinle olan benzerlikleri ve temel farkları nelerdir?</a:t>
            </a:r>
            <a:endParaRPr lang="en-US" sz="1050" dirty="0"/>
          </a:p>
        </p:txBody>
      </p:sp>
      <p:pic>
        <p:nvPicPr>
          <p:cNvPr id="15" name="Picture 14">
            <a:extLst>
              <a:ext uri="{FF2B5EF4-FFF2-40B4-BE49-F238E27FC236}">
                <a16:creationId xmlns:a16="http://schemas.microsoft.com/office/drawing/2014/main" id="{2B8C06CE-AE86-1800-6772-1FA8771D8DBC}"/>
              </a:ext>
            </a:extLst>
          </p:cNvPr>
          <p:cNvPicPr>
            <a:picLocks noChangeAspect="1"/>
          </p:cNvPicPr>
          <p:nvPr/>
        </p:nvPicPr>
        <p:blipFill>
          <a:blip r:embed="rId4"/>
          <a:stretch>
            <a:fillRect/>
          </a:stretch>
        </p:blipFill>
        <p:spPr>
          <a:xfrm>
            <a:off x="167057" y="1055495"/>
            <a:ext cx="4404943" cy="3538505"/>
          </a:xfrm>
          <a:prstGeom prst="rect">
            <a:avLst/>
          </a:prstGeom>
        </p:spPr>
      </p:pic>
      <p:pic>
        <p:nvPicPr>
          <p:cNvPr id="17" name="Picture 16">
            <a:extLst>
              <a:ext uri="{FF2B5EF4-FFF2-40B4-BE49-F238E27FC236}">
                <a16:creationId xmlns:a16="http://schemas.microsoft.com/office/drawing/2014/main" id="{280213FA-A2F1-0610-4954-6D94422D3D95}"/>
              </a:ext>
            </a:extLst>
          </p:cNvPr>
          <p:cNvPicPr>
            <a:picLocks noChangeAspect="1"/>
          </p:cNvPicPr>
          <p:nvPr/>
        </p:nvPicPr>
        <p:blipFill>
          <a:blip r:embed="rId5"/>
          <a:stretch>
            <a:fillRect/>
          </a:stretch>
        </p:blipFill>
        <p:spPr>
          <a:xfrm>
            <a:off x="4102509" y="1996492"/>
            <a:ext cx="4944508" cy="1613627"/>
          </a:xfrm>
          <a:prstGeom prst="rect">
            <a:avLst/>
          </a:prstGeom>
        </p:spPr>
      </p:pic>
    </p:spTree>
    <p:extLst>
      <p:ext uri="{BB962C8B-B14F-4D97-AF65-F5344CB8AC3E}">
        <p14:creationId xmlns:p14="http://schemas.microsoft.com/office/powerpoint/2010/main" val="320438297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EDFFB6-607E-64A0-1154-85E52DE2EC1E}"/>
            </a:ext>
          </a:extLst>
        </p:cNvPr>
        <p:cNvGrpSpPr/>
        <p:nvPr/>
      </p:nvGrpSpPr>
      <p:grpSpPr>
        <a:xfrm>
          <a:off x="0" y="0"/>
          <a:ext cx="0" cy="0"/>
          <a:chOff x="0" y="0"/>
          <a:chExt cx="0" cy="0"/>
        </a:xfrm>
      </p:grpSpPr>
      <p:pic>
        <p:nvPicPr>
          <p:cNvPr id="3" name="Image 0" descr="preencoded.png">
            <a:extLst>
              <a:ext uri="{FF2B5EF4-FFF2-40B4-BE49-F238E27FC236}">
                <a16:creationId xmlns:a16="http://schemas.microsoft.com/office/drawing/2014/main" id="{8D8312D0-60ED-4735-14D6-45380393AC18}"/>
              </a:ext>
            </a:extLst>
          </p:cNvPr>
          <p:cNvPicPr>
            <a:picLocks noChangeAspect="1"/>
          </p:cNvPicPr>
          <p:nvPr/>
        </p:nvPicPr>
        <p:blipFill>
          <a:blip r:embed="rId3"/>
          <a:stretch>
            <a:fillRect/>
          </a:stretch>
        </p:blipFill>
        <p:spPr>
          <a:xfrm>
            <a:off x="0" y="0"/>
            <a:ext cx="9144000" cy="5143500"/>
          </a:xfrm>
          <a:prstGeom prst="rect">
            <a:avLst/>
          </a:prstGeom>
        </p:spPr>
      </p:pic>
      <p:sp>
        <p:nvSpPr>
          <p:cNvPr id="4" name="Text 0">
            <a:extLst>
              <a:ext uri="{FF2B5EF4-FFF2-40B4-BE49-F238E27FC236}">
                <a16:creationId xmlns:a16="http://schemas.microsoft.com/office/drawing/2014/main" id="{9F557C66-A619-8426-6CAC-8714C7963117}"/>
              </a:ext>
            </a:extLst>
          </p:cNvPr>
          <p:cNvSpPr/>
          <p:nvPr/>
        </p:nvSpPr>
        <p:spPr>
          <a:xfrm>
            <a:off x="571500" y="357188"/>
            <a:ext cx="905184" cy="341119"/>
          </a:xfrm>
          <a:prstGeom prst="rect">
            <a:avLst/>
          </a:prstGeom>
          <a:noFill/>
          <a:ln/>
        </p:spPr>
        <p:txBody>
          <a:bodyPr wrap="none" lIns="0" tIns="0" rIns="0" bIns="0" rtlCol="0" anchor="t">
            <a:spAutoFit/>
          </a:bodyPr>
          <a:lstStyle/>
          <a:p>
            <a:pPr marL="0" indent="0" algn="l">
              <a:lnSpc>
                <a:spcPts val="2800"/>
              </a:lnSpc>
              <a:buNone/>
            </a:pPr>
            <a:r>
              <a:rPr lang="tr-TR" sz="2121" b="1" dirty="0">
                <a:solidFill>
                  <a:srgbClr val="000000"/>
                </a:solidFill>
              </a:rPr>
              <a:t>Cevap-2</a:t>
            </a:r>
            <a:endParaRPr lang="en-US" sz="2121" dirty="0"/>
          </a:p>
        </p:txBody>
      </p:sp>
      <p:sp>
        <p:nvSpPr>
          <p:cNvPr id="8" name="Text 4">
            <a:extLst>
              <a:ext uri="{FF2B5EF4-FFF2-40B4-BE49-F238E27FC236}">
                <a16:creationId xmlns:a16="http://schemas.microsoft.com/office/drawing/2014/main" id="{EB2D4A78-E722-F79E-7BCC-02079E2AB121}"/>
              </a:ext>
            </a:extLst>
          </p:cNvPr>
          <p:cNvSpPr/>
          <p:nvPr/>
        </p:nvSpPr>
        <p:spPr>
          <a:xfrm>
            <a:off x="1254056" y="1204525"/>
            <a:ext cx="3561104" cy="642938"/>
          </a:xfrm>
          <a:prstGeom prst="rect">
            <a:avLst/>
          </a:prstGeom>
          <a:noFill/>
          <a:ln/>
        </p:spPr>
        <p:txBody>
          <a:bodyPr wrap="square" lIns="0" tIns="0" rIns="0" bIns="0" rtlCol="0" anchor="t">
            <a:spAutoFit/>
          </a:bodyPr>
          <a:lstStyle/>
          <a:p>
            <a:pPr marL="0" indent="0" algn="l">
              <a:lnSpc>
                <a:spcPts val="1700"/>
              </a:lnSpc>
              <a:buNone/>
            </a:pPr>
            <a:r>
              <a:rPr lang="en-US" sz="1050" dirty="0">
                <a:solidFill>
                  <a:srgbClr val="FFFFFF"/>
                </a:solidFill>
              </a:rPr>
              <a:t>Aktivasyon fonksiyonu kullanılmayan bir sinir ağı neden sadece doğrusal bir modeldir? Matematiksel olarak açıklayınız.</a:t>
            </a:r>
            <a:endParaRPr lang="en-US" sz="1050" dirty="0"/>
          </a:p>
        </p:txBody>
      </p:sp>
      <p:sp>
        <p:nvSpPr>
          <p:cNvPr id="10" name="Text 6">
            <a:extLst>
              <a:ext uri="{FF2B5EF4-FFF2-40B4-BE49-F238E27FC236}">
                <a16:creationId xmlns:a16="http://schemas.microsoft.com/office/drawing/2014/main" id="{0C678898-83D2-C59E-7F38-31DFB264F27A}"/>
              </a:ext>
            </a:extLst>
          </p:cNvPr>
          <p:cNvSpPr/>
          <p:nvPr/>
        </p:nvSpPr>
        <p:spPr>
          <a:xfrm>
            <a:off x="1254056" y="2061775"/>
            <a:ext cx="3561104" cy="642938"/>
          </a:xfrm>
          <a:prstGeom prst="rect">
            <a:avLst/>
          </a:prstGeom>
          <a:noFill/>
          <a:ln/>
        </p:spPr>
        <p:txBody>
          <a:bodyPr wrap="square" lIns="0" tIns="0" rIns="0" bIns="0" rtlCol="0" anchor="t">
            <a:spAutoFit/>
          </a:bodyPr>
          <a:lstStyle/>
          <a:p>
            <a:pPr marL="0" indent="0" algn="l">
              <a:lnSpc>
                <a:spcPts val="1700"/>
              </a:lnSpc>
              <a:buNone/>
            </a:pPr>
            <a:r>
              <a:rPr lang="en-US" sz="1050" dirty="0">
                <a:solidFill>
                  <a:srgbClr val="FFFFFF"/>
                </a:solidFill>
              </a:rPr>
              <a:t>Geri yayılımda "kaybolan gradyan" (vanishing gradient) problemi nedir ve ReLU bu sorunu nasıl çözer?</a:t>
            </a:r>
            <a:endParaRPr lang="en-US" sz="1050" dirty="0"/>
          </a:p>
        </p:txBody>
      </p:sp>
      <p:sp>
        <p:nvSpPr>
          <p:cNvPr id="12" name="Text 8">
            <a:extLst>
              <a:ext uri="{FF2B5EF4-FFF2-40B4-BE49-F238E27FC236}">
                <a16:creationId xmlns:a16="http://schemas.microsoft.com/office/drawing/2014/main" id="{1E178710-2DF3-348F-0E16-49086727EEDE}"/>
              </a:ext>
            </a:extLst>
          </p:cNvPr>
          <p:cNvSpPr/>
          <p:nvPr/>
        </p:nvSpPr>
        <p:spPr>
          <a:xfrm>
            <a:off x="1254056" y="2919025"/>
            <a:ext cx="3561104" cy="428625"/>
          </a:xfrm>
          <a:prstGeom prst="rect">
            <a:avLst/>
          </a:prstGeom>
          <a:noFill/>
          <a:ln/>
        </p:spPr>
        <p:txBody>
          <a:bodyPr wrap="square" lIns="0" tIns="0" rIns="0" bIns="0" rtlCol="0" anchor="t">
            <a:spAutoFit/>
          </a:bodyPr>
          <a:lstStyle/>
          <a:p>
            <a:pPr marL="0" indent="0" algn="l">
              <a:lnSpc>
                <a:spcPts val="1700"/>
              </a:lnSpc>
              <a:buNone/>
            </a:pPr>
            <a:r>
              <a:rPr lang="en-US" sz="1050" dirty="0">
                <a:solidFill>
                  <a:srgbClr val="FFFFFF"/>
                </a:solidFill>
              </a:rPr>
              <a:t>Veri setinin çok küçük olduğu durumlarda Dropout kullanmak model performansını nasıl etkiler?</a:t>
            </a:r>
            <a:endParaRPr lang="en-US" sz="1050" dirty="0"/>
          </a:p>
        </p:txBody>
      </p:sp>
      <p:sp>
        <p:nvSpPr>
          <p:cNvPr id="14" name="Text 10">
            <a:extLst>
              <a:ext uri="{FF2B5EF4-FFF2-40B4-BE49-F238E27FC236}">
                <a16:creationId xmlns:a16="http://schemas.microsoft.com/office/drawing/2014/main" id="{E069B473-CCB1-E206-1E9D-51F4FEF9C575}"/>
              </a:ext>
            </a:extLst>
          </p:cNvPr>
          <p:cNvSpPr/>
          <p:nvPr/>
        </p:nvSpPr>
        <p:spPr>
          <a:xfrm>
            <a:off x="1254056" y="3561962"/>
            <a:ext cx="3561104" cy="428625"/>
          </a:xfrm>
          <a:prstGeom prst="rect">
            <a:avLst/>
          </a:prstGeom>
          <a:noFill/>
          <a:ln/>
        </p:spPr>
        <p:txBody>
          <a:bodyPr wrap="square" lIns="0" tIns="0" rIns="0" bIns="0" rtlCol="0" anchor="t">
            <a:spAutoFit/>
          </a:bodyPr>
          <a:lstStyle/>
          <a:p>
            <a:pPr marL="0" indent="0" algn="l">
              <a:lnSpc>
                <a:spcPts val="1700"/>
              </a:lnSpc>
              <a:buNone/>
            </a:pPr>
            <a:r>
              <a:rPr lang="en-US" sz="1050" dirty="0">
                <a:solidFill>
                  <a:srgbClr val="FFFFFF"/>
                </a:solidFill>
              </a:rPr>
              <a:t>Yapay sinir ağlarının biyolojik beyinle olan benzerlikleri ve temel farkları nelerdir?</a:t>
            </a:r>
            <a:endParaRPr lang="en-US" sz="1050" dirty="0"/>
          </a:p>
        </p:txBody>
      </p:sp>
      <p:pic>
        <p:nvPicPr>
          <p:cNvPr id="5" name="Picture 4">
            <a:extLst>
              <a:ext uri="{FF2B5EF4-FFF2-40B4-BE49-F238E27FC236}">
                <a16:creationId xmlns:a16="http://schemas.microsoft.com/office/drawing/2014/main" id="{3F1EA5D0-0494-55B9-171B-C72796DDAE0B}"/>
              </a:ext>
            </a:extLst>
          </p:cNvPr>
          <p:cNvPicPr>
            <a:picLocks noChangeAspect="1"/>
          </p:cNvPicPr>
          <p:nvPr/>
        </p:nvPicPr>
        <p:blipFill>
          <a:blip r:embed="rId4"/>
          <a:stretch>
            <a:fillRect/>
          </a:stretch>
        </p:blipFill>
        <p:spPr>
          <a:xfrm>
            <a:off x="179282" y="815340"/>
            <a:ext cx="5056025" cy="4059912"/>
          </a:xfrm>
          <a:prstGeom prst="rect">
            <a:avLst/>
          </a:prstGeom>
        </p:spPr>
      </p:pic>
      <p:pic>
        <p:nvPicPr>
          <p:cNvPr id="7" name="Picture 6">
            <a:extLst>
              <a:ext uri="{FF2B5EF4-FFF2-40B4-BE49-F238E27FC236}">
                <a16:creationId xmlns:a16="http://schemas.microsoft.com/office/drawing/2014/main" id="{9010889B-0D54-2F41-B3E9-7B5B3E033EDA}"/>
              </a:ext>
            </a:extLst>
          </p:cNvPr>
          <p:cNvPicPr>
            <a:picLocks noChangeAspect="1"/>
          </p:cNvPicPr>
          <p:nvPr/>
        </p:nvPicPr>
        <p:blipFill>
          <a:blip r:embed="rId5"/>
          <a:stretch>
            <a:fillRect/>
          </a:stretch>
        </p:blipFill>
        <p:spPr>
          <a:xfrm>
            <a:off x="4815160" y="1627823"/>
            <a:ext cx="4204141" cy="2210425"/>
          </a:xfrm>
          <a:prstGeom prst="rect">
            <a:avLst/>
          </a:prstGeom>
        </p:spPr>
      </p:pic>
    </p:spTree>
    <p:extLst>
      <p:ext uri="{BB962C8B-B14F-4D97-AF65-F5344CB8AC3E}">
        <p14:creationId xmlns:p14="http://schemas.microsoft.com/office/powerpoint/2010/main" val="231142985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A90080-AFFD-4A2D-D218-0EA923319DFF}"/>
            </a:ext>
          </a:extLst>
        </p:cNvPr>
        <p:cNvGrpSpPr/>
        <p:nvPr/>
      </p:nvGrpSpPr>
      <p:grpSpPr>
        <a:xfrm>
          <a:off x="0" y="0"/>
          <a:ext cx="0" cy="0"/>
          <a:chOff x="0" y="0"/>
          <a:chExt cx="0" cy="0"/>
        </a:xfrm>
      </p:grpSpPr>
      <p:pic>
        <p:nvPicPr>
          <p:cNvPr id="3" name="Image 0" descr="preencoded.png">
            <a:extLst>
              <a:ext uri="{FF2B5EF4-FFF2-40B4-BE49-F238E27FC236}">
                <a16:creationId xmlns:a16="http://schemas.microsoft.com/office/drawing/2014/main" id="{A32641B4-B7FD-B25E-4606-A9DC7BA973BA}"/>
              </a:ext>
            </a:extLst>
          </p:cNvPr>
          <p:cNvPicPr>
            <a:picLocks noChangeAspect="1"/>
          </p:cNvPicPr>
          <p:nvPr/>
        </p:nvPicPr>
        <p:blipFill>
          <a:blip r:embed="rId3"/>
          <a:stretch>
            <a:fillRect/>
          </a:stretch>
        </p:blipFill>
        <p:spPr>
          <a:xfrm>
            <a:off x="0" y="0"/>
            <a:ext cx="9144000" cy="5143500"/>
          </a:xfrm>
          <a:prstGeom prst="rect">
            <a:avLst/>
          </a:prstGeom>
        </p:spPr>
      </p:pic>
      <p:sp>
        <p:nvSpPr>
          <p:cNvPr id="4" name="Text 0">
            <a:extLst>
              <a:ext uri="{FF2B5EF4-FFF2-40B4-BE49-F238E27FC236}">
                <a16:creationId xmlns:a16="http://schemas.microsoft.com/office/drawing/2014/main" id="{AE037B00-39EE-DA7C-245C-2EB8E9E58635}"/>
              </a:ext>
            </a:extLst>
          </p:cNvPr>
          <p:cNvSpPr/>
          <p:nvPr/>
        </p:nvSpPr>
        <p:spPr>
          <a:xfrm>
            <a:off x="571500" y="357188"/>
            <a:ext cx="910506" cy="341119"/>
          </a:xfrm>
          <a:prstGeom prst="rect">
            <a:avLst/>
          </a:prstGeom>
          <a:noFill/>
          <a:ln/>
        </p:spPr>
        <p:txBody>
          <a:bodyPr wrap="none" lIns="0" tIns="0" rIns="0" bIns="0" rtlCol="0" anchor="t">
            <a:spAutoFit/>
          </a:bodyPr>
          <a:lstStyle/>
          <a:p>
            <a:pPr marL="0" indent="0" algn="l">
              <a:lnSpc>
                <a:spcPts val="2800"/>
              </a:lnSpc>
              <a:buNone/>
            </a:pPr>
            <a:r>
              <a:rPr lang="tr-TR" sz="2121" b="1" dirty="0">
                <a:solidFill>
                  <a:srgbClr val="000000"/>
                </a:solidFill>
              </a:rPr>
              <a:t>Cevap-3</a:t>
            </a:r>
            <a:endParaRPr lang="en-US" sz="2121" dirty="0"/>
          </a:p>
        </p:txBody>
      </p:sp>
      <p:sp>
        <p:nvSpPr>
          <p:cNvPr id="8" name="Text 4">
            <a:extLst>
              <a:ext uri="{FF2B5EF4-FFF2-40B4-BE49-F238E27FC236}">
                <a16:creationId xmlns:a16="http://schemas.microsoft.com/office/drawing/2014/main" id="{0EB1B3AC-0DCE-B980-370A-9A0E3D788CA2}"/>
              </a:ext>
            </a:extLst>
          </p:cNvPr>
          <p:cNvSpPr/>
          <p:nvPr/>
        </p:nvSpPr>
        <p:spPr>
          <a:xfrm>
            <a:off x="1254056" y="1204525"/>
            <a:ext cx="3561104" cy="642938"/>
          </a:xfrm>
          <a:prstGeom prst="rect">
            <a:avLst/>
          </a:prstGeom>
          <a:noFill/>
          <a:ln/>
        </p:spPr>
        <p:txBody>
          <a:bodyPr wrap="square" lIns="0" tIns="0" rIns="0" bIns="0" rtlCol="0" anchor="t">
            <a:spAutoFit/>
          </a:bodyPr>
          <a:lstStyle/>
          <a:p>
            <a:pPr marL="0" indent="0" algn="l">
              <a:lnSpc>
                <a:spcPts val="1700"/>
              </a:lnSpc>
              <a:buNone/>
            </a:pPr>
            <a:r>
              <a:rPr lang="en-US" sz="1050" dirty="0">
                <a:solidFill>
                  <a:srgbClr val="FFFFFF"/>
                </a:solidFill>
              </a:rPr>
              <a:t>Aktivasyon fonksiyonu kullanılmayan bir sinir ağı neden sadece doğrusal bir modeldir? Matematiksel olarak açıklayınız.</a:t>
            </a:r>
            <a:endParaRPr lang="en-US" sz="1050" dirty="0"/>
          </a:p>
        </p:txBody>
      </p:sp>
      <p:sp>
        <p:nvSpPr>
          <p:cNvPr id="10" name="Text 6">
            <a:extLst>
              <a:ext uri="{FF2B5EF4-FFF2-40B4-BE49-F238E27FC236}">
                <a16:creationId xmlns:a16="http://schemas.microsoft.com/office/drawing/2014/main" id="{601640D2-036D-7592-97B0-1918007645C6}"/>
              </a:ext>
            </a:extLst>
          </p:cNvPr>
          <p:cNvSpPr/>
          <p:nvPr/>
        </p:nvSpPr>
        <p:spPr>
          <a:xfrm>
            <a:off x="1254056" y="2061775"/>
            <a:ext cx="3561104" cy="642938"/>
          </a:xfrm>
          <a:prstGeom prst="rect">
            <a:avLst/>
          </a:prstGeom>
          <a:noFill/>
          <a:ln/>
        </p:spPr>
        <p:txBody>
          <a:bodyPr wrap="square" lIns="0" tIns="0" rIns="0" bIns="0" rtlCol="0" anchor="t">
            <a:spAutoFit/>
          </a:bodyPr>
          <a:lstStyle/>
          <a:p>
            <a:pPr marL="0" indent="0" algn="l">
              <a:lnSpc>
                <a:spcPts val="1700"/>
              </a:lnSpc>
              <a:buNone/>
            </a:pPr>
            <a:r>
              <a:rPr lang="en-US" sz="1050" dirty="0">
                <a:solidFill>
                  <a:srgbClr val="FFFFFF"/>
                </a:solidFill>
              </a:rPr>
              <a:t>Geri yayılımda "kaybolan gradyan" (vanishing gradient) problemi nedir ve ReLU bu sorunu nasıl çözer?</a:t>
            </a:r>
            <a:endParaRPr lang="en-US" sz="1050" dirty="0"/>
          </a:p>
        </p:txBody>
      </p:sp>
      <p:sp>
        <p:nvSpPr>
          <p:cNvPr id="12" name="Text 8">
            <a:extLst>
              <a:ext uri="{FF2B5EF4-FFF2-40B4-BE49-F238E27FC236}">
                <a16:creationId xmlns:a16="http://schemas.microsoft.com/office/drawing/2014/main" id="{233862FE-B3FA-B677-7C6D-968284CF3535}"/>
              </a:ext>
            </a:extLst>
          </p:cNvPr>
          <p:cNvSpPr/>
          <p:nvPr/>
        </p:nvSpPr>
        <p:spPr>
          <a:xfrm>
            <a:off x="1254056" y="2919025"/>
            <a:ext cx="3561104" cy="428625"/>
          </a:xfrm>
          <a:prstGeom prst="rect">
            <a:avLst/>
          </a:prstGeom>
          <a:noFill/>
          <a:ln/>
        </p:spPr>
        <p:txBody>
          <a:bodyPr wrap="square" lIns="0" tIns="0" rIns="0" bIns="0" rtlCol="0" anchor="t">
            <a:spAutoFit/>
          </a:bodyPr>
          <a:lstStyle/>
          <a:p>
            <a:pPr marL="0" indent="0" algn="l">
              <a:lnSpc>
                <a:spcPts val="1700"/>
              </a:lnSpc>
              <a:buNone/>
            </a:pPr>
            <a:r>
              <a:rPr lang="en-US" sz="1050" dirty="0">
                <a:solidFill>
                  <a:srgbClr val="FFFFFF"/>
                </a:solidFill>
              </a:rPr>
              <a:t>Veri setinin çok küçük olduğu durumlarda Dropout kullanmak model performansını nasıl etkiler?</a:t>
            </a:r>
            <a:endParaRPr lang="en-US" sz="1050" dirty="0"/>
          </a:p>
        </p:txBody>
      </p:sp>
      <p:sp>
        <p:nvSpPr>
          <p:cNvPr id="14" name="Text 10">
            <a:extLst>
              <a:ext uri="{FF2B5EF4-FFF2-40B4-BE49-F238E27FC236}">
                <a16:creationId xmlns:a16="http://schemas.microsoft.com/office/drawing/2014/main" id="{45B8B8BE-6BC3-AE78-6E69-1E4A7BE0715F}"/>
              </a:ext>
            </a:extLst>
          </p:cNvPr>
          <p:cNvSpPr/>
          <p:nvPr/>
        </p:nvSpPr>
        <p:spPr>
          <a:xfrm>
            <a:off x="1254056" y="3561962"/>
            <a:ext cx="3561104" cy="428625"/>
          </a:xfrm>
          <a:prstGeom prst="rect">
            <a:avLst/>
          </a:prstGeom>
          <a:noFill/>
          <a:ln/>
        </p:spPr>
        <p:txBody>
          <a:bodyPr wrap="square" lIns="0" tIns="0" rIns="0" bIns="0" rtlCol="0" anchor="t">
            <a:spAutoFit/>
          </a:bodyPr>
          <a:lstStyle/>
          <a:p>
            <a:pPr marL="0" indent="0" algn="l">
              <a:lnSpc>
                <a:spcPts val="1700"/>
              </a:lnSpc>
              <a:buNone/>
            </a:pPr>
            <a:r>
              <a:rPr lang="en-US" sz="1050" dirty="0">
                <a:solidFill>
                  <a:srgbClr val="FFFFFF"/>
                </a:solidFill>
              </a:rPr>
              <a:t>Yapay sinir ağlarının biyolojik beyinle olan benzerlikleri ve temel farkları nelerdir?</a:t>
            </a:r>
            <a:endParaRPr lang="en-US" sz="1050" dirty="0"/>
          </a:p>
        </p:txBody>
      </p:sp>
      <p:pic>
        <p:nvPicPr>
          <p:cNvPr id="6" name="Picture 5">
            <a:extLst>
              <a:ext uri="{FF2B5EF4-FFF2-40B4-BE49-F238E27FC236}">
                <a16:creationId xmlns:a16="http://schemas.microsoft.com/office/drawing/2014/main" id="{08160F1F-9CFD-D3E0-1439-DBEF597F365F}"/>
              </a:ext>
            </a:extLst>
          </p:cNvPr>
          <p:cNvPicPr>
            <a:picLocks noChangeAspect="1"/>
          </p:cNvPicPr>
          <p:nvPr/>
        </p:nvPicPr>
        <p:blipFill>
          <a:blip r:embed="rId4"/>
          <a:stretch>
            <a:fillRect/>
          </a:stretch>
        </p:blipFill>
        <p:spPr>
          <a:xfrm>
            <a:off x="116761" y="823827"/>
            <a:ext cx="4879554" cy="3761771"/>
          </a:xfrm>
          <a:prstGeom prst="rect">
            <a:avLst/>
          </a:prstGeom>
        </p:spPr>
      </p:pic>
      <p:pic>
        <p:nvPicPr>
          <p:cNvPr id="11" name="Picture 10">
            <a:extLst>
              <a:ext uri="{FF2B5EF4-FFF2-40B4-BE49-F238E27FC236}">
                <a16:creationId xmlns:a16="http://schemas.microsoft.com/office/drawing/2014/main" id="{CC2C8960-F7B8-62A0-CC4B-56A1EFD5A6F4}"/>
              </a:ext>
            </a:extLst>
          </p:cNvPr>
          <p:cNvPicPr>
            <a:picLocks noChangeAspect="1"/>
          </p:cNvPicPr>
          <p:nvPr/>
        </p:nvPicPr>
        <p:blipFill>
          <a:blip r:embed="rId5"/>
          <a:stretch>
            <a:fillRect/>
          </a:stretch>
        </p:blipFill>
        <p:spPr>
          <a:xfrm>
            <a:off x="4598455" y="935579"/>
            <a:ext cx="4412925" cy="1180829"/>
          </a:xfrm>
          <a:prstGeom prst="rect">
            <a:avLst/>
          </a:prstGeom>
        </p:spPr>
      </p:pic>
    </p:spTree>
    <p:extLst>
      <p:ext uri="{BB962C8B-B14F-4D97-AF65-F5344CB8AC3E}">
        <p14:creationId xmlns:p14="http://schemas.microsoft.com/office/powerpoint/2010/main" val="153874495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0731DA-168C-3D22-ADB9-3FD7A0950EBD}"/>
            </a:ext>
          </a:extLst>
        </p:cNvPr>
        <p:cNvGrpSpPr/>
        <p:nvPr/>
      </p:nvGrpSpPr>
      <p:grpSpPr>
        <a:xfrm>
          <a:off x="0" y="0"/>
          <a:ext cx="0" cy="0"/>
          <a:chOff x="0" y="0"/>
          <a:chExt cx="0" cy="0"/>
        </a:xfrm>
      </p:grpSpPr>
      <p:pic>
        <p:nvPicPr>
          <p:cNvPr id="3" name="Image 0" descr="preencoded.png">
            <a:extLst>
              <a:ext uri="{FF2B5EF4-FFF2-40B4-BE49-F238E27FC236}">
                <a16:creationId xmlns:a16="http://schemas.microsoft.com/office/drawing/2014/main" id="{4CEDE095-6E55-544D-ED40-7BDE24FD8D79}"/>
              </a:ext>
            </a:extLst>
          </p:cNvPr>
          <p:cNvPicPr>
            <a:picLocks noChangeAspect="1"/>
          </p:cNvPicPr>
          <p:nvPr/>
        </p:nvPicPr>
        <p:blipFill>
          <a:blip r:embed="rId3"/>
          <a:stretch>
            <a:fillRect/>
          </a:stretch>
        </p:blipFill>
        <p:spPr>
          <a:xfrm>
            <a:off x="0" y="0"/>
            <a:ext cx="9144000" cy="5143500"/>
          </a:xfrm>
          <a:prstGeom prst="rect">
            <a:avLst/>
          </a:prstGeom>
        </p:spPr>
      </p:pic>
      <p:sp>
        <p:nvSpPr>
          <p:cNvPr id="4" name="Text 0">
            <a:extLst>
              <a:ext uri="{FF2B5EF4-FFF2-40B4-BE49-F238E27FC236}">
                <a16:creationId xmlns:a16="http://schemas.microsoft.com/office/drawing/2014/main" id="{D388E97C-6DDD-2C34-666A-32A9634E9802}"/>
              </a:ext>
            </a:extLst>
          </p:cNvPr>
          <p:cNvSpPr/>
          <p:nvPr/>
        </p:nvSpPr>
        <p:spPr>
          <a:xfrm>
            <a:off x="571500" y="357188"/>
            <a:ext cx="905184" cy="341119"/>
          </a:xfrm>
          <a:prstGeom prst="rect">
            <a:avLst/>
          </a:prstGeom>
          <a:noFill/>
          <a:ln/>
        </p:spPr>
        <p:txBody>
          <a:bodyPr wrap="none" lIns="0" tIns="0" rIns="0" bIns="0" rtlCol="0" anchor="t">
            <a:spAutoFit/>
          </a:bodyPr>
          <a:lstStyle/>
          <a:p>
            <a:pPr marL="0" indent="0" algn="l">
              <a:lnSpc>
                <a:spcPts val="2800"/>
              </a:lnSpc>
              <a:buNone/>
            </a:pPr>
            <a:r>
              <a:rPr lang="tr-TR" sz="2121" b="1" dirty="0">
                <a:solidFill>
                  <a:srgbClr val="000000"/>
                </a:solidFill>
              </a:rPr>
              <a:t>Cevap-4</a:t>
            </a:r>
            <a:endParaRPr lang="en-US" sz="2121" dirty="0"/>
          </a:p>
        </p:txBody>
      </p:sp>
      <p:sp>
        <p:nvSpPr>
          <p:cNvPr id="8" name="Text 4">
            <a:extLst>
              <a:ext uri="{FF2B5EF4-FFF2-40B4-BE49-F238E27FC236}">
                <a16:creationId xmlns:a16="http://schemas.microsoft.com/office/drawing/2014/main" id="{2FA3A37E-9D1D-1FA4-4053-F1C903A0C5DA}"/>
              </a:ext>
            </a:extLst>
          </p:cNvPr>
          <p:cNvSpPr/>
          <p:nvPr/>
        </p:nvSpPr>
        <p:spPr>
          <a:xfrm>
            <a:off x="1254056" y="1204525"/>
            <a:ext cx="3561104" cy="642938"/>
          </a:xfrm>
          <a:prstGeom prst="rect">
            <a:avLst/>
          </a:prstGeom>
          <a:noFill/>
          <a:ln/>
        </p:spPr>
        <p:txBody>
          <a:bodyPr wrap="square" lIns="0" tIns="0" rIns="0" bIns="0" rtlCol="0" anchor="t">
            <a:spAutoFit/>
          </a:bodyPr>
          <a:lstStyle/>
          <a:p>
            <a:pPr marL="0" indent="0" algn="l">
              <a:lnSpc>
                <a:spcPts val="1700"/>
              </a:lnSpc>
              <a:buNone/>
            </a:pPr>
            <a:r>
              <a:rPr lang="en-US" sz="1050" dirty="0">
                <a:solidFill>
                  <a:srgbClr val="FFFFFF"/>
                </a:solidFill>
              </a:rPr>
              <a:t>Aktivasyon fonksiyonu kullanılmayan bir sinir ağı neden sadece doğrusal bir modeldir? Matematiksel olarak açıklayınız.</a:t>
            </a:r>
            <a:endParaRPr lang="en-US" sz="1050" dirty="0"/>
          </a:p>
        </p:txBody>
      </p:sp>
      <p:sp>
        <p:nvSpPr>
          <p:cNvPr id="10" name="Text 6">
            <a:extLst>
              <a:ext uri="{FF2B5EF4-FFF2-40B4-BE49-F238E27FC236}">
                <a16:creationId xmlns:a16="http://schemas.microsoft.com/office/drawing/2014/main" id="{8AC3388B-A7CB-0B82-FA27-DF4AE915C826}"/>
              </a:ext>
            </a:extLst>
          </p:cNvPr>
          <p:cNvSpPr/>
          <p:nvPr/>
        </p:nvSpPr>
        <p:spPr>
          <a:xfrm>
            <a:off x="1254056" y="2061775"/>
            <a:ext cx="3561104" cy="642938"/>
          </a:xfrm>
          <a:prstGeom prst="rect">
            <a:avLst/>
          </a:prstGeom>
          <a:noFill/>
          <a:ln/>
        </p:spPr>
        <p:txBody>
          <a:bodyPr wrap="square" lIns="0" tIns="0" rIns="0" bIns="0" rtlCol="0" anchor="t">
            <a:spAutoFit/>
          </a:bodyPr>
          <a:lstStyle/>
          <a:p>
            <a:pPr marL="0" indent="0" algn="l">
              <a:lnSpc>
                <a:spcPts val="1700"/>
              </a:lnSpc>
              <a:buNone/>
            </a:pPr>
            <a:r>
              <a:rPr lang="en-US" sz="1050" dirty="0">
                <a:solidFill>
                  <a:srgbClr val="FFFFFF"/>
                </a:solidFill>
              </a:rPr>
              <a:t>Geri yayılımda "kaybolan gradyan" (vanishing gradient) problemi nedir ve ReLU bu sorunu nasıl çözer?</a:t>
            </a:r>
            <a:endParaRPr lang="en-US" sz="1050" dirty="0"/>
          </a:p>
        </p:txBody>
      </p:sp>
      <p:sp>
        <p:nvSpPr>
          <p:cNvPr id="12" name="Text 8">
            <a:extLst>
              <a:ext uri="{FF2B5EF4-FFF2-40B4-BE49-F238E27FC236}">
                <a16:creationId xmlns:a16="http://schemas.microsoft.com/office/drawing/2014/main" id="{156917B2-CBE7-04DB-9651-80F8A3233FAA}"/>
              </a:ext>
            </a:extLst>
          </p:cNvPr>
          <p:cNvSpPr/>
          <p:nvPr/>
        </p:nvSpPr>
        <p:spPr>
          <a:xfrm>
            <a:off x="1254056" y="2919025"/>
            <a:ext cx="3561104" cy="428625"/>
          </a:xfrm>
          <a:prstGeom prst="rect">
            <a:avLst/>
          </a:prstGeom>
          <a:noFill/>
          <a:ln/>
        </p:spPr>
        <p:txBody>
          <a:bodyPr wrap="square" lIns="0" tIns="0" rIns="0" bIns="0" rtlCol="0" anchor="t">
            <a:spAutoFit/>
          </a:bodyPr>
          <a:lstStyle/>
          <a:p>
            <a:pPr marL="0" indent="0" algn="l">
              <a:lnSpc>
                <a:spcPts val="1700"/>
              </a:lnSpc>
              <a:buNone/>
            </a:pPr>
            <a:r>
              <a:rPr lang="en-US" sz="1050" dirty="0">
                <a:solidFill>
                  <a:srgbClr val="FFFFFF"/>
                </a:solidFill>
              </a:rPr>
              <a:t>Veri setinin çok küçük olduğu durumlarda Dropout kullanmak model performansını nasıl etkiler?</a:t>
            </a:r>
            <a:endParaRPr lang="en-US" sz="1050" dirty="0"/>
          </a:p>
        </p:txBody>
      </p:sp>
      <p:sp>
        <p:nvSpPr>
          <p:cNvPr id="14" name="Text 10">
            <a:extLst>
              <a:ext uri="{FF2B5EF4-FFF2-40B4-BE49-F238E27FC236}">
                <a16:creationId xmlns:a16="http://schemas.microsoft.com/office/drawing/2014/main" id="{2B0DC8B0-07BF-1EE9-B5F3-91B8CD7FD47E}"/>
              </a:ext>
            </a:extLst>
          </p:cNvPr>
          <p:cNvSpPr/>
          <p:nvPr/>
        </p:nvSpPr>
        <p:spPr>
          <a:xfrm>
            <a:off x="1254056" y="3561962"/>
            <a:ext cx="3561104" cy="428625"/>
          </a:xfrm>
          <a:prstGeom prst="rect">
            <a:avLst/>
          </a:prstGeom>
          <a:noFill/>
          <a:ln/>
        </p:spPr>
        <p:txBody>
          <a:bodyPr wrap="square" lIns="0" tIns="0" rIns="0" bIns="0" rtlCol="0" anchor="t">
            <a:spAutoFit/>
          </a:bodyPr>
          <a:lstStyle/>
          <a:p>
            <a:pPr marL="0" indent="0" algn="l">
              <a:lnSpc>
                <a:spcPts val="1700"/>
              </a:lnSpc>
              <a:buNone/>
            </a:pPr>
            <a:r>
              <a:rPr lang="en-US" sz="1050" dirty="0">
                <a:solidFill>
                  <a:srgbClr val="FFFFFF"/>
                </a:solidFill>
              </a:rPr>
              <a:t>Yapay sinir ağlarının biyolojik beyinle olan benzerlikleri ve temel farkları nelerdir?</a:t>
            </a:r>
            <a:endParaRPr lang="en-US" sz="1050" dirty="0"/>
          </a:p>
        </p:txBody>
      </p:sp>
      <p:pic>
        <p:nvPicPr>
          <p:cNvPr id="5" name="Picture 4">
            <a:extLst>
              <a:ext uri="{FF2B5EF4-FFF2-40B4-BE49-F238E27FC236}">
                <a16:creationId xmlns:a16="http://schemas.microsoft.com/office/drawing/2014/main" id="{32FDB488-1342-AD4C-91DB-F866A09C287C}"/>
              </a:ext>
            </a:extLst>
          </p:cNvPr>
          <p:cNvPicPr>
            <a:picLocks noChangeAspect="1"/>
          </p:cNvPicPr>
          <p:nvPr/>
        </p:nvPicPr>
        <p:blipFill>
          <a:blip r:embed="rId4"/>
          <a:stretch>
            <a:fillRect/>
          </a:stretch>
        </p:blipFill>
        <p:spPr>
          <a:xfrm>
            <a:off x="67177" y="1038350"/>
            <a:ext cx="5289521" cy="2929942"/>
          </a:xfrm>
          <a:prstGeom prst="rect">
            <a:avLst/>
          </a:prstGeom>
        </p:spPr>
      </p:pic>
      <p:pic>
        <p:nvPicPr>
          <p:cNvPr id="9" name="Picture 8">
            <a:extLst>
              <a:ext uri="{FF2B5EF4-FFF2-40B4-BE49-F238E27FC236}">
                <a16:creationId xmlns:a16="http://schemas.microsoft.com/office/drawing/2014/main" id="{1B136881-031B-841D-B3D9-4E2AF9FD8196}"/>
              </a:ext>
            </a:extLst>
          </p:cNvPr>
          <p:cNvPicPr>
            <a:picLocks noChangeAspect="1"/>
          </p:cNvPicPr>
          <p:nvPr/>
        </p:nvPicPr>
        <p:blipFill>
          <a:blip r:embed="rId5"/>
          <a:stretch>
            <a:fillRect/>
          </a:stretch>
        </p:blipFill>
        <p:spPr>
          <a:xfrm>
            <a:off x="4945742" y="1204525"/>
            <a:ext cx="4131081" cy="2654838"/>
          </a:xfrm>
          <a:prstGeom prst="rect">
            <a:avLst/>
          </a:prstGeom>
        </p:spPr>
      </p:pic>
    </p:spTree>
    <p:extLst>
      <p:ext uri="{BB962C8B-B14F-4D97-AF65-F5344CB8AC3E}">
        <p14:creationId xmlns:p14="http://schemas.microsoft.com/office/powerpoint/2010/main" val="347781168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34E4B6-7DEC-0DCE-36C3-241BCD5A9F4F}"/>
            </a:ext>
          </a:extLst>
        </p:cNvPr>
        <p:cNvGrpSpPr/>
        <p:nvPr/>
      </p:nvGrpSpPr>
      <p:grpSpPr>
        <a:xfrm>
          <a:off x="0" y="0"/>
          <a:ext cx="0" cy="0"/>
          <a:chOff x="0" y="0"/>
          <a:chExt cx="0" cy="0"/>
        </a:xfrm>
      </p:grpSpPr>
      <p:sp>
        <p:nvSpPr>
          <p:cNvPr id="4" name="Text 0">
            <a:extLst>
              <a:ext uri="{FF2B5EF4-FFF2-40B4-BE49-F238E27FC236}">
                <a16:creationId xmlns:a16="http://schemas.microsoft.com/office/drawing/2014/main" id="{EB48B2F9-0675-E78D-E202-81B70707E0B5}"/>
              </a:ext>
            </a:extLst>
          </p:cNvPr>
          <p:cNvSpPr/>
          <p:nvPr/>
        </p:nvSpPr>
        <p:spPr>
          <a:xfrm>
            <a:off x="571500" y="357188"/>
            <a:ext cx="1930721" cy="341119"/>
          </a:xfrm>
          <a:prstGeom prst="rect">
            <a:avLst/>
          </a:prstGeom>
          <a:noFill/>
          <a:ln/>
        </p:spPr>
        <p:txBody>
          <a:bodyPr wrap="none" lIns="0" tIns="0" rIns="0" bIns="0" rtlCol="0" anchor="t">
            <a:spAutoFit/>
          </a:bodyPr>
          <a:lstStyle/>
          <a:p>
            <a:pPr marL="0" indent="0" algn="l">
              <a:lnSpc>
                <a:spcPts val="2800"/>
              </a:lnSpc>
              <a:buNone/>
            </a:pPr>
            <a:r>
              <a:rPr lang="tr-TR" sz="2121" b="1" dirty="0">
                <a:solidFill>
                  <a:srgbClr val="000000"/>
                </a:solidFill>
              </a:rPr>
              <a:t>Tartışma Konusu </a:t>
            </a:r>
            <a:endParaRPr lang="en-US" sz="2121" dirty="0"/>
          </a:p>
        </p:txBody>
      </p:sp>
      <p:sp>
        <p:nvSpPr>
          <p:cNvPr id="8" name="Text 4">
            <a:extLst>
              <a:ext uri="{FF2B5EF4-FFF2-40B4-BE49-F238E27FC236}">
                <a16:creationId xmlns:a16="http://schemas.microsoft.com/office/drawing/2014/main" id="{B22F3CD7-80E7-DDE5-B4B1-95D098B32F45}"/>
              </a:ext>
            </a:extLst>
          </p:cNvPr>
          <p:cNvSpPr/>
          <p:nvPr/>
        </p:nvSpPr>
        <p:spPr>
          <a:xfrm>
            <a:off x="2663756" y="1264015"/>
            <a:ext cx="3561104" cy="635046"/>
          </a:xfrm>
          <a:prstGeom prst="rect">
            <a:avLst/>
          </a:prstGeom>
          <a:noFill/>
          <a:ln/>
        </p:spPr>
        <p:txBody>
          <a:bodyPr wrap="square" lIns="0" tIns="0" rIns="0" bIns="0" rtlCol="0" anchor="t">
            <a:spAutoFit/>
          </a:bodyPr>
          <a:lstStyle/>
          <a:p>
            <a:pPr marL="0" indent="0" algn="l">
              <a:lnSpc>
                <a:spcPts val="1700"/>
              </a:lnSpc>
              <a:buNone/>
            </a:pPr>
            <a:r>
              <a:rPr lang="tr-TR" b="1" dirty="0"/>
              <a:t>ARTIFICIAL SUPER INTELLIGENCE</a:t>
            </a:r>
            <a:r>
              <a:rPr lang="en-US" sz="1050" dirty="0" err="1">
                <a:solidFill>
                  <a:srgbClr val="FFFFFF"/>
                </a:solidFill>
              </a:rPr>
              <a:t>ir</a:t>
            </a:r>
            <a:r>
              <a:rPr lang="en-US" sz="1050" dirty="0">
                <a:solidFill>
                  <a:srgbClr val="FFFFFF"/>
                </a:solidFill>
              </a:rPr>
              <a:t> ağı neden sadece doğrusal bir modeldir? Matematiksel olarak açıklayınız.</a:t>
            </a:r>
            <a:endParaRPr lang="en-US" sz="1050" dirty="0"/>
          </a:p>
        </p:txBody>
      </p:sp>
      <p:sp>
        <p:nvSpPr>
          <p:cNvPr id="10" name="Text 6">
            <a:extLst>
              <a:ext uri="{FF2B5EF4-FFF2-40B4-BE49-F238E27FC236}">
                <a16:creationId xmlns:a16="http://schemas.microsoft.com/office/drawing/2014/main" id="{7B454B2F-E888-4522-E759-53AEBB132A72}"/>
              </a:ext>
            </a:extLst>
          </p:cNvPr>
          <p:cNvSpPr/>
          <p:nvPr/>
        </p:nvSpPr>
        <p:spPr>
          <a:xfrm>
            <a:off x="1254056" y="2061775"/>
            <a:ext cx="3561104" cy="642938"/>
          </a:xfrm>
          <a:prstGeom prst="rect">
            <a:avLst/>
          </a:prstGeom>
          <a:noFill/>
          <a:ln/>
        </p:spPr>
        <p:txBody>
          <a:bodyPr wrap="square" lIns="0" tIns="0" rIns="0" bIns="0" rtlCol="0" anchor="t">
            <a:spAutoFit/>
          </a:bodyPr>
          <a:lstStyle/>
          <a:p>
            <a:pPr marL="0" indent="0" algn="l">
              <a:lnSpc>
                <a:spcPts val="1700"/>
              </a:lnSpc>
              <a:buNone/>
            </a:pPr>
            <a:r>
              <a:rPr lang="en-US" sz="1050" dirty="0">
                <a:solidFill>
                  <a:srgbClr val="FFFFFF"/>
                </a:solidFill>
              </a:rPr>
              <a:t>Geri yayılımda "kaybolan gradyan" (vanishing gradient) problemi nedir ve ReLU bu sorunu nasıl çözer?</a:t>
            </a:r>
            <a:endParaRPr lang="en-US" sz="1050" dirty="0"/>
          </a:p>
        </p:txBody>
      </p:sp>
      <p:sp>
        <p:nvSpPr>
          <p:cNvPr id="12" name="Text 8">
            <a:extLst>
              <a:ext uri="{FF2B5EF4-FFF2-40B4-BE49-F238E27FC236}">
                <a16:creationId xmlns:a16="http://schemas.microsoft.com/office/drawing/2014/main" id="{8AD21D34-D39C-797B-0584-4BB286D570FC}"/>
              </a:ext>
            </a:extLst>
          </p:cNvPr>
          <p:cNvSpPr/>
          <p:nvPr/>
        </p:nvSpPr>
        <p:spPr>
          <a:xfrm>
            <a:off x="1254056" y="2919025"/>
            <a:ext cx="3561104" cy="428625"/>
          </a:xfrm>
          <a:prstGeom prst="rect">
            <a:avLst/>
          </a:prstGeom>
          <a:noFill/>
          <a:ln/>
        </p:spPr>
        <p:txBody>
          <a:bodyPr wrap="square" lIns="0" tIns="0" rIns="0" bIns="0" rtlCol="0" anchor="t">
            <a:spAutoFit/>
          </a:bodyPr>
          <a:lstStyle/>
          <a:p>
            <a:pPr marL="0" indent="0" algn="l">
              <a:lnSpc>
                <a:spcPts val="1700"/>
              </a:lnSpc>
              <a:buNone/>
            </a:pPr>
            <a:r>
              <a:rPr lang="en-US" sz="1050" dirty="0">
                <a:solidFill>
                  <a:srgbClr val="FFFFFF"/>
                </a:solidFill>
              </a:rPr>
              <a:t>Veri setinin çok küçük olduğu durumlarda Dropout kullanmak model performansını nasıl etkiler?</a:t>
            </a:r>
            <a:endParaRPr lang="en-US" sz="1050" dirty="0"/>
          </a:p>
        </p:txBody>
      </p:sp>
      <p:sp>
        <p:nvSpPr>
          <p:cNvPr id="7" name="TextBox 6">
            <a:extLst>
              <a:ext uri="{FF2B5EF4-FFF2-40B4-BE49-F238E27FC236}">
                <a16:creationId xmlns:a16="http://schemas.microsoft.com/office/drawing/2014/main" id="{18C8D017-0280-3DEE-A1C7-85CD9967A91A}"/>
              </a:ext>
            </a:extLst>
          </p:cNvPr>
          <p:cNvSpPr txBox="1"/>
          <p:nvPr/>
        </p:nvSpPr>
        <p:spPr>
          <a:xfrm>
            <a:off x="3284220" y="2383244"/>
            <a:ext cx="561372" cy="369332"/>
          </a:xfrm>
          <a:prstGeom prst="rect">
            <a:avLst/>
          </a:prstGeom>
          <a:noFill/>
        </p:spPr>
        <p:txBody>
          <a:bodyPr wrap="none" rtlCol="0">
            <a:spAutoFit/>
          </a:bodyPr>
          <a:lstStyle/>
          <a:p>
            <a:r>
              <a:rPr lang="tr-TR" dirty="0">
                <a:hlinkClick r:id="rId3"/>
              </a:rPr>
              <a:t>Link</a:t>
            </a:r>
            <a:endParaRPr lang="tr-TR" dirty="0"/>
          </a:p>
        </p:txBody>
      </p:sp>
    </p:spTree>
    <p:extLst>
      <p:ext uri="{BB962C8B-B14F-4D97-AF65-F5344CB8AC3E}">
        <p14:creationId xmlns:p14="http://schemas.microsoft.com/office/powerpoint/2010/main" val="168855009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89</TotalTime>
  <Words>3604</Words>
  <Application>Microsoft Office PowerPoint</Application>
  <PresentationFormat>On-screen Show (16:9)</PresentationFormat>
  <Paragraphs>291</Paragraphs>
  <Slides>22</Slides>
  <Notes>21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22</vt:i4>
      </vt:variant>
    </vt:vector>
  </HeadingPairs>
  <TitlesOfParts>
    <vt:vector size="28" baseType="lpstr">
      <vt:lpstr>Arial</vt:lpstr>
      <vt:lpstr>Calibri</vt:lpstr>
      <vt:lpstr>Cambria</vt:lpstr>
      <vt:lpstr>Cambria Math</vt:lpstr>
      <vt:lpstr>Symbol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k127a</cp:lastModifiedBy>
  <cp:revision>15</cp:revision>
  <dcterms:created xsi:type="dcterms:W3CDTF">2026-02-12T07:18:56Z</dcterms:created>
  <dcterms:modified xsi:type="dcterms:W3CDTF">2026-02-12T08:48:41Z</dcterms:modified>
</cp:coreProperties>
</file>