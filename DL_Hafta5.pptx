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3418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enjnRVUoH9g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Derin Öğrenme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YZM306 - Hafta 5: CNN Mimarileri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Dr.Öğr.Üyesi Murat ŞİMŞEK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İçindekiler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548640" cy="457200"/>
          </a:xfrm>
          <a:prstGeom prst="rect">
            <a:avLst/>
          </a:prstGeom>
          <a:solidFill>
            <a:srgbClr val="2196F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Evrişimsel Sinir Ağları (CNN) - Genel Bakış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48640" cy="457200"/>
          </a:xfrm>
          <a:prstGeom prst="rect">
            <a:avLst/>
          </a:prstGeom>
          <a:solidFill>
            <a:srgbClr val="00BCD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ve ILSVRC Yarışması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548640" cy="457200"/>
          </a:xfrm>
          <a:prstGeom prst="rect">
            <a:avLst/>
          </a:prstGeom>
          <a:solidFill>
            <a:srgbClr val="FF980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Mimarisi (Krizhevsky et al., 2012)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548640" cy="457200"/>
          </a:xfrm>
          <a:prstGeom prst="rect">
            <a:avLst/>
          </a:prstGeom>
          <a:solidFill>
            <a:srgbClr val="7E57C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48640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2971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VGGNet Mimarisi (Simonyan &amp; Zisserman, 2014)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548640" cy="457200"/>
          </a:xfrm>
          <a:prstGeom prst="rect">
            <a:avLst/>
          </a:prstGeom>
          <a:solidFill>
            <a:srgbClr val="4CAF5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Mimarisi (He et al., 2015)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548640" cy="457200"/>
          </a:xfrm>
          <a:prstGeom prst="rect">
            <a:avLst/>
          </a:prstGeom>
          <a:solidFill>
            <a:srgbClr val="F4433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48640" y="4251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4251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 ve Çözümler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36576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Evrişimsel Sinir Ağları (CNN)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Networks</a:t>
            </a:r>
            <a:endParaRPr lang="en-US" sz="1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 tanıma için tasarlanmış derin öğrenme mimarileri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 Nedir ve Neden Önemlidir?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CNN'in Temel Bileşenleri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Layer (Evrişim)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Görüntüden özellik çıkarımı yapar. Filtreler görüntü üzerinde kaydırılarak özellik haritaları (feature maps) oluşturulur.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Layer (Havuzlama)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Boyut küçültme işlemi. En yaygın: Max Pooling. Hesaplama yükünü azaltır, overfitting'i önler.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 Layer (Tam Bağlı)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katmanlarda sınıflandırma için kullanılır. Tüm nöronlar birbirine bağlıdır.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Kavramlar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(Kernel): </a:t>
            </a: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 üzerinde kayan küçük matris (3x3, 5x5, 7x7, 11x11)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(Adım): </a:t>
            </a: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Filtrenin her adımda kaç piksel kayacağı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(Dolgulama): </a:t>
            </a: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kenarlarına sıfır ekleme işlemi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Boyutu Formülü:</a:t>
            </a:r>
            <a:endParaRPr lang="en-US" sz="12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W' = (W - F + 2P) / S + 1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W=Giriş, F=Filtre, P=Padding, S=Stride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36576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ImageNet &amp; ILSVRC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Ölçekli Görsel Tanıma Yarışması</a:t>
            </a:r>
            <a:endParaRPr lang="en-US" sz="1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2010-2017 yılları arasında derin öğrenmenin evrimini takip edelim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ILSVRC Yarışması Kronolojisi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ILSVRC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600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600200" cy="502920"/>
          </a:xfrm>
          <a:prstGeom prst="rect">
            <a:avLst/>
          </a:prstGeom>
          <a:solidFill>
            <a:srgbClr val="90A4A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274320" y="11155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2010-2011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1737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0A4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28.2%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Sığ modeller (shallow)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hata: %28.2 → %25.8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1097280"/>
            <a:ext cx="1600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2011680" y="1097280"/>
            <a:ext cx="1600200" cy="50292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2011680" y="11155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11680" y="1737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9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16.4%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03120" y="228600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(8 katman)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CNN tabanlı kazanan!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49040" y="1097280"/>
            <a:ext cx="1600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3749040" y="1097280"/>
            <a:ext cx="1600200" cy="502920"/>
          </a:xfrm>
          <a:prstGeom prst="rect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749040" y="11155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49040" y="1737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E57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7.3%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840480" y="228600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 (19 katman) &amp; GoogLeNet (22 katman)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derin ağlar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1097280"/>
            <a:ext cx="1600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5486400" y="1097280"/>
            <a:ext cx="1600200" cy="5029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5486400" y="11155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0" y="1737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3.6%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577840" y="228600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(152 katman)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Derinlik devrimi!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23760" y="1097280"/>
            <a:ext cx="1600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7223760" y="1097280"/>
            <a:ext cx="1600200" cy="502920"/>
          </a:xfrm>
          <a:prstGeom prst="rect">
            <a:avLst/>
          </a:prstGeom>
          <a:solidFill>
            <a:srgbClr val="F4433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7223760" y="11155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2017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23760" y="1737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43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2.3%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315200" y="2286000"/>
            <a:ext cx="1417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SENet (152 katman)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 seviyesinin altında!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İnsan seviyesi top-5 hata oranı: %5.1 (Russakovsky et al.)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SORU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ILSVRC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yılında AlexNet'in hata oranı %16.4 iken, 2015'te ResNet %3.6'ya düşmüştür. Bu sadece 3 yılda gerçekleşen yaklaşık 4.5 kat iyileşmeyi nasıl açıklarsınız?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İpuçları: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Ağ derinliğinin etkisi nedir?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Daha fazla katman her zaman daha iyi sonuç verir mi?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Hangi teknikler bu iyileşmeyi mümkün kılmıştır?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CEVAP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ILSVRC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914400" y="868680"/>
            <a:ext cx="7955280" cy="4183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faktörler: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Ağ Derinliği: 8 katmandan 152 katmana çıkış, daha karmaşık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özelliklerin öğrenilmesini sağlamıştır.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Mimari Yenilikler: Skip connection (ResNet), küçük filtreler (VGG),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inception modülleri (GoogLeNet) gibi yenilikler.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Regularizasyon: Dropout, Batch Normalization, Data Augmentation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teknikleri overfitting'i engellemiştir.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GPU ve Veri: Daha güçlü GPU'lar ve ImageNet gibi büyük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veri setleri eğitimi mümkün kılmıştır.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Daha fazla katman eklemek tek başına yetmez; mimari tasarım kritiktir!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36576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AlexNet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Krizhevsky, Sutskever &amp; Hinton, 2012</a:t>
            </a:r>
            <a:endParaRPr lang="en-US" sz="1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 çağını başlatan model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AlexNet - Genel Bakış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2012 ILSVRC yarışmasını %16.4 top-5 hata ile kazandı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(İkinci en iyi: %26.2 - geleneksel yöntem)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İlk CNN tabanlı ILSVRC kazananı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Derin öğrenme alanında devrim başlattı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GPU üzerinde eğitim yapılan ilk büyük model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 adet NVIDIA GTX 580 GPU)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ReLU aktivasyonu ilk kez yaygın kullanıldı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Dropout regularizasyonu tanıtıldı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 Yapı (8 Katman)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  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adet 11x11 filtre, stride 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8470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POOL1  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3x3, stride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1214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  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adet 5x5 filtre, stride 1, pad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3957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POOL2  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3x3, stride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6700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CONV3  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 adet 3x3 filtre, stride 1, pad 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9443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CONV4  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 adet 3x3 filtre, stride 1, pad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3218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CONV5  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adet 3x3 filtre, stride 1, pad 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4930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POOL3  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3x3, stride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7673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FC6  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4096 nöron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40416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FC7  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4096 nöron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4315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FC8  </a:t>
            </a: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sınıf (softmax)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AlexNet - Katman Katman Analiz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73152" cy="1645920"/>
          </a:xfrm>
          <a:prstGeom prst="rect">
            <a:avLst/>
          </a:prstGeom>
          <a:solidFill>
            <a:srgbClr val="F4433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 (İlk Katman)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Giriş: 227x227x3 (RGB görüntü)   |   Filtre: 96 adet 11x11   |   Stride: 4   |   Padding: 0</a:t>
            </a:r>
            <a:endParaRPr lang="en-US" sz="13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Boyutu: W' = (227 - 11) / 4 + 1 = 55  →  55x55x96</a:t>
            </a:r>
            <a:endParaRPr lang="en-US" sz="13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Parametre: (11 × 11 × 3 + 1) × 96 = 34,944  ≈  35K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73152" cy="118872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POOL1 (İkinci Katman)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Giriş: 55x55x96   |   Filtre: 3x3   |   Stride: 2</a:t>
            </a:r>
            <a:endParaRPr lang="en-US" sz="13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Çıkış: (55 - 3) / 2 + 1 = 27  →  27x27x96     |     Parametre: 0 (öğrenilecek parametre yok!)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Pooling katmanında parametre yok? Çünkü pooling sadece sabit bir işlem (max alma) uygular, öğrenilecek ağırlık içermez!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AlexNet - Tam Mimari Özeti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7498080" cy="36576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Katman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Çıkış Boyutu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Filtre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Stride/Pad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Parametre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INPUT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227×227×3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CONV1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55×55×96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96 × 11×11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S=4, P=0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34,944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MAX POOL1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27×27×96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3×3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S=2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NORM1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27×27×96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CONV2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27×27×256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256 × 5×5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S=1, P=2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614,656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MAX POOL2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13×13×256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3×3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S=2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NORM2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13×13×256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CONV3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13×13×384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384 × 3×3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S=1, P=1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885,120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CONV4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13×13×384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384 × 3×3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S=1, P=1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1,327,488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CONV5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13×13×256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256 × 3×3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S=1, P=1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884,992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MAX POOL3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6×6×256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3×3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S=2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FC6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4096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37,752,832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FC7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4096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16,781,312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FC8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1000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</a:rPr>
                        <a:t>4,097,000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parametre: ~62M  |  Parametrelerin büyük çoğunluğu FC katmanlarında!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SORU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modelinin ilk katmanı, 224×224×3 boyutlarında bir giriş görüntüsünü alır ve 11×11 boyutlarında bir filtreyle işler. Bu katmanda stride (adım boyu) 4 ve padding (doldurma) 0 olarak verilmiştir.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durumda, ilk konvolüsyonel katmandan elde edilen çıkış boyutları nedir ve bu katmanda kullanılan toplam parametre sayısı nedir?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Formül: W' = (W - F + 2P) / S + 1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CEVAP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83772" y="834390"/>
            <a:ext cx="7680960" cy="4171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Boyutu Hesabı: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W' = (W - F + 2P) / S + 1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W' = (224 - 11 + 2×0) / 4 + 1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W' = 213 / 4 + 1 = 53.25 + 1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Dikkat: 53.25 tam sayı değil! Bu yüzden orijinal makalede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giriş boyutu aslında 227×227×3 olarak alınır.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(227 - 11) / 4 + 1 = 55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Çıkış boyutu: 55 × 55 × 96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</a:t>
            </a: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Hesabı: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filtre: 11 × 11 × 3 = 363 ağırlık + 1 bias = 364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filtre: 364 × 96 = 34,944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Toplam parametre: 34,944 ≈ 35K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SORU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AlexNet'in CONV1 katmanından sonra 55×55×96 boyutunda çıkış elde edilmiştir. Bu çıkış, 3×3 boyutunda bir Max Pooling filtresiyle stride 2 kullanılarak işlenir.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Pooling işleminden sonra çıkış boyutu nedir?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Bu katmandaki parametre sayısı nedir?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Pooling katmanlarında neden parametre yoktur?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CEVAP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Çıkış Boyutu: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W' = (55 - 3) / 2 + 1 = 52/2 + 1 = 27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Çıkış: 27 × 27 × 96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(Derinlik değişmez, sadece uzamsal boyut </a:t>
            </a:r>
            <a:r>
              <a:rPr lang="en-US" sz="15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küçülür</a:t>
            </a: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Parametre Sayısı: 0 (</a:t>
            </a:r>
            <a:r>
              <a:rPr lang="en-US" sz="15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sıfır</a:t>
            </a: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!)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Neden parametre yok?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katmanları sabit bir işlem uygular (max alma veya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alma). Öğrenilecek ağırlık içermez.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nedenle backpropagation sırasında </a:t>
            </a:r>
            <a:r>
              <a:rPr lang="en-US" sz="15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güncellenmez</a:t>
            </a: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Pooling'in amacı: Boyut küçültme, hesaplama yükü </a:t>
            </a:r>
            <a:r>
              <a:rPr lang="en-US" sz="160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azaltma</a:t>
            </a: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SORU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AlexNet'in FC6 katmanında giriş boyutu 6×6×256 = 9216 ve çıkış 4096 nörondur.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FC6 katmanının parametre sayısını hesaplayınız.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FC6'nın toplam AlexNet parametrelerine oranını bulunuz. (Toplam ~62M)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Neden FC katmanları bu kadar çok parametreye sahiptir?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Modern mimarilerde FC katman sayısı neden azaltılmıştır?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CEVAP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FC6 Parametre Sayısı: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 = giriş × çıkış + bias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9216 × 4096 + 4096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= 37,752,832 + 4,096 ≈ 37.75M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Oran: 37.75M / 62M ≈ %61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Tek bir FC katmanı, toplam parametrelerin %61'ini </a:t>
            </a:r>
            <a:r>
              <a:rPr lang="en-US" sz="160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içerir</a:t>
            </a: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FC katmanları 'tam bağlı'dır: her giriş nöronu her çıkış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nöronuna bağlıdır. Bu O(n×m) parametre </a:t>
            </a:r>
            <a:r>
              <a:rPr lang="en-US" sz="15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demektir</a:t>
            </a: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Modern mimariler (ResNet, GoogLeNet) FC katmanları yerine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Global Average Pooling kullanır → parametre sayısı azalır,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overfitting riski düşer, model daha hafif olur.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36576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VGGNet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Simonyan &amp; Zisserman, 2014</a:t>
            </a:r>
            <a:endParaRPr lang="en-US" sz="1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küçük filtreler, daha derin ağlar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VGGNet - Temel Felsefe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VGGNet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 İlkeleri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7E5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"Small Filters, Deeper Networks"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Sadece 3×3 CONV filtreleri kullanılır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(stride 1, padding 1)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Sadece 2×2 MAX POOL kullanılır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(stride 2)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AlexNet: 8 katman → VGG: 16-19 katman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ILSVRC'13: %11.7 → ILSVRC'14: %7.3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Toplam ~138M parametre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vs VGG19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VGG16: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13 convolutional katman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fully connected katman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max pooling katmanı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Toplam 16 ağırlıklı katman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7E5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VGG19: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 convolutional katman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fully connected katman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max pooling katmanı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Toplam 19 ağırlıklı katman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Fark: VGG19'da 3 blokta 4 CONV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VGGNet - Neden 3×3 Filtre?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VGGNet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73152" cy="1828800"/>
          </a:xfrm>
          <a:prstGeom prst="rect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E5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Receptive Field (Etkin Alıcı Alan)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adet 3×3 CONV katmanı (stride 1) üst üste koyulduğunda, bir adet 7×7 CONV katmanıyla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etkin alıcı alana (effective receptive field) sahiptir!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katman: Her nöron girişin 3×3 alanını görür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katman: Her nöron 1. katmanın 3×3 alanını → girişin 5×5 alanını görür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katman: Her nöron 2. katmanın 3×3 alanını → girişin 7×7 alanını görür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931920" cy="411480"/>
          </a:xfrm>
          <a:prstGeom prst="rect">
            <a:avLst/>
          </a:prstGeom>
          <a:solidFill>
            <a:srgbClr val="F4433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40080" y="3044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adet 7×7 Filtre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Parametre: 7² × C² = 49C²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1 ReLU (1 non-linearity)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az ifade gücü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754880" y="3017520"/>
            <a:ext cx="3931920" cy="41148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937760" y="3044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adet 3×3 Filtre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5204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Parametre: 3 × (3² × C²) = 27C²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ReLU (3 non-linearity)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%45 daha az parametre + daha güçlü!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VGG16 - Katman Detayları ve Parametre Analizi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VGGNet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229600" cy="34290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Katman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Çıkış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Bellek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Parametre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INPUT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224×224×3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150K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2× CONV3-64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224×224×64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2×3.2M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1,728 + 36,864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POOL2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112×112×64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800K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2× CONV3-128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112×112×128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2×1.6M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73,728 + 147,456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POOL2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56×56×128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400K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3× CONV3-256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56×56×256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3×800K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294,912 + 2×589,824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POOL2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28×28×256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200K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3× CONV3-512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28×28×512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3×400K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1.18M + 2×2.36M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POOL2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14×14×512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100K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3× CONV3-512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14×14×512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3×100K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3×2.36M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POOL2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7×7×512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25K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FC 4096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4096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4K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102.76M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FC 4096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4096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4K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16.78M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FC 1000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1000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1K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</a:rPr>
                        <a:t>4.10M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TOPLAM: </a:t>
            </a:r>
            <a:r>
              <a:rPr lang="en-US" sz="1200" b="1" dirty="0" err="1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</a:t>
            </a:r>
            <a:r>
              <a:rPr lang="en-US" sz="12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~138M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SORU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VGGNet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ve VGG19 modellerinin ilk katmanı 3×3 boyutunda filtreler kullanmaktadır. İlk katman 64 adet filtre içerir ve girişteki görüntü 3 renk kanalına sahiptir (RGB). Her filtre için bias terimi eklenmiştir.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1: VGG16 modelinin ilk katmanında kullanılan filtrelerin parametre sayısını hesaplayınız.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2: VGG19 modelinin ilk katmanında kullanılan filtrelerin parametre sayısını hesaplayınız.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CEVAP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VGGNet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914400" y="986246"/>
            <a:ext cx="7680960" cy="395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VGG16 İlk Katman: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boyutu: 3 × 3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kanalı: 3 (RGB)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sayısı: 64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filtre parametresi: 3 × 3 × 3 + 1(bias) = 28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Toplam: 28 × 64 = 1,792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VGG16 ilk katman parametresi: 1,792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2 - VGG19 İlk Katman: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katman yapısı VGG16 ile aynıdır!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filtre boyutu, aynı filtre sayısı, aynı giriş kanalı.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VGG19 ilk katman parametresi: 1,792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İki model arasındaki fark daha sonraki katmanlarda ortaya çıkar.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SORU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VGGNet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öğrenci, VGG'nin 3×3 filtre stratejisini tam olarak anlayamamaktadır ve şu soruyu sorar: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2 adet 3×3 CONV katmanının (stride 1) etkin alıcı alanı (effective receptive field) nedir?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Bu, tek bir kaça-kaç'lık filtreye eşdeğerdir?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2 adet 3×3 CONV katmanının parametre sayısını, tek bir 5×5 CONV katmanıyla karşılaştırınız. (C kanal varsayılsın)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Hangisi daha avantajlıdır ve neden?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CEVAP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VGGNet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76809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2 adet 3×3 CONV'un etkin alıcı alanı: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katman: 3×3 → 2. katman: 3×3 üzerinden 5×5 alanı görür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Etkin alıcı alan: 5×5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Tek bir 5×5 filtreye </a:t>
            </a:r>
            <a:r>
              <a:rPr lang="en-US" sz="15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eşdeğerdir</a:t>
            </a: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Parametre karşılaştırması (C giriş kanalı varsayımıyla):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× 3×3: 2 × (3² × C²) = 18C²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× 5×5: 5² × C² = 25C²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 adet 3×3: %28 daha az </a:t>
            </a:r>
            <a:r>
              <a:rPr lang="en-US" sz="1600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</a:t>
            </a: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3×3 stratejisi avantajlıdır çünkü: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Daha az parametre → daha az overfitting riski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- 2 ReLU vs 1 ReLU → daha güçlü non-linearity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Regularizasyon etkisi: parametreleri sınırlar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36576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ResNet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He, Zhang, Ren &amp; Sun, 2015</a:t>
            </a:r>
            <a:endParaRPr lang="en-US" sz="1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Artık bağlantılarla derinlik devrimi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ResNet - Motivasyon: Degradation Problemi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73152" cy="2011680"/>
          </a:xfrm>
          <a:prstGeom prst="rect">
            <a:avLst/>
          </a:prstGeom>
          <a:solidFill>
            <a:srgbClr val="F4433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Derin ağlar neden kötü performans gösterir?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Beklenti: Daha derin ağlar her zaman daha iyi sonuç vermelidir.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Gerçek: 56 katmanlı "plain" ağ, 20 katmanlı ağdan DAHA KÖTÜ performans gösterir!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hem test hem eğitim hatasında gözlemlenir → Overfitting DEĞİL!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problemi: Ağ derinleştikçe optimizasyon zorlaşır.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73152" cy="173736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3152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Hipotez ve Çözüm: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modellerin daha sığ modellerden en az eşit performans göstermesi gerekir.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Çözüm: Ek katmanları identity mapping olarak öğretebilseydik, derin model en azından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sığ modeli kopyalayabilirdi. Bu fikir skip connection (artık bağlantı) çözümüne yol açtı.</a:t>
            </a:r>
            <a:endParaRPr lang="en-US" sz="13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H(x) = F(x) + x  →  Katmanlar H(x) yerine artık F(x) = H(x) - x'i öğrenir!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ResNet - Residual Block (Artık Blok)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4572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Block Nasıl Çalışır?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(Düz) Blok: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→ CONV → ReLU → CONV → H(x)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Katmanlar doğrudan H(x)'i öğrenmeye çalışır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(Artık) Blok: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→ CONV → ReLU → CONV → F(x)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= F(x) + X → ReLU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Mapping: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Eğer F(x) = 0 ise → H(x) = x (identity)</a:t>
            </a:r>
            <a:endParaRPr lang="en-US" sz="1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Yani katman "hiçbir şey yapmamayı" öğrenebilir!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Bu, derin ağların en azından sığ ağlar kadar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iyi performans göstermesini garantiler.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8404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02920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Mimari Özellikleri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55448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Her residual blok 2 adet 3×3 CONV içerir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Periyodik olarak filtre sayısı 2 katına çıkar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(64 → 128 → 256 → 512)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Downsample: stride 2 ile boyut yarıya iner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Başlangıçta 7×7 CONV (stem katman)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FC katmanları YOK!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(Sadece son FC 1000 sınıf çıkışı)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Average Pooling kullanılır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Derinlikler: 18, 34, 50, 101, 152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ILSVRC'15: %3.57 top-5 hata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ResNet - Neden Çalışır?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73152" cy="118872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Akışı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 sayesinde gradient doğrudan erken katmanlara ulaşabilir. Bu, vanishing gradient problemini büyük ölçüde çözer.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73152" cy="11887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Shortcut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Eğer ek katmana ihtiyaç yoksa, ağ F(x)=0 öğrenerek identity mapping yapabilir. Böylece derin ağ, sığ ağdan asla daha kötü olamaz.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73152" cy="1188720"/>
          </a:xfrm>
          <a:prstGeom prst="rect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73152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E5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Etkisi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1605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aslında farklı uzunluklarda birçok yolun bir araya geldiği bir ensemble gibi davranır. Bu, robustluğu artırır.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SORU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modelinde, ilk katman 7×7 boyutunda 64 adet filtre kullanmaktadır. Girişte kullanılan görüntü 224×224 boyutlarında ve 3 renk kanalına sahiptir (RGB). Her filtre için bias terimi eklenmiştir. Stride 2, padding 3'tür.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İlk katmanın parametre sayısını hesaplayınız.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İlk katmandan sonra çıkış boyutu nedir?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ResNet ilk katmanda neden 7×7 filtre kullanır (VGG gibi 3×3 değil)?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CEVAP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76809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Parametre Hesabı: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boyutu: 7 × 7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kanalı: 3 (RGB)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sayısı: 64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filtre: 7 × 7 × 3 + 1(bias) = 148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Toplam: 148 × 64 = 9,472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Çıkış Boyutu (stride=2, padding=3):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W' = (224 - 7 + 2×3) / 2 + 1 = 224/2 = 112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Çıkış: 112 × 112 × 64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Neden 7×7?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katman olarak büyük filtre, giriş görüntüsünün boyutunu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hızla küçültür (224→112). Sonraki residual bloklarda 3×3 kullanılır.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Bu, hesaplama verimliliği sağlar.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SORU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Vanishing gradient problemi nedir? Neden derin ağlarda ortaya çıkar?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ResNet'in skip connection'ı bu problemi nasıl çözer?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ResNet'te F(x) = 0 olduğunda ne olur? Bu neden önemlidir?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ResNet ile VGG arasındaki en önemli 3 farkı sıralayınız.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CEVAP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Vanishing gradient: Backpropagation sırasında gradyanlar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çarpım zincirleriyle küçülür. Derin ağlarda ilk katmanların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gradyanları neredeyse sıfıra yaklaşır → öğrenme </a:t>
            </a:r>
            <a:r>
              <a:rPr lang="en-US" sz="15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durur</a:t>
            </a: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Skip connection, gradyanın doğrudan erken katmanlara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akmasını sağlar. Toplama işlemi (F(x)+x) gradient için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alternatif bir yol </a:t>
            </a:r>
            <a:r>
              <a:rPr lang="en-US" sz="15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oluşturur</a:t>
            </a: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F(x)=0 → H(x)=x (identity mapping). Katman girdiyi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değiştirmeden iletir. Derin ağ en kötü durumda sığ ağ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gibi davranabilir → performans asla </a:t>
            </a:r>
            <a:r>
              <a:rPr lang="en-US" sz="15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düşmez</a:t>
            </a: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ResNet vs VGG: (1) Skip connection var/yok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(2) FC katman yok, Global Avg Pool var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(3) 152 katmana kadar çıkılabiliyor (VGG max 19)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36576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Karşılaştırması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vs VGGNet vs ResNet</a:t>
            </a:r>
            <a:endParaRPr lang="en-US" sz="1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önemli mimarinin kapsamlı karşılaştırması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 Mimarileri - Karşılaştırma Tablosu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Karşılaştırma</a:t>
            </a:r>
            <a:endParaRPr lang="en-US" sz="11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2331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Özellik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AlexNet (2012)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VGG16 (2014)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ResNet-152 (2015)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</a:rPr>
                        <a:t>Katman Sayısı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152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</a:rPr>
                        <a:t>Top-5 Hata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%16.4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%7.3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%3.6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</a:rPr>
                        <a:t>Parametre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~62M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~138M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~60M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</a:rPr>
                        <a:t>Filtre Boyutları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11×11, 5×5, 3×3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Sadece 3×3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Sadece 3×3 (+7×7 stem)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</a:rPr>
                        <a:t>FC Katmanları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3 (FC 4096-4096-1000)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3 (FC 4096-4096-1000)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1 (FC 1000)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</a:rPr>
                        <a:t>Yenilik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ReLU, Dropout, GPU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Küçük filtre, derinlik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Skip Connection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</a:rPr>
                        <a:t>Pooling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Max Pooling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Max Pooling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Global Avg Pool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</a:rPr>
                        <a:t>Batch Norm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Yok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Yok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</a:rPr>
                        <a:t>Var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Dikkat: ResNet, VGG'den 2 kattan fazla derin olmasına rağmen daha az parametreye sahiptir! (FC katmanlarının olmaması sayesinde)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SORU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mühendislik projesinde görüntü sınıflandırma yapmanız gerekmektedir. Elimizde sınırlı GPU belleği (4GB) var.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VGG16 modelini bu donanımda eğitebilir misiniz? (VGG16 bir görüntü için ~96MB bellek kullanır, 138M parametre)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ResNet-50 bu durumda daha uygun olur mu? Neden?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Eğer çok az eğitim veriniz varsa (1000 görüntü), hangisini tercih edersiniz?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Transfer learning bu durumda nasıl yardımcı olabilir?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CEVAP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73152" cy="347472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914400" y="1097279"/>
            <a:ext cx="7680960" cy="37882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VGG16 + 4GB GPU: Zor! Batch size çok küçük tutulmalı.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138M parametre × 4 byte = ~552MB (sadece ağırlıklar).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Aktivasyonlar, gradyanlar eklenince bellek </a:t>
            </a:r>
            <a:r>
              <a:rPr lang="en-US" sz="15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yetmeyebilir</a:t>
            </a: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ResNet-50 daha uygun: ~25M parametre (~100MB),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daha az bellek kullanımı ve daha iyi </a:t>
            </a:r>
            <a:r>
              <a:rPr lang="en-US" sz="15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performans</a:t>
            </a: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Az veriyle: Büyük model → overfitting riski yüksek.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ResNet-18 gibi küçük model tercih edilmeli.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Veya pretrained model + fine-tuning </a:t>
            </a:r>
            <a:r>
              <a:rPr lang="en-US" sz="1500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yapılmalı</a:t>
            </a: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Transfer Learning: ImageNet üzerinde eğitilmiş ağırlıklar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alınır, son katmanlar yeni görev için fine-tune edilir.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Az veriyle bile yüksek başarı sağlanabilir!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Modern uygulamalarda en yaygın yaklaşım budur.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Özet - Temel Çıkarımlar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457200" cy="45720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0058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AlexNet: Derin öğrenme devrimini başlattı (2012). ReLU, Dropout, GPU eğitimi.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solidFill>
            <a:srgbClr val="7E57C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VGG: Küçük (3×3) filtrelerle derin ağlar kurulabileceğini gösterdi. Receptive field korunur, parametre azalır.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457200" cy="4572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5603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ResNet: Skip connection ile 152+ katmanlı ağları mümkün kıldı. Degradation problemini çözdü.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boyutu formülü: W' = (W - F + 2P) / S + 1 — Tüm mimariler için temel formül!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solidFill>
            <a:srgbClr val="F4433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1148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 hesabı: (F × F × C_in + 1) × C_out — Pooling katmanlarında parametre yoktur!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Sorularınız</a:t>
            </a: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tr-TR" sz="4000" b="1" dirty="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 algn="ctr">
              <a:buNone/>
            </a:pPr>
            <a:endParaRPr lang="tr-TR" sz="4000" b="1" dirty="0">
              <a:solidFill>
                <a:srgbClr val="FFFFFF"/>
              </a:solidFill>
              <a:latin typeface="Trebuchet MS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0" y="2468880"/>
            <a:ext cx="3657600" cy="36576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731520" y="2638045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 - YZM306</a:t>
            </a:r>
            <a:endParaRPr lang="en-US" sz="18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Dr.Öğr.Üyesi Murat ŞİMŞEK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788229"/>
            <a:ext cx="7680960" cy="783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tr-TR" sz="14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https://www.youtube.com/watch?v=3JQ3hYko51Y</a:t>
            </a:r>
          </a:p>
          <a:p>
            <a:pPr algn="ctr"/>
            <a:r>
              <a:rPr lang="tr-TR" sz="14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https://www.youtube.com/watch?v=f0t-OCG79-U</a:t>
            </a:r>
          </a:p>
          <a:p>
            <a:pPr algn="ctr"/>
            <a:r>
              <a:rPr lang="tr-TR" sz="14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https://www.youtube.com/watch?v=enjnRVUoH9g</a:t>
            </a:r>
            <a:endParaRPr lang="tr-TR" sz="1400" i="1" dirty="0">
              <a:solidFill>
                <a:srgbClr val="00BCD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tr-TR" sz="1400" i="1" dirty="0">
              <a:solidFill>
                <a:srgbClr val="00BCD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400" i="1" dirty="0" err="1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</a:t>
            </a:r>
            <a:r>
              <a:rPr lang="en-US" sz="14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Hafta: GoogLeNet (Inception) ve Modern CNN Mimarileri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3509</Words>
  <Application>Microsoft Office PowerPoint</Application>
  <PresentationFormat>On-screen Show (16:9)</PresentationFormat>
  <Paragraphs>658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Derin Öğrenme - Hafta 5 - CNN Mimarileri</dc:title>
  <dc:subject>PptxGenJS Presentation</dc:subject>
  <dc:creator>Dr.Öğr.Üyesi Murat ŞİMŞEK</dc:creator>
  <cp:lastModifiedBy>k127a</cp:lastModifiedBy>
  <cp:revision>3</cp:revision>
  <dcterms:created xsi:type="dcterms:W3CDTF">2026-04-09T07:45:56Z</dcterms:created>
  <dcterms:modified xsi:type="dcterms:W3CDTF">2026-04-09T08:20:59Z</dcterms:modified>
</cp:coreProperties>
</file>